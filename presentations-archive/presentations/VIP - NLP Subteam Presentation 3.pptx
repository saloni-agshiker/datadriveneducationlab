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Merriweather" pitchFamily="2" charset="77"/>
      <p:regular r:id="rId11"/>
      <p:bold r:id="rId12"/>
      <p:italic r:id="rId13"/>
      <p:boldItalic r:id="rId14"/>
    </p:embeddedFont>
    <p:embeddedFont>
      <p:font typeface="Roboto" panose="02000000000000000000"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81"/>
  </p:normalViewPr>
  <p:slideViewPr>
    <p:cSldViewPr snapToGrid="0">
      <p:cViewPr varScale="1">
        <p:scale>
          <a:sx n="143" d="100"/>
          <a:sy n="143" d="100"/>
        </p:scale>
        <p:origin x="760"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655a2ac1d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655a2ac1d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6560d27185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6560d27185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6560d27185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6560d2718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55a2ac1df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55a2ac1df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655a2ac1df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655a2ac1d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655a2ac1df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655a2ac1d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655a2ac1df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655a2ac1d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p:nvPr>
        </p:nvSpPr>
        <p:spPr>
          <a:xfrm>
            <a:off x="311701" y="285850"/>
            <a:ext cx="4260300" cy="960244"/>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US" sz="2800" dirty="0">
                <a:latin typeface="+mj-lt"/>
              </a:rPr>
              <a:t>Data Driven Education</a:t>
            </a:r>
            <a:endParaRPr sz="2800" dirty="0">
              <a:latin typeface="+mj-lt"/>
            </a:endParaRPr>
          </a:p>
        </p:txBody>
      </p:sp>
      <p:sp>
        <p:nvSpPr>
          <p:cNvPr id="3" name="Rectangle 2">
            <a:extLst>
              <a:ext uri="{FF2B5EF4-FFF2-40B4-BE49-F238E27FC236}">
                <a16:creationId xmlns:a16="http://schemas.microsoft.com/office/drawing/2014/main" id="{22577600-46D0-6E40-AF8E-2F0BBCCE0505}"/>
              </a:ext>
            </a:extLst>
          </p:cNvPr>
          <p:cNvSpPr/>
          <p:nvPr/>
        </p:nvSpPr>
        <p:spPr>
          <a:xfrm>
            <a:off x="311701" y="1463403"/>
            <a:ext cx="4730782" cy="400110"/>
          </a:xfrm>
          <a:prstGeom prst="rect">
            <a:avLst/>
          </a:prstGeom>
        </p:spPr>
        <p:txBody>
          <a:bodyPr wrap="none">
            <a:spAutoFit/>
          </a:bodyPr>
          <a:lstStyle/>
          <a:p>
            <a:r>
              <a:rPr lang="en" sz="2000" dirty="0"/>
              <a:t>Natural Language Processing </a:t>
            </a:r>
            <a:r>
              <a:rPr lang="en-US" sz="2000" dirty="0"/>
              <a:t>Sub team</a:t>
            </a:r>
          </a:p>
        </p:txBody>
      </p:sp>
      <p:sp>
        <p:nvSpPr>
          <p:cNvPr id="5" name="Rectangle 4">
            <a:extLst>
              <a:ext uri="{FF2B5EF4-FFF2-40B4-BE49-F238E27FC236}">
                <a16:creationId xmlns:a16="http://schemas.microsoft.com/office/drawing/2014/main" id="{7EF2064D-081A-C94F-BCEC-4CD1DD8A14D7}"/>
              </a:ext>
            </a:extLst>
          </p:cNvPr>
          <p:cNvSpPr/>
          <p:nvPr/>
        </p:nvSpPr>
        <p:spPr>
          <a:xfrm>
            <a:off x="311701" y="2221571"/>
            <a:ext cx="1837362" cy="400110"/>
          </a:xfrm>
          <a:prstGeom prst="rect">
            <a:avLst/>
          </a:prstGeom>
        </p:spPr>
        <p:txBody>
          <a:bodyPr wrap="none">
            <a:spAutoFit/>
          </a:bodyPr>
          <a:lstStyle/>
          <a:p>
            <a:r>
              <a:rPr lang="en-US" sz="2000" dirty="0"/>
              <a:t>Presentation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idx="4294967295"/>
          </p:nvPr>
        </p:nvSpPr>
        <p:spPr>
          <a:xfrm>
            <a:off x="126900" y="139550"/>
            <a:ext cx="8420400" cy="69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Phase 2 Conclusion : </a:t>
            </a:r>
            <a:r>
              <a:rPr lang="en" dirty="0" err="1"/>
              <a:t>Jupyter</a:t>
            </a:r>
            <a:r>
              <a:rPr lang="en" dirty="0"/>
              <a:t> Notebook</a:t>
            </a:r>
            <a:endParaRPr dirty="0"/>
          </a:p>
          <a:p>
            <a:pPr marL="0" lvl="0" indent="0" algn="l" rtl="0">
              <a:spcBef>
                <a:spcPts val="0"/>
              </a:spcBef>
              <a:spcAft>
                <a:spcPts val="0"/>
              </a:spcAft>
              <a:buNone/>
            </a:pPr>
            <a:endParaRPr dirty="0"/>
          </a:p>
        </p:txBody>
      </p:sp>
      <p:pic>
        <p:nvPicPr>
          <p:cNvPr id="70" name="Google Shape;70;p14"/>
          <p:cNvPicPr preferRelativeResize="0"/>
          <p:nvPr/>
        </p:nvPicPr>
        <p:blipFill rotWithShape="1">
          <a:blip r:embed="rId3">
            <a:alphaModFix/>
          </a:blip>
          <a:srcRect t="5536" b="5873"/>
          <a:stretch/>
        </p:blipFill>
        <p:spPr>
          <a:xfrm>
            <a:off x="4732825" y="2662238"/>
            <a:ext cx="4326999" cy="2464400"/>
          </a:xfrm>
          <a:prstGeom prst="rect">
            <a:avLst/>
          </a:prstGeom>
          <a:noFill/>
          <a:ln>
            <a:noFill/>
          </a:ln>
        </p:spPr>
      </p:pic>
      <p:pic>
        <p:nvPicPr>
          <p:cNvPr id="71" name="Google Shape;71;p14"/>
          <p:cNvPicPr preferRelativeResize="0"/>
          <p:nvPr/>
        </p:nvPicPr>
        <p:blipFill rotWithShape="1">
          <a:blip r:embed="rId4">
            <a:alphaModFix/>
          </a:blip>
          <a:srcRect l="3247" r="3953" b="2610"/>
          <a:stretch/>
        </p:blipFill>
        <p:spPr>
          <a:xfrm>
            <a:off x="70350" y="2463813"/>
            <a:ext cx="4015125" cy="2708875"/>
          </a:xfrm>
          <a:prstGeom prst="rect">
            <a:avLst/>
          </a:prstGeom>
          <a:noFill/>
          <a:ln>
            <a:noFill/>
          </a:ln>
        </p:spPr>
      </p:pic>
      <p:sp>
        <p:nvSpPr>
          <p:cNvPr id="72" name="Google Shape;72;p14"/>
          <p:cNvSpPr txBox="1"/>
          <p:nvPr/>
        </p:nvSpPr>
        <p:spPr>
          <a:xfrm>
            <a:off x="329650" y="859038"/>
            <a:ext cx="8593500" cy="1261800"/>
          </a:xfrm>
          <a:prstGeom prst="rect">
            <a:avLst/>
          </a:prstGeom>
          <a:noFill/>
          <a:ln>
            <a:noFill/>
          </a:ln>
        </p:spPr>
        <p:txBody>
          <a:bodyPr spcFirstLastPara="1" wrap="square" lIns="91425" tIns="91425" rIns="91425" bIns="91425" anchor="t" anchorCtr="0">
            <a:noAutofit/>
          </a:bodyPr>
          <a:lstStyle/>
          <a:p>
            <a:pPr marL="457200" lvl="0" indent="-304800" algn="l" rtl="0">
              <a:lnSpc>
                <a:spcPct val="200000"/>
              </a:lnSpc>
              <a:spcBef>
                <a:spcPts val="0"/>
              </a:spcBef>
              <a:spcAft>
                <a:spcPts val="0"/>
              </a:spcAft>
              <a:buSzPts val="1200"/>
              <a:buFont typeface="Roboto"/>
              <a:buChar char="●"/>
            </a:pPr>
            <a:r>
              <a:rPr lang="en" sz="1200">
                <a:latin typeface="Roboto"/>
                <a:ea typeface="Roboto"/>
                <a:cs typeface="Roboto"/>
                <a:sym typeface="Roboto"/>
              </a:rPr>
              <a:t>Unlike Matplotlib, Plot.ly produces interactive and more user-friendly graphs with just a few lines of code</a:t>
            </a:r>
            <a:endParaRPr sz="1200">
              <a:latin typeface="Roboto"/>
              <a:ea typeface="Roboto"/>
              <a:cs typeface="Roboto"/>
              <a:sym typeface="Roboto"/>
            </a:endParaRPr>
          </a:p>
          <a:p>
            <a:pPr marL="457200" lvl="0" indent="-304800" algn="l" rtl="0">
              <a:lnSpc>
                <a:spcPct val="200000"/>
              </a:lnSpc>
              <a:spcBef>
                <a:spcPts val="0"/>
              </a:spcBef>
              <a:spcAft>
                <a:spcPts val="0"/>
              </a:spcAft>
              <a:buSzPts val="1200"/>
              <a:buFont typeface="Roboto"/>
              <a:buChar char="●"/>
            </a:pPr>
            <a:r>
              <a:rPr lang="en" sz="1200">
                <a:latin typeface="Roboto"/>
                <a:ea typeface="Roboto"/>
                <a:cs typeface="Roboto"/>
                <a:sym typeface="Roboto"/>
              </a:rPr>
              <a:t>Plot.ly also integrates well with web development. </a:t>
            </a:r>
            <a:endParaRPr sz="1200">
              <a:latin typeface="Roboto"/>
              <a:ea typeface="Roboto"/>
              <a:cs typeface="Roboto"/>
              <a:sym typeface="Roboto"/>
            </a:endParaRPr>
          </a:p>
          <a:p>
            <a:pPr marL="457200" lvl="0" indent="-304800" algn="l" rtl="0">
              <a:lnSpc>
                <a:spcPct val="200000"/>
              </a:lnSpc>
              <a:spcBef>
                <a:spcPts val="0"/>
              </a:spcBef>
              <a:spcAft>
                <a:spcPts val="0"/>
              </a:spcAft>
              <a:buSzPts val="1200"/>
              <a:buFont typeface="Roboto"/>
              <a:buChar char="●"/>
            </a:pPr>
            <a:r>
              <a:rPr lang="en" sz="1200">
                <a:latin typeface="Roboto"/>
                <a:ea typeface="Roboto"/>
                <a:cs typeface="Roboto"/>
                <a:sym typeface="Roboto"/>
              </a:rPr>
              <a:t>Therefore, we transformed our previous graphs produced by Matplotlib to the more visually appealing Plot.ly graphs</a:t>
            </a:r>
            <a:endParaRPr sz="1200">
              <a:latin typeface="Roboto"/>
              <a:ea typeface="Roboto"/>
              <a:cs typeface="Roboto"/>
              <a:sym typeface="Roboto"/>
            </a:endParaRPr>
          </a:p>
        </p:txBody>
      </p:sp>
      <p:sp>
        <p:nvSpPr>
          <p:cNvPr id="73" name="Google Shape;73;p14"/>
          <p:cNvSpPr txBox="1">
            <a:spLocks noGrp="1"/>
          </p:cNvSpPr>
          <p:nvPr>
            <p:ph type="title" idx="4294967295"/>
          </p:nvPr>
        </p:nvSpPr>
        <p:spPr>
          <a:xfrm>
            <a:off x="2568550" y="2147950"/>
            <a:ext cx="3449400" cy="38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a:t>Visualizations with Plot.ly</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idx="4294967295"/>
          </p:nvPr>
        </p:nvSpPr>
        <p:spPr>
          <a:xfrm>
            <a:off x="252725" y="128525"/>
            <a:ext cx="8332200" cy="69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Jupyter Notebook - Visualizations with Plot.ly</a:t>
            </a:r>
            <a:endParaRPr/>
          </a:p>
          <a:p>
            <a:pPr marL="0" lvl="0" indent="0" algn="l" rtl="0">
              <a:spcBef>
                <a:spcPts val="0"/>
              </a:spcBef>
              <a:spcAft>
                <a:spcPts val="0"/>
              </a:spcAft>
              <a:buNone/>
            </a:pPr>
            <a:endParaRPr/>
          </a:p>
        </p:txBody>
      </p:sp>
      <p:pic>
        <p:nvPicPr>
          <p:cNvPr id="79" name="Google Shape;79;p15"/>
          <p:cNvPicPr preferRelativeResize="0"/>
          <p:nvPr/>
        </p:nvPicPr>
        <p:blipFill rotWithShape="1">
          <a:blip r:embed="rId3">
            <a:alphaModFix/>
          </a:blip>
          <a:srcRect t="1039"/>
          <a:stretch/>
        </p:blipFill>
        <p:spPr>
          <a:xfrm>
            <a:off x="5312425" y="795038"/>
            <a:ext cx="3375925" cy="2147625"/>
          </a:xfrm>
          <a:prstGeom prst="rect">
            <a:avLst/>
          </a:prstGeom>
          <a:noFill/>
          <a:ln>
            <a:noFill/>
          </a:ln>
        </p:spPr>
      </p:pic>
      <p:pic>
        <p:nvPicPr>
          <p:cNvPr id="80" name="Google Shape;80;p15"/>
          <p:cNvPicPr preferRelativeResize="0"/>
          <p:nvPr/>
        </p:nvPicPr>
        <p:blipFill>
          <a:blip r:embed="rId4">
            <a:alphaModFix/>
          </a:blip>
          <a:stretch>
            <a:fillRect/>
          </a:stretch>
        </p:blipFill>
        <p:spPr>
          <a:xfrm>
            <a:off x="431375" y="2916800"/>
            <a:ext cx="3432824" cy="2170250"/>
          </a:xfrm>
          <a:prstGeom prst="rect">
            <a:avLst/>
          </a:prstGeom>
          <a:noFill/>
          <a:ln>
            <a:noFill/>
          </a:ln>
        </p:spPr>
      </p:pic>
      <p:pic>
        <p:nvPicPr>
          <p:cNvPr id="81" name="Google Shape;81;p15"/>
          <p:cNvPicPr preferRelativeResize="0"/>
          <p:nvPr/>
        </p:nvPicPr>
        <p:blipFill>
          <a:blip r:embed="rId5">
            <a:alphaModFix/>
          </a:blip>
          <a:stretch>
            <a:fillRect/>
          </a:stretch>
        </p:blipFill>
        <p:spPr>
          <a:xfrm>
            <a:off x="5209000" y="2916825"/>
            <a:ext cx="3375920" cy="2170225"/>
          </a:xfrm>
          <a:prstGeom prst="rect">
            <a:avLst/>
          </a:prstGeom>
          <a:noFill/>
          <a:ln>
            <a:noFill/>
          </a:ln>
        </p:spPr>
      </p:pic>
      <p:pic>
        <p:nvPicPr>
          <p:cNvPr id="82" name="Google Shape;82;p15"/>
          <p:cNvPicPr preferRelativeResize="0"/>
          <p:nvPr/>
        </p:nvPicPr>
        <p:blipFill rotWithShape="1">
          <a:blip r:embed="rId6">
            <a:alphaModFix/>
          </a:blip>
          <a:srcRect b="10136"/>
          <a:stretch/>
        </p:blipFill>
        <p:spPr>
          <a:xfrm>
            <a:off x="252725" y="825662"/>
            <a:ext cx="3611475" cy="2086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a:spLocks noGrp="1"/>
          </p:cNvSpPr>
          <p:nvPr>
            <p:ph type="title" idx="4294967295"/>
          </p:nvPr>
        </p:nvSpPr>
        <p:spPr>
          <a:xfrm>
            <a:off x="214200" y="134175"/>
            <a:ext cx="8929800" cy="1074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t>Jupyter Notebook - Visualizations with Plot.ly</a:t>
            </a:r>
            <a:endParaRPr/>
          </a:p>
          <a:p>
            <a:pPr marL="0" lvl="0" indent="0" algn="l" rtl="0">
              <a:lnSpc>
                <a:spcPct val="115000"/>
              </a:lnSpc>
              <a:spcBef>
                <a:spcPts val="0"/>
              </a:spcBef>
              <a:spcAft>
                <a:spcPts val="0"/>
              </a:spcAft>
              <a:buNone/>
            </a:pPr>
            <a:r>
              <a:rPr lang="en" sz="1800" i="1"/>
              <a:t>Empowered by the NLTK package</a:t>
            </a:r>
            <a:endParaRPr sz="1800" i="1"/>
          </a:p>
        </p:txBody>
      </p:sp>
      <p:pic>
        <p:nvPicPr>
          <p:cNvPr id="88" name="Google Shape;88;p16"/>
          <p:cNvPicPr preferRelativeResize="0"/>
          <p:nvPr/>
        </p:nvPicPr>
        <p:blipFill rotWithShape="1">
          <a:blip r:embed="rId3">
            <a:alphaModFix/>
          </a:blip>
          <a:srcRect b="7338"/>
          <a:stretch/>
        </p:blipFill>
        <p:spPr>
          <a:xfrm>
            <a:off x="4572000" y="2323674"/>
            <a:ext cx="4528451" cy="2697600"/>
          </a:xfrm>
          <a:prstGeom prst="rect">
            <a:avLst/>
          </a:prstGeom>
          <a:noFill/>
          <a:ln>
            <a:noFill/>
          </a:ln>
        </p:spPr>
      </p:pic>
      <p:pic>
        <p:nvPicPr>
          <p:cNvPr id="89" name="Google Shape;89;p16"/>
          <p:cNvPicPr preferRelativeResize="0"/>
          <p:nvPr/>
        </p:nvPicPr>
        <p:blipFill rotWithShape="1">
          <a:blip r:embed="rId4">
            <a:alphaModFix/>
          </a:blip>
          <a:srcRect b="8332"/>
          <a:stretch/>
        </p:blipFill>
        <p:spPr>
          <a:xfrm>
            <a:off x="34825" y="2357988"/>
            <a:ext cx="4460976" cy="2628925"/>
          </a:xfrm>
          <a:prstGeom prst="rect">
            <a:avLst/>
          </a:prstGeom>
          <a:noFill/>
          <a:ln>
            <a:noFill/>
          </a:ln>
        </p:spPr>
      </p:pic>
      <p:sp>
        <p:nvSpPr>
          <p:cNvPr id="90" name="Google Shape;90;p16"/>
          <p:cNvSpPr txBox="1"/>
          <p:nvPr/>
        </p:nvSpPr>
        <p:spPr>
          <a:xfrm>
            <a:off x="1463600" y="1304025"/>
            <a:ext cx="5664000" cy="999600"/>
          </a:xfrm>
          <a:prstGeom prst="rect">
            <a:avLst/>
          </a:prstGeom>
          <a:noFill/>
          <a:ln>
            <a:noFill/>
          </a:ln>
        </p:spPr>
        <p:txBody>
          <a:bodyPr spcFirstLastPara="1" wrap="square" lIns="91425" tIns="91425" rIns="91425" bIns="91425" anchor="t" anchorCtr="0">
            <a:noAutofit/>
          </a:bodyPr>
          <a:lstStyle/>
          <a:p>
            <a:pPr marL="457200" lvl="0" indent="-304800" algn="l" rtl="0">
              <a:lnSpc>
                <a:spcPct val="150000"/>
              </a:lnSpc>
              <a:spcBef>
                <a:spcPts val="0"/>
              </a:spcBef>
              <a:spcAft>
                <a:spcPts val="0"/>
              </a:spcAft>
              <a:buSzPts val="1200"/>
              <a:buFont typeface="Roboto"/>
              <a:buChar char="●"/>
            </a:pPr>
            <a:r>
              <a:rPr lang="en" sz="1200">
                <a:latin typeface="Roboto"/>
                <a:ea typeface="Roboto"/>
                <a:cs typeface="Roboto"/>
                <a:sym typeface="Roboto"/>
              </a:rPr>
              <a:t>Cleaned up the stopwords (‘the’, ‘is’, ‘are’, etc) from the post contents first</a:t>
            </a:r>
            <a:endParaRPr sz="1200">
              <a:latin typeface="Roboto"/>
              <a:ea typeface="Roboto"/>
              <a:cs typeface="Roboto"/>
              <a:sym typeface="Roboto"/>
            </a:endParaRPr>
          </a:p>
          <a:p>
            <a:pPr marL="457200" lvl="0" indent="-304800" algn="l" rtl="0">
              <a:lnSpc>
                <a:spcPct val="150000"/>
              </a:lnSpc>
              <a:spcBef>
                <a:spcPts val="0"/>
              </a:spcBef>
              <a:spcAft>
                <a:spcPts val="0"/>
              </a:spcAft>
              <a:buSzPts val="1200"/>
              <a:buFont typeface="Roboto"/>
              <a:buChar char="●"/>
            </a:pPr>
            <a:r>
              <a:rPr lang="en" sz="1200">
                <a:latin typeface="Roboto"/>
                <a:ea typeface="Roboto"/>
                <a:cs typeface="Roboto"/>
                <a:sym typeface="Roboto"/>
              </a:rPr>
              <a:t>Performed tokenization and stemming on post contents</a:t>
            </a:r>
            <a:endParaRPr sz="1200">
              <a:latin typeface="Roboto"/>
              <a:ea typeface="Roboto"/>
              <a:cs typeface="Roboto"/>
              <a:sym typeface="Roboto"/>
            </a:endParaRPr>
          </a:p>
          <a:p>
            <a:pPr marL="457200" lvl="0" indent="-304800" algn="l" rtl="0">
              <a:lnSpc>
                <a:spcPct val="150000"/>
              </a:lnSpc>
              <a:spcBef>
                <a:spcPts val="0"/>
              </a:spcBef>
              <a:spcAft>
                <a:spcPts val="0"/>
              </a:spcAft>
              <a:buSzPts val="1200"/>
              <a:buFont typeface="Roboto"/>
              <a:buChar char="●"/>
            </a:pPr>
            <a:r>
              <a:rPr lang="en" sz="1200">
                <a:latin typeface="Roboto"/>
                <a:ea typeface="Roboto"/>
                <a:cs typeface="Roboto"/>
                <a:sym typeface="Roboto"/>
              </a:rPr>
              <a:t>Below are the top 10 most frequent words</a:t>
            </a:r>
            <a:endParaRPr sz="1200">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7"/>
          <p:cNvSpPr txBox="1">
            <a:spLocks noGrp="1"/>
          </p:cNvSpPr>
          <p:nvPr>
            <p:ph type="title" idx="4294967295"/>
          </p:nvPr>
        </p:nvSpPr>
        <p:spPr>
          <a:xfrm>
            <a:off x="396350" y="209450"/>
            <a:ext cx="5198400" cy="6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Phase 3: Building a Web App</a:t>
            </a:r>
            <a:endParaRPr/>
          </a:p>
        </p:txBody>
      </p:sp>
      <p:sp>
        <p:nvSpPr>
          <p:cNvPr id="96" name="Google Shape;96;p17"/>
          <p:cNvSpPr txBox="1">
            <a:spLocks noGrp="1"/>
          </p:cNvSpPr>
          <p:nvPr>
            <p:ph type="title" idx="4294967295"/>
          </p:nvPr>
        </p:nvSpPr>
        <p:spPr>
          <a:xfrm>
            <a:off x="529950" y="1832850"/>
            <a:ext cx="8332200" cy="14778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Clr>
                <a:srgbClr val="000000"/>
              </a:buClr>
              <a:buSzPts val="1400"/>
              <a:buFont typeface="Roboto"/>
              <a:buAutoNum type="arabicPeriod"/>
            </a:pPr>
            <a:r>
              <a:rPr lang="en" sz="1400">
                <a:solidFill>
                  <a:srgbClr val="000000"/>
                </a:solidFill>
                <a:latin typeface="Roboto"/>
                <a:ea typeface="Roboto"/>
                <a:cs typeface="Roboto"/>
                <a:sym typeface="Roboto"/>
              </a:rPr>
              <a:t>We need more data</a:t>
            </a:r>
            <a:endParaRPr sz="1400">
              <a:solidFill>
                <a:srgbClr val="000000"/>
              </a:solidFill>
              <a:latin typeface="Roboto"/>
              <a:ea typeface="Roboto"/>
              <a:cs typeface="Roboto"/>
              <a:sym typeface="Roboto"/>
            </a:endParaRPr>
          </a:p>
          <a:p>
            <a:pPr marL="457200" lvl="0" indent="-317500" algn="l" rtl="0">
              <a:lnSpc>
                <a:spcPct val="150000"/>
              </a:lnSpc>
              <a:spcBef>
                <a:spcPts val="0"/>
              </a:spcBef>
              <a:spcAft>
                <a:spcPts val="0"/>
              </a:spcAft>
              <a:buClr>
                <a:srgbClr val="000000"/>
              </a:buClr>
              <a:buSzPts val="1400"/>
              <a:buFont typeface="Roboto"/>
              <a:buAutoNum type="arabicPeriod"/>
            </a:pPr>
            <a:r>
              <a:rPr lang="en" sz="1400">
                <a:solidFill>
                  <a:srgbClr val="000000"/>
                </a:solidFill>
                <a:latin typeface="Roboto"/>
                <a:ea typeface="Roboto"/>
                <a:cs typeface="Roboto"/>
                <a:sym typeface="Roboto"/>
              </a:rPr>
              <a:t>Collaborating with faculty and TA’s</a:t>
            </a:r>
            <a:endParaRPr sz="1400">
              <a:solidFill>
                <a:srgbClr val="000000"/>
              </a:solidFill>
              <a:latin typeface="Roboto"/>
              <a:ea typeface="Roboto"/>
              <a:cs typeface="Roboto"/>
              <a:sym typeface="Roboto"/>
            </a:endParaRPr>
          </a:p>
          <a:p>
            <a:pPr marL="457200" lvl="0" indent="-317500" algn="l" rtl="0">
              <a:lnSpc>
                <a:spcPct val="150000"/>
              </a:lnSpc>
              <a:spcBef>
                <a:spcPts val="0"/>
              </a:spcBef>
              <a:spcAft>
                <a:spcPts val="0"/>
              </a:spcAft>
              <a:buClr>
                <a:srgbClr val="000000"/>
              </a:buClr>
              <a:buSzPts val="1400"/>
              <a:buFont typeface="Roboto"/>
              <a:buAutoNum type="arabicPeriod"/>
            </a:pPr>
            <a:r>
              <a:rPr lang="en" sz="1400">
                <a:solidFill>
                  <a:srgbClr val="000000"/>
                </a:solidFill>
                <a:latin typeface="Roboto"/>
                <a:ea typeface="Roboto"/>
                <a:cs typeface="Roboto"/>
                <a:sym typeface="Roboto"/>
              </a:rPr>
              <a:t>Understanding the stakeholders needs in real environment</a:t>
            </a:r>
            <a:endParaRPr sz="1400">
              <a:solidFill>
                <a:srgbClr val="000000"/>
              </a:solidFill>
              <a:latin typeface="Roboto"/>
              <a:ea typeface="Roboto"/>
              <a:cs typeface="Roboto"/>
              <a:sym typeface="Roboto"/>
            </a:endParaRPr>
          </a:p>
          <a:p>
            <a:pPr marL="457200" lvl="0" indent="-317500" algn="l" rtl="0">
              <a:lnSpc>
                <a:spcPct val="150000"/>
              </a:lnSpc>
              <a:spcBef>
                <a:spcPts val="0"/>
              </a:spcBef>
              <a:spcAft>
                <a:spcPts val="0"/>
              </a:spcAft>
              <a:buClr>
                <a:srgbClr val="000000"/>
              </a:buClr>
              <a:buSzPts val="1400"/>
              <a:buFont typeface="Roboto"/>
              <a:buAutoNum type="arabicPeriod"/>
            </a:pPr>
            <a:r>
              <a:rPr lang="en" sz="1400">
                <a:solidFill>
                  <a:srgbClr val="000000"/>
                </a:solidFill>
                <a:latin typeface="Roboto"/>
                <a:ea typeface="Roboto"/>
                <a:cs typeface="Roboto"/>
                <a:sym typeface="Roboto"/>
              </a:rPr>
              <a:t>Agile and Scrum methodology</a:t>
            </a:r>
            <a:endParaRPr sz="1400">
              <a:solidFill>
                <a:srgbClr val="000000"/>
              </a:solidFill>
              <a:latin typeface="Roboto"/>
              <a:ea typeface="Roboto"/>
              <a:cs typeface="Roboto"/>
              <a:sym typeface="Roboto"/>
            </a:endParaRPr>
          </a:p>
        </p:txBody>
      </p:sp>
      <p:sp>
        <p:nvSpPr>
          <p:cNvPr id="97" name="Google Shape;97;p17"/>
          <p:cNvSpPr txBox="1">
            <a:spLocks noGrp="1"/>
          </p:cNvSpPr>
          <p:nvPr>
            <p:ph type="title" idx="4294967295"/>
          </p:nvPr>
        </p:nvSpPr>
        <p:spPr>
          <a:xfrm>
            <a:off x="529950" y="1067725"/>
            <a:ext cx="1059300" cy="6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Why?</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idx="4294967295"/>
          </p:nvPr>
        </p:nvSpPr>
        <p:spPr>
          <a:xfrm>
            <a:off x="356300" y="1916850"/>
            <a:ext cx="8332200" cy="20997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Clr>
                <a:srgbClr val="000000"/>
              </a:buClr>
              <a:buSzPts val="1400"/>
              <a:buFont typeface="Roboto"/>
              <a:buChar char="●"/>
            </a:pPr>
            <a:r>
              <a:rPr lang="en" sz="1400">
                <a:solidFill>
                  <a:srgbClr val="000000"/>
                </a:solidFill>
                <a:latin typeface="Roboto"/>
                <a:ea typeface="Roboto"/>
                <a:cs typeface="Roboto"/>
                <a:sym typeface="Roboto"/>
              </a:rPr>
              <a:t>Using the Flask framework, credentials will be input by the user</a:t>
            </a:r>
            <a:endParaRPr sz="1400">
              <a:solidFill>
                <a:srgbClr val="000000"/>
              </a:solidFill>
              <a:latin typeface="Roboto"/>
              <a:ea typeface="Roboto"/>
              <a:cs typeface="Roboto"/>
              <a:sym typeface="Roboto"/>
            </a:endParaRPr>
          </a:p>
          <a:p>
            <a:pPr marL="457200" lvl="0" indent="-317500" algn="l" rtl="0">
              <a:lnSpc>
                <a:spcPct val="150000"/>
              </a:lnSpc>
              <a:spcBef>
                <a:spcPts val="0"/>
              </a:spcBef>
              <a:spcAft>
                <a:spcPts val="0"/>
              </a:spcAft>
              <a:buClr>
                <a:srgbClr val="000000"/>
              </a:buClr>
              <a:buSzPts val="1400"/>
              <a:buFont typeface="Roboto"/>
              <a:buChar char="●"/>
            </a:pPr>
            <a:r>
              <a:rPr lang="en" sz="1400">
                <a:solidFill>
                  <a:srgbClr val="000000"/>
                </a:solidFill>
                <a:latin typeface="Roboto"/>
                <a:ea typeface="Roboto"/>
                <a:cs typeface="Roboto"/>
                <a:sym typeface="Roboto"/>
              </a:rPr>
              <a:t>The piazza scrape script will be run using the credentials and the results will be saved in MongoDB</a:t>
            </a:r>
            <a:endParaRPr sz="1400">
              <a:solidFill>
                <a:srgbClr val="000000"/>
              </a:solidFill>
              <a:latin typeface="Roboto"/>
              <a:ea typeface="Roboto"/>
              <a:cs typeface="Roboto"/>
              <a:sym typeface="Roboto"/>
            </a:endParaRPr>
          </a:p>
          <a:p>
            <a:pPr marL="457200" lvl="0" indent="-317500" algn="l" rtl="0">
              <a:lnSpc>
                <a:spcPct val="150000"/>
              </a:lnSpc>
              <a:spcBef>
                <a:spcPts val="0"/>
              </a:spcBef>
              <a:spcAft>
                <a:spcPts val="0"/>
              </a:spcAft>
              <a:buClr>
                <a:srgbClr val="000000"/>
              </a:buClr>
              <a:buSzPts val="1400"/>
              <a:buFont typeface="Roboto"/>
              <a:buChar char="●"/>
            </a:pPr>
            <a:r>
              <a:rPr lang="en" sz="1400">
                <a:solidFill>
                  <a:srgbClr val="000000"/>
                </a:solidFill>
                <a:latin typeface="Roboto"/>
                <a:ea typeface="Roboto"/>
                <a:cs typeface="Roboto"/>
                <a:sym typeface="Roboto"/>
              </a:rPr>
              <a:t>The results will be run through the sentiment analysis</a:t>
            </a:r>
            <a:endParaRPr sz="1400">
              <a:solidFill>
                <a:srgbClr val="000000"/>
              </a:solidFill>
              <a:latin typeface="Roboto"/>
              <a:ea typeface="Roboto"/>
              <a:cs typeface="Roboto"/>
              <a:sym typeface="Roboto"/>
            </a:endParaRPr>
          </a:p>
          <a:p>
            <a:pPr marL="457200" lvl="0" indent="-317500" algn="l" rtl="0">
              <a:lnSpc>
                <a:spcPct val="150000"/>
              </a:lnSpc>
              <a:spcBef>
                <a:spcPts val="0"/>
              </a:spcBef>
              <a:spcAft>
                <a:spcPts val="0"/>
              </a:spcAft>
              <a:buClr>
                <a:srgbClr val="000000"/>
              </a:buClr>
              <a:buSzPts val="1400"/>
              <a:buFont typeface="Roboto"/>
              <a:buChar char="●"/>
            </a:pPr>
            <a:r>
              <a:rPr lang="en" sz="1400">
                <a:solidFill>
                  <a:srgbClr val="000000"/>
                </a:solidFill>
                <a:latin typeface="Roboto"/>
                <a:ea typeface="Roboto"/>
                <a:cs typeface="Roboto"/>
                <a:sym typeface="Roboto"/>
              </a:rPr>
              <a:t>Sentiment Analysis will be visualized through Ploy.ly framework in the web app</a:t>
            </a:r>
            <a:endParaRPr sz="1400">
              <a:solidFill>
                <a:srgbClr val="000000"/>
              </a:solidFill>
              <a:latin typeface="Roboto"/>
              <a:ea typeface="Roboto"/>
              <a:cs typeface="Roboto"/>
              <a:sym typeface="Roboto"/>
            </a:endParaRPr>
          </a:p>
          <a:p>
            <a:pPr marL="0" lvl="0" indent="0" algn="l" rtl="0">
              <a:lnSpc>
                <a:spcPct val="150000"/>
              </a:lnSpc>
              <a:spcBef>
                <a:spcPts val="0"/>
              </a:spcBef>
              <a:spcAft>
                <a:spcPts val="0"/>
              </a:spcAft>
              <a:buNone/>
            </a:pPr>
            <a:endParaRPr sz="1400">
              <a:solidFill>
                <a:srgbClr val="000000"/>
              </a:solidFill>
              <a:latin typeface="Roboto"/>
              <a:ea typeface="Roboto"/>
              <a:cs typeface="Roboto"/>
              <a:sym typeface="Roboto"/>
            </a:endParaRPr>
          </a:p>
          <a:p>
            <a:pPr marL="0" lvl="0" indent="0" algn="l" rtl="0">
              <a:lnSpc>
                <a:spcPct val="150000"/>
              </a:lnSpc>
              <a:spcBef>
                <a:spcPts val="0"/>
              </a:spcBef>
              <a:spcAft>
                <a:spcPts val="0"/>
              </a:spcAft>
              <a:buNone/>
            </a:pPr>
            <a:endParaRPr sz="1400">
              <a:solidFill>
                <a:srgbClr val="000000"/>
              </a:solidFill>
              <a:latin typeface="Roboto"/>
              <a:ea typeface="Roboto"/>
              <a:cs typeface="Roboto"/>
              <a:sym typeface="Roboto"/>
            </a:endParaRPr>
          </a:p>
          <a:p>
            <a:pPr marL="457200" lvl="0" indent="0" algn="l" rtl="0">
              <a:lnSpc>
                <a:spcPct val="150000"/>
              </a:lnSpc>
              <a:spcBef>
                <a:spcPts val="0"/>
              </a:spcBef>
              <a:spcAft>
                <a:spcPts val="0"/>
              </a:spcAft>
              <a:buNone/>
            </a:pPr>
            <a:endParaRPr sz="1400">
              <a:solidFill>
                <a:srgbClr val="000000"/>
              </a:solidFill>
              <a:latin typeface="Roboto"/>
              <a:ea typeface="Roboto"/>
              <a:cs typeface="Roboto"/>
              <a:sym typeface="Roboto"/>
            </a:endParaRPr>
          </a:p>
        </p:txBody>
      </p:sp>
      <p:sp>
        <p:nvSpPr>
          <p:cNvPr id="103" name="Google Shape;103;p18"/>
          <p:cNvSpPr txBox="1">
            <a:spLocks noGrp="1"/>
          </p:cNvSpPr>
          <p:nvPr>
            <p:ph type="title" idx="4294967295"/>
          </p:nvPr>
        </p:nvSpPr>
        <p:spPr>
          <a:xfrm>
            <a:off x="506750" y="1083500"/>
            <a:ext cx="8332200" cy="69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a:t>
            </a:r>
            <a:endParaRPr/>
          </a:p>
        </p:txBody>
      </p:sp>
      <p:sp>
        <p:nvSpPr>
          <p:cNvPr id="104" name="Google Shape;104;p18"/>
          <p:cNvSpPr txBox="1">
            <a:spLocks noGrp="1"/>
          </p:cNvSpPr>
          <p:nvPr>
            <p:ph type="title" idx="4294967295"/>
          </p:nvPr>
        </p:nvSpPr>
        <p:spPr>
          <a:xfrm>
            <a:off x="415150" y="117688"/>
            <a:ext cx="5198400" cy="6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Phase 3: Building a Web App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p:nvPr/>
        </p:nvSpPr>
        <p:spPr>
          <a:xfrm>
            <a:off x="465725" y="1045700"/>
            <a:ext cx="7746000" cy="766800"/>
          </a:xfrm>
          <a:prstGeom prst="rect">
            <a:avLst/>
          </a:prstGeom>
          <a:noFill/>
          <a:ln>
            <a:noFill/>
          </a:ln>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Roboto"/>
              <a:buChar char="●"/>
            </a:pPr>
            <a:r>
              <a:rPr lang="en">
                <a:latin typeface="Roboto"/>
                <a:ea typeface="Roboto"/>
                <a:cs typeface="Roboto"/>
                <a:sym typeface="Roboto"/>
              </a:rPr>
              <a:t>Working on an AdobeXD mockup of the web app design</a:t>
            </a:r>
            <a:endParaRPr>
              <a:latin typeface="Roboto"/>
              <a:ea typeface="Roboto"/>
              <a:cs typeface="Roboto"/>
              <a:sym typeface="Roboto"/>
            </a:endParaRPr>
          </a:p>
          <a:p>
            <a:pPr marL="457200" lvl="0" indent="-317500" algn="l" rtl="0">
              <a:lnSpc>
                <a:spcPct val="150000"/>
              </a:lnSpc>
              <a:spcBef>
                <a:spcPts val="0"/>
              </a:spcBef>
              <a:spcAft>
                <a:spcPts val="0"/>
              </a:spcAft>
              <a:buSzPts val="1400"/>
              <a:buFont typeface="Roboto"/>
              <a:buChar char="●"/>
            </a:pPr>
            <a:r>
              <a:rPr lang="en"/>
              <a:t>Performing detailed research on Flask and Plot.ly</a:t>
            </a:r>
            <a:endParaRPr/>
          </a:p>
        </p:txBody>
      </p:sp>
      <p:sp>
        <p:nvSpPr>
          <p:cNvPr id="110" name="Google Shape;110;p19"/>
          <p:cNvSpPr txBox="1">
            <a:spLocks noGrp="1"/>
          </p:cNvSpPr>
          <p:nvPr>
            <p:ph type="title" idx="4294967295"/>
          </p:nvPr>
        </p:nvSpPr>
        <p:spPr>
          <a:xfrm>
            <a:off x="405900" y="238525"/>
            <a:ext cx="8332200" cy="69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October 11 - 25</a:t>
            </a:r>
            <a:endParaRPr/>
          </a:p>
        </p:txBody>
      </p:sp>
      <p:sp>
        <p:nvSpPr>
          <p:cNvPr id="111" name="Google Shape;111;p19"/>
          <p:cNvSpPr txBox="1">
            <a:spLocks noGrp="1"/>
          </p:cNvSpPr>
          <p:nvPr>
            <p:ph type="title" idx="4294967295"/>
          </p:nvPr>
        </p:nvSpPr>
        <p:spPr>
          <a:xfrm>
            <a:off x="511275" y="2225550"/>
            <a:ext cx="8332200" cy="69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October 25 - December 6</a:t>
            </a:r>
            <a:endParaRPr/>
          </a:p>
        </p:txBody>
      </p:sp>
      <p:sp>
        <p:nvSpPr>
          <p:cNvPr id="112" name="Google Shape;112;p19"/>
          <p:cNvSpPr txBox="1"/>
          <p:nvPr/>
        </p:nvSpPr>
        <p:spPr>
          <a:xfrm>
            <a:off x="646350" y="3040125"/>
            <a:ext cx="7746000" cy="480900"/>
          </a:xfrm>
          <a:prstGeom prst="rect">
            <a:avLst/>
          </a:prstGeom>
          <a:noFill/>
          <a:ln>
            <a:noFill/>
          </a:ln>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Roboto"/>
              <a:buChar char="●"/>
            </a:pPr>
            <a:r>
              <a:rPr lang="en">
                <a:latin typeface="Roboto"/>
                <a:ea typeface="Roboto"/>
                <a:cs typeface="Roboto"/>
                <a:sym typeface="Roboto"/>
              </a:rPr>
              <a:t>Web App Development with a minimum target of a Proof of Concept</a:t>
            </a:r>
            <a:endParaRPr>
              <a:latin typeface="Roboto"/>
              <a:ea typeface="Roboto"/>
              <a:cs typeface="Roboto"/>
              <a:sym typeface="Roboto"/>
            </a:endParaRPr>
          </a:p>
          <a:p>
            <a:pPr marL="457200" lvl="0" indent="0" algn="l" rtl="0">
              <a:lnSpc>
                <a:spcPct val="150000"/>
              </a:lnSpc>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idx="4294967295"/>
          </p:nvPr>
        </p:nvSpPr>
        <p:spPr>
          <a:xfrm>
            <a:off x="471600" y="1709675"/>
            <a:ext cx="7737300" cy="14985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None/>
            </a:pPr>
            <a:r>
              <a:rPr lang="en"/>
              <a:t>Questions</a:t>
            </a:r>
            <a:endParaRPr/>
          </a:p>
          <a:p>
            <a:pPr marL="0" lvl="0" indent="0" algn="ctr" rtl="0">
              <a:lnSpc>
                <a:spcPct val="200000"/>
              </a:lnSpc>
              <a:spcBef>
                <a:spcPts val="0"/>
              </a:spcBef>
              <a:spcAft>
                <a:spcPts val="0"/>
              </a:spcAft>
              <a:buNone/>
            </a:pPr>
            <a:r>
              <a:rPr lang="en"/>
              <a:t>Any suggestions for web app?</a:t>
            </a:r>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263</Words>
  <Application>Microsoft Macintosh PowerPoint</Application>
  <PresentationFormat>On-screen Show (16:9)</PresentationFormat>
  <Paragraphs>34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Roboto</vt:lpstr>
      <vt:lpstr>Merriweather</vt:lpstr>
      <vt:lpstr>Paradigm</vt:lpstr>
      <vt:lpstr>Data Driven Education</vt:lpstr>
      <vt:lpstr>Phase 2 Conclusion : Jupyter Notebook </vt:lpstr>
      <vt:lpstr>Jupyter Notebook - Visualizations with Plot.ly </vt:lpstr>
      <vt:lpstr>Jupyter Notebook - Visualizations with Plot.ly Empowered by the NLTK package</vt:lpstr>
      <vt:lpstr>Phase 3: Building a Web App</vt:lpstr>
      <vt:lpstr>Using the Flask framework, credentials will be input by the user The piazza scrape script will be run using the credentials and the results will be saved in MongoDB The results will be run through the sentiment analysis Sentiment Analysis will be visualized through Ploy.ly framework in the web app   </vt:lpstr>
      <vt:lpstr>October 11 - 25</vt:lpstr>
      <vt:lpstr>Questions Any suggestions for web app?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Driven Education</dc:title>
  <cp:lastModifiedBy>Dhakal, Attush</cp:lastModifiedBy>
  <cp:revision>1</cp:revision>
  <dcterms:modified xsi:type="dcterms:W3CDTF">2019-10-30T05:37:12Z</dcterms:modified>
</cp:coreProperties>
</file>