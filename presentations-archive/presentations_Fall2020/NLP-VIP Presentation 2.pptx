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Roboto"/>
      <p:regular r:id="rId32"/>
      <p:bold r:id="rId33"/>
      <p:italic r:id="rId34"/>
      <p:boldItalic r:id="rId35"/>
    </p:embeddedFont>
    <p:embeddedFont>
      <p:font typeface="Roboto Condensed Light"/>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40" roundtripDataSignature="AMtx7mhigoGTZ2NaUzAEZvowVuD2eIbg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37" Type="http://schemas.openxmlformats.org/officeDocument/2006/relationships/font" Target="fonts/RobotoCondensedLight-bold.fntdata"/><Relationship Id="rId14" Type="http://schemas.openxmlformats.org/officeDocument/2006/relationships/slide" Target="slides/slide8.xml"/><Relationship Id="rId36" Type="http://schemas.openxmlformats.org/officeDocument/2006/relationships/font" Target="fonts/RobotoCondensedLight-regular.fntdata"/><Relationship Id="rId17" Type="http://schemas.openxmlformats.org/officeDocument/2006/relationships/slide" Target="slides/slide11.xml"/><Relationship Id="rId39" Type="http://schemas.openxmlformats.org/officeDocument/2006/relationships/font" Target="fonts/RobotoCondensedLight-boldItalic.fntdata"/><Relationship Id="rId16" Type="http://schemas.openxmlformats.org/officeDocument/2006/relationships/slide" Target="slides/slide10.xml"/><Relationship Id="rId38" Type="http://schemas.openxmlformats.org/officeDocument/2006/relationships/font" Target="fonts/RobotoCondensedLigh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9d48565b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9d48565b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9d659091a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9d659091a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9d659091a8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9d659091a8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9d659091a8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9d659091a8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9d659091a8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9d659091a8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9d659091a8_1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9d659091a8_1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9d659091a8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9d659091a8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9d659091a8_1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9d659091a8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9d659091a8_1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9d659091a8_1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9e75c098f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9e75c098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9e75c098f9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9e75c098f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a3a760e4d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a3a760e4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9d6572b64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9d6572b64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a419ff096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a419ff09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a419ff096c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a419ff096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https://towardsdatascience.com/sentiment-analysis-on-the-tweets-about-distance-learning-with-textblob-cc73702b48bc</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a419ff096c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a419ff096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9d48565bb2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9d48565bb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9d48565bb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9d48565bb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25" name="Shape 25"/>
        <p:cNvGrpSpPr/>
        <p:nvPr/>
      </p:nvGrpSpPr>
      <p:grpSpPr>
        <a:xfrm>
          <a:off x="0" y="0"/>
          <a:ext cx="0" cy="0"/>
          <a:chOff x="0" y="0"/>
          <a:chExt cx="0" cy="0"/>
        </a:xfrm>
      </p:grpSpPr>
      <p:sp>
        <p:nvSpPr>
          <p:cNvPr id="26" name="Google Shape;26;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2" name="Shape 32"/>
        <p:cNvGrpSpPr/>
        <p:nvPr/>
      </p:nvGrpSpPr>
      <p:grpSpPr>
        <a:xfrm>
          <a:off x="0" y="0"/>
          <a:ext cx="0" cy="0"/>
          <a:chOff x="0" y="0"/>
          <a:chExt cx="0" cy="0"/>
        </a:xfrm>
      </p:grpSpPr>
      <p:sp>
        <p:nvSpPr>
          <p:cNvPr id="33" name="Google Shape;33;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 name="Google Shape;36;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41" name="Shape 41"/>
        <p:cNvGrpSpPr/>
        <p:nvPr/>
      </p:nvGrpSpPr>
      <p:grpSpPr>
        <a:xfrm>
          <a:off x="0" y="0"/>
          <a:ext cx="0" cy="0"/>
          <a:chOff x="0" y="0"/>
          <a:chExt cx="0" cy="0"/>
        </a:xfrm>
      </p:grpSpPr>
      <p:sp>
        <p:nvSpPr>
          <p:cNvPr id="42" name="Google Shape;4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Roboto"/>
                <a:ea typeface="Roboto"/>
                <a:cs typeface="Roboto"/>
                <a:sym typeface="Roboto"/>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Roboto"/>
                <a:ea typeface="Roboto"/>
                <a:cs typeface="Roboto"/>
                <a:sym typeface="Roboto"/>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Roboto"/>
                <a:ea typeface="Roboto"/>
                <a:cs typeface="Roboto"/>
                <a:sym typeface="Roboto"/>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7.jpg"/><Relationship Id="rId5" Type="http://schemas.openxmlformats.org/officeDocument/2006/relationships/image" Target="../media/image17.png"/><Relationship Id="rId6" Type="http://schemas.openxmlformats.org/officeDocument/2006/relationships/image" Target="../media/image6.jpg"/><Relationship Id="rId7" Type="http://schemas.openxmlformats.org/officeDocument/2006/relationships/image" Target="../media/image8.jpg"/><Relationship Id="rId8"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csvkit.readthedocs.io/en/latest/" TargetMode="External"/><Relationship Id="rId4" Type="http://schemas.openxmlformats.org/officeDocument/2006/relationships/hyperlink" Target="https://csvkit.readthedocs.io/en/lates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csvkit.readthedocs.io/en/latest/" TargetMode="External"/><Relationship Id="rId4" Type="http://schemas.openxmlformats.org/officeDocument/2006/relationships/hyperlink" Target="https://towardsdatascience.com/sentiment-analysis-on-the-tweets-about-distance-learning-with-textblob-cc73702b48bc" TargetMode="External"/><Relationship Id="rId5" Type="http://schemas.openxmlformats.org/officeDocument/2006/relationships/hyperlink" Target="http://proceedings.mlr.press/v37/kusnerb15.pdf" TargetMode="External"/><Relationship Id="rId6" Type="http://schemas.openxmlformats.org/officeDocument/2006/relationships/hyperlink" Target="https://doi.org/10.1080/0892364010952707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2 - 10/21/2020</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p2"/>
          <p:cNvSpPr/>
          <p:nvPr/>
        </p:nvSpPr>
        <p:spPr>
          <a:xfrm>
            <a:off x="26745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txBox="1"/>
          <p:nvPr/>
        </p:nvSpPr>
        <p:spPr>
          <a:xfrm>
            <a:off x="23559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Lindsey Blackmore</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5" name="Google Shape;85;p2"/>
          <p:cNvSpPr txBox="1"/>
          <p:nvPr/>
        </p:nvSpPr>
        <p:spPr>
          <a:xfrm>
            <a:off x="41463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John Hosmer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6" name="Google Shape;86;p2"/>
          <p:cNvSpPr txBox="1"/>
          <p:nvPr/>
        </p:nvSpPr>
        <p:spPr>
          <a:xfrm>
            <a:off x="59367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Sambhav Jaideep</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7" name="Google Shape;87;p2"/>
          <p:cNvSpPr txBox="1"/>
          <p:nvPr/>
        </p:nvSpPr>
        <p:spPr>
          <a:xfrm>
            <a:off x="77271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Manny Jonson</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8" name="Google Shape;88;p2"/>
          <p:cNvSpPr/>
          <p:nvPr/>
        </p:nvSpPr>
        <p:spPr>
          <a:xfrm>
            <a:off x="98361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txBox="1"/>
          <p:nvPr/>
        </p:nvSpPr>
        <p:spPr>
          <a:xfrm>
            <a:off x="95175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Morgan Powers</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90" name="Google Shape;90;p2"/>
          <p:cNvSpPr/>
          <p:nvPr/>
        </p:nvSpPr>
        <p:spPr>
          <a:xfrm>
            <a:off x="80457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62553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884100" y="2105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txBox="1"/>
          <p:nvPr/>
        </p:nvSpPr>
        <p:spPr>
          <a:xfrm>
            <a:off x="5655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Andrew Bauer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pic>
        <p:nvPicPr>
          <p:cNvPr id="94" name="Google Shape;94;p2"/>
          <p:cNvPicPr preferRelativeResize="0"/>
          <p:nvPr/>
        </p:nvPicPr>
        <p:blipFill rotWithShape="1">
          <a:blip r:embed="rId3">
            <a:alphaModFix/>
          </a:blip>
          <a:srcRect b="0" l="0" r="0" t="0"/>
          <a:stretch/>
        </p:blipFill>
        <p:spPr>
          <a:xfrm>
            <a:off x="884100" y="2105400"/>
            <a:ext cx="1153200" cy="1183500"/>
          </a:xfrm>
          <a:prstGeom prst="ellipse">
            <a:avLst/>
          </a:prstGeom>
          <a:noFill/>
          <a:ln>
            <a:noFill/>
          </a:ln>
        </p:spPr>
      </p:pic>
      <p:pic>
        <p:nvPicPr>
          <p:cNvPr id="95" name="Google Shape;95;p2"/>
          <p:cNvPicPr preferRelativeResize="0"/>
          <p:nvPr/>
        </p:nvPicPr>
        <p:blipFill rotWithShape="1">
          <a:blip r:embed="rId4">
            <a:alphaModFix/>
          </a:blip>
          <a:srcRect b="0" l="0" r="0" t="0"/>
          <a:stretch/>
        </p:blipFill>
        <p:spPr>
          <a:xfrm>
            <a:off x="6207150" y="2018400"/>
            <a:ext cx="1249500" cy="1249500"/>
          </a:xfrm>
          <a:prstGeom prst="ellipse">
            <a:avLst/>
          </a:prstGeom>
          <a:noFill/>
          <a:ln>
            <a:noFill/>
          </a:ln>
        </p:spPr>
      </p:pic>
      <p:pic>
        <p:nvPicPr>
          <p:cNvPr id="96" name="Google Shape;96;p2"/>
          <p:cNvPicPr preferRelativeResize="0"/>
          <p:nvPr/>
        </p:nvPicPr>
        <p:blipFill rotWithShape="1">
          <a:blip r:embed="rId5">
            <a:alphaModFix/>
          </a:blip>
          <a:srcRect b="0" l="0" r="0" t="0"/>
          <a:stretch/>
        </p:blipFill>
        <p:spPr>
          <a:xfrm>
            <a:off x="4391025" y="2016750"/>
            <a:ext cx="1252800" cy="1252800"/>
          </a:xfrm>
          <a:prstGeom prst="ellipse">
            <a:avLst/>
          </a:prstGeom>
          <a:noFill/>
          <a:ln cap="flat" cmpd="sng" w="9525">
            <a:solidFill>
              <a:schemeClr val="dk2"/>
            </a:solidFill>
            <a:prstDash val="solid"/>
            <a:round/>
            <a:headEnd len="sm" w="sm" type="none"/>
            <a:tailEnd len="sm" w="sm" type="none"/>
          </a:ln>
        </p:spPr>
      </p:pic>
      <p:pic>
        <p:nvPicPr>
          <p:cNvPr id="97" name="Google Shape;97;p2"/>
          <p:cNvPicPr preferRelativeResize="0"/>
          <p:nvPr/>
        </p:nvPicPr>
        <p:blipFill rotWithShape="1">
          <a:blip r:embed="rId6">
            <a:alphaModFix/>
          </a:blip>
          <a:srcRect b="0" l="0" r="25705" t="0"/>
          <a:stretch/>
        </p:blipFill>
        <p:spPr>
          <a:xfrm rot="-5400000">
            <a:off x="2549362" y="2026050"/>
            <a:ext cx="1329600" cy="1342200"/>
          </a:xfrm>
          <a:prstGeom prst="ellipse">
            <a:avLst/>
          </a:prstGeom>
          <a:noFill/>
          <a:ln>
            <a:noFill/>
          </a:ln>
        </p:spPr>
      </p:pic>
      <p:pic>
        <p:nvPicPr>
          <p:cNvPr id="98" name="Google Shape;98;p2"/>
          <p:cNvPicPr preferRelativeResize="0"/>
          <p:nvPr/>
        </p:nvPicPr>
        <p:blipFill rotWithShape="1">
          <a:blip r:embed="rId7">
            <a:alphaModFix/>
          </a:blip>
          <a:srcRect b="17645" l="0" r="5526" t="8012"/>
          <a:stretch/>
        </p:blipFill>
        <p:spPr>
          <a:xfrm>
            <a:off x="9778550" y="1962725"/>
            <a:ext cx="1252800" cy="1320300"/>
          </a:xfrm>
          <a:prstGeom prst="ellipse">
            <a:avLst/>
          </a:prstGeom>
          <a:noFill/>
          <a:ln>
            <a:noFill/>
          </a:ln>
        </p:spPr>
      </p:pic>
      <p:pic>
        <p:nvPicPr>
          <p:cNvPr id="99" name="Google Shape;99;p2"/>
          <p:cNvPicPr preferRelativeResize="0"/>
          <p:nvPr/>
        </p:nvPicPr>
        <p:blipFill rotWithShape="1">
          <a:blip r:embed="rId8">
            <a:alphaModFix/>
          </a:blip>
          <a:srcRect b="30166" l="0" r="35212" t="13934"/>
          <a:stretch/>
        </p:blipFill>
        <p:spPr>
          <a:xfrm>
            <a:off x="7946500" y="1969800"/>
            <a:ext cx="1342200" cy="1346700"/>
          </a:xfrm>
          <a:prstGeom prst="ellipse">
            <a:avLst/>
          </a:prstGeom>
          <a:noFill/>
          <a:ln cap="flat" cmpd="sng" w="9525">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9d48565bb2_0_0"/>
          <p:cNvSpPr txBox="1"/>
          <p:nvPr>
            <p:ph idx="1" type="body"/>
          </p:nvPr>
        </p:nvSpPr>
        <p:spPr>
          <a:xfrm>
            <a:off x="381000" y="1215484"/>
            <a:ext cx="11430000" cy="4596300"/>
          </a:xfrm>
          <a:prstGeom prst="rect">
            <a:avLst/>
          </a:prstGeom>
        </p:spPr>
        <p:txBody>
          <a:bodyPr anchorCtr="0" anchor="t" bIns="45700" lIns="91425" spcFirstLastPara="1" rIns="91425" wrap="square" tIns="45700">
            <a:noAutofit/>
          </a:bodyPr>
          <a:lstStyle/>
          <a:p>
            <a:pPr indent="-342900" lvl="0" marL="457200" rtl="0" algn="l">
              <a:lnSpc>
                <a:spcPct val="100000"/>
              </a:lnSpc>
              <a:spcBef>
                <a:spcPts val="1500"/>
              </a:spcBef>
              <a:spcAft>
                <a:spcPts val="0"/>
              </a:spcAft>
              <a:buSzPts val="1800"/>
              <a:buChar char="●"/>
            </a:pPr>
            <a:r>
              <a:rPr lang="en-US"/>
              <a:t>Discussion forums are largely used in college courses especially with the swift transition to primarily online course formats</a:t>
            </a:r>
            <a:endParaRPr/>
          </a:p>
          <a:p>
            <a:pPr indent="-342900" lvl="0" marL="457200" rtl="0" algn="l">
              <a:lnSpc>
                <a:spcPct val="100000"/>
              </a:lnSpc>
              <a:spcBef>
                <a:spcPts val="1500"/>
              </a:spcBef>
              <a:spcAft>
                <a:spcPts val="0"/>
              </a:spcAft>
              <a:buSzPts val="1800"/>
              <a:buChar char="●"/>
            </a:pPr>
            <a:r>
              <a:rPr lang="en-US"/>
              <a:t>Student interaction in these forums provides indications of their participation as well as cognitive presence</a:t>
            </a:r>
            <a:endParaRPr/>
          </a:p>
          <a:p>
            <a:pPr indent="-342900" lvl="0" marL="457200" rtl="0" algn="l">
              <a:lnSpc>
                <a:spcPct val="100000"/>
              </a:lnSpc>
              <a:spcBef>
                <a:spcPts val="1500"/>
              </a:spcBef>
              <a:spcAft>
                <a:spcPts val="0"/>
              </a:spcAft>
              <a:buSzPts val="1800"/>
              <a:buChar char="●"/>
            </a:pPr>
            <a:r>
              <a:rPr lang="en-US"/>
              <a:t>Metrics and analysis on this information can be leveraged by professors to better grasp their students’ understanding, thoughts on the course/material, and more</a:t>
            </a:r>
            <a:endParaRPr/>
          </a:p>
          <a:p>
            <a:pPr indent="-342900" lvl="0" marL="457200" rtl="0" algn="l">
              <a:lnSpc>
                <a:spcPct val="100000"/>
              </a:lnSpc>
              <a:spcBef>
                <a:spcPts val="1500"/>
              </a:spcBef>
              <a:spcAft>
                <a:spcPts val="1500"/>
              </a:spcAft>
              <a:buSzPts val="1800"/>
              <a:buChar char="●"/>
            </a:pPr>
            <a:r>
              <a:rPr lang="en-US"/>
              <a:t>Creating a web application to be used by professors will allow the instructors to improve their courses</a:t>
            </a:r>
            <a:endParaRPr/>
          </a:p>
        </p:txBody>
      </p:sp>
      <p:sp>
        <p:nvSpPr>
          <p:cNvPr id="105" name="Google Shape;105;g9d48565bb2_0_0"/>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Focus for Discussion Forum Subteam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8"/>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Data science team is looking to deliver a workable cognitive presence model by the end of the month or pivot to a workstream where we can find more success</a:t>
            </a:r>
            <a:endParaRPr/>
          </a:p>
          <a:p>
            <a:pPr indent="-342900" lvl="0" marL="457200" rtl="0" algn="l">
              <a:lnSpc>
                <a:spcPct val="100000"/>
              </a:lnSpc>
              <a:spcBef>
                <a:spcPts val="1000"/>
              </a:spcBef>
              <a:spcAft>
                <a:spcPts val="0"/>
              </a:spcAft>
              <a:buSzPts val="1800"/>
              <a:buChar char="•"/>
            </a:pPr>
            <a:r>
              <a:rPr lang="en-US"/>
              <a:t>We have provided support for the front end where needed</a:t>
            </a:r>
            <a:endParaRPr/>
          </a:p>
          <a:p>
            <a:pPr indent="-342900" lvl="0" marL="457200" rtl="0" algn="l">
              <a:lnSpc>
                <a:spcPct val="100000"/>
              </a:lnSpc>
              <a:spcBef>
                <a:spcPts val="1000"/>
              </a:spcBef>
              <a:spcAft>
                <a:spcPts val="0"/>
              </a:spcAft>
              <a:buSzPts val="1800"/>
              <a:buChar char="•"/>
            </a:pPr>
            <a:r>
              <a:rPr lang="en-US"/>
              <a:t>All modelling work has been uploaded into github so future team members can view what has been done and might be able to make improvements to work we have yet to complete</a:t>
            </a:r>
            <a:endParaRPr/>
          </a:p>
        </p:txBody>
      </p:sp>
      <p:sp>
        <p:nvSpPr>
          <p:cNvPr id="111" name="Google Shape;111;p8"/>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Team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9d659091a8_1_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Cognitive presence modelling attempts to track how a conversation flows from a triggering event to a resolution within a community of inquiry</a:t>
            </a:r>
            <a:endParaRPr/>
          </a:p>
          <a:p>
            <a:pPr indent="-342900" lvl="0" marL="457200" rtl="0" algn="l">
              <a:lnSpc>
                <a:spcPct val="100000"/>
              </a:lnSpc>
              <a:spcBef>
                <a:spcPts val="1000"/>
              </a:spcBef>
              <a:spcAft>
                <a:spcPts val="0"/>
              </a:spcAft>
              <a:buSzPts val="1800"/>
              <a:buChar char="•"/>
            </a:pPr>
            <a:r>
              <a:rPr lang="en-US"/>
              <a:t>The cognitive presence model that we base this work off of</a:t>
            </a:r>
            <a:r>
              <a:rPr baseline="30000" lang="en-US" sz="2600"/>
              <a:t>[7][8]</a:t>
            </a:r>
            <a:r>
              <a:rPr lang="en-US"/>
              <a:t> includes 5 phases: No cognitive presence, triggering event, exploration, integration, and resolution</a:t>
            </a:r>
            <a:endParaRPr/>
          </a:p>
          <a:p>
            <a:pPr indent="-342900" lvl="1" marL="914400" rtl="0" algn="l">
              <a:lnSpc>
                <a:spcPct val="100000"/>
              </a:lnSpc>
              <a:spcBef>
                <a:spcPts val="1000"/>
              </a:spcBef>
              <a:spcAft>
                <a:spcPts val="0"/>
              </a:spcAft>
              <a:buSzPts val="1800"/>
              <a:buChar char="•"/>
            </a:pPr>
            <a:r>
              <a:rPr lang="en-US"/>
              <a:t>These labels are consistent across human labelers</a:t>
            </a:r>
            <a:r>
              <a:rPr baseline="30000" lang="en-US" sz="2600"/>
              <a:t>[6]</a:t>
            </a:r>
            <a:endParaRPr/>
          </a:p>
          <a:p>
            <a:pPr indent="-342900" lvl="0" marL="457200" rtl="0" algn="l">
              <a:lnSpc>
                <a:spcPct val="100000"/>
              </a:lnSpc>
              <a:spcBef>
                <a:spcPts val="1000"/>
              </a:spcBef>
              <a:spcAft>
                <a:spcPts val="0"/>
              </a:spcAft>
              <a:buSzPts val="1800"/>
              <a:buChar char="•"/>
            </a:pPr>
            <a:r>
              <a:rPr lang="en-US"/>
              <a:t>The prior semester provided labeled data which made this work possible</a:t>
            </a:r>
            <a:endParaRPr/>
          </a:p>
          <a:p>
            <a:pPr indent="-342900" lvl="0" marL="457200" rtl="0" algn="l">
              <a:lnSpc>
                <a:spcPct val="100000"/>
              </a:lnSpc>
              <a:spcBef>
                <a:spcPts val="1000"/>
              </a:spcBef>
              <a:spcAft>
                <a:spcPts val="1000"/>
              </a:spcAft>
              <a:buSzPts val="1800"/>
              <a:buChar char="•"/>
            </a:pPr>
            <a:r>
              <a:rPr lang="en-US"/>
              <a:t>One of the major challenges we are up against is that question asked in the context of a class are dissimilar to other conversation</a:t>
            </a:r>
            <a:endParaRPr/>
          </a:p>
        </p:txBody>
      </p:sp>
      <p:sp>
        <p:nvSpPr>
          <p:cNvPr id="117" name="Google Shape;117;g9d659091a8_1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Intro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9d659091a8_1_1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One method that we have used for trying to classify new cases is the word mover’s distance metric</a:t>
            </a:r>
            <a:r>
              <a:rPr baseline="30000" lang="en-US" sz="2600"/>
              <a:t>[5]</a:t>
            </a:r>
            <a:r>
              <a:rPr lang="en-US"/>
              <a:t> paired with a KNN classifier</a:t>
            </a:r>
            <a:endParaRPr/>
          </a:p>
          <a:p>
            <a:pPr indent="-342900" lvl="0" marL="457200" rtl="0" algn="l">
              <a:lnSpc>
                <a:spcPct val="100000"/>
              </a:lnSpc>
              <a:spcBef>
                <a:spcPts val="1000"/>
              </a:spcBef>
              <a:spcAft>
                <a:spcPts val="0"/>
              </a:spcAft>
              <a:buSzPts val="1800"/>
              <a:buChar char="•"/>
            </a:pPr>
            <a:r>
              <a:rPr lang="en-US"/>
              <a:t>The word mover’s distance metric compares two documents by measuring the distance between word embeddings from every word in the two documents</a:t>
            </a:r>
            <a:endParaRPr/>
          </a:p>
          <a:p>
            <a:pPr indent="-342900" lvl="0" marL="457200" rtl="0" algn="l">
              <a:lnSpc>
                <a:spcPct val="100000"/>
              </a:lnSpc>
              <a:spcBef>
                <a:spcPts val="1000"/>
              </a:spcBef>
              <a:spcAft>
                <a:spcPts val="1000"/>
              </a:spcAft>
              <a:buSzPts val="1800"/>
              <a:buChar char="•"/>
            </a:pPr>
            <a:r>
              <a:rPr lang="en-US"/>
              <a:t>For our KNN, we find the closest N </a:t>
            </a:r>
            <a:br>
              <a:rPr lang="en-US"/>
            </a:br>
            <a:r>
              <a:rPr lang="en-US"/>
              <a:t>documents and pick the most </a:t>
            </a:r>
            <a:br>
              <a:rPr lang="en-US"/>
            </a:br>
            <a:r>
              <a:rPr lang="en-US"/>
              <a:t>frequently appearing one as the </a:t>
            </a:r>
            <a:br>
              <a:rPr lang="en-US"/>
            </a:br>
            <a:r>
              <a:rPr lang="en-US"/>
              <a:t>label</a:t>
            </a:r>
            <a:endParaRPr/>
          </a:p>
        </p:txBody>
      </p:sp>
      <p:sp>
        <p:nvSpPr>
          <p:cNvPr id="123" name="Google Shape;123;g9d659091a8_1_1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Word Mover’s Distance</a:t>
            </a:r>
            <a:endParaRPr/>
          </a:p>
        </p:txBody>
      </p:sp>
      <p:pic>
        <p:nvPicPr>
          <p:cNvPr id="124" name="Google Shape;124;g9d659091a8_1_15"/>
          <p:cNvPicPr preferRelativeResize="0"/>
          <p:nvPr/>
        </p:nvPicPr>
        <p:blipFill>
          <a:blip r:embed="rId3">
            <a:alphaModFix/>
          </a:blip>
          <a:stretch>
            <a:fillRect/>
          </a:stretch>
        </p:blipFill>
        <p:spPr>
          <a:xfrm>
            <a:off x="6828400" y="3563029"/>
            <a:ext cx="4748757" cy="2248750"/>
          </a:xfrm>
          <a:prstGeom prst="rect">
            <a:avLst/>
          </a:prstGeom>
          <a:noFill/>
          <a:ln>
            <a:noFill/>
          </a:ln>
        </p:spPr>
      </p:pic>
      <p:sp>
        <p:nvSpPr>
          <p:cNvPr id="125" name="Google Shape;125;g9d659091a8_1_15"/>
          <p:cNvSpPr txBox="1"/>
          <p:nvPr/>
        </p:nvSpPr>
        <p:spPr>
          <a:xfrm>
            <a:off x="7872950" y="5852550"/>
            <a:ext cx="3395700" cy="49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Roboto"/>
                <a:ea typeface="Roboto"/>
                <a:cs typeface="Roboto"/>
                <a:sym typeface="Roboto"/>
              </a:rPr>
              <a:t>The classic WMD example from [5]</a:t>
            </a: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9d659091a8_1_2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Our </a:t>
            </a:r>
            <a:r>
              <a:rPr lang="en-US"/>
              <a:t>initial</a:t>
            </a:r>
            <a:r>
              <a:rPr lang="en-US"/>
              <a:t> results are somewhat positive, especially for classifying no cognitive presence and triggering events</a:t>
            </a:r>
            <a:endParaRPr/>
          </a:p>
          <a:p>
            <a:pPr indent="-342900" lvl="0" marL="457200" rtl="0" algn="l">
              <a:lnSpc>
                <a:spcPct val="100000"/>
              </a:lnSpc>
              <a:spcBef>
                <a:spcPts val="1000"/>
              </a:spcBef>
              <a:spcAft>
                <a:spcPts val="0"/>
              </a:spcAft>
              <a:buSzPts val="1800"/>
              <a:buChar char="•"/>
            </a:pPr>
            <a:r>
              <a:rPr lang="en-US"/>
              <a:t>The other 3 categories (</a:t>
            </a:r>
            <a:r>
              <a:rPr lang="en-US"/>
              <a:t>exploration, integration, and resolution) </a:t>
            </a:r>
            <a:r>
              <a:rPr lang="en-US"/>
              <a:t>frequently classify as other items in their group</a:t>
            </a:r>
            <a:endParaRPr/>
          </a:p>
          <a:p>
            <a:pPr indent="-342900" lvl="0" marL="457200" rtl="0" algn="l">
              <a:lnSpc>
                <a:spcPct val="100000"/>
              </a:lnSpc>
              <a:spcBef>
                <a:spcPts val="1000"/>
              </a:spcBef>
              <a:spcAft>
                <a:spcPts val="0"/>
              </a:spcAft>
              <a:buSzPts val="1800"/>
              <a:buChar char="•"/>
            </a:pPr>
            <a:r>
              <a:rPr lang="en-US"/>
              <a:t>The best results we are seeing are currently at a K of 7</a:t>
            </a:r>
            <a:endParaRPr/>
          </a:p>
          <a:p>
            <a:pPr indent="-342900" lvl="0" marL="457200" rtl="0" algn="l">
              <a:lnSpc>
                <a:spcPct val="100000"/>
              </a:lnSpc>
              <a:spcBef>
                <a:spcPts val="1000"/>
              </a:spcBef>
              <a:spcAft>
                <a:spcPts val="1000"/>
              </a:spcAft>
              <a:buSzPts val="1800"/>
              <a:buChar char="•"/>
            </a:pPr>
            <a:r>
              <a:rPr lang="en-US"/>
              <a:t>To break ties we weight each item by a scalar subtracted by its word mover’s distance metric</a:t>
            </a:r>
            <a:endParaRPr/>
          </a:p>
        </p:txBody>
      </p:sp>
      <p:sp>
        <p:nvSpPr>
          <p:cNvPr id="131" name="Google Shape;131;g9d659091a8_1_2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Word Mover’s Distance</a:t>
            </a:r>
            <a:endParaRPr/>
          </a:p>
        </p:txBody>
      </p:sp>
      <p:pic>
        <p:nvPicPr>
          <p:cNvPr id="132" name="Google Shape;132;g9d659091a8_1_20"/>
          <p:cNvPicPr preferRelativeResize="0"/>
          <p:nvPr/>
        </p:nvPicPr>
        <p:blipFill>
          <a:blip r:embed="rId3">
            <a:alphaModFix/>
          </a:blip>
          <a:stretch>
            <a:fillRect/>
          </a:stretch>
        </p:blipFill>
        <p:spPr>
          <a:xfrm>
            <a:off x="1882725" y="4854998"/>
            <a:ext cx="1630844" cy="956775"/>
          </a:xfrm>
          <a:prstGeom prst="rect">
            <a:avLst/>
          </a:prstGeom>
          <a:noFill/>
          <a:ln>
            <a:noFill/>
          </a:ln>
        </p:spPr>
      </p:pic>
      <p:sp>
        <p:nvSpPr>
          <p:cNvPr id="133" name="Google Shape;133;g9d659091a8_1_20"/>
          <p:cNvSpPr txBox="1"/>
          <p:nvPr/>
        </p:nvSpPr>
        <p:spPr>
          <a:xfrm>
            <a:off x="1525600" y="5811775"/>
            <a:ext cx="23451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Roboto"/>
                <a:ea typeface="Roboto"/>
                <a:cs typeface="Roboto"/>
                <a:sym typeface="Roboto"/>
              </a:rPr>
              <a:t>Test set confusion matrix</a:t>
            </a:r>
            <a:endParaRPr>
              <a:latin typeface="Roboto"/>
              <a:ea typeface="Roboto"/>
              <a:cs typeface="Roboto"/>
              <a:sym typeface="Roboto"/>
            </a:endParaRPr>
          </a:p>
        </p:txBody>
      </p:sp>
      <p:pic>
        <p:nvPicPr>
          <p:cNvPr id="134" name="Google Shape;134;g9d659091a8_1_20"/>
          <p:cNvPicPr preferRelativeResize="0"/>
          <p:nvPr/>
        </p:nvPicPr>
        <p:blipFill>
          <a:blip r:embed="rId4">
            <a:alphaModFix/>
          </a:blip>
          <a:stretch>
            <a:fillRect/>
          </a:stretch>
        </p:blipFill>
        <p:spPr>
          <a:xfrm>
            <a:off x="5720313" y="4442788"/>
            <a:ext cx="4200525" cy="1781175"/>
          </a:xfrm>
          <a:prstGeom prst="rect">
            <a:avLst/>
          </a:prstGeom>
          <a:noFill/>
          <a:ln>
            <a:noFill/>
          </a:ln>
        </p:spPr>
      </p:pic>
      <p:sp>
        <p:nvSpPr>
          <p:cNvPr id="135" name="Google Shape;135;g9d659091a8_1_20"/>
          <p:cNvSpPr txBox="1"/>
          <p:nvPr/>
        </p:nvSpPr>
        <p:spPr>
          <a:xfrm>
            <a:off x="6106088" y="6281200"/>
            <a:ext cx="3429000" cy="2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latin typeface="Roboto"/>
                <a:ea typeface="Roboto"/>
                <a:cs typeface="Roboto"/>
                <a:sym typeface="Roboto"/>
              </a:rPr>
              <a:t>Test set metrics</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9d659091a8_1_2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To improve the results of the model we are have a couple of ideas</a:t>
            </a:r>
            <a:endParaRPr/>
          </a:p>
          <a:p>
            <a:pPr indent="-342900" lvl="0" marL="457200" rtl="0" algn="l">
              <a:lnSpc>
                <a:spcPct val="100000"/>
              </a:lnSpc>
              <a:spcBef>
                <a:spcPts val="1000"/>
              </a:spcBef>
              <a:spcAft>
                <a:spcPts val="0"/>
              </a:spcAft>
              <a:buSzPts val="1800"/>
              <a:buChar char="•"/>
            </a:pPr>
            <a:r>
              <a:rPr lang="en-US"/>
              <a:t>See how well we classify if we bunch </a:t>
            </a:r>
            <a:r>
              <a:rPr lang="en-US"/>
              <a:t>exploration, integration, and resolution as one category</a:t>
            </a:r>
            <a:endParaRPr/>
          </a:p>
          <a:p>
            <a:pPr indent="-342900" lvl="0" marL="457200" rtl="0" algn="l">
              <a:lnSpc>
                <a:spcPct val="100000"/>
              </a:lnSpc>
              <a:spcBef>
                <a:spcPts val="1000"/>
              </a:spcBef>
              <a:spcAft>
                <a:spcPts val="0"/>
              </a:spcAft>
              <a:buSzPts val="1800"/>
              <a:buChar char="•"/>
            </a:pPr>
            <a:r>
              <a:rPr lang="en-US"/>
              <a:t>Improve the voter metric by studying the distribution of distances and more intelligently weighting extremely similar instances</a:t>
            </a:r>
            <a:endParaRPr/>
          </a:p>
          <a:p>
            <a:pPr indent="-342900" lvl="0" marL="457200" rtl="0" algn="l">
              <a:lnSpc>
                <a:spcPct val="100000"/>
              </a:lnSpc>
              <a:spcBef>
                <a:spcPts val="1000"/>
              </a:spcBef>
              <a:spcAft>
                <a:spcPts val="0"/>
              </a:spcAft>
              <a:buSzPts val="1800"/>
              <a:buChar char="•"/>
            </a:pPr>
            <a:r>
              <a:rPr lang="en-US"/>
              <a:t>Clean up the data further </a:t>
            </a:r>
            <a:endParaRPr/>
          </a:p>
          <a:p>
            <a:pPr indent="-342900" lvl="1" marL="914400" rtl="0" algn="l">
              <a:lnSpc>
                <a:spcPct val="100000"/>
              </a:lnSpc>
              <a:spcBef>
                <a:spcPts val="1000"/>
              </a:spcBef>
              <a:spcAft>
                <a:spcPts val="0"/>
              </a:spcAft>
              <a:buSzPts val="1800"/>
              <a:buChar char="•"/>
            </a:pPr>
            <a:r>
              <a:rPr lang="en-US"/>
              <a:t>Replace links </a:t>
            </a:r>
            <a:endParaRPr/>
          </a:p>
          <a:p>
            <a:pPr indent="-342900" lvl="1" marL="914400" rtl="0" algn="l">
              <a:lnSpc>
                <a:spcPct val="100000"/>
              </a:lnSpc>
              <a:spcBef>
                <a:spcPts val="1000"/>
              </a:spcBef>
              <a:spcAft>
                <a:spcPts val="1000"/>
              </a:spcAft>
              <a:buSzPts val="1800"/>
              <a:buChar char="•"/>
            </a:pPr>
            <a:r>
              <a:rPr lang="en-US"/>
              <a:t>Try to find and replace code blocks</a:t>
            </a:r>
            <a:endParaRPr/>
          </a:p>
        </p:txBody>
      </p:sp>
      <p:sp>
        <p:nvSpPr>
          <p:cNvPr id="141" name="Google Shape;141;g9d659091a8_1_2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Word Mover’s Distance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9d659091a8_1_3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What are </a:t>
            </a:r>
            <a:r>
              <a:rPr lang="en-US"/>
              <a:t>transformers</a:t>
            </a:r>
            <a:r>
              <a:rPr lang="en-US"/>
              <a:t>?</a:t>
            </a:r>
            <a:endParaRPr/>
          </a:p>
          <a:p>
            <a:pPr indent="-342900" lvl="1" marL="914400" rtl="0" algn="l">
              <a:lnSpc>
                <a:spcPct val="100000"/>
              </a:lnSpc>
              <a:spcBef>
                <a:spcPts val="1000"/>
              </a:spcBef>
              <a:spcAft>
                <a:spcPts val="0"/>
              </a:spcAft>
              <a:buSzPts val="1800"/>
              <a:buChar char="•"/>
            </a:pPr>
            <a:r>
              <a:rPr lang="en-US"/>
              <a:t>Provide thousands of pretrained models to perform text classification, information extraction, question and answering, and many more tasks</a:t>
            </a:r>
            <a:endParaRPr/>
          </a:p>
          <a:p>
            <a:pPr indent="-342900" lvl="0" marL="457200" rtl="0" algn="l">
              <a:lnSpc>
                <a:spcPct val="100000"/>
              </a:lnSpc>
              <a:spcBef>
                <a:spcPts val="1000"/>
              </a:spcBef>
              <a:spcAft>
                <a:spcPts val="0"/>
              </a:spcAft>
              <a:buSzPts val="1800"/>
              <a:buChar char="•"/>
            </a:pPr>
            <a:r>
              <a:rPr lang="en-US"/>
              <a:t>What is huggingface?</a:t>
            </a:r>
            <a:endParaRPr/>
          </a:p>
          <a:p>
            <a:pPr indent="-342900" lvl="1" marL="914400" rtl="0" algn="l">
              <a:lnSpc>
                <a:spcPct val="100000"/>
              </a:lnSpc>
              <a:spcBef>
                <a:spcPts val="1000"/>
              </a:spcBef>
              <a:spcAft>
                <a:spcPts val="0"/>
              </a:spcAft>
              <a:buSzPts val="1800"/>
              <a:buChar char="•"/>
            </a:pPr>
            <a:r>
              <a:rPr lang="en-US"/>
              <a:t>A python API that provides state of the art NLP models back by the PyTorch and TensorFlow deep learning libraries</a:t>
            </a:r>
            <a:endParaRPr/>
          </a:p>
          <a:p>
            <a:pPr indent="-342900" lvl="1" marL="914400" rtl="0" algn="l">
              <a:lnSpc>
                <a:spcPct val="100000"/>
              </a:lnSpc>
              <a:spcBef>
                <a:spcPts val="1000"/>
              </a:spcBef>
              <a:spcAft>
                <a:spcPts val="1000"/>
              </a:spcAft>
              <a:buSzPts val="1800"/>
              <a:buChar char="•"/>
            </a:pPr>
            <a:r>
              <a:rPr lang="en-US"/>
              <a:t>Allows one to quickly download and use pretrained models to fine tune them on specific datasets </a:t>
            </a:r>
            <a:endParaRPr/>
          </a:p>
        </p:txBody>
      </p:sp>
      <p:sp>
        <p:nvSpPr>
          <p:cNvPr id="147" name="Google Shape;147;g9d659091a8_1_3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Transformers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9d659091a8_1_3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BERT</a:t>
            </a:r>
            <a:endParaRPr/>
          </a:p>
          <a:p>
            <a:pPr indent="-342900" lvl="1" marL="914400" rtl="0" algn="l">
              <a:lnSpc>
                <a:spcPct val="100000"/>
              </a:lnSpc>
              <a:spcBef>
                <a:spcPts val="1000"/>
              </a:spcBef>
              <a:spcAft>
                <a:spcPts val="0"/>
              </a:spcAft>
              <a:buSzPts val="1800"/>
              <a:buChar char="•"/>
            </a:pPr>
            <a:r>
              <a:rPr lang="en-US"/>
              <a:t>An industry leading NLP model often used for text classification</a:t>
            </a:r>
            <a:endParaRPr/>
          </a:p>
          <a:p>
            <a:pPr indent="-342900" lvl="0" marL="457200" rtl="0" algn="l">
              <a:lnSpc>
                <a:spcPct val="100000"/>
              </a:lnSpc>
              <a:spcBef>
                <a:spcPts val="1000"/>
              </a:spcBef>
              <a:spcAft>
                <a:spcPts val="0"/>
              </a:spcAft>
              <a:buSzPts val="1800"/>
              <a:buChar char="•"/>
            </a:pPr>
            <a:r>
              <a:rPr lang="en-US"/>
              <a:t>First pass at BERT</a:t>
            </a:r>
            <a:endParaRPr/>
          </a:p>
          <a:p>
            <a:pPr indent="-342900" lvl="1" marL="914400" rtl="0" algn="l">
              <a:lnSpc>
                <a:spcPct val="100000"/>
              </a:lnSpc>
              <a:spcBef>
                <a:spcPts val="1000"/>
              </a:spcBef>
              <a:spcAft>
                <a:spcPts val="0"/>
              </a:spcAft>
              <a:buSzPts val="1800"/>
              <a:buChar char="•"/>
            </a:pPr>
            <a:r>
              <a:rPr lang="en-US"/>
              <a:t>Although a lot of the work was done for us, the fine tuning and validation step was very time consuming</a:t>
            </a:r>
            <a:endParaRPr/>
          </a:p>
          <a:p>
            <a:pPr indent="-342900" lvl="1" marL="914400" rtl="0" algn="l">
              <a:lnSpc>
                <a:spcPct val="100000"/>
              </a:lnSpc>
              <a:spcBef>
                <a:spcPts val="1000"/>
              </a:spcBef>
              <a:spcAft>
                <a:spcPts val="0"/>
              </a:spcAft>
              <a:buSzPts val="1800"/>
              <a:buChar char="•"/>
            </a:pPr>
            <a:r>
              <a:rPr lang="en-US"/>
              <a:t>Our preliminary results show that BERT is bias towards the mean</a:t>
            </a:r>
            <a:endParaRPr/>
          </a:p>
          <a:p>
            <a:pPr indent="-342900" lvl="2" marL="1371600" rtl="0" algn="l">
              <a:lnSpc>
                <a:spcPct val="100000"/>
              </a:lnSpc>
              <a:spcBef>
                <a:spcPts val="1000"/>
              </a:spcBef>
              <a:spcAft>
                <a:spcPts val="0"/>
              </a:spcAft>
              <a:buSzPts val="1800"/>
              <a:buChar char="•"/>
            </a:pPr>
            <a:r>
              <a:rPr lang="en-US"/>
              <a:t>1st guess - most popular, 2nd guess - second most popular, etc. </a:t>
            </a:r>
            <a:endParaRPr/>
          </a:p>
          <a:p>
            <a:pPr indent="-342900" lvl="1" marL="914400" rtl="0" algn="l">
              <a:lnSpc>
                <a:spcPct val="100000"/>
              </a:lnSpc>
              <a:spcBef>
                <a:spcPts val="1000"/>
              </a:spcBef>
              <a:spcAft>
                <a:spcPts val="1000"/>
              </a:spcAft>
              <a:buSzPts val="1800"/>
              <a:buChar char="•"/>
            </a:pPr>
            <a:r>
              <a:rPr lang="en-US"/>
              <a:t>We believe the results may be skewed due to lack of data </a:t>
            </a:r>
            <a:endParaRPr/>
          </a:p>
        </p:txBody>
      </p:sp>
      <p:sp>
        <p:nvSpPr>
          <p:cNvPr id="153" name="Google Shape;153;g9d659091a8_1_3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BERT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9d659091a8_1_4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Moving forward</a:t>
            </a:r>
            <a:endParaRPr/>
          </a:p>
          <a:p>
            <a:pPr indent="-342900" lvl="1" marL="914400" rtl="0" algn="l">
              <a:lnSpc>
                <a:spcPct val="100000"/>
              </a:lnSpc>
              <a:spcBef>
                <a:spcPts val="1000"/>
              </a:spcBef>
              <a:spcAft>
                <a:spcPts val="0"/>
              </a:spcAft>
              <a:buSzPts val="1800"/>
              <a:buChar char="•"/>
            </a:pPr>
            <a:r>
              <a:rPr lang="en-US"/>
              <a:t>We plan to explore other transformer models and compare and contrast the results</a:t>
            </a:r>
            <a:endParaRPr/>
          </a:p>
          <a:p>
            <a:pPr indent="-342900" lvl="1" marL="914400" rtl="0" algn="l">
              <a:lnSpc>
                <a:spcPct val="100000"/>
              </a:lnSpc>
              <a:spcBef>
                <a:spcPts val="1000"/>
              </a:spcBef>
              <a:spcAft>
                <a:spcPts val="0"/>
              </a:spcAft>
              <a:buSzPts val="1800"/>
              <a:buChar char="•"/>
            </a:pPr>
            <a:r>
              <a:rPr lang="en-US"/>
              <a:t>Focus on experimental design and model performance</a:t>
            </a:r>
            <a:endParaRPr/>
          </a:p>
          <a:p>
            <a:pPr indent="-342900" lvl="1" marL="914400" rtl="0" algn="l">
              <a:lnSpc>
                <a:spcPct val="100000"/>
              </a:lnSpc>
              <a:spcBef>
                <a:spcPts val="1000"/>
              </a:spcBef>
              <a:spcAft>
                <a:spcPts val="0"/>
              </a:spcAft>
              <a:buSzPts val="1800"/>
              <a:buChar char="•"/>
            </a:pPr>
            <a:r>
              <a:rPr lang="en-US"/>
              <a:t>Attain more computing power on an approved platform</a:t>
            </a:r>
            <a:endParaRPr/>
          </a:p>
          <a:p>
            <a:pPr indent="0" lvl="0" marL="0" rtl="0" algn="l">
              <a:lnSpc>
                <a:spcPct val="100000"/>
              </a:lnSpc>
              <a:spcBef>
                <a:spcPts val="1000"/>
              </a:spcBef>
              <a:spcAft>
                <a:spcPts val="1000"/>
              </a:spcAft>
              <a:buNone/>
            </a:pPr>
            <a:r>
              <a:t/>
            </a:r>
            <a:endParaRPr/>
          </a:p>
        </p:txBody>
      </p:sp>
      <p:sp>
        <p:nvSpPr>
          <p:cNvPr id="159" name="Google Shape;159;g9d659091a8_1_4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Other Transformers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9d659091a8_1_4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Build simple web app to accelerate data collection</a:t>
            </a:r>
            <a:endParaRPr/>
          </a:p>
          <a:p>
            <a:pPr indent="-342900" lvl="0" marL="457200" rtl="0" algn="l">
              <a:lnSpc>
                <a:spcPct val="100000"/>
              </a:lnSpc>
              <a:spcBef>
                <a:spcPts val="1000"/>
              </a:spcBef>
              <a:spcAft>
                <a:spcPts val="0"/>
              </a:spcAft>
              <a:buSzPts val="1800"/>
              <a:buChar char="•"/>
            </a:pPr>
            <a:r>
              <a:rPr lang="en-US"/>
              <a:t>Research other cognitive presence classification models</a:t>
            </a:r>
            <a:r>
              <a:rPr baseline="30000" lang="en-US" sz="2600"/>
              <a:t>[6]</a:t>
            </a:r>
            <a:endParaRPr baseline="30000" sz="2600"/>
          </a:p>
          <a:p>
            <a:pPr indent="-342900" lvl="0" marL="457200" rtl="0" algn="l">
              <a:lnSpc>
                <a:spcPct val="100000"/>
              </a:lnSpc>
              <a:spcBef>
                <a:spcPts val="1000"/>
              </a:spcBef>
              <a:spcAft>
                <a:spcPts val="1000"/>
              </a:spcAft>
              <a:buSzPts val="1800"/>
              <a:buChar char="•"/>
            </a:pPr>
            <a:r>
              <a:rPr lang="en-US"/>
              <a:t>Tie in cognitive presence results to front end</a:t>
            </a:r>
            <a:endParaRPr/>
          </a:p>
        </p:txBody>
      </p:sp>
      <p:sp>
        <p:nvSpPr>
          <p:cNvPr id="165" name="Google Shape;165;g9d659091a8_1_4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Modelling - Conclusion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9e75c098f9_0_0"/>
          <p:cNvSpPr txBox="1"/>
          <p:nvPr>
            <p:ph idx="1" type="body"/>
          </p:nvPr>
        </p:nvSpPr>
        <p:spPr>
          <a:xfrm>
            <a:off x="381000" y="1215484"/>
            <a:ext cx="11430000" cy="4596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Used TextBlob in the Python library to generate polarity and subjectivity scores in each thread, and created columns containing these values in the csv for the edX data. </a:t>
            </a:r>
            <a:endParaRPr/>
          </a:p>
        </p:txBody>
      </p:sp>
      <p:sp>
        <p:nvSpPr>
          <p:cNvPr id="171" name="Google Shape;171;g9e75c098f9_0_0"/>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Polarity and Subjectivity</a:t>
            </a:r>
            <a:endParaRPr/>
          </a:p>
        </p:txBody>
      </p:sp>
      <p:pic>
        <p:nvPicPr>
          <p:cNvPr id="172" name="Google Shape;172;g9e75c098f9_0_0"/>
          <p:cNvPicPr preferRelativeResize="0"/>
          <p:nvPr/>
        </p:nvPicPr>
        <p:blipFill>
          <a:blip r:embed="rId3">
            <a:alphaModFix/>
          </a:blip>
          <a:stretch>
            <a:fillRect/>
          </a:stretch>
        </p:blipFill>
        <p:spPr>
          <a:xfrm>
            <a:off x="462500" y="2693674"/>
            <a:ext cx="9164852" cy="3952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9e75c098f9_0_6"/>
          <p:cNvSpPr txBox="1"/>
          <p:nvPr>
            <p:ph idx="1" type="body"/>
          </p:nvPr>
        </p:nvSpPr>
        <p:spPr>
          <a:xfrm>
            <a:off x="381000" y="1215484"/>
            <a:ext cx="11430000" cy="4596300"/>
          </a:xfrm>
          <a:prstGeom prst="rect">
            <a:avLst/>
          </a:prstGeom>
        </p:spPr>
        <p:txBody>
          <a:bodyPr anchorCtr="0" anchor="t" bIns="45700" lIns="91425" spcFirstLastPara="1" rIns="91425" wrap="square" tIns="45700">
            <a:noAutofit/>
          </a:bodyPr>
          <a:lstStyle/>
          <a:p>
            <a:pPr indent="-330200" lvl="0" marL="457200" rtl="0" algn="l">
              <a:spcBef>
                <a:spcPts val="1000"/>
              </a:spcBef>
              <a:spcAft>
                <a:spcPts val="0"/>
              </a:spcAft>
              <a:buSzPts val="1600"/>
              <a:buChar char="•"/>
            </a:pPr>
            <a:r>
              <a:rPr lang="en-US" sz="2600"/>
              <a:t>Currently, we are working with the web development team on finding the best way to visualize this data, and organize the data in a pipeline easier to be used by the web development team.</a:t>
            </a:r>
            <a:endParaRPr sz="2600"/>
          </a:p>
          <a:p>
            <a:pPr indent="0" lvl="0" marL="457200" rtl="0" algn="l">
              <a:spcBef>
                <a:spcPts val="1000"/>
              </a:spcBef>
              <a:spcAft>
                <a:spcPts val="0"/>
              </a:spcAft>
              <a:buNone/>
            </a:pPr>
            <a:r>
              <a:t/>
            </a:r>
            <a:endParaRPr sz="1200"/>
          </a:p>
          <a:p>
            <a:pPr indent="-330200" lvl="0" marL="457200" rtl="0" algn="l">
              <a:spcBef>
                <a:spcPts val="1000"/>
              </a:spcBef>
              <a:spcAft>
                <a:spcPts val="0"/>
              </a:spcAft>
              <a:buSzPts val="1600"/>
              <a:buChar char="•"/>
            </a:pPr>
            <a:r>
              <a:rPr lang="en-US" sz="2600"/>
              <a:t>Regarding visualization, we created two types of histograms containing the frequencies of the polarity scores using matplotlib.</a:t>
            </a:r>
            <a:endParaRPr sz="2600"/>
          </a:p>
          <a:p>
            <a:pPr indent="-330200" lvl="1" marL="914400" rtl="0" algn="l">
              <a:spcBef>
                <a:spcPts val="0"/>
              </a:spcBef>
              <a:spcAft>
                <a:spcPts val="0"/>
              </a:spcAft>
              <a:buSzPts val="1600"/>
              <a:buChar char="•"/>
            </a:pPr>
            <a:r>
              <a:rPr lang="en-US" sz="2200"/>
              <a:t> These types of diagrams were used in a similar study looking at tweets about COVID-19 (Kabir)</a:t>
            </a:r>
            <a:endParaRPr sz="2200"/>
          </a:p>
        </p:txBody>
      </p:sp>
      <p:sp>
        <p:nvSpPr>
          <p:cNvPr id="178" name="Google Shape;178;g9e75c098f9_0_6"/>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Polarity and Subjectivity- Next Steps</a:t>
            </a:r>
            <a:endParaRPr/>
          </a:p>
        </p:txBody>
      </p:sp>
      <p:pic>
        <p:nvPicPr>
          <p:cNvPr id="179" name="Google Shape;179;g9e75c098f9_0_6"/>
          <p:cNvPicPr preferRelativeResize="0"/>
          <p:nvPr/>
        </p:nvPicPr>
        <p:blipFill>
          <a:blip r:embed="rId3">
            <a:alphaModFix/>
          </a:blip>
          <a:stretch>
            <a:fillRect/>
          </a:stretch>
        </p:blipFill>
        <p:spPr>
          <a:xfrm>
            <a:off x="7290475" y="4102400"/>
            <a:ext cx="3820630" cy="2493999"/>
          </a:xfrm>
          <a:prstGeom prst="rect">
            <a:avLst/>
          </a:prstGeom>
          <a:noFill/>
          <a:ln>
            <a:noFill/>
          </a:ln>
        </p:spPr>
      </p:pic>
      <p:pic>
        <p:nvPicPr>
          <p:cNvPr id="180" name="Google Shape;180;g9e75c098f9_0_6"/>
          <p:cNvPicPr preferRelativeResize="0"/>
          <p:nvPr/>
        </p:nvPicPr>
        <p:blipFill>
          <a:blip r:embed="rId4">
            <a:alphaModFix/>
          </a:blip>
          <a:stretch>
            <a:fillRect/>
          </a:stretch>
        </p:blipFill>
        <p:spPr>
          <a:xfrm>
            <a:off x="3471050" y="3947600"/>
            <a:ext cx="3713100" cy="2494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9"/>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55600" lvl="0" marL="457200" rtl="0" algn="l">
              <a:lnSpc>
                <a:spcPct val="90000"/>
              </a:lnSpc>
              <a:spcBef>
                <a:spcPts val="1000"/>
              </a:spcBef>
              <a:spcAft>
                <a:spcPts val="0"/>
              </a:spcAft>
              <a:buSzPts val="2000"/>
              <a:buChar char="•"/>
            </a:pPr>
            <a:r>
              <a:rPr lang="en-US" sz="2000"/>
              <a:t>Done: </a:t>
            </a:r>
            <a:endParaRPr sz="2000"/>
          </a:p>
          <a:p>
            <a:pPr indent="-317500" lvl="1" marL="914400" rtl="0" algn="l">
              <a:lnSpc>
                <a:spcPct val="90000"/>
              </a:lnSpc>
              <a:spcBef>
                <a:spcPts val="1000"/>
              </a:spcBef>
              <a:spcAft>
                <a:spcPts val="0"/>
              </a:spcAft>
              <a:buSzPts val="1400"/>
              <a:buChar char="•"/>
            </a:pPr>
            <a:r>
              <a:rPr lang="en-US" sz="2000"/>
              <a:t>Provide post density data</a:t>
            </a:r>
            <a:endParaRPr sz="2000"/>
          </a:p>
          <a:p>
            <a:pPr indent="-317500" lvl="1" marL="914400" rtl="0" algn="l">
              <a:spcBef>
                <a:spcPts val="1000"/>
              </a:spcBef>
              <a:spcAft>
                <a:spcPts val="0"/>
              </a:spcAft>
              <a:buSzPts val="1400"/>
              <a:buChar char="•"/>
            </a:pPr>
            <a:r>
              <a:rPr lang="en-US" sz="2000"/>
              <a:t>Provide polarity and subjectivity values to front end team</a:t>
            </a:r>
            <a:endParaRPr sz="2000"/>
          </a:p>
          <a:p>
            <a:pPr indent="-317500" lvl="1" marL="914400" rtl="0" algn="l">
              <a:spcBef>
                <a:spcPts val="1000"/>
              </a:spcBef>
              <a:spcAft>
                <a:spcPts val="0"/>
              </a:spcAft>
              <a:buSzPts val="1400"/>
              <a:buChar char="•"/>
            </a:pPr>
            <a:r>
              <a:rPr lang="en-US" sz="2000"/>
              <a:t>Feasibility analysis for cognitive presence</a:t>
            </a:r>
            <a:endParaRPr sz="2000"/>
          </a:p>
          <a:p>
            <a:pPr indent="-355600" lvl="0" marL="457200" rtl="0" algn="l">
              <a:lnSpc>
                <a:spcPct val="90000"/>
              </a:lnSpc>
              <a:spcBef>
                <a:spcPts val="1000"/>
              </a:spcBef>
              <a:spcAft>
                <a:spcPts val="0"/>
              </a:spcAft>
              <a:buSzPts val="2000"/>
              <a:buChar char="•"/>
            </a:pPr>
            <a:r>
              <a:rPr lang="en-US" sz="2000"/>
              <a:t>Current priorities: </a:t>
            </a:r>
            <a:endParaRPr sz="2000"/>
          </a:p>
          <a:p>
            <a:pPr indent="-317500" lvl="1" marL="914400" rtl="0" algn="l">
              <a:lnSpc>
                <a:spcPct val="90000"/>
              </a:lnSpc>
              <a:spcBef>
                <a:spcPts val="1000"/>
              </a:spcBef>
              <a:spcAft>
                <a:spcPts val="0"/>
              </a:spcAft>
              <a:buSzPts val="1400"/>
              <a:buChar char="•"/>
            </a:pPr>
            <a:r>
              <a:rPr lang="en-US" sz="2000"/>
              <a:t>End-to-end model predicting cognitive presence value from test</a:t>
            </a:r>
            <a:endParaRPr sz="2000"/>
          </a:p>
          <a:p>
            <a:pPr indent="-317500" lvl="1" marL="914400" rtl="0" algn="l">
              <a:lnSpc>
                <a:spcPct val="90000"/>
              </a:lnSpc>
              <a:spcBef>
                <a:spcPts val="1000"/>
              </a:spcBef>
              <a:spcAft>
                <a:spcPts val="0"/>
              </a:spcAft>
              <a:buSzPts val="1400"/>
              <a:buChar char="•"/>
            </a:pPr>
            <a:r>
              <a:rPr lang="en-US" sz="2000"/>
              <a:t>Aid in front end visualization</a:t>
            </a:r>
            <a:endParaRPr sz="2000"/>
          </a:p>
          <a:p>
            <a:pPr indent="-355600" lvl="0" marL="457200" rtl="0" algn="l">
              <a:lnSpc>
                <a:spcPct val="90000"/>
              </a:lnSpc>
              <a:spcBef>
                <a:spcPts val="1000"/>
              </a:spcBef>
              <a:spcAft>
                <a:spcPts val="0"/>
              </a:spcAft>
              <a:buSzPts val="2000"/>
              <a:buChar char="•"/>
            </a:pPr>
            <a:r>
              <a:rPr lang="en-US" sz="2000"/>
              <a:t>Backlog: </a:t>
            </a:r>
            <a:endParaRPr sz="2000"/>
          </a:p>
          <a:p>
            <a:pPr indent="-317500" lvl="1" marL="914400" rtl="0" algn="l">
              <a:lnSpc>
                <a:spcPct val="90000"/>
              </a:lnSpc>
              <a:spcBef>
                <a:spcPts val="1000"/>
              </a:spcBef>
              <a:spcAft>
                <a:spcPts val="0"/>
              </a:spcAft>
              <a:buSzPts val="1400"/>
              <a:buChar char="•"/>
            </a:pPr>
            <a:r>
              <a:rPr lang="en-US" sz="2000"/>
              <a:t>Predict posts which will require TA or professor intervention</a:t>
            </a:r>
            <a:endParaRPr sz="2000"/>
          </a:p>
          <a:p>
            <a:pPr indent="-317500" lvl="1" marL="914400" rtl="0" algn="l">
              <a:lnSpc>
                <a:spcPct val="90000"/>
              </a:lnSpc>
              <a:spcBef>
                <a:spcPts val="1000"/>
              </a:spcBef>
              <a:spcAft>
                <a:spcPts val="0"/>
              </a:spcAft>
              <a:buSzPts val="1400"/>
              <a:buChar char="•"/>
            </a:pPr>
            <a:r>
              <a:rPr lang="en-US" sz="2000"/>
              <a:t>Enhance keyword search</a:t>
            </a:r>
            <a:endParaRPr sz="2000"/>
          </a:p>
          <a:p>
            <a:pPr indent="-317500" lvl="1" marL="914400" rtl="0" algn="l">
              <a:lnSpc>
                <a:spcPct val="90000"/>
              </a:lnSpc>
              <a:spcBef>
                <a:spcPts val="1000"/>
              </a:spcBef>
              <a:spcAft>
                <a:spcPts val="0"/>
              </a:spcAft>
              <a:buSzPts val="1400"/>
              <a:buChar char="•"/>
            </a:pPr>
            <a:r>
              <a:rPr lang="en-US" sz="2000"/>
              <a:t>Analyze student engagement</a:t>
            </a:r>
            <a:endParaRPr sz="2000"/>
          </a:p>
          <a:p>
            <a:pPr indent="-317500" lvl="1" marL="914400" rtl="0" algn="l">
              <a:lnSpc>
                <a:spcPct val="90000"/>
              </a:lnSpc>
              <a:spcBef>
                <a:spcPts val="1000"/>
              </a:spcBef>
              <a:spcAft>
                <a:spcPts val="0"/>
              </a:spcAft>
              <a:buSzPts val="1400"/>
              <a:buChar char="•"/>
            </a:pPr>
            <a:r>
              <a:rPr lang="en-US" sz="2000"/>
              <a:t>Topic modeling of posts</a:t>
            </a:r>
            <a:endParaRPr sz="2000"/>
          </a:p>
        </p:txBody>
      </p:sp>
      <p:sp>
        <p:nvSpPr>
          <p:cNvPr id="186" name="Google Shape;186;p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Goals on Data Science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SzPts val="1800"/>
              <a:buChar char="●"/>
            </a:pPr>
            <a:r>
              <a:rPr lang="en-US"/>
              <a:t>Researched stakeholder interest in web application content</a:t>
            </a:r>
            <a:endParaRPr/>
          </a:p>
          <a:p>
            <a:pPr indent="-342900" lvl="0" marL="457200" rtl="0" algn="l">
              <a:lnSpc>
                <a:spcPct val="115000"/>
              </a:lnSpc>
              <a:spcBef>
                <a:spcPts val="1000"/>
              </a:spcBef>
              <a:spcAft>
                <a:spcPts val="0"/>
              </a:spcAft>
              <a:buSzPts val="1800"/>
              <a:buChar char="●"/>
            </a:pPr>
            <a:r>
              <a:rPr lang="en-US"/>
              <a:t>Began work on creating a relational database for the edX data</a:t>
            </a:r>
            <a:endParaRPr/>
          </a:p>
          <a:p>
            <a:pPr indent="-342900" lvl="1" marL="914400" rtl="0" algn="l">
              <a:lnSpc>
                <a:spcPct val="115000"/>
              </a:lnSpc>
              <a:spcBef>
                <a:spcPts val="1000"/>
              </a:spcBef>
              <a:spcAft>
                <a:spcPts val="0"/>
              </a:spcAft>
              <a:buSzPts val="1800"/>
              <a:buChar char="○"/>
            </a:pPr>
            <a:r>
              <a:rPr lang="en-US"/>
              <a:t>Data is currently in CSV (comma separated values) files</a:t>
            </a:r>
            <a:endParaRPr/>
          </a:p>
          <a:p>
            <a:pPr indent="-342900" lvl="1" marL="914400" rtl="0" algn="l">
              <a:lnSpc>
                <a:spcPct val="115000"/>
              </a:lnSpc>
              <a:spcBef>
                <a:spcPts val="1000"/>
              </a:spcBef>
              <a:spcAft>
                <a:spcPts val="0"/>
              </a:spcAft>
              <a:buSzPts val="1800"/>
              <a:buChar char="○"/>
            </a:pPr>
            <a:r>
              <a:rPr lang="en-US"/>
              <a:t>SQLAlchemy is a library that allows communication between Python programs and databases</a:t>
            </a:r>
            <a:endParaRPr/>
          </a:p>
          <a:p>
            <a:pPr indent="-342900" lvl="0" marL="457200" rtl="0" algn="l">
              <a:lnSpc>
                <a:spcPct val="115000"/>
              </a:lnSpc>
              <a:spcBef>
                <a:spcPts val="1000"/>
              </a:spcBef>
              <a:spcAft>
                <a:spcPts val="0"/>
              </a:spcAft>
              <a:buSzPts val="1800"/>
              <a:buChar char="●"/>
            </a:pPr>
            <a:r>
              <a:rPr lang="en-US"/>
              <a:t>Settled on approach for dynamic routing within the application</a:t>
            </a:r>
            <a:endParaRPr/>
          </a:p>
          <a:p>
            <a:pPr indent="-342900" lvl="0" marL="457200" rtl="0" algn="l">
              <a:lnSpc>
                <a:spcPct val="115000"/>
              </a:lnSpc>
              <a:spcBef>
                <a:spcPts val="1000"/>
              </a:spcBef>
              <a:spcAft>
                <a:spcPts val="1000"/>
              </a:spcAft>
              <a:buSzPts val="1800"/>
              <a:buChar char="●"/>
            </a:pPr>
            <a:r>
              <a:rPr lang="en-US"/>
              <a:t>Explored appropriate data visualizations</a:t>
            </a:r>
            <a:endParaRPr/>
          </a:p>
        </p:txBody>
      </p:sp>
      <p:sp>
        <p:nvSpPr>
          <p:cNvPr id="192" name="Google Shape;192;p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Web Application Development Team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a3a760e4d3_0_0"/>
          <p:cNvSpPr txBox="1"/>
          <p:nvPr>
            <p:ph idx="1" type="body"/>
          </p:nvPr>
        </p:nvSpPr>
        <p:spPr>
          <a:xfrm>
            <a:off x="381000" y="1215484"/>
            <a:ext cx="11430000" cy="4596300"/>
          </a:xfrm>
          <a:prstGeom prst="rect">
            <a:avLst/>
          </a:prstGeom>
        </p:spPr>
        <p:txBody>
          <a:bodyPr anchorCtr="0" anchor="t" bIns="45700" lIns="91425" spcFirstLastPara="1" rIns="91425" wrap="square" tIns="45700">
            <a:noAutofit/>
          </a:bodyPr>
          <a:lstStyle/>
          <a:p>
            <a:pPr indent="-406400" lvl="0" marL="457200" rtl="0" algn="l">
              <a:lnSpc>
                <a:spcPct val="150000"/>
              </a:lnSpc>
              <a:spcBef>
                <a:spcPts val="1000"/>
              </a:spcBef>
              <a:spcAft>
                <a:spcPts val="0"/>
              </a:spcAft>
              <a:buSzPts val="2800"/>
              <a:buChar char="•"/>
            </a:pPr>
            <a:r>
              <a:rPr b="1" lang="en-US" u="sng"/>
              <a:t>static </a:t>
            </a:r>
            <a:r>
              <a:rPr lang="en-US"/>
              <a:t>- having a separate file for each individual class</a:t>
            </a:r>
            <a:endParaRPr/>
          </a:p>
          <a:p>
            <a:pPr indent="-406400" lvl="1" marL="914400" rtl="0" algn="l">
              <a:lnSpc>
                <a:spcPct val="150000"/>
              </a:lnSpc>
              <a:spcBef>
                <a:spcPts val="0"/>
              </a:spcBef>
              <a:spcAft>
                <a:spcPts val="0"/>
              </a:spcAft>
              <a:buSzPts val="2800"/>
              <a:buChar char="•"/>
            </a:pPr>
            <a:r>
              <a:rPr lang="en-US" sz="2800"/>
              <a:t>leads to problems</a:t>
            </a:r>
            <a:endParaRPr sz="2800"/>
          </a:p>
          <a:p>
            <a:pPr indent="-406400" lvl="0" marL="457200" rtl="0" algn="l">
              <a:lnSpc>
                <a:spcPct val="150000"/>
              </a:lnSpc>
              <a:spcBef>
                <a:spcPts val="0"/>
              </a:spcBef>
              <a:spcAft>
                <a:spcPts val="0"/>
              </a:spcAft>
              <a:buSzPts val="2800"/>
              <a:buChar char="•"/>
            </a:pPr>
            <a:r>
              <a:rPr b="1" lang="en-US" u="sng"/>
              <a:t>dynamic</a:t>
            </a:r>
            <a:r>
              <a:rPr lang="en-US"/>
              <a:t> - having a template file and filling it with a class’s information</a:t>
            </a:r>
            <a:endParaRPr/>
          </a:p>
          <a:p>
            <a:pPr indent="-406400" lvl="1" marL="914400" rtl="0" algn="l">
              <a:lnSpc>
                <a:spcPct val="150000"/>
              </a:lnSpc>
              <a:spcBef>
                <a:spcPts val="0"/>
              </a:spcBef>
              <a:spcAft>
                <a:spcPts val="0"/>
              </a:spcAft>
              <a:buSzPts val="2800"/>
              <a:buChar char="•"/>
            </a:pPr>
            <a:r>
              <a:rPr lang="en-US" sz="2800"/>
              <a:t>much more efficient</a:t>
            </a:r>
            <a:endParaRPr b="1" sz="2800"/>
          </a:p>
        </p:txBody>
      </p:sp>
      <p:sp>
        <p:nvSpPr>
          <p:cNvPr id="198" name="Google Shape;198;ga3a760e4d3_0_0"/>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Dynamic Routing</a:t>
            </a:r>
            <a:endParaRPr/>
          </a:p>
        </p:txBody>
      </p:sp>
      <p:pic>
        <p:nvPicPr>
          <p:cNvPr id="199" name="Google Shape;199;ga3a760e4d3_0_0"/>
          <p:cNvPicPr preferRelativeResize="0"/>
          <p:nvPr/>
        </p:nvPicPr>
        <p:blipFill>
          <a:blip r:embed="rId3">
            <a:alphaModFix/>
          </a:blip>
          <a:stretch>
            <a:fillRect/>
          </a:stretch>
        </p:blipFill>
        <p:spPr>
          <a:xfrm>
            <a:off x="7264150" y="4028550"/>
            <a:ext cx="3448050" cy="2266950"/>
          </a:xfrm>
          <a:prstGeom prst="rect">
            <a:avLst/>
          </a:prstGeom>
          <a:noFill/>
          <a:ln cap="flat" cmpd="sng" w="28575">
            <a:solidFill>
              <a:srgbClr val="FF0000"/>
            </a:solidFill>
            <a:prstDash val="solid"/>
            <a:round/>
            <a:headEnd len="sm" w="sm" type="none"/>
            <a:tailEnd len="sm" w="sm" type="none"/>
          </a:ln>
        </p:spPr>
      </p:pic>
      <p:pic>
        <p:nvPicPr>
          <p:cNvPr id="200" name="Google Shape;200;ga3a760e4d3_0_0"/>
          <p:cNvPicPr preferRelativeResize="0"/>
          <p:nvPr/>
        </p:nvPicPr>
        <p:blipFill>
          <a:blip r:embed="rId4">
            <a:alphaModFix/>
          </a:blip>
          <a:stretch>
            <a:fillRect/>
          </a:stretch>
        </p:blipFill>
        <p:spPr>
          <a:xfrm>
            <a:off x="3116675" y="4657200"/>
            <a:ext cx="3295650" cy="1638300"/>
          </a:xfrm>
          <a:prstGeom prst="rect">
            <a:avLst/>
          </a:prstGeom>
          <a:noFill/>
          <a:ln cap="flat" cmpd="sng" w="28575">
            <a:solidFill>
              <a:srgbClr val="00FF00"/>
            </a:solidFill>
            <a:prstDash val="solid"/>
            <a:round/>
            <a:headEnd len="sm" w="sm" type="none"/>
            <a:tailEnd len="sm" w="sm" type="none"/>
          </a:ln>
        </p:spPr>
      </p:pic>
      <p:sp>
        <p:nvSpPr>
          <p:cNvPr id="201" name="Google Shape;201;ga3a760e4d3_0_0"/>
          <p:cNvSpPr txBox="1"/>
          <p:nvPr/>
        </p:nvSpPr>
        <p:spPr>
          <a:xfrm>
            <a:off x="3334700" y="6295500"/>
            <a:ext cx="2859600" cy="2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latin typeface="Roboto"/>
                <a:ea typeface="Roboto"/>
                <a:cs typeface="Roboto"/>
                <a:sym typeface="Roboto"/>
              </a:rPr>
              <a:t>Dynamic file structure</a:t>
            </a:r>
            <a:endParaRPr sz="2000">
              <a:latin typeface="Roboto"/>
              <a:ea typeface="Roboto"/>
              <a:cs typeface="Roboto"/>
              <a:sym typeface="Roboto"/>
            </a:endParaRPr>
          </a:p>
        </p:txBody>
      </p:sp>
      <p:sp>
        <p:nvSpPr>
          <p:cNvPr id="202" name="Google Shape;202;ga3a760e4d3_0_0"/>
          <p:cNvSpPr txBox="1"/>
          <p:nvPr/>
        </p:nvSpPr>
        <p:spPr>
          <a:xfrm>
            <a:off x="7820725" y="6295500"/>
            <a:ext cx="2334900" cy="2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latin typeface="Roboto"/>
                <a:ea typeface="Roboto"/>
                <a:cs typeface="Roboto"/>
                <a:sym typeface="Roboto"/>
              </a:rPr>
              <a:t>Static file structure</a:t>
            </a:r>
            <a:endParaRPr sz="20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9d6572b64a_0_6"/>
          <p:cNvSpPr txBox="1"/>
          <p:nvPr>
            <p:ph idx="1" type="body"/>
          </p:nvPr>
        </p:nvSpPr>
        <p:spPr>
          <a:xfrm>
            <a:off x="381000" y="1215484"/>
            <a:ext cx="11430000" cy="4596300"/>
          </a:xfrm>
          <a:prstGeom prst="rect">
            <a:avLst/>
          </a:prstGeom>
        </p:spPr>
        <p:txBody>
          <a:bodyPr anchorCtr="0" anchor="t" bIns="45700" lIns="91425" spcFirstLastPara="1" rIns="91425" wrap="square" tIns="45700">
            <a:noAutofit/>
          </a:bodyPr>
          <a:lstStyle/>
          <a:p>
            <a:pPr indent="-406400" lvl="0" marL="457200" rtl="0" algn="l">
              <a:lnSpc>
                <a:spcPct val="115000"/>
              </a:lnSpc>
              <a:spcBef>
                <a:spcPts val="1000"/>
              </a:spcBef>
              <a:spcAft>
                <a:spcPts val="0"/>
              </a:spcAft>
              <a:buSzPts val="2800"/>
              <a:buChar char="•"/>
            </a:pPr>
            <a:r>
              <a:rPr lang="en-US"/>
              <a:t>Tools:</a:t>
            </a:r>
            <a:endParaRPr/>
          </a:p>
          <a:p>
            <a:pPr indent="-406400" lvl="1" marL="914400" rtl="0" algn="l">
              <a:lnSpc>
                <a:spcPct val="115000"/>
              </a:lnSpc>
              <a:spcBef>
                <a:spcPts val="0"/>
              </a:spcBef>
              <a:spcAft>
                <a:spcPts val="0"/>
              </a:spcAft>
              <a:buSzPts val="2800"/>
              <a:buChar char="•"/>
            </a:pPr>
            <a:r>
              <a:rPr b="1" lang="en-US" sz="2800" u="sng"/>
              <a:t>Flask</a:t>
            </a:r>
            <a:endParaRPr b="1" sz="2800" u="sng"/>
          </a:p>
          <a:p>
            <a:pPr indent="-406400" lvl="2" marL="1371600" rtl="0" algn="l">
              <a:lnSpc>
                <a:spcPct val="115000"/>
              </a:lnSpc>
              <a:spcBef>
                <a:spcPts val="0"/>
              </a:spcBef>
              <a:spcAft>
                <a:spcPts val="0"/>
              </a:spcAft>
              <a:buSzPts val="2800"/>
              <a:buChar char="•"/>
            </a:pPr>
            <a:r>
              <a:rPr lang="en-US" sz="2800"/>
              <a:t>Python</a:t>
            </a:r>
            <a:endParaRPr sz="2800"/>
          </a:p>
          <a:p>
            <a:pPr indent="-406400" lvl="2" marL="1371600" rtl="0" algn="l">
              <a:lnSpc>
                <a:spcPct val="115000"/>
              </a:lnSpc>
              <a:spcBef>
                <a:spcPts val="0"/>
              </a:spcBef>
              <a:spcAft>
                <a:spcPts val="0"/>
              </a:spcAft>
              <a:buSzPts val="2800"/>
              <a:buChar char="•"/>
            </a:pPr>
            <a:r>
              <a:rPr lang="en-US" sz="2800"/>
              <a:t>“micro web framework”</a:t>
            </a:r>
            <a:endParaRPr sz="2800"/>
          </a:p>
          <a:p>
            <a:pPr indent="-406400" lvl="2" marL="1371600" rtl="0" algn="l">
              <a:lnSpc>
                <a:spcPct val="115000"/>
              </a:lnSpc>
              <a:spcBef>
                <a:spcPts val="0"/>
              </a:spcBef>
              <a:spcAft>
                <a:spcPts val="0"/>
              </a:spcAft>
              <a:buSzPts val="2800"/>
              <a:buChar char="•"/>
            </a:pPr>
            <a:r>
              <a:rPr lang="en-US" sz="2800"/>
              <a:t>lightweight</a:t>
            </a:r>
            <a:endParaRPr sz="2800"/>
          </a:p>
          <a:p>
            <a:pPr indent="0" lvl="0" marL="0" rtl="0" algn="l">
              <a:lnSpc>
                <a:spcPct val="115000"/>
              </a:lnSpc>
              <a:spcBef>
                <a:spcPts val="1000"/>
              </a:spcBef>
              <a:spcAft>
                <a:spcPts val="0"/>
              </a:spcAft>
              <a:buNone/>
            </a:pPr>
            <a:r>
              <a:t/>
            </a:r>
            <a:endParaRPr sz="900"/>
          </a:p>
          <a:p>
            <a:pPr indent="-406400" lvl="1" marL="914400" rtl="0" algn="l">
              <a:lnSpc>
                <a:spcPct val="115000"/>
              </a:lnSpc>
              <a:spcBef>
                <a:spcPts val="500"/>
              </a:spcBef>
              <a:spcAft>
                <a:spcPts val="0"/>
              </a:spcAft>
              <a:buSzPts val="2800"/>
              <a:buChar char="•"/>
            </a:pPr>
            <a:r>
              <a:rPr b="1" lang="en-US" sz="2800" u="sng"/>
              <a:t>Jinja2</a:t>
            </a:r>
            <a:endParaRPr b="1" sz="2800" u="sng"/>
          </a:p>
          <a:p>
            <a:pPr indent="-406400" lvl="2" marL="1371600" rtl="0" algn="l">
              <a:lnSpc>
                <a:spcPct val="115000"/>
              </a:lnSpc>
              <a:spcBef>
                <a:spcPts val="0"/>
              </a:spcBef>
              <a:spcAft>
                <a:spcPts val="0"/>
              </a:spcAft>
              <a:buSzPts val="2800"/>
              <a:buChar char="•"/>
            </a:pPr>
            <a:r>
              <a:rPr lang="en-US" sz="2800"/>
              <a:t>template engine</a:t>
            </a:r>
            <a:endParaRPr sz="2800"/>
          </a:p>
          <a:p>
            <a:pPr indent="-406400" lvl="2" marL="1371600" rtl="0" algn="l">
              <a:lnSpc>
                <a:spcPct val="115000"/>
              </a:lnSpc>
              <a:spcBef>
                <a:spcPts val="0"/>
              </a:spcBef>
              <a:spcAft>
                <a:spcPts val="0"/>
              </a:spcAft>
              <a:buSzPts val="2800"/>
              <a:buChar char="•"/>
            </a:pPr>
            <a:r>
              <a:rPr lang="en-US" sz="2800"/>
              <a:t>packaged with Flask</a:t>
            </a:r>
            <a:endParaRPr sz="2800"/>
          </a:p>
          <a:p>
            <a:pPr indent="-406400" lvl="2" marL="1371600" rtl="0" algn="l">
              <a:lnSpc>
                <a:spcPct val="115000"/>
              </a:lnSpc>
              <a:spcBef>
                <a:spcPts val="0"/>
              </a:spcBef>
              <a:spcAft>
                <a:spcPts val="0"/>
              </a:spcAft>
              <a:buSzPts val="2800"/>
              <a:buChar char="•"/>
            </a:pPr>
            <a:r>
              <a:rPr lang="en-US" sz="2800"/>
              <a:t>allows for dynamic routing</a:t>
            </a:r>
            <a:endParaRPr sz="2800"/>
          </a:p>
        </p:txBody>
      </p:sp>
      <p:sp>
        <p:nvSpPr>
          <p:cNvPr id="208" name="Google Shape;208;g9d6572b64a_0_6"/>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Dynamic Routing</a:t>
            </a:r>
            <a:endParaRPr/>
          </a:p>
        </p:txBody>
      </p:sp>
      <p:pic>
        <p:nvPicPr>
          <p:cNvPr descr="Welcome to Flask — Flask Documentation (1.1.x)" id="209" name="Google Shape;209;g9d6572b64a_0_6"/>
          <p:cNvPicPr preferRelativeResize="0"/>
          <p:nvPr/>
        </p:nvPicPr>
        <p:blipFill>
          <a:blip r:embed="rId3">
            <a:alphaModFix/>
          </a:blip>
          <a:stretch>
            <a:fillRect/>
          </a:stretch>
        </p:blipFill>
        <p:spPr>
          <a:xfrm>
            <a:off x="7074850" y="1906525"/>
            <a:ext cx="3419475" cy="1343025"/>
          </a:xfrm>
          <a:prstGeom prst="rect">
            <a:avLst/>
          </a:prstGeom>
          <a:noFill/>
          <a:ln>
            <a:noFill/>
          </a:ln>
        </p:spPr>
      </p:pic>
      <p:pic>
        <p:nvPicPr>
          <p:cNvPr descr="Jinja2 Template: The modern design friendly templating engine | by Knoldus  Inc. | Knoldus - Technical Insights | Medium" id="210" name="Google Shape;210;g9d6572b64a_0_6"/>
          <p:cNvPicPr preferRelativeResize="0"/>
          <p:nvPr/>
        </p:nvPicPr>
        <p:blipFill>
          <a:blip r:embed="rId4">
            <a:alphaModFix/>
          </a:blip>
          <a:stretch>
            <a:fillRect/>
          </a:stretch>
        </p:blipFill>
        <p:spPr>
          <a:xfrm>
            <a:off x="7416025" y="4608150"/>
            <a:ext cx="3152775" cy="1457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a419ff096c_0_0"/>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 Visualizations - Polarity Score</a:t>
            </a:r>
            <a:endParaRPr/>
          </a:p>
        </p:txBody>
      </p:sp>
      <p:pic>
        <p:nvPicPr>
          <p:cNvPr id="216" name="Google Shape;216;ga419ff096c_0_0"/>
          <p:cNvPicPr preferRelativeResize="0"/>
          <p:nvPr/>
        </p:nvPicPr>
        <p:blipFill>
          <a:blip r:embed="rId3">
            <a:alphaModFix/>
          </a:blip>
          <a:stretch>
            <a:fillRect/>
          </a:stretch>
        </p:blipFill>
        <p:spPr>
          <a:xfrm>
            <a:off x="689600" y="1053174"/>
            <a:ext cx="4111977" cy="4111977"/>
          </a:xfrm>
          <a:prstGeom prst="rect">
            <a:avLst/>
          </a:prstGeom>
          <a:noFill/>
          <a:ln>
            <a:noFill/>
          </a:ln>
        </p:spPr>
      </p:pic>
      <p:pic>
        <p:nvPicPr>
          <p:cNvPr id="217" name="Google Shape;217;ga419ff096c_0_0"/>
          <p:cNvPicPr preferRelativeResize="0"/>
          <p:nvPr/>
        </p:nvPicPr>
        <p:blipFill>
          <a:blip r:embed="rId4">
            <a:alphaModFix/>
          </a:blip>
          <a:stretch>
            <a:fillRect/>
          </a:stretch>
        </p:blipFill>
        <p:spPr>
          <a:xfrm>
            <a:off x="7025278" y="1053174"/>
            <a:ext cx="3729350" cy="3739701"/>
          </a:xfrm>
          <a:prstGeom prst="rect">
            <a:avLst/>
          </a:prstGeom>
          <a:noFill/>
          <a:ln>
            <a:noFill/>
          </a:ln>
        </p:spPr>
      </p:pic>
      <p:sp>
        <p:nvSpPr>
          <p:cNvPr id="218" name="Google Shape;218;ga419ff096c_0_0"/>
          <p:cNvSpPr txBox="1"/>
          <p:nvPr/>
        </p:nvSpPr>
        <p:spPr>
          <a:xfrm>
            <a:off x="2381550" y="5500175"/>
            <a:ext cx="1052400" cy="5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latin typeface="Roboto"/>
                <a:ea typeface="Roboto"/>
                <a:cs typeface="Roboto"/>
                <a:sym typeface="Roboto"/>
              </a:rPr>
              <a:t>Basic</a:t>
            </a:r>
            <a:endParaRPr sz="2600">
              <a:latin typeface="Roboto"/>
              <a:ea typeface="Roboto"/>
              <a:cs typeface="Roboto"/>
              <a:sym typeface="Roboto"/>
            </a:endParaRPr>
          </a:p>
        </p:txBody>
      </p:sp>
      <p:sp>
        <p:nvSpPr>
          <p:cNvPr id="219" name="Google Shape;219;ga419ff096c_0_0"/>
          <p:cNvSpPr txBox="1"/>
          <p:nvPr/>
        </p:nvSpPr>
        <p:spPr>
          <a:xfrm>
            <a:off x="7251650" y="5273875"/>
            <a:ext cx="3276600" cy="11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600">
                <a:latin typeface="Roboto"/>
                <a:ea typeface="Roboto"/>
                <a:cs typeface="Roboto"/>
                <a:sym typeface="Roboto"/>
              </a:rPr>
              <a:t>More complex</a:t>
            </a:r>
            <a:endParaRPr sz="2600">
              <a:latin typeface="Roboto"/>
              <a:ea typeface="Roboto"/>
              <a:cs typeface="Roboto"/>
              <a:sym typeface="Roboto"/>
            </a:endParaRPr>
          </a:p>
          <a:p>
            <a:pPr indent="0" lvl="0" marL="0" rtl="0" algn="l">
              <a:spcBef>
                <a:spcPts val="0"/>
              </a:spcBef>
              <a:spcAft>
                <a:spcPts val="0"/>
              </a:spcAft>
              <a:buNone/>
            </a:pPr>
            <a:r>
              <a:rPr lang="en-US" sz="2600">
                <a:latin typeface="Roboto"/>
                <a:ea typeface="Roboto"/>
                <a:cs typeface="Roboto"/>
                <a:sym typeface="Roboto"/>
              </a:rPr>
              <a:t>(Kucher et al., 2018)</a:t>
            </a:r>
            <a:endParaRPr sz="260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a419ff096c_0_9"/>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 Visualizations - Subjectivity vs. Polarity</a:t>
            </a:r>
            <a:endParaRPr/>
          </a:p>
        </p:txBody>
      </p:sp>
      <p:pic>
        <p:nvPicPr>
          <p:cNvPr id="225" name="Google Shape;225;ga419ff096c_0_9"/>
          <p:cNvPicPr preferRelativeResize="0"/>
          <p:nvPr/>
        </p:nvPicPr>
        <p:blipFill>
          <a:blip r:embed="rId3">
            <a:alphaModFix/>
          </a:blip>
          <a:stretch>
            <a:fillRect/>
          </a:stretch>
        </p:blipFill>
        <p:spPr>
          <a:xfrm>
            <a:off x="752575" y="1023647"/>
            <a:ext cx="5494564" cy="5337576"/>
          </a:xfrm>
          <a:prstGeom prst="rect">
            <a:avLst/>
          </a:prstGeom>
          <a:noFill/>
          <a:ln>
            <a:noFill/>
          </a:ln>
        </p:spPr>
      </p:pic>
      <p:sp>
        <p:nvSpPr>
          <p:cNvPr id="226" name="Google Shape;226;ga419ff096c_0_9"/>
          <p:cNvSpPr txBox="1"/>
          <p:nvPr/>
        </p:nvSpPr>
        <p:spPr>
          <a:xfrm>
            <a:off x="6513625" y="2144975"/>
            <a:ext cx="5096700" cy="511800"/>
          </a:xfrm>
          <a:prstGeom prst="rect">
            <a:avLst/>
          </a:prstGeom>
          <a:noFill/>
          <a:ln>
            <a:noFill/>
          </a:ln>
        </p:spPr>
        <p:txBody>
          <a:bodyPr anchorCtr="0" anchor="t" bIns="91425" lIns="91425" spcFirstLastPara="1" rIns="91425" wrap="square" tIns="91425">
            <a:noAutofit/>
          </a:bodyPr>
          <a:lstStyle/>
          <a:p>
            <a:pPr indent="-393700" lvl="0" marL="457200" rtl="0" algn="l">
              <a:spcBef>
                <a:spcPts val="0"/>
              </a:spcBef>
              <a:spcAft>
                <a:spcPts val="0"/>
              </a:spcAft>
              <a:buSzPts val="2600"/>
              <a:buFont typeface="Roboto"/>
              <a:buChar char="●"/>
            </a:pPr>
            <a:r>
              <a:rPr lang="en-US" sz="2600">
                <a:latin typeface="Roboto"/>
                <a:ea typeface="Roboto"/>
                <a:cs typeface="Roboto"/>
                <a:sym typeface="Roboto"/>
              </a:rPr>
              <a:t>Goal: hover over each dot to get specific discussion information, click on it for more information</a:t>
            </a:r>
            <a:endParaRPr sz="2600">
              <a:latin typeface="Roboto"/>
              <a:ea typeface="Roboto"/>
              <a:cs typeface="Roboto"/>
              <a:sym typeface="Roboto"/>
            </a:endParaRPr>
          </a:p>
          <a:p>
            <a:pPr indent="-393700" lvl="0" marL="457200" rtl="0" algn="l">
              <a:spcBef>
                <a:spcPts val="0"/>
              </a:spcBef>
              <a:spcAft>
                <a:spcPts val="0"/>
              </a:spcAft>
              <a:buSzPts val="2600"/>
              <a:buFont typeface="Roboto"/>
              <a:buChar char="●"/>
            </a:pPr>
            <a:r>
              <a:rPr lang="en-US" sz="2600">
                <a:latin typeface="Roboto"/>
                <a:ea typeface="Roboto"/>
                <a:cs typeface="Roboto"/>
                <a:sym typeface="Roboto"/>
              </a:rPr>
              <a:t>Uses TextBlob (Python library)</a:t>
            </a:r>
            <a:endParaRPr sz="2600">
              <a:latin typeface="Roboto"/>
              <a:ea typeface="Roboto"/>
              <a:cs typeface="Roboto"/>
              <a:sym typeface="Roboto"/>
            </a:endParaRPr>
          </a:p>
          <a:p>
            <a:pPr indent="-393700" lvl="0" marL="457200" rtl="0" algn="l">
              <a:spcBef>
                <a:spcPts val="0"/>
              </a:spcBef>
              <a:spcAft>
                <a:spcPts val="0"/>
              </a:spcAft>
              <a:buSzPts val="2600"/>
              <a:buFont typeface="Roboto"/>
              <a:buChar char="●"/>
            </a:pPr>
            <a:r>
              <a:rPr lang="en-US" sz="2600">
                <a:latin typeface="Roboto"/>
                <a:ea typeface="Roboto"/>
                <a:cs typeface="Roboto"/>
                <a:sym typeface="Roboto"/>
              </a:rPr>
              <a:t>Source: towardsdatascience.com</a:t>
            </a:r>
            <a:endParaRPr sz="26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a419ff096c_0_16"/>
          <p:cNvSpPr txBox="1"/>
          <p:nvPr>
            <p:ph idx="1" type="body"/>
          </p:nvPr>
        </p:nvSpPr>
        <p:spPr>
          <a:xfrm>
            <a:off x="381000" y="1215484"/>
            <a:ext cx="11430000" cy="4596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Multiple metrics</a:t>
            </a:r>
            <a:endParaRPr/>
          </a:p>
          <a:p>
            <a:pPr indent="-342900" lvl="1" marL="914400" rtl="0" algn="l">
              <a:spcBef>
                <a:spcPts val="1000"/>
              </a:spcBef>
              <a:spcAft>
                <a:spcPts val="0"/>
              </a:spcAft>
              <a:buSzPts val="1800"/>
              <a:buChar char="○"/>
            </a:pPr>
            <a:r>
              <a:rPr lang="en-US"/>
              <a:t>Amount of students in the class participating </a:t>
            </a:r>
            <a:endParaRPr/>
          </a:p>
          <a:p>
            <a:pPr indent="-342900" lvl="1" marL="914400" rtl="0" algn="l">
              <a:spcBef>
                <a:spcPts val="1000"/>
              </a:spcBef>
              <a:spcAft>
                <a:spcPts val="0"/>
              </a:spcAft>
              <a:buSzPts val="1800"/>
              <a:buChar char="○"/>
            </a:pPr>
            <a:r>
              <a:rPr lang="en-US"/>
              <a:t>Amount of students in the class participating in one specific discussion forum</a:t>
            </a:r>
            <a:endParaRPr/>
          </a:p>
          <a:p>
            <a:pPr indent="-342900" lvl="1" marL="914400" rtl="0" algn="l">
              <a:spcBef>
                <a:spcPts val="1000"/>
              </a:spcBef>
              <a:spcAft>
                <a:spcPts val="0"/>
              </a:spcAft>
              <a:buSzPts val="1800"/>
              <a:buChar char="○"/>
            </a:pPr>
            <a:r>
              <a:rPr lang="en-US"/>
              <a:t>How they are participating (asking a question, answering a question)</a:t>
            </a:r>
            <a:endParaRPr/>
          </a:p>
          <a:p>
            <a:pPr indent="-342900" lvl="1" marL="914400" rtl="0" algn="l">
              <a:spcBef>
                <a:spcPts val="1000"/>
              </a:spcBef>
              <a:spcAft>
                <a:spcPts val="0"/>
              </a:spcAft>
              <a:buSzPts val="1800"/>
              <a:buChar char="○"/>
            </a:pPr>
            <a:r>
              <a:rPr lang="en-US"/>
              <a:t>Types of discussions they are participating in (question about content, syllabus question)</a:t>
            </a:r>
            <a:endParaRPr/>
          </a:p>
          <a:p>
            <a:pPr indent="-342900" lvl="0" marL="457200" rtl="0" algn="l">
              <a:spcBef>
                <a:spcPts val="1000"/>
              </a:spcBef>
              <a:spcAft>
                <a:spcPts val="1000"/>
              </a:spcAft>
              <a:buSzPts val="1800"/>
              <a:buChar char="●"/>
            </a:pPr>
            <a:r>
              <a:rPr lang="en-US"/>
              <a:t>Next step: experiment with different data visualizations for multiple metrics</a:t>
            </a:r>
            <a:endParaRPr/>
          </a:p>
        </p:txBody>
      </p:sp>
      <p:sp>
        <p:nvSpPr>
          <p:cNvPr id="232" name="Google Shape;232;ga419ff096c_0_16"/>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Data Visualizations - Engagement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lang="en-US">
                <a:solidFill>
                  <a:srgbClr val="000000"/>
                </a:solidFill>
              </a:rPr>
              <a:t>Create table schema for edX data or leverage </a:t>
            </a:r>
            <a:r>
              <a:rPr lang="en-US" u="sng">
                <a:solidFill>
                  <a:schemeClr val="hlink"/>
                </a:solidFill>
                <a:hlinkClick r:id="rId3"/>
              </a:rPr>
              <a:t>csv</a:t>
            </a:r>
            <a:r>
              <a:rPr lang="en-US" u="sng">
                <a:solidFill>
                  <a:schemeClr val="hlink"/>
                </a:solidFill>
                <a:hlinkClick r:id="rId4"/>
              </a:rPr>
              <a:t>kit</a:t>
            </a:r>
            <a:r>
              <a:rPr lang="en-US">
                <a:solidFill>
                  <a:srgbClr val="000000"/>
                </a:solidFill>
              </a:rPr>
              <a:t> to import CSV files into PostgreSQL</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lang="en-US">
                <a:solidFill>
                  <a:srgbClr val="000000"/>
                </a:solidFill>
              </a:rPr>
              <a:t>Once the database is in place, begin implementing dynamic routing</a:t>
            </a:r>
            <a:endParaRPr>
              <a:solidFill>
                <a:srgbClr val="000000"/>
              </a:solidFill>
            </a:endParaRPr>
          </a:p>
          <a:p>
            <a:pPr indent="-342900" lvl="0" marL="457200" rtl="0" algn="l">
              <a:lnSpc>
                <a:spcPct val="115000"/>
              </a:lnSpc>
              <a:spcBef>
                <a:spcPts val="1000"/>
              </a:spcBef>
              <a:spcAft>
                <a:spcPts val="1000"/>
              </a:spcAft>
              <a:buClr>
                <a:srgbClr val="000000"/>
              </a:buClr>
              <a:buSzPts val="1800"/>
              <a:buChar char="●"/>
            </a:pPr>
            <a:r>
              <a:rPr lang="en-US">
                <a:solidFill>
                  <a:srgbClr val="000000"/>
                </a:solidFill>
              </a:rPr>
              <a:t>Convert data visualizations to code with dummy data (and eventually real data)</a:t>
            </a:r>
            <a:endParaRPr>
              <a:solidFill>
                <a:srgbClr val="000000"/>
              </a:solidFill>
            </a:endParaRPr>
          </a:p>
        </p:txBody>
      </p:sp>
      <p:sp>
        <p:nvSpPr>
          <p:cNvPr id="238" name="Google Shape;238;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Goals on Web Development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9d48565bb2_0_5"/>
          <p:cNvSpPr txBox="1"/>
          <p:nvPr>
            <p:ph idx="1" type="body"/>
          </p:nvPr>
        </p:nvSpPr>
        <p:spPr>
          <a:xfrm>
            <a:off x="381000" y="1215484"/>
            <a:ext cx="11430000" cy="4596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The web development team will continue working on creating a modular app that will pull from an edX database to display useful metrics and visualizations</a:t>
            </a:r>
            <a:endParaRPr/>
          </a:p>
          <a:p>
            <a:pPr indent="-342900" lvl="0" marL="457200" rtl="0" algn="l">
              <a:spcBef>
                <a:spcPts val="1000"/>
              </a:spcBef>
              <a:spcAft>
                <a:spcPts val="1000"/>
              </a:spcAft>
              <a:buSzPts val="1800"/>
              <a:buChar char="●"/>
            </a:pPr>
            <a:r>
              <a:rPr lang="en-US"/>
              <a:t>Work done by the data science team will be progressively integrated into the web application</a:t>
            </a:r>
            <a:endParaRPr/>
          </a:p>
        </p:txBody>
      </p:sp>
      <p:sp>
        <p:nvSpPr>
          <p:cNvPr id="244" name="Google Shape;244;g9d48565bb2_0_5"/>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Conclusion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9d48565bb2_0_10"/>
          <p:cNvSpPr txBox="1"/>
          <p:nvPr>
            <p:ph idx="1" type="body"/>
          </p:nvPr>
        </p:nvSpPr>
        <p:spPr>
          <a:xfrm>
            <a:off x="381000" y="1215473"/>
            <a:ext cx="11430000" cy="5818500"/>
          </a:xfrm>
          <a:prstGeom prst="rect">
            <a:avLst/>
          </a:prstGeom>
        </p:spPr>
        <p:txBody>
          <a:bodyPr anchorCtr="0" anchor="t" bIns="45700" lIns="91425" spcFirstLastPara="1" rIns="91425" wrap="square" tIns="45700">
            <a:noAutofit/>
          </a:bodyPr>
          <a:lstStyle/>
          <a:p>
            <a:pPr indent="-349250" lvl="0" marL="457200" rtl="0" algn="l">
              <a:spcBef>
                <a:spcPts val="1000"/>
              </a:spcBef>
              <a:spcAft>
                <a:spcPts val="0"/>
              </a:spcAft>
              <a:buSzPts val="1900"/>
              <a:buAutoNum type="arabicPeriod"/>
            </a:pPr>
            <a:r>
              <a:rPr lang="en-US" sz="1900" u="sng">
                <a:solidFill>
                  <a:schemeClr val="hlink"/>
                </a:solidFill>
                <a:hlinkClick r:id="rId3"/>
              </a:rPr>
              <a:t>https://csvkit.readthedocs.io/en/latest/</a:t>
            </a:r>
            <a:endParaRPr sz="1900"/>
          </a:p>
          <a:p>
            <a:pPr indent="-349250" lvl="0" marL="457200" rtl="0" algn="l">
              <a:spcBef>
                <a:spcPts val="0"/>
              </a:spcBef>
              <a:spcAft>
                <a:spcPts val="0"/>
              </a:spcAft>
              <a:buSzPts val="1900"/>
              <a:buAutoNum type="arabicPeriod"/>
            </a:pPr>
            <a:r>
              <a:rPr lang="en-US" sz="1900" u="sng">
                <a:solidFill>
                  <a:schemeClr val="hlink"/>
                </a:solidFill>
                <a:hlinkClick r:id="rId4"/>
              </a:rPr>
              <a:t>https://towardsdatascience.com/sentiment-analysis-on-the-tweets-about-distance-learning-with-textblob-cc73702b48bc</a:t>
            </a:r>
            <a:endParaRPr sz="1900"/>
          </a:p>
          <a:p>
            <a:pPr indent="-349250" lvl="0" marL="457200" rtl="0" algn="l">
              <a:spcBef>
                <a:spcPts val="0"/>
              </a:spcBef>
              <a:spcAft>
                <a:spcPts val="0"/>
              </a:spcAft>
              <a:buSzPts val="1900"/>
              <a:buAutoNum type="arabicPeriod"/>
            </a:pPr>
            <a:r>
              <a:rPr lang="en-US" sz="1900"/>
              <a:t>Kucher et al. (2018). The State of the Art in Sentiment Visualization. Computer Graphics Forum, 37(1), 71-96.</a:t>
            </a:r>
            <a:endParaRPr sz="1900"/>
          </a:p>
          <a:p>
            <a:pPr indent="-349250" lvl="0" marL="457200" rtl="0" algn="l">
              <a:spcBef>
                <a:spcPts val="0"/>
              </a:spcBef>
              <a:spcAft>
                <a:spcPts val="0"/>
              </a:spcAft>
              <a:buSzPts val="1900"/>
              <a:buAutoNum type="arabicPeriod"/>
            </a:pPr>
            <a:r>
              <a:rPr lang="en-US" sz="1900"/>
              <a:t>Kabir, Md Yasin, and Sanjay Madria. "CoronaVis: A Real-time COVID-19 Tweets Data Analyzer."</a:t>
            </a:r>
            <a:endParaRPr sz="1900"/>
          </a:p>
          <a:p>
            <a:pPr indent="-349250" lvl="0" marL="457200" rtl="0" algn="l">
              <a:spcBef>
                <a:spcPts val="0"/>
              </a:spcBef>
              <a:spcAft>
                <a:spcPts val="0"/>
              </a:spcAft>
              <a:buSzPts val="1900"/>
              <a:buAutoNum type="arabicPeriod"/>
            </a:pPr>
            <a:r>
              <a:rPr lang="en-US" sz="1900" u="sng">
                <a:solidFill>
                  <a:schemeClr val="hlink"/>
                </a:solidFill>
                <a:hlinkClick r:id="rId5"/>
              </a:rPr>
              <a:t>Kusner et al. (2015). From Word Embeddings To Document Distance. Proceedings of the 32nd International Conference on Machine Learning</a:t>
            </a:r>
            <a:endParaRPr sz="1900"/>
          </a:p>
          <a:p>
            <a:pPr indent="-349250" lvl="0" marL="457200" rtl="0" algn="l">
              <a:spcBef>
                <a:spcPts val="0"/>
              </a:spcBef>
              <a:spcAft>
                <a:spcPts val="0"/>
              </a:spcAft>
              <a:buSzPts val="1900"/>
              <a:buAutoNum type="arabicPeriod"/>
            </a:pPr>
            <a:r>
              <a:rPr lang="en-US" sz="1900"/>
              <a:t>Hu, Yuanyuan &amp; Donald, Claire &amp; Giacaman, Nasser &amp; Zhu, Zexuan. (2020). Towards automated analysis of cognitive presence in MOOC discussions: a manual classification study. 135-140. 10.1145/3375462.3375473. </a:t>
            </a:r>
            <a:endParaRPr sz="1900"/>
          </a:p>
          <a:p>
            <a:pPr indent="-349250" lvl="0" marL="457200" rtl="0" algn="l">
              <a:spcBef>
                <a:spcPts val="0"/>
              </a:spcBef>
              <a:spcAft>
                <a:spcPts val="0"/>
              </a:spcAft>
              <a:buSzPts val="1900"/>
              <a:buAutoNum type="arabicPeriod"/>
            </a:pPr>
            <a:r>
              <a:rPr lang="en-US" sz="1900"/>
              <a:t>Kovanovic, Vitomir &amp; Gasevic, Dragan &amp; Hatala, Marek &amp; Siemens, George. (2017). A Novel Model of Cognitive Presence Assessment Using Automated Learning Analytics Methods. 10.13140/RG.2.2.10611.32804.</a:t>
            </a:r>
            <a:endParaRPr sz="1900"/>
          </a:p>
          <a:p>
            <a:pPr indent="-349250" lvl="0" marL="457200" rtl="0" algn="l">
              <a:spcBef>
                <a:spcPts val="0"/>
              </a:spcBef>
              <a:spcAft>
                <a:spcPts val="0"/>
              </a:spcAft>
              <a:buSzPts val="1900"/>
              <a:buAutoNum type="arabicPeriod"/>
            </a:pPr>
            <a:r>
              <a:rPr lang="en-US" sz="1900"/>
              <a:t>D. Randy Garrison, Terry Anderson &amp; Walter Archer (2001) Critical thinking, cognitive presence, and computer conferencing in distance education, American Journal of Distance Education, 15:1, 7-23, DOI:</a:t>
            </a:r>
            <a:r>
              <a:rPr lang="en-US" sz="1900">
                <a:uFill>
                  <a:noFill/>
                </a:uFill>
                <a:hlinkClick r:id="rId6"/>
              </a:rPr>
              <a:t> 10.1080/08923640109527071</a:t>
            </a:r>
            <a:endParaRPr sz="1900"/>
          </a:p>
        </p:txBody>
      </p:sp>
      <p:sp>
        <p:nvSpPr>
          <p:cNvPr id="250" name="Google Shape;250;g9d48565bb2_0_10"/>
          <p:cNvSpPr txBox="1"/>
          <p:nvPr>
            <p:ph type="title"/>
          </p:nvPr>
        </p:nvSpPr>
        <p:spPr>
          <a:xfrm>
            <a:off x="381000" y="200722"/>
            <a:ext cx="11430000" cy="1014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Citations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