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Roboto"/>
      <p:regular r:id="rId31"/>
      <p:bold r:id="rId32"/>
      <p:italic r:id="rId33"/>
      <p:boldItalic r:id="rId34"/>
    </p:embeddedFont>
    <p:embeddedFont>
      <p:font typeface="Roboto Condensed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39" roundtripDataSignature="AMtx7mjHwk0xVC64EoU8OvulPyPy51UT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35" Type="http://schemas.openxmlformats.org/officeDocument/2006/relationships/font" Target="fonts/RobotoCondensedLight-regular.fntdata"/><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37" Type="http://schemas.openxmlformats.org/officeDocument/2006/relationships/font" Target="fonts/RobotoCondensedLight-italic.fntdata"/><Relationship Id="rId14" Type="http://schemas.openxmlformats.org/officeDocument/2006/relationships/slide" Target="slides/slide8.xml"/><Relationship Id="rId36" Type="http://schemas.openxmlformats.org/officeDocument/2006/relationships/font" Target="fonts/RobotoCondensedLight-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RobotoCondensed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ac42476ea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ac42476ea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t>This web app was written using flask and dynamically loads content to easily accelerate the data collection process for </a:t>
            </a:r>
            <a:r>
              <a:rPr lang="en-US"/>
              <a:t>cognitive</a:t>
            </a:r>
            <a:r>
              <a:rPr lang="en-US"/>
              <a:t> </a:t>
            </a:r>
            <a:r>
              <a:rPr lang="en-US"/>
              <a:t>presence</a:t>
            </a:r>
            <a:r>
              <a:rPr lang="en-US"/>
              <a:t> labelling</a:t>
            </a:r>
            <a:endParaRPr/>
          </a:p>
          <a:p>
            <a:pPr indent="-298450" lvl="0" marL="457200" rtl="0" algn="l">
              <a:lnSpc>
                <a:spcPct val="100000"/>
              </a:lnSpc>
              <a:spcBef>
                <a:spcPts val="0"/>
              </a:spcBef>
              <a:spcAft>
                <a:spcPts val="0"/>
              </a:spcAft>
              <a:buSzPts val="1100"/>
              <a:buChar char="●"/>
            </a:pPr>
            <a:r>
              <a:rPr lang="en-US"/>
              <a:t>Once a </a:t>
            </a:r>
            <a:r>
              <a:rPr lang="en-US"/>
              <a:t>cognitive</a:t>
            </a:r>
            <a:r>
              <a:rPr lang="en-US"/>
              <a:t> presence model is ready for deployment, the webapp can be used to </a:t>
            </a:r>
            <a:r>
              <a:rPr lang="en-US"/>
              <a:t>synchronously</a:t>
            </a:r>
            <a:r>
              <a:rPr lang="en-US"/>
              <a:t> train the model and inspect the models behavior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a237ee954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a237ee95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25"/>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25"/>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27"/>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27"/>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5" name="Shape 25"/>
        <p:cNvGrpSpPr/>
        <p:nvPr/>
      </p:nvGrpSpPr>
      <p:grpSpPr>
        <a:xfrm>
          <a:off x="0" y="0"/>
          <a:ext cx="0" cy="0"/>
          <a:chOff x="0" y="0"/>
          <a:chExt cx="0" cy="0"/>
        </a:xfrm>
      </p:grpSpPr>
      <p:sp>
        <p:nvSpPr>
          <p:cNvPr id="26" name="Google Shape;26;p2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9"/>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9"/>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30"/>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30"/>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0"/>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30"/>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3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1" name="Shape 41"/>
        <p:cNvGrpSpPr/>
        <p:nvPr/>
      </p:nvGrpSpPr>
      <p:grpSpPr>
        <a:xfrm>
          <a:off x="0" y="0"/>
          <a:ext cx="0" cy="0"/>
          <a:chOff x="0" y="0"/>
          <a:chExt cx="0" cy="0"/>
        </a:xfrm>
      </p:grpSpPr>
      <p:sp>
        <p:nvSpPr>
          <p:cNvPr id="42" name="Google Shape;42;p31"/>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3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2"/>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32"/>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3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33"/>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3"/>
          <p:cNvSpPr/>
          <p:nvPr>
            <p:ph idx="2" type="pic"/>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Roboto"/>
                <a:ea typeface="Roboto"/>
                <a:cs typeface="Roboto"/>
                <a:sym typeface="Roboto"/>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Roboto"/>
                <a:ea typeface="Roboto"/>
                <a:cs typeface="Roboto"/>
                <a:sym typeface="Roboto"/>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6" name="Google Shape;56;p33"/>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3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34"/>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4"/>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3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35"/>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5"/>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2.jpg"/><Relationship Id="rId5" Type="http://schemas.openxmlformats.org/officeDocument/2006/relationships/image" Target="../media/image16.png"/><Relationship Id="rId6" Type="http://schemas.openxmlformats.org/officeDocument/2006/relationships/image" Target="../media/image10.jpg"/><Relationship Id="rId7" Type="http://schemas.openxmlformats.org/officeDocument/2006/relationships/image" Target="../media/image14.jp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3 - 11/18/2020</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p:nvPr/>
        </p:nvSpPr>
        <p:spPr>
          <a:xfrm>
            <a:off x="26745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23559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Lindsey Blackmore</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41463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John Hosmer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59367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Sambhav Jaideep</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7" name="Google Shape;87;p2"/>
          <p:cNvSpPr txBox="1"/>
          <p:nvPr/>
        </p:nvSpPr>
        <p:spPr>
          <a:xfrm>
            <a:off x="77271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Manny Jonson</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8" name="Google Shape;88;p2"/>
          <p:cNvSpPr/>
          <p:nvPr/>
        </p:nvSpPr>
        <p:spPr>
          <a:xfrm>
            <a:off x="98361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txBox="1"/>
          <p:nvPr/>
        </p:nvSpPr>
        <p:spPr>
          <a:xfrm>
            <a:off x="9517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Morgan Powers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90" name="Google Shape;90;p2"/>
          <p:cNvSpPr/>
          <p:nvPr/>
        </p:nvSpPr>
        <p:spPr>
          <a:xfrm>
            <a:off x="80457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2553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884100" y="2105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txBox="1"/>
          <p:nvPr/>
        </p:nvSpPr>
        <p:spPr>
          <a:xfrm>
            <a:off x="565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Andrew Bauer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pic>
        <p:nvPicPr>
          <p:cNvPr id="94" name="Google Shape;94;p2"/>
          <p:cNvPicPr preferRelativeResize="0"/>
          <p:nvPr/>
        </p:nvPicPr>
        <p:blipFill rotWithShape="1">
          <a:blip r:embed="rId3">
            <a:alphaModFix/>
          </a:blip>
          <a:srcRect b="0" l="0" r="0" t="0"/>
          <a:stretch/>
        </p:blipFill>
        <p:spPr>
          <a:xfrm>
            <a:off x="884100" y="2105400"/>
            <a:ext cx="1153200" cy="1183500"/>
          </a:xfrm>
          <a:prstGeom prst="ellipse">
            <a:avLst/>
          </a:prstGeom>
          <a:noFill/>
          <a:ln>
            <a:noFill/>
          </a:ln>
        </p:spPr>
      </p:pic>
      <p:pic>
        <p:nvPicPr>
          <p:cNvPr id="95" name="Google Shape;95;p2"/>
          <p:cNvPicPr preferRelativeResize="0"/>
          <p:nvPr/>
        </p:nvPicPr>
        <p:blipFill rotWithShape="1">
          <a:blip r:embed="rId4">
            <a:alphaModFix/>
          </a:blip>
          <a:srcRect b="0" l="0" r="0" t="0"/>
          <a:stretch/>
        </p:blipFill>
        <p:spPr>
          <a:xfrm>
            <a:off x="6207150" y="2018400"/>
            <a:ext cx="1249500" cy="1249500"/>
          </a:xfrm>
          <a:prstGeom prst="ellipse">
            <a:avLst/>
          </a:prstGeom>
          <a:noFill/>
          <a:ln>
            <a:noFill/>
          </a:ln>
        </p:spPr>
      </p:pic>
      <p:pic>
        <p:nvPicPr>
          <p:cNvPr id="96" name="Google Shape;96;p2"/>
          <p:cNvPicPr preferRelativeResize="0"/>
          <p:nvPr/>
        </p:nvPicPr>
        <p:blipFill rotWithShape="1">
          <a:blip r:embed="rId5">
            <a:alphaModFix/>
          </a:blip>
          <a:srcRect b="0" l="0" r="0" t="0"/>
          <a:stretch/>
        </p:blipFill>
        <p:spPr>
          <a:xfrm>
            <a:off x="4391025" y="2016750"/>
            <a:ext cx="1252800" cy="1252800"/>
          </a:xfrm>
          <a:prstGeom prst="ellipse">
            <a:avLst/>
          </a:prstGeom>
          <a:noFill/>
          <a:ln cap="flat" cmpd="sng" w="9525">
            <a:solidFill>
              <a:schemeClr val="dk2"/>
            </a:solidFill>
            <a:prstDash val="solid"/>
            <a:round/>
            <a:headEnd len="sm" w="sm" type="none"/>
            <a:tailEnd len="sm" w="sm" type="none"/>
          </a:ln>
        </p:spPr>
      </p:pic>
      <p:pic>
        <p:nvPicPr>
          <p:cNvPr id="97" name="Google Shape;97;p2"/>
          <p:cNvPicPr preferRelativeResize="0"/>
          <p:nvPr/>
        </p:nvPicPr>
        <p:blipFill rotWithShape="1">
          <a:blip r:embed="rId6">
            <a:alphaModFix/>
          </a:blip>
          <a:srcRect b="0" l="0" r="25705" t="0"/>
          <a:stretch/>
        </p:blipFill>
        <p:spPr>
          <a:xfrm rot="-5400000">
            <a:off x="2549362" y="2026050"/>
            <a:ext cx="1329600" cy="1342200"/>
          </a:xfrm>
          <a:prstGeom prst="ellipse">
            <a:avLst/>
          </a:prstGeom>
          <a:noFill/>
          <a:ln>
            <a:noFill/>
          </a:ln>
        </p:spPr>
      </p:pic>
      <p:pic>
        <p:nvPicPr>
          <p:cNvPr id="98" name="Google Shape;98;p2"/>
          <p:cNvPicPr preferRelativeResize="0"/>
          <p:nvPr/>
        </p:nvPicPr>
        <p:blipFill rotWithShape="1">
          <a:blip r:embed="rId7">
            <a:alphaModFix/>
          </a:blip>
          <a:srcRect b="17645" l="0" r="5526" t="8012"/>
          <a:stretch/>
        </p:blipFill>
        <p:spPr>
          <a:xfrm>
            <a:off x="9778550" y="1962725"/>
            <a:ext cx="1252800" cy="1320300"/>
          </a:xfrm>
          <a:prstGeom prst="ellipse">
            <a:avLst/>
          </a:prstGeom>
          <a:noFill/>
          <a:ln>
            <a:noFill/>
          </a:ln>
        </p:spPr>
      </p:pic>
      <p:pic>
        <p:nvPicPr>
          <p:cNvPr id="99" name="Google Shape;99;p2"/>
          <p:cNvPicPr preferRelativeResize="0"/>
          <p:nvPr/>
        </p:nvPicPr>
        <p:blipFill rotWithShape="1">
          <a:blip r:embed="rId8">
            <a:alphaModFix/>
          </a:blip>
          <a:srcRect b="30166" l="0" r="35212" t="13934"/>
          <a:stretch/>
        </p:blipFill>
        <p:spPr>
          <a:xfrm>
            <a:off x="7946500" y="1969800"/>
            <a:ext cx="1342200" cy="1346700"/>
          </a:xfrm>
          <a:prstGeom prst="ellipse">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500"/>
              </a:spcBef>
              <a:spcAft>
                <a:spcPts val="0"/>
              </a:spcAft>
              <a:buSzPts val="1800"/>
              <a:buChar char="●"/>
            </a:pPr>
            <a:r>
              <a:rPr lang="en-US"/>
              <a:t>Discussion forums are largely used in college courses especially with the swift transition to primarily online course formats</a:t>
            </a:r>
            <a:endParaRPr/>
          </a:p>
          <a:p>
            <a:pPr indent="-342900" lvl="0" marL="457200" rtl="0" algn="l">
              <a:lnSpc>
                <a:spcPct val="100000"/>
              </a:lnSpc>
              <a:spcBef>
                <a:spcPts val="1500"/>
              </a:spcBef>
              <a:spcAft>
                <a:spcPts val="0"/>
              </a:spcAft>
              <a:buSzPts val="1800"/>
              <a:buChar char="●"/>
            </a:pPr>
            <a:r>
              <a:rPr lang="en-US"/>
              <a:t>Student interaction in these forums provides indications of their participation as well as cognitive presence</a:t>
            </a:r>
            <a:endParaRPr/>
          </a:p>
          <a:p>
            <a:pPr indent="-342900" lvl="0" marL="457200" rtl="0" algn="l">
              <a:lnSpc>
                <a:spcPct val="100000"/>
              </a:lnSpc>
              <a:spcBef>
                <a:spcPts val="1500"/>
              </a:spcBef>
              <a:spcAft>
                <a:spcPts val="0"/>
              </a:spcAft>
              <a:buSzPts val="1800"/>
              <a:buChar char="●"/>
            </a:pPr>
            <a:r>
              <a:rPr lang="en-US"/>
              <a:t>Metrics and analysis on this information can be leveraged by professors to better grasp their students’ understanding, thoughts on the course/material, and more</a:t>
            </a:r>
            <a:endParaRPr/>
          </a:p>
          <a:p>
            <a:pPr indent="-342900" lvl="0" marL="457200" rtl="0" algn="l">
              <a:lnSpc>
                <a:spcPct val="100000"/>
              </a:lnSpc>
              <a:spcBef>
                <a:spcPts val="1500"/>
              </a:spcBef>
              <a:spcAft>
                <a:spcPts val="1500"/>
              </a:spcAft>
              <a:buSzPts val="1800"/>
              <a:buChar char="●"/>
            </a:pPr>
            <a:r>
              <a:rPr lang="en-US"/>
              <a:t>Creating a web application to be used by professors will allow the instructors to improve their courses</a:t>
            </a:r>
            <a:endParaRPr/>
          </a:p>
        </p:txBody>
      </p:sp>
      <p:sp>
        <p:nvSpPr>
          <p:cNvPr id="105" name="Google Shape;105;p3"/>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Focus for Discussion Forum Subteam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science team has a somewhat effective model for cognitive </a:t>
            </a:r>
            <a:r>
              <a:rPr lang="en-US"/>
              <a:t>presence</a:t>
            </a:r>
            <a:r>
              <a:rPr lang="en-US"/>
              <a:t>, but the model will need more work before it’s truly useful</a:t>
            </a:r>
            <a:endParaRPr/>
          </a:p>
          <a:p>
            <a:pPr indent="-342900" lvl="0" marL="457200" rtl="0" algn="l">
              <a:lnSpc>
                <a:spcPct val="100000"/>
              </a:lnSpc>
              <a:spcBef>
                <a:spcPts val="1000"/>
              </a:spcBef>
              <a:spcAft>
                <a:spcPts val="0"/>
              </a:spcAft>
              <a:buSzPts val="1800"/>
              <a:buChar char="●"/>
            </a:pPr>
            <a:r>
              <a:rPr lang="en-US"/>
              <a:t>We have provid</a:t>
            </a:r>
            <a:r>
              <a:rPr lang="en-US"/>
              <a:t>ed support for the front end, especially on visualizations</a:t>
            </a:r>
            <a:endParaRPr/>
          </a:p>
          <a:p>
            <a:pPr indent="-342900" lvl="0" marL="457200" rtl="0" algn="l">
              <a:lnSpc>
                <a:spcPct val="100000"/>
              </a:lnSpc>
              <a:spcBef>
                <a:spcPts val="1000"/>
              </a:spcBef>
              <a:spcAft>
                <a:spcPts val="0"/>
              </a:spcAft>
              <a:buSzPts val="1800"/>
              <a:buChar char="●"/>
            </a:pPr>
            <a:r>
              <a:rPr lang="en-US"/>
              <a:t>All modelling work has been uploaded into github so future team members can view what has been done and might be able to make improvements to work we have yet to complete</a:t>
            </a:r>
            <a:endParaRPr/>
          </a:p>
        </p:txBody>
      </p:sp>
      <p:sp>
        <p:nvSpPr>
          <p:cNvPr id="111" name="Google Shape;111;p4"/>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Team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Cognitive presence modelling attempts to track how a conversation flows from a triggering event to a resolution within a community of inquiry</a:t>
            </a:r>
            <a:endParaRPr/>
          </a:p>
          <a:p>
            <a:pPr indent="-342900" lvl="0" marL="457200" rtl="0" algn="l">
              <a:lnSpc>
                <a:spcPct val="100000"/>
              </a:lnSpc>
              <a:spcBef>
                <a:spcPts val="1000"/>
              </a:spcBef>
              <a:spcAft>
                <a:spcPts val="0"/>
              </a:spcAft>
              <a:buSzPts val="1800"/>
              <a:buChar char="●"/>
            </a:pPr>
            <a:r>
              <a:rPr lang="en-US"/>
              <a:t>The cognitive presence model that we base this work off of</a:t>
            </a:r>
            <a:r>
              <a:rPr baseline="30000" lang="en-US" sz="2600"/>
              <a:t>[7][8]</a:t>
            </a:r>
            <a:r>
              <a:rPr lang="en-US"/>
              <a:t> includes 5 phases: No cognitive presence, triggering event, exploration, integration, and resolution</a:t>
            </a:r>
            <a:endParaRPr/>
          </a:p>
          <a:p>
            <a:pPr indent="-342900" lvl="1" marL="914400" rtl="0" algn="l">
              <a:lnSpc>
                <a:spcPct val="100000"/>
              </a:lnSpc>
              <a:spcBef>
                <a:spcPts val="1000"/>
              </a:spcBef>
              <a:spcAft>
                <a:spcPts val="0"/>
              </a:spcAft>
              <a:buSzPts val="1800"/>
              <a:buChar char="○"/>
            </a:pPr>
            <a:r>
              <a:rPr lang="en-US"/>
              <a:t>These labels are consistent across human labelers</a:t>
            </a:r>
            <a:r>
              <a:rPr baseline="30000" lang="en-US" sz="2600"/>
              <a:t>[6]</a:t>
            </a:r>
            <a:endParaRPr/>
          </a:p>
          <a:p>
            <a:pPr indent="-342900" lvl="0" marL="457200" rtl="0" algn="l">
              <a:lnSpc>
                <a:spcPct val="100000"/>
              </a:lnSpc>
              <a:spcBef>
                <a:spcPts val="1000"/>
              </a:spcBef>
              <a:spcAft>
                <a:spcPts val="0"/>
              </a:spcAft>
              <a:buSzPts val="1800"/>
              <a:buChar char="●"/>
            </a:pPr>
            <a:r>
              <a:rPr lang="en-US"/>
              <a:t>The prior semester provided labeled data which made this work possible</a:t>
            </a:r>
            <a:endParaRPr/>
          </a:p>
          <a:p>
            <a:pPr indent="-342900" lvl="0" marL="457200" rtl="0" algn="l">
              <a:lnSpc>
                <a:spcPct val="100000"/>
              </a:lnSpc>
              <a:spcBef>
                <a:spcPts val="1000"/>
              </a:spcBef>
              <a:spcAft>
                <a:spcPts val="1000"/>
              </a:spcAft>
              <a:buSzPts val="1800"/>
              <a:buChar char="●"/>
            </a:pPr>
            <a:r>
              <a:rPr lang="en-US"/>
              <a:t>One of the major challenges we are up against is that question asked in the context of a class are dissimilar to other conversation</a:t>
            </a:r>
            <a:endParaRPr/>
          </a:p>
        </p:txBody>
      </p:sp>
      <p:sp>
        <p:nvSpPr>
          <p:cNvPr id="117" name="Google Shape;117;p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Intro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One method that we have used for trying to classify new cases is the word mover’s distance metric</a:t>
            </a:r>
            <a:r>
              <a:rPr baseline="30000" lang="en-US" sz="2600"/>
              <a:t>[5]</a:t>
            </a:r>
            <a:r>
              <a:rPr lang="en-US"/>
              <a:t> paired with a KNN classifier</a:t>
            </a:r>
            <a:endParaRPr/>
          </a:p>
          <a:p>
            <a:pPr indent="-342900" lvl="0" marL="457200" rtl="0" algn="l">
              <a:lnSpc>
                <a:spcPct val="100000"/>
              </a:lnSpc>
              <a:spcBef>
                <a:spcPts val="1000"/>
              </a:spcBef>
              <a:spcAft>
                <a:spcPts val="0"/>
              </a:spcAft>
              <a:buSzPts val="1800"/>
              <a:buChar char="●"/>
            </a:pPr>
            <a:r>
              <a:rPr lang="en-US"/>
              <a:t>The word mover’s distance metric compares two documents by measuring the distance between word embeddings from every word in the two documents</a:t>
            </a:r>
            <a:endParaRPr/>
          </a:p>
          <a:p>
            <a:pPr indent="-342900" lvl="0" marL="457200" rtl="0" algn="l">
              <a:lnSpc>
                <a:spcPct val="100000"/>
              </a:lnSpc>
              <a:spcBef>
                <a:spcPts val="1000"/>
              </a:spcBef>
              <a:spcAft>
                <a:spcPts val="1000"/>
              </a:spcAft>
              <a:buSzPts val="1800"/>
              <a:buChar char="●"/>
            </a:pPr>
            <a:r>
              <a:rPr lang="en-US"/>
              <a:t>For our KNN, we find the closest N </a:t>
            </a:r>
            <a:br>
              <a:rPr lang="en-US"/>
            </a:br>
            <a:r>
              <a:rPr lang="en-US"/>
              <a:t>documents and pick the most </a:t>
            </a:r>
            <a:br>
              <a:rPr lang="en-US"/>
            </a:br>
            <a:r>
              <a:rPr lang="en-US"/>
              <a:t>frequently appearing one as the </a:t>
            </a:r>
            <a:br>
              <a:rPr lang="en-US"/>
            </a:br>
            <a:r>
              <a:rPr lang="en-US"/>
              <a:t>label</a:t>
            </a:r>
            <a:endParaRPr/>
          </a:p>
        </p:txBody>
      </p:sp>
      <p:sp>
        <p:nvSpPr>
          <p:cNvPr id="123" name="Google Shape;123;p6"/>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pic>
        <p:nvPicPr>
          <p:cNvPr id="124" name="Google Shape;124;p6"/>
          <p:cNvPicPr preferRelativeResize="0"/>
          <p:nvPr/>
        </p:nvPicPr>
        <p:blipFill rotWithShape="1">
          <a:blip r:embed="rId3">
            <a:alphaModFix/>
          </a:blip>
          <a:srcRect b="0" l="0" r="0" t="0"/>
          <a:stretch/>
        </p:blipFill>
        <p:spPr>
          <a:xfrm>
            <a:off x="6828400" y="3563029"/>
            <a:ext cx="4748757" cy="2248750"/>
          </a:xfrm>
          <a:prstGeom prst="rect">
            <a:avLst/>
          </a:prstGeom>
          <a:noFill/>
          <a:ln>
            <a:noFill/>
          </a:ln>
        </p:spPr>
      </p:pic>
      <p:sp>
        <p:nvSpPr>
          <p:cNvPr id="125" name="Google Shape;125;p6"/>
          <p:cNvSpPr txBox="1"/>
          <p:nvPr/>
        </p:nvSpPr>
        <p:spPr>
          <a:xfrm>
            <a:off x="7872950" y="5852550"/>
            <a:ext cx="3395700" cy="49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classic WMD example from [5]</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idx="1" type="body"/>
          </p:nvPr>
        </p:nvSpPr>
        <p:spPr>
          <a:xfrm>
            <a:off x="381000" y="1215475"/>
            <a:ext cx="71988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We have applied this method to the new dataset that was labelled by Dr. Lee and team</a:t>
            </a:r>
            <a:endParaRPr/>
          </a:p>
          <a:p>
            <a:pPr indent="-342900" lvl="0" marL="457200" rtl="0" algn="l">
              <a:lnSpc>
                <a:spcPct val="100000"/>
              </a:lnSpc>
              <a:spcBef>
                <a:spcPts val="1000"/>
              </a:spcBef>
              <a:spcAft>
                <a:spcPts val="0"/>
              </a:spcAft>
              <a:buSzPts val="1800"/>
              <a:buChar char="●"/>
            </a:pPr>
            <a:r>
              <a:rPr lang="en-US"/>
              <a:t>Results are marginally better when we compare the new dataset to the holdout set from initial dataset (Cohen’s Kappa .212 vs .207, F1 Score .404 vs .360)</a:t>
            </a:r>
            <a:endParaRPr/>
          </a:p>
          <a:p>
            <a:pPr indent="-342900" lvl="0" marL="457200" rtl="0" algn="l">
              <a:lnSpc>
                <a:spcPct val="100000"/>
              </a:lnSpc>
              <a:spcBef>
                <a:spcPts val="1000"/>
              </a:spcBef>
              <a:spcAft>
                <a:spcPts val="1000"/>
              </a:spcAft>
              <a:buSzPts val="1800"/>
              <a:buChar char="●"/>
            </a:pPr>
            <a:r>
              <a:rPr lang="en-US"/>
              <a:t>Alternate distance metrics and data transformations did not significantly improve the fitness of the model</a:t>
            </a:r>
            <a:endParaRPr/>
          </a:p>
        </p:txBody>
      </p:sp>
      <p:sp>
        <p:nvSpPr>
          <p:cNvPr id="131" name="Google Shape;131;p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pic>
        <p:nvPicPr>
          <p:cNvPr id="132" name="Google Shape;132;p7"/>
          <p:cNvPicPr preferRelativeResize="0"/>
          <p:nvPr/>
        </p:nvPicPr>
        <p:blipFill>
          <a:blip r:embed="rId3">
            <a:alphaModFix/>
          </a:blip>
          <a:stretch>
            <a:fillRect/>
          </a:stretch>
        </p:blipFill>
        <p:spPr>
          <a:xfrm>
            <a:off x="7579800" y="1898347"/>
            <a:ext cx="4307400" cy="3230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The overall impression at the end of the semester is that the Word Mover’s Distance model is not going to provide the results that we desire</a:t>
            </a:r>
            <a:endParaRPr/>
          </a:p>
          <a:p>
            <a:pPr indent="-342900" lvl="0" marL="457200" rtl="0" algn="l">
              <a:lnSpc>
                <a:spcPct val="100000"/>
              </a:lnSpc>
              <a:spcBef>
                <a:spcPts val="1000"/>
              </a:spcBef>
              <a:spcAft>
                <a:spcPts val="0"/>
              </a:spcAft>
              <a:buSzPts val="1800"/>
              <a:buChar char="●"/>
            </a:pPr>
            <a:r>
              <a:rPr lang="en-US"/>
              <a:t>The work transforming the data and adding in more data will be helpful as we test out other models</a:t>
            </a:r>
            <a:endParaRPr/>
          </a:p>
          <a:p>
            <a:pPr indent="-342900" lvl="0" marL="457200" rtl="0" algn="l">
              <a:lnSpc>
                <a:spcPct val="100000"/>
              </a:lnSpc>
              <a:spcBef>
                <a:spcPts val="1000"/>
              </a:spcBef>
              <a:spcAft>
                <a:spcPts val="0"/>
              </a:spcAft>
              <a:buSzPts val="1800"/>
              <a:buChar char="●"/>
            </a:pPr>
            <a:r>
              <a:rPr lang="en-US"/>
              <a:t>The f1 score improvements seen in WMD lead us to believe that more data will be helpful as we attempt to model this data in the future regardless of model</a:t>
            </a:r>
            <a:endParaRPr/>
          </a:p>
        </p:txBody>
      </p:sp>
      <p:sp>
        <p:nvSpPr>
          <p:cNvPr id="138" name="Google Shape;138;p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What are transformers?</a:t>
            </a:r>
            <a:endParaRPr/>
          </a:p>
          <a:p>
            <a:pPr indent="-342900" lvl="1" marL="914400" rtl="0" algn="l">
              <a:lnSpc>
                <a:spcPct val="100000"/>
              </a:lnSpc>
              <a:spcBef>
                <a:spcPts val="1000"/>
              </a:spcBef>
              <a:spcAft>
                <a:spcPts val="0"/>
              </a:spcAft>
              <a:buSzPts val="1800"/>
              <a:buChar char="○"/>
            </a:pPr>
            <a:r>
              <a:rPr lang="en-US"/>
              <a:t>Provide thousands of pretrained models to perform text classification, information extraction, question and answering, and many more tasks</a:t>
            </a:r>
            <a:endParaRPr/>
          </a:p>
          <a:p>
            <a:pPr indent="-342900" lvl="0" marL="457200" rtl="0" algn="l">
              <a:lnSpc>
                <a:spcPct val="100000"/>
              </a:lnSpc>
              <a:spcBef>
                <a:spcPts val="1000"/>
              </a:spcBef>
              <a:spcAft>
                <a:spcPts val="0"/>
              </a:spcAft>
              <a:buSzPts val="1800"/>
              <a:buChar char="●"/>
            </a:pPr>
            <a:r>
              <a:rPr lang="en-US"/>
              <a:t>What is huggingface?</a:t>
            </a:r>
            <a:endParaRPr/>
          </a:p>
          <a:p>
            <a:pPr indent="-342900" lvl="1" marL="914400" rtl="0" algn="l">
              <a:lnSpc>
                <a:spcPct val="100000"/>
              </a:lnSpc>
              <a:spcBef>
                <a:spcPts val="1000"/>
              </a:spcBef>
              <a:spcAft>
                <a:spcPts val="0"/>
              </a:spcAft>
              <a:buSzPts val="1800"/>
              <a:buChar char="○"/>
            </a:pPr>
            <a:r>
              <a:rPr lang="en-US"/>
              <a:t>A python API that provides state of the art NLP models back by the PyTorch and TensorFlow deep learning libraries</a:t>
            </a:r>
            <a:endParaRPr/>
          </a:p>
          <a:p>
            <a:pPr indent="-342900" lvl="1" marL="914400" rtl="0" algn="l">
              <a:lnSpc>
                <a:spcPct val="100000"/>
              </a:lnSpc>
              <a:spcBef>
                <a:spcPts val="1000"/>
              </a:spcBef>
              <a:spcAft>
                <a:spcPts val="1000"/>
              </a:spcAft>
              <a:buSzPts val="1800"/>
              <a:buChar char="○"/>
            </a:pPr>
            <a:r>
              <a:rPr lang="en-US"/>
              <a:t>Allows one to quickly download and use pretrained models to fine tune them on specific datasets </a:t>
            </a:r>
            <a:endParaRPr/>
          </a:p>
        </p:txBody>
      </p:sp>
      <p:sp>
        <p:nvSpPr>
          <p:cNvPr id="144" name="Google Shape;144;p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Transformers Recap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First pass at BERT</a:t>
            </a:r>
            <a:endParaRPr/>
          </a:p>
          <a:p>
            <a:pPr indent="-342900" lvl="1" marL="914400" rtl="0" algn="l">
              <a:lnSpc>
                <a:spcPct val="100000"/>
              </a:lnSpc>
              <a:spcBef>
                <a:spcPts val="1000"/>
              </a:spcBef>
              <a:spcAft>
                <a:spcPts val="0"/>
              </a:spcAft>
              <a:buSzPts val="1800"/>
              <a:buChar char="○"/>
            </a:pPr>
            <a:r>
              <a:rPr lang="en-US"/>
              <a:t>Although a lot of the work was done for us, the fine tuning and validation step was very time consuming</a:t>
            </a:r>
            <a:endParaRPr/>
          </a:p>
          <a:p>
            <a:pPr indent="-342900" lvl="1" marL="914400" rtl="0" algn="l">
              <a:lnSpc>
                <a:spcPct val="100000"/>
              </a:lnSpc>
              <a:spcBef>
                <a:spcPts val="1000"/>
              </a:spcBef>
              <a:spcAft>
                <a:spcPts val="0"/>
              </a:spcAft>
              <a:buSzPts val="1800"/>
              <a:buChar char="○"/>
            </a:pPr>
            <a:r>
              <a:rPr lang="en-US"/>
              <a:t>Our results show that BERT is bias towards the mean</a:t>
            </a:r>
            <a:endParaRPr/>
          </a:p>
          <a:p>
            <a:pPr indent="-342900" lvl="2" marL="1371600" rtl="0" algn="l">
              <a:lnSpc>
                <a:spcPct val="100000"/>
              </a:lnSpc>
              <a:spcBef>
                <a:spcPts val="1000"/>
              </a:spcBef>
              <a:spcAft>
                <a:spcPts val="0"/>
              </a:spcAft>
              <a:buSzPts val="1800"/>
              <a:buChar char="■"/>
            </a:pPr>
            <a:r>
              <a:rPr lang="en-US"/>
              <a:t>1st guess - most popular, 2nd guess - second most popular, etc. </a:t>
            </a:r>
            <a:endParaRPr/>
          </a:p>
          <a:p>
            <a:pPr indent="-342900" lvl="1" marL="914400" rtl="0" algn="l">
              <a:lnSpc>
                <a:spcPct val="100000"/>
              </a:lnSpc>
              <a:spcBef>
                <a:spcPts val="1000"/>
              </a:spcBef>
              <a:spcAft>
                <a:spcPts val="1000"/>
              </a:spcAft>
              <a:buSzPts val="1800"/>
              <a:buChar char="○"/>
            </a:pPr>
            <a:r>
              <a:rPr lang="en-US"/>
              <a:t>We believe the results may be skewed due to lack of data </a:t>
            </a:r>
            <a:endParaRPr/>
          </a:p>
        </p:txBody>
      </p:sp>
      <p:sp>
        <p:nvSpPr>
          <p:cNvPr id="150" name="Google Shape;150;p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BERT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XLNet and GTP2</a:t>
            </a:r>
            <a:endParaRPr/>
          </a:p>
          <a:p>
            <a:pPr indent="-342900" lvl="1" marL="914400" rtl="0" algn="l">
              <a:lnSpc>
                <a:spcPct val="100000"/>
              </a:lnSpc>
              <a:spcBef>
                <a:spcPts val="1000"/>
              </a:spcBef>
              <a:spcAft>
                <a:spcPts val="0"/>
              </a:spcAft>
              <a:buSzPts val="1800"/>
              <a:buChar char="○"/>
            </a:pPr>
            <a:r>
              <a:rPr lang="en-US"/>
              <a:t>Wrote the scripts for both methods and tested locally</a:t>
            </a:r>
            <a:endParaRPr/>
          </a:p>
          <a:p>
            <a:pPr indent="-342900" lvl="1" marL="914400" rtl="0" algn="l">
              <a:lnSpc>
                <a:spcPct val="100000"/>
              </a:lnSpc>
              <a:spcBef>
                <a:spcPts val="1000"/>
              </a:spcBef>
              <a:spcAft>
                <a:spcPts val="0"/>
              </a:spcAft>
              <a:buSzPts val="1800"/>
              <a:buChar char="○"/>
            </a:pPr>
            <a:r>
              <a:rPr lang="en-US"/>
              <a:t>Due to AWS Educate authentication problems, we have not been able to launch a robust experiment</a:t>
            </a:r>
            <a:endParaRPr/>
          </a:p>
          <a:p>
            <a:pPr indent="-342900" lvl="0" marL="457200" rtl="0" algn="l">
              <a:lnSpc>
                <a:spcPct val="100000"/>
              </a:lnSpc>
              <a:spcBef>
                <a:spcPts val="1000"/>
              </a:spcBef>
              <a:spcAft>
                <a:spcPts val="0"/>
              </a:spcAft>
              <a:buSzPts val="1800"/>
              <a:buChar char="●"/>
            </a:pPr>
            <a:r>
              <a:rPr lang="en-US"/>
              <a:t>Preliminary results from local tests</a:t>
            </a:r>
            <a:endParaRPr/>
          </a:p>
          <a:p>
            <a:pPr indent="-342900" lvl="1" marL="914400" rtl="0" algn="l">
              <a:lnSpc>
                <a:spcPct val="100000"/>
              </a:lnSpc>
              <a:spcBef>
                <a:spcPts val="1000"/>
              </a:spcBef>
              <a:spcAft>
                <a:spcPts val="0"/>
              </a:spcAft>
              <a:buSzPts val="1800"/>
              <a:buChar char="○"/>
            </a:pPr>
            <a:r>
              <a:rPr lang="en-US"/>
              <a:t>All models tend to be biased towards the mean and yield a low accuracy score</a:t>
            </a:r>
            <a:endParaRPr/>
          </a:p>
          <a:p>
            <a:pPr indent="-342900" lvl="1" marL="914400" rtl="0" algn="l">
              <a:lnSpc>
                <a:spcPct val="100000"/>
              </a:lnSpc>
              <a:spcBef>
                <a:spcPts val="1000"/>
              </a:spcBef>
              <a:spcAft>
                <a:spcPts val="0"/>
              </a:spcAft>
              <a:buSzPts val="1800"/>
              <a:buChar char="○"/>
            </a:pPr>
            <a:r>
              <a:rPr lang="en-US"/>
              <a:t>If more data can be gathered, the transformer results may improve</a:t>
            </a:r>
            <a:endParaRPr/>
          </a:p>
        </p:txBody>
      </p:sp>
      <p:sp>
        <p:nvSpPr>
          <p:cNvPr id="156" name="Google Shape;156;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Other Transformers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ac42476eac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3400"/>
              <a:t>Cognitive Presence Modelling - Data Collection Web App</a:t>
            </a:r>
            <a:endParaRPr sz="3400"/>
          </a:p>
        </p:txBody>
      </p:sp>
      <p:pic>
        <p:nvPicPr>
          <p:cNvPr id="162" name="Google Shape;162;gac42476eac_0_0"/>
          <p:cNvPicPr preferRelativeResize="0"/>
          <p:nvPr/>
        </p:nvPicPr>
        <p:blipFill rotWithShape="1">
          <a:blip r:embed="rId3">
            <a:alphaModFix/>
          </a:blip>
          <a:srcRect b="11112" l="0" r="47198" t="7473"/>
          <a:stretch/>
        </p:blipFill>
        <p:spPr>
          <a:xfrm>
            <a:off x="6020550" y="1227150"/>
            <a:ext cx="4948925" cy="5226750"/>
          </a:xfrm>
          <a:prstGeom prst="rect">
            <a:avLst/>
          </a:prstGeom>
          <a:noFill/>
          <a:ln>
            <a:noFill/>
          </a:ln>
        </p:spPr>
      </p:pic>
      <p:pic>
        <p:nvPicPr>
          <p:cNvPr id="163" name="Google Shape;163;gac42476eac_0_0"/>
          <p:cNvPicPr preferRelativeResize="0"/>
          <p:nvPr/>
        </p:nvPicPr>
        <p:blipFill rotWithShape="1">
          <a:blip r:embed="rId4">
            <a:alphaModFix/>
          </a:blip>
          <a:srcRect b="11687" l="0" r="51795" t="13101"/>
          <a:stretch/>
        </p:blipFill>
        <p:spPr>
          <a:xfrm>
            <a:off x="537150" y="1283300"/>
            <a:ext cx="4948925" cy="51144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Revisit transformers if computing resources and more data are made available</a:t>
            </a:r>
            <a:endParaRPr/>
          </a:p>
          <a:p>
            <a:pPr indent="-342900" lvl="0" marL="457200" rtl="0" algn="l">
              <a:lnSpc>
                <a:spcPct val="100000"/>
              </a:lnSpc>
              <a:spcBef>
                <a:spcPts val="1000"/>
              </a:spcBef>
              <a:spcAft>
                <a:spcPts val="0"/>
              </a:spcAft>
              <a:buSzPts val="1800"/>
              <a:buChar char="●"/>
            </a:pPr>
            <a:r>
              <a:rPr lang="en-US"/>
              <a:t>Research other cognitive presence classification models</a:t>
            </a:r>
            <a:r>
              <a:rPr baseline="30000" lang="en-US" sz="2600"/>
              <a:t>[1]</a:t>
            </a:r>
            <a:endParaRPr/>
          </a:p>
          <a:p>
            <a:pPr indent="-342900" lvl="0" marL="457200" rtl="0" algn="l">
              <a:lnSpc>
                <a:spcPct val="100000"/>
              </a:lnSpc>
              <a:spcBef>
                <a:spcPts val="1000"/>
              </a:spcBef>
              <a:spcAft>
                <a:spcPts val="0"/>
              </a:spcAft>
              <a:buSzPts val="1800"/>
              <a:buChar char="●"/>
            </a:pPr>
            <a:r>
              <a:rPr lang="en-US"/>
              <a:t>Tie in cognitive presence results to front end</a:t>
            </a:r>
            <a:endParaRPr/>
          </a:p>
          <a:p>
            <a:pPr indent="-342900" lvl="0" marL="457200" rtl="0" algn="l">
              <a:lnSpc>
                <a:spcPct val="100000"/>
              </a:lnSpc>
              <a:spcBef>
                <a:spcPts val="1000"/>
              </a:spcBef>
              <a:spcAft>
                <a:spcPts val="1000"/>
              </a:spcAft>
              <a:buSzPts val="1800"/>
              <a:buChar char="●"/>
            </a:pPr>
            <a:r>
              <a:rPr lang="en-US"/>
              <a:t>Improve documentation for next semesters students</a:t>
            </a:r>
            <a:endParaRPr/>
          </a:p>
        </p:txBody>
      </p:sp>
      <p:sp>
        <p:nvSpPr>
          <p:cNvPr id="169" name="Google Shape;169;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Next Steps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idx="1" type="body"/>
          </p:nvPr>
        </p:nvSpPr>
        <p:spPr>
          <a:xfrm>
            <a:off x="381000" y="1215475"/>
            <a:ext cx="59649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a:t>Improved the data visualization for assigned polarity scores</a:t>
            </a:r>
            <a:endParaRPr/>
          </a:p>
          <a:p>
            <a:pPr indent="-342900" lvl="0" marL="457200" rtl="0" algn="l">
              <a:lnSpc>
                <a:spcPct val="90000"/>
              </a:lnSpc>
              <a:spcBef>
                <a:spcPts val="1000"/>
              </a:spcBef>
              <a:spcAft>
                <a:spcPts val="0"/>
              </a:spcAft>
              <a:buSzPts val="1800"/>
              <a:buChar char="●"/>
            </a:pPr>
            <a:r>
              <a:rPr lang="en-US"/>
              <a:t>Used bokeh library instead of matplotlib due to interactive elements</a:t>
            </a:r>
            <a:endParaRPr/>
          </a:p>
          <a:p>
            <a:pPr indent="-342900" lvl="0" marL="457200" rtl="0" algn="l">
              <a:lnSpc>
                <a:spcPct val="90000"/>
              </a:lnSpc>
              <a:spcBef>
                <a:spcPts val="1000"/>
              </a:spcBef>
              <a:spcAft>
                <a:spcPts val="0"/>
              </a:spcAft>
              <a:buSzPts val="1800"/>
              <a:buChar char="●"/>
            </a:pPr>
            <a:r>
              <a:rPr lang="en-US"/>
              <a:t>Consolidated the histogram and bar chart from before</a:t>
            </a:r>
            <a:endParaRPr/>
          </a:p>
        </p:txBody>
      </p:sp>
      <p:sp>
        <p:nvSpPr>
          <p:cNvPr id="175" name="Google Shape;175;p13"/>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Polarity and Subjectivity</a:t>
            </a:r>
            <a:endParaRPr/>
          </a:p>
        </p:txBody>
      </p:sp>
      <p:pic>
        <p:nvPicPr>
          <p:cNvPr id="176" name="Google Shape;176;p13"/>
          <p:cNvPicPr preferRelativeResize="0"/>
          <p:nvPr/>
        </p:nvPicPr>
        <p:blipFill rotWithShape="1">
          <a:blip r:embed="rId3">
            <a:alphaModFix/>
          </a:blip>
          <a:srcRect b="0" l="0" r="0" t="0"/>
          <a:stretch/>
        </p:blipFill>
        <p:spPr>
          <a:xfrm>
            <a:off x="6345901" y="1018562"/>
            <a:ext cx="4846176" cy="4990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90000"/>
              </a:lnSpc>
              <a:spcBef>
                <a:spcPts val="1000"/>
              </a:spcBef>
              <a:spcAft>
                <a:spcPts val="0"/>
              </a:spcAft>
              <a:buSzPts val="1600"/>
              <a:buChar char="●"/>
            </a:pPr>
            <a:r>
              <a:rPr lang="en-US"/>
              <a:t>Histogram could be more visually appealing</a:t>
            </a:r>
            <a:endParaRPr/>
          </a:p>
          <a:p>
            <a:pPr indent="-330200" lvl="0" marL="457200" rtl="0" algn="l">
              <a:lnSpc>
                <a:spcPct val="90000"/>
              </a:lnSpc>
              <a:spcBef>
                <a:spcPts val="1000"/>
              </a:spcBef>
              <a:spcAft>
                <a:spcPts val="0"/>
              </a:spcAft>
              <a:buSzPts val="1600"/>
              <a:buChar char="●"/>
            </a:pPr>
            <a:r>
              <a:rPr lang="en-US"/>
              <a:t>Adjust output format to desired format of the web development team</a:t>
            </a:r>
            <a:endParaRPr/>
          </a:p>
          <a:p>
            <a:pPr indent="-342900" lvl="0" marL="457200" rtl="0" algn="l">
              <a:lnSpc>
                <a:spcPct val="90000"/>
              </a:lnSpc>
              <a:spcBef>
                <a:spcPts val="1000"/>
              </a:spcBef>
              <a:spcAft>
                <a:spcPts val="0"/>
              </a:spcAft>
              <a:buSzPts val="1800"/>
              <a:buChar char="●"/>
            </a:pPr>
            <a:r>
              <a:rPr lang="en-US"/>
              <a:t>Integrate into web application</a:t>
            </a:r>
            <a:endParaRPr/>
          </a:p>
        </p:txBody>
      </p:sp>
      <p:sp>
        <p:nvSpPr>
          <p:cNvPr id="182" name="Google Shape;182;p14"/>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Polarity and Subjectivity- Next Steps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Char char="●"/>
            </a:pPr>
            <a:r>
              <a:rPr lang="en-US"/>
              <a:t>Restructured web application to have a Flask backend and a React frontend</a:t>
            </a:r>
            <a:endParaRPr/>
          </a:p>
          <a:p>
            <a:pPr indent="-342900" lvl="0" marL="457200" rtl="0" algn="l">
              <a:lnSpc>
                <a:spcPct val="115000"/>
              </a:lnSpc>
              <a:spcBef>
                <a:spcPts val="1000"/>
              </a:spcBef>
              <a:spcAft>
                <a:spcPts val="0"/>
              </a:spcAft>
              <a:buSzPts val="1800"/>
              <a:buChar char="●"/>
            </a:pPr>
            <a:r>
              <a:rPr lang="en-US"/>
              <a:t>Created mini relational databases of the edX data</a:t>
            </a:r>
            <a:endParaRPr/>
          </a:p>
          <a:p>
            <a:pPr indent="-342900" lvl="0" marL="457200" rtl="0" algn="l">
              <a:lnSpc>
                <a:spcPct val="115000"/>
              </a:lnSpc>
              <a:spcBef>
                <a:spcPts val="1000"/>
              </a:spcBef>
              <a:spcAft>
                <a:spcPts val="0"/>
              </a:spcAft>
              <a:buSzPts val="1800"/>
              <a:buChar char="●"/>
            </a:pPr>
            <a:r>
              <a:rPr lang="en-US"/>
              <a:t>Explored dynamic routing within the application</a:t>
            </a:r>
            <a:endParaRPr/>
          </a:p>
          <a:p>
            <a:pPr indent="-342900" lvl="0" marL="457200" rtl="0" algn="l">
              <a:lnSpc>
                <a:spcPct val="115000"/>
              </a:lnSpc>
              <a:spcBef>
                <a:spcPts val="1000"/>
              </a:spcBef>
              <a:spcAft>
                <a:spcPts val="0"/>
              </a:spcAft>
              <a:buSzPts val="1800"/>
              <a:buChar char="●"/>
            </a:pPr>
            <a:r>
              <a:rPr lang="en-US"/>
              <a:t>Thoroughly documented the web development work as well as what the next steps should be</a:t>
            </a:r>
            <a:endParaRPr/>
          </a:p>
          <a:p>
            <a:pPr indent="-342900" lvl="0" marL="457200" rtl="0" algn="l">
              <a:lnSpc>
                <a:spcPct val="115000"/>
              </a:lnSpc>
              <a:spcBef>
                <a:spcPts val="1000"/>
              </a:spcBef>
              <a:spcAft>
                <a:spcPts val="0"/>
              </a:spcAft>
              <a:buSzPts val="1800"/>
              <a:buChar char="●"/>
            </a:pPr>
            <a:r>
              <a:rPr lang="en-US"/>
              <a:t>Provided mockups for engagement metrics</a:t>
            </a:r>
            <a:endParaRPr/>
          </a:p>
        </p:txBody>
      </p:sp>
      <p:sp>
        <p:nvSpPr>
          <p:cNvPr id="188" name="Google Shape;188;p16"/>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Web Development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a237ee9542_0_0"/>
          <p:cNvSpPr txBox="1"/>
          <p:nvPr>
            <p:ph idx="1" type="body"/>
          </p:nvPr>
        </p:nvSpPr>
        <p:spPr>
          <a:xfrm>
            <a:off x="381000" y="1029109"/>
            <a:ext cx="11430000" cy="4596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After experimenting with different approaches, we’ve settled on a certain “stack”</a:t>
            </a:r>
            <a:endParaRPr sz="700"/>
          </a:p>
          <a:p>
            <a:pPr indent="-342900" lvl="0" marL="457200" rtl="0" algn="l">
              <a:spcBef>
                <a:spcPts val="1000"/>
              </a:spcBef>
              <a:spcAft>
                <a:spcPts val="0"/>
              </a:spcAft>
              <a:buSzPts val="1800"/>
              <a:buChar char="●"/>
            </a:pPr>
            <a:r>
              <a:rPr lang="en-US">
                <a:highlight>
                  <a:srgbClr val="EA9999"/>
                </a:highlight>
              </a:rPr>
              <a:t>Frontend</a:t>
            </a:r>
            <a:r>
              <a:rPr lang="en-US"/>
              <a:t>: </a:t>
            </a:r>
            <a:r>
              <a:rPr b="1" lang="en-US"/>
              <a:t>React.js</a:t>
            </a:r>
            <a:endParaRPr b="1"/>
          </a:p>
          <a:p>
            <a:pPr indent="-342900" lvl="1" marL="914400" rtl="0" algn="l">
              <a:spcBef>
                <a:spcPts val="1000"/>
              </a:spcBef>
              <a:spcAft>
                <a:spcPts val="0"/>
              </a:spcAft>
              <a:buSzPts val="1800"/>
              <a:buChar char="○"/>
            </a:pPr>
            <a:r>
              <a:rPr lang="en-US"/>
              <a:t>makes it easier to create cohesive appearance </a:t>
            </a:r>
            <a:endParaRPr/>
          </a:p>
          <a:p>
            <a:pPr indent="-342900" lvl="1" marL="914400" rtl="0" algn="l">
              <a:spcBef>
                <a:spcPts val="1000"/>
              </a:spcBef>
              <a:spcAft>
                <a:spcPts val="0"/>
              </a:spcAft>
              <a:buSzPts val="1800"/>
              <a:buChar char="○"/>
            </a:pPr>
            <a:r>
              <a:rPr lang="en-US"/>
              <a:t>includes </a:t>
            </a:r>
            <a:r>
              <a:rPr lang="en-US" u="sng"/>
              <a:t>HTML</a:t>
            </a:r>
            <a:r>
              <a:rPr lang="en-US"/>
              <a:t>, </a:t>
            </a:r>
            <a:r>
              <a:rPr lang="en-US" u="sng"/>
              <a:t>CSS</a:t>
            </a:r>
            <a:r>
              <a:rPr lang="en-US"/>
              <a:t>, </a:t>
            </a:r>
            <a:r>
              <a:rPr lang="en-US" u="sng"/>
              <a:t>Javascript</a:t>
            </a:r>
            <a:endParaRPr u="sng"/>
          </a:p>
          <a:p>
            <a:pPr indent="-342900" lvl="1" marL="914400" rtl="0" algn="l">
              <a:spcBef>
                <a:spcPts val="1000"/>
              </a:spcBef>
              <a:spcAft>
                <a:spcPts val="0"/>
              </a:spcAft>
              <a:buSzPts val="1800"/>
              <a:buChar char="○"/>
            </a:pPr>
            <a:r>
              <a:rPr lang="en-US"/>
              <a:t>allows for templates &amp; dynamic routing</a:t>
            </a:r>
            <a:endParaRPr sz="700"/>
          </a:p>
          <a:p>
            <a:pPr indent="-342900" lvl="0" marL="457200" rtl="0" algn="l">
              <a:spcBef>
                <a:spcPts val="1000"/>
              </a:spcBef>
              <a:spcAft>
                <a:spcPts val="0"/>
              </a:spcAft>
              <a:buSzPts val="1800"/>
              <a:buChar char="●"/>
            </a:pPr>
            <a:r>
              <a:rPr lang="en-US">
                <a:highlight>
                  <a:srgbClr val="C9DAF8"/>
                </a:highlight>
              </a:rPr>
              <a:t>Backend</a:t>
            </a:r>
            <a:r>
              <a:rPr lang="en-US"/>
              <a:t>: </a:t>
            </a:r>
            <a:r>
              <a:rPr b="1" lang="en-US"/>
              <a:t>Flask</a:t>
            </a:r>
            <a:endParaRPr b="1"/>
          </a:p>
          <a:p>
            <a:pPr indent="-342900" lvl="1" marL="914400" rtl="0" algn="l">
              <a:spcBef>
                <a:spcPts val="1000"/>
              </a:spcBef>
              <a:spcAft>
                <a:spcPts val="0"/>
              </a:spcAft>
              <a:buSzPts val="1800"/>
              <a:buChar char="○"/>
            </a:pPr>
            <a:r>
              <a:rPr lang="en-US"/>
              <a:t>to connect database to frontend</a:t>
            </a:r>
            <a:endParaRPr/>
          </a:p>
          <a:p>
            <a:pPr indent="-342900" lvl="2" marL="1371600" rtl="0" algn="l">
              <a:spcBef>
                <a:spcPts val="1000"/>
              </a:spcBef>
              <a:spcAft>
                <a:spcPts val="0"/>
              </a:spcAft>
              <a:buSzPts val="1800"/>
              <a:buChar char="■"/>
            </a:pPr>
            <a:r>
              <a:rPr lang="en-US" u="sng"/>
              <a:t>SqlAlchemy</a:t>
            </a:r>
            <a:r>
              <a:rPr lang="en-US"/>
              <a:t> and </a:t>
            </a:r>
            <a:r>
              <a:rPr lang="en-US" u="sng"/>
              <a:t>SQLite</a:t>
            </a:r>
            <a:endParaRPr u="sng"/>
          </a:p>
          <a:p>
            <a:pPr indent="-342900" lvl="1" marL="914400" rtl="0" algn="l">
              <a:spcBef>
                <a:spcPts val="1000"/>
              </a:spcBef>
              <a:spcAft>
                <a:spcPts val="0"/>
              </a:spcAft>
              <a:buSzPts val="1800"/>
              <a:buChar char="○"/>
            </a:pPr>
            <a:r>
              <a:rPr lang="en-US"/>
              <a:t>is the most flexible (Node.js?)</a:t>
            </a:r>
            <a:endParaRPr/>
          </a:p>
          <a:p>
            <a:pPr indent="-342900" lvl="1" marL="914400" rtl="0" algn="l">
              <a:spcBef>
                <a:spcPts val="1000"/>
              </a:spcBef>
              <a:spcAft>
                <a:spcPts val="0"/>
              </a:spcAft>
              <a:buSzPts val="1800"/>
              <a:buChar char="○"/>
            </a:pPr>
            <a:r>
              <a:rPr lang="en-US"/>
              <a:t>data visualizations</a:t>
            </a:r>
            <a:endParaRPr sz="700"/>
          </a:p>
          <a:p>
            <a:pPr indent="-342900" lvl="0" marL="457200" rtl="0" algn="l">
              <a:spcBef>
                <a:spcPts val="1000"/>
              </a:spcBef>
              <a:spcAft>
                <a:spcPts val="1000"/>
              </a:spcAft>
              <a:buSzPts val="1800"/>
              <a:buChar char="●"/>
            </a:pPr>
            <a:r>
              <a:rPr lang="en-US">
                <a:highlight>
                  <a:srgbClr val="D9EAD3"/>
                </a:highlight>
              </a:rPr>
              <a:t>Database</a:t>
            </a:r>
            <a:r>
              <a:rPr lang="en-US"/>
              <a:t>: </a:t>
            </a:r>
            <a:r>
              <a:rPr b="1" lang="en-US"/>
              <a:t>MySQL</a:t>
            </a:r>
            <a:endParaRPr b="1"/>
          </a:p>
        </p:txBody>
      </p:sp>
      <p:sp>
        <p:nvSpPr>
          <p:cNvPr id="194" name="Google Shape;194;ga237ee9542_0_0"/>
          <p:cNvSpPr txBox="1"/>
          <p:nvPr>
            <p:ph type="title"/>
          </p:nvPr>
        </p:nvSpPr>
        <p:spPr>
          <a:xfrm>
            <a:off x="381000" y="20057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Web Development Stack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 </a:t>
            </a:r>
            <a:endParaRPr/>
          </a:p>
        </p:txBody>
      </p:sp>
      <p:sp>
        <p:nvSpPr>
          <p:cNvPr id="200" name="Google Shape;200;p1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Web Application Demo</a:t>
            </a:r>
            <a:endParaRPr/>
          </a:p>
        </p:txBody>
      </p:sp>
      <p:pic>
        <p:nvPicPr>
          <p:cNvPr id="201" name="Google Shape;201;p17"/>
          <p:cNvPicPr preferRelativeResize="0"/>
          <p:nvPr/>
        </p:nvPicPr>
        <p:blipFill rotWithShape="1">
          <a:blip r:embed="rId3">
            <a:alphaModFix/>
          </a:blip>
          <a:srcRect b="0" l="0" r="0" t="0"/>
          <a:stretch/>
        </p:blipFill>
        <p:spPr>
          <a:xfrm>
            <a:off x="381000" y="1701325"/>
            <a:ext cx="11430000" cy="36671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Visualizations - Engagement</a:t>
            </a:r>
            <a:endParaRPr/>
          </a:p>
        </p:txBody>
      </p:sp>
      <p:pic>
        <p:nvPicPr>
          <p:cNvPr id="207" name="Google Shape;207;p18"/>
          <p:cNvPicPr preferRelativeResize="0"/>
          <p:nvPr/>
        </p:nvPicPr>
        <p:blipFill rotWithShape="1">
          <a:blip r:embed="rId3">
            <a:alphaModFix/>
          </a:blip>
          <a:srcRect b="0" l="0" r="0" t="0"/>
          <a:stretch/>
        </p:blipFill>
        <p:spPr>
          <a:xfrm>
            <a:off x="3427213" y="1215622"/>
            <a:ext cx="5337580" cy="53375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Visualizations - Engagement</a:t>
            </a:r>
            <a:endParaRPr/>
          </a:p>
        </p:txBody>
      </p:sp>
      <p:pic>
        <p:nvPicPr>
          <p:cNvPr id="213" name="Google Shape;213;p19"/>
          <p:cNvPicPr preferRelativeResize="0"/>
          <p:nvPr/>
        </p:nvPicPr>
        <p:blipFill rotWithShape="1">
          <a:blip r:embed="rId3">
            <a:alphaModFix/>
          </a:blip>
          <a:srcRect b="0" l="0" r="0" t="0"/>
          <a:stretch/>
        </p:blipFill>
        <p:spPr>
          <a:xfrm>
            <a:off x="3427213" y="1215622"/>
            <a:ext cx="5337580" cy="53375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lang="en-US">
                <a:solidFill>
                  <a:srgbClr val="000000"/>
                </a:solidFill>
              </a:rPr>
              <a:t>Integrate the edX databases into the backend of the project so dynamic routing can be utilized</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lang="en-US"/>
              <a:t>Add data visualization scripts to the web application</a:t>
            </a:r>
            <a:endParaRPr/>
          </a:p>
          <a:p>
            <a:pPr indent="-342900" lvl="0" marL="457200" rtl="0" algn="l">
              <a:lnSpc>
                <a:spcPct val="115000"/>
              </a:lnSpc>
              <a:spcBef>
                <a:spcPts val="1000"/>
              </a:spcBef>
              <a:spcAft>
                <a:spcPts val="0"/>
              </a:spcAft>
              <a:buSzPts val="1800"/>
              <a:buChar char="●"/>
            </a:pPr>
            <a:r>
              <a:rPr lang="en-US"/>
              <a:t>Include cognitive presence with an explanation of the concept and phases</a:t>
            </a:r>
            <a:endParaRPr/>
          </a:p>
          <a:p>
            <a:pPr indent="-342900" lvl="0" marL="457200" rtl="0" algn="l">
              <a:lnSpc>
                <a:spcPct val="115000"/>
              </a:lnSpc>
              <a:spcBef>
                <a:spcPts val="1000"/>
              </a:spcBef>
              <a:spcAft>
                <a:spcPts val="0"/>
              </a:spcAft>
              <a:buClr>
                <a:srgbClr val="000000"/>
              </a:buClr>
              <a:buSzPts val="1800"/>
              <a:buChar char="●"/>
            </a:pPr>
            <a:r>
              <a:rPr lang="en-US">
                <a:solidFill>
                  <a:srgbClr val="000000"/>
                </a:solidFill>
              </a:rPr>
              <a:t>Utilize Piazza and Canvas data</a:t>
            </a:r>
            <a:endParaRPr>
              <a:solidFill>
                <a:srgbClr val="000000"/>
              </a:solidFill>
            </a:endParaRPr>
          </a:p>
        </p:txBody>
      </p:sp>
      <p:sp>
        <p:nvSpPr>
          <p:cNvPr id="219" name="Google Shape;219;p2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Web Development - Next Steps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a:t>Inter-team communication and project alignment is helpful</a:t>
            </a:r>
            <a:endParaRPr/>
          </a:p>
          <a:p>
            <a:pPr indent="-342900" lvl="0" marL="457200" rtl="0" algn="l">
              <a:lnSpc>
                <a:spcPct val="90000"/>
              </a:lnSpc>
              <a:spcBef>
                <a:spcPts val="1000"/>
              </a:spcBef>
              <a:spcAft>
                <a:spcPts val="0"/>
              </a:spcAft>
              <a:buSzPts val="1800"/>
              <a:buChar char="●"/>
            </a:pPr>
            <a:r>
              <a:rPr lang="en-US"/>
              <a:t>Trello boards are useful when maintained properly</a:t>
            </a:r>
            <a:endParaRPr/>
          </a:p>
          <a:p>
            <a:pPr indent="-342900" lvl="1" marL="914400" rtl="0" algn="l">
              <a:lnSpc>
                <a:spcPct val="90000"/>
              </a:lnSpc>
              <a:spcBef>
                <a:spcPts val="1000"/>
              </a:spcBef>
              <a:spcAft>
                <a:spcPts val="0"/>
              </a:spcAft>
              <a:buSzPts val="1800"/>
              <a:buChar char="○"/>
            </a:pPr>
            <a:r>
              <a:rPr lang="en-US"/>
              <a:t>current progress is reflected</a:t>
            </a:r>
            <a:endParaRPr/>
          </a:p>
          <a:p>
            <a:pPr indent="-342900" lvl="1" marL="914400" rtl="0" algn="l">
              <a:lnSpc>
                <a:spcPct val="90000"/>
              </a:lnSpc>
              <a:spcBef>
                <a:spcPts val="1000"/>
              </a:spcBef>
              <a:spcAft>
                <a:spcPts val="0"/>
              </a:spcAft>
              <a:buSzPts val="1800"/>
              <a:buChar char="○"/>
            </a:pPr>
            <a:r>
              <a:rPr lang="en-US"/>
              <a:t>backlog provides insight for future subteams</a:t>
            </a:r>
            <a:endParaRPr/>
          </a:p>
          <a:p>
            <a:pPr indent="-342900" lvl="0" marL="457200" rtl="0" algn="l">
              <a:lnSpc>
                <a:spcPct val="90000"/>
              </a:lnSpc>
              <a:spcBef>
                <a:spcPts val="1000"/>
              </a:spcBef>
              <a:spcAft>
                <a:spcPts val="1000"/>
              </a:spcAft>
              <a:buSzPts val="1800"/>
              <a:buChar char="●"/>
            </a:pPr>
            <a:r>
              <a:rPr lang="en-US"/>
              <a:t>A mix of waterfall and agile project management is necessary</a:t>
            </a:r>
            <a:endParaRPr/>
          </a:p>
        </p:txBody>
      </p:sp>
      <p:sp>
        <p:nvSpPr>
          <p:cNvPr id="225" name="Google Shape;225;p2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Key Takeaways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Hu, Yuanyuan &amp; Donald, Claire &amp; Giacaman, Nasser &amp; Zhu, Zexuan. (2020). Towards automated</a:t>
            </a:r>
            <a:endParaRPr sz="1900"/>
          </a:p>
          <a:p>
            <a:pPr indent="0" lvl="0" marL="457200" rtl="0" algn="l">
              <a:lnSpc>
                <a:spcPct val="90000"/>
              </a:lnSpc>
              <a:spcBef>
                <a:spcPts val="0"/>
              </a:spcBef>
              <a:spcAft>
                <a:spcPts val="0"/>
              </a:spcAft>
              <a:buNone/>
            </a:pPr>
            <a:r>
              <a:rPr lang="en-US" sz="1900"/>
              <a:t>analysis of cognitive presence in MOOC discussions: a manual classification study. 135-140.</a:t>
            </a:r>
            <a:endParaRPr sz="1900"/>
          </a:p>
          <a:p>
            <a:pPr indent="0" lvl="0" marL="457200" rtl="0" algn="l">
              <a:lnSpc>
                <a:spcPct val="90000"/>
              </a:lnSpc>
              <a:spcBef>
                <a:spcPts val="0"/>
              </a:spcBef>
              <a:spcAft>
                <a:spcPts val="0"/>
              </a:spcAft>
              <a:buNone/>
            </a:pPr>
            <a:r>
              <a:rPr lang="en-US" sz="1900"/>
              <a:t>10.1145/3375462.3375473.</a:t>
            </a:r>
            <a:endParaRPr sz="1900"/>
          </a:p>
          <a:p>
            <a:pPr indent="0" lvl="0" marL="457200" rtl="0" algn="l">
              <a:lnSpc>
                <a:spcPct val="90000"/>
              </a:lnSpc>
              <a:spcBef>
                <a:spcPts val="0"/>
              </a:spcBef>
              <a:spcAft>
                <a:spcPts val="0"/>
              </a:spcAft>
              <a:buNone/>
            </a:pPr>
            <a:r>
              <a:t/>
            </a:r>
            <a:endParaRPr sz="1900"/>
          </a:p>
        </p:txBody>
      </p:sp>
      <p:sp>
        <p:nvSpPr>
          <p:cNvPr id="231" name="Google Shape;231;p2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