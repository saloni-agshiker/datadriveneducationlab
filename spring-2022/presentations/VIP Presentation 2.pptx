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33.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3.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50"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Lst>
  <p:sldSz cy="6858000" cx="12192000"/>
  <p:notesSz cx="6858000" cy="9144000"/>
  <p:embeddedFontLst>
    <p:embeddedFont>
      <p:font typeface="Roboto"/>
      <p:regular r:id="rId41"/>
      <p:bold r:id="rId42"/>
      <p:italic r:id="rId43"/>
      <p:boldItalic r:id="rId44"/>
    </p:embeddedFont>
    <p:embeddedFont>
      <p:font typeface="Roboto Condensed Light"/>
      <p:regular r:id="rId45"/>
      <p:bold r:id="rId46"/>
      <p:italic r:id="rId47"/>
      <p:boldItalic r:id="rId4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773">
          <p15:clr>
            <a:srgbClr val="000000"/>
          </p15:clr>
        </p15:guide>
        <p15:guide id="2" pos="244">
          <p15:clr>
            <a:srgbClr val="000000"/>
          </p15:clr>
        </p15:guide>
      </p15:sldGuideLst>
    </p:ext>
    <p:ext uri="http://customooxmlschemas.google.com/">
      <go:slidesCustomData xmlns:go="http://customooxmlschemas.google.com/" r:id="rId49" roundtripDataSignature="AMtx7mhMCGpIGqcDqOvuZBQELMWptVS4d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ED9D76DC-395E-4700-9DAB-660AEE7810A5}">
  <a:tblStyle styleId="{ED9D76DC-395E-4700-9DAB-660AEE7810A5}"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773" orient="horz"/>
        <p:guide pos="244"/>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3.xml"/><Relationship Id="rId42" Type="http://schemas.openxmlformats.org/officeDocument/2006/relationships/font" Target="fonts/Roboto-bold.fntdata"/><Relationship Id="rId41" Type="http://schemas.openxmlformats.org/officeDocument/2006/relationships/font" Target="fonts/Roboto-regular.fntdata"/><Relationship Id="rId44" Type="http://schemas.openxmlformats.org/officeDocument/2006/relationships/font" Target="fonts/Roboto-boldItalic.fntdata"/><Relationship Id="rId43" Type="http://schemas.openxmlformats.org/officeDocument/2006/relationships/font" Target="fonts/Roboto-italic.fntdata"/><Relationship Id="rId46" Type="http://schemas.openxmlformats.org/officeDocument/2006/relationships/font" Target="fonts/RobotoCondensedLight-bold.fntdata"/><Relationship Id="rId45" Type="http://schemas.openxmlformats.org/officeDocument/2006/relationships/font" Target="fonts/RobotoCondensedLight-regular.fntdata"/><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2.xml"/><Relationship Id="rId48" Type="http://schemas.openxmlformats.org/officeDocument/2006/relationships/font" Target="fonts/RobotoCondensedLight-boldItalic.fntdata"/><Relationship Id="rId47" Type="http://schemas.openxmlformats.org/officeDocument/2006/relationships/font" Target="fonts/RobotoCondensedLight-italic.fntdata"/><Relationship Id="rId49"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11" Type="http://schemas.openxmlformats.org/officeDocument/2006/relationships/slide" Target="slides/slide4.xml"/><Relationship Id="rId10" Type="http://schemas.openxmlformats.org/officeDocument/2006/relationships/slide" Target="slides/slide3.xml"/><Relationship Id="rId13" Type="http://schemas.openxmlformats.org/officeDocument/2006/relationships/slide" Target="slides/slide6.xml"/><Relationship Id="rId12" Type="http://schemas.openxmlformats.org/officeDocument/2006/relationships/slide" Target="slides/slide5.xml"/><Relationship Id="rId15" Type="http://schemas.openxmlformats.org/officeDocument/2006/relationships/slide" Target="slides/slide8.xml"/><Relationship Id="rId14" Type="http://schemas.openxmlformats.org/officeDocument/2006/relationships/slide" Target="slides/slide7.xml"/><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 name="Shape 72"/>
        <p:cNvGrpSpPr/>
        <p:nvPr/>
      </p:nvGrpSpPr>
      <p:grpSpPr>
        <a:xfrm>
          <a:off x="0" y="0"/>
          <a:ext cx="0" cy="0"/>
          <a:chOff x="0" y="0"/>
          <a:chExt cx="0" cy="0"/>
        </a:xfrm>
      </p:grpSpPr>
      <p:sp>
        <p:nvSpPr>
          <p:cNvPr id="73" name="Google Shape;73;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p:txBody>
      </p:sp>
      <p:sp>
        <p:nvSpPr>
          <p:cNvPr id="74" name="Google Shape;74;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 name="Google Shape;80;p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All</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 name="Shape 101"/>
        <p:cNvGrpSpPr/>
        <p:nvPr/>
      </p:nvGrpSpPr>
      <p:grpSpPr>
        <a:xfrm>
          <a:off x="0" y="0"/>
          <a:ext cx="0" cy="0"/>
          <a:chOff x="0" y="0"/>
          <a:chExt cx="0" cy="0"/>
        </a:xfrm>
      </p:grpSpPr>
      <p:sp>
        <p:nvSpPr>
          <p:cNvPr id="102" name="Google Shape;102;g9d48565bb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3" name="Google Shape;103;g9d48565bb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15000"/>
              </a:lnSpc>
              <a:spcBef>
                <a:spcPts val="0"/>
              </a:spcBef>
              <a:spcAft>
                <a:spcPts val="0"/>
              </a:spcAft>
              <a:buClr>
                <a:schemeClr val="dk1"/>
              </a:buClr>
              <a:buSzPts val="1100"/>
              <a:buFont typeface="Arial"/>
              <a:buNone/>
            </a:pPr>
            <a:r>
              <a:rPr lang="en-US"/>
              <a:t>Just as a refresher, we’re working with Discussion forums data on Piazza from Dr. Thad Starner’s CS 6601 course. Discussion forums are particularly interesting since they’re the primary platform for student interaction in an online setting, and our goal in that context is to create a web-app that can be used by instructors to make their courses more effective and engaging, and reduce operational overheads.</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9" name="Shape 109"/>
        <p:cNvGrpSpPr/>
        <p:nvPr/>
      </p:nvGrpSpPr>
      <p:grpSpPr>
        <a:xfrm>
          <a:off x="0" y="0"/>
          <a:ext cx="0" cy="0"/>
          <a:chOff x="0" y="0"/>
          <a:chExt cx="0" cy="0"/>
        </a:xfrm>
      </p:grpSpPr>
      <p:sp>
        <p:nvSpPr>
          <p:cNvPr id="110" name="Google Shape;110;gba764dde3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1" name="Google Shape;111;gba764dde3e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Coming to our progress so far, the sub-teams have divided the tasks to get the pilot app working in the Piazza Sandbox environment. To give some context, the input to our web-app is the discussion forum posts on Piazza and the output is a dashboard that showcases metrics, charts and other relevant insights from this data. So, the UX team has created a wireframe to get a sense of what’d the user see on the dashboard. Next they’ll be working on getting feedback on this </a:t>
            </a:r>
            <a:r>
              <a:rPr lang="en-US"/>
              <a:t>wireframe</a:t>
            </a:r>
            <a:r>
              <a:rPr lang="en-US"/>
              <a:t> and create higher fidelity design based on which our front-end interface can be developed. The metrics and insights come from the models created by the data science team which they’ll work on integrating with the web-app next. The models need data which the backend team has managed to get into our database from Piazza using a script connecting with Piazza api. The next steps here would be to integrate the entire pipeline from Piazza to our database to the dashboard and test it. In addition, we’re also exploring a new direction of further study incorporating metacognition into our analysis which Daniel will be talking about in more detail. Coming to my learnings as a project manager over the past 2 semesters. I realized that my team is awesome and that a very integral part of a functioning team is mutual respect, trust and value alignment. Each of them takes ownership of the project and on </a:t>
            </a:r>
            <a:r>
              <a:rPr lang="en-US"/>
              <a:t>giving</a:t>
            </a:r>
            <a:r>
              <a:rPr lang="en-US"/>
              <a:t> them autonomy they often surpass expectations. All you need is to give them direction and feedback to help them grow. But it’s not perfect. We still need to figure out ways to be truly agile and prepare for bottlenecks before they actually arise which is partly on me, but others can contribute too.</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f4b38d8802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8" name="Google Shape;118;gf4b38d8802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Clr>
                <a:schemeClr val="dk1"/>
              </a:buClr>
              <a:buSzPts val="1100"/>
              <a:buFont typeface="Arial"/>
              <a:buNone/>
            </a:pPr>
            <a:r>
              <a:rPr lang="en-US">
                <a:solidFill>
                  <a:schemeClr val="dk1"/>
                </a:solidFill>
              </a:rPr>
              <a:t>Coming to targets for sem end, we want to come up with a responsive web-app tested inside the Piazza sandbox environment. On research side, we’ll focus on getting our topic model working to a satisfactory level to perform clustering on posts as well as get a preliminary model of metacognition on our data. In addition we’d work on creating a user guide and proposal for testing with instructors in a real class.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gefbeba6a1c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6" name="Google Shape;126;gefbeba6a1c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bea1223c9f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1" name="Google Shape;131;gbea1223c9f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100"/>
              </a:spcBef>
              <a:spcAft>
                <a:spcPts val="0"/>
              </a:spcAft>
              <a:buSzPts val="1100"/>
              <a:buNone/>
            </a:pPr>
            <a:r>
              <a:rPr lang="en-US"/>
              <a:t>Our </a:t>
            </a:r>
            <a:r>
              <a:rPr lang="en-US"/>
              <a:t>research</a:t>
            </a:r>
            <a:r>
              <a:rPr lang="en-US"/>
              <a:t> goal for this semester has been to work on cognitive and metacognition presence to provide actionable insights such visualized graphics data to the professors through a web application. We are trying to analyze students’ engagement and performance in an asynchronous online classroom and search for ways to how metacognition plays an important role in such an environment.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efbeba6a1c_0_50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7" name="Google Shape;137;gefbeba6a1c_0_5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We started with performing Sentiment Analysis on the Piazza data that we got last semester from Dr. Thad’s course. But after getting feedbacks from the TAs we realized that sentiment score would not be the right metric to present to the professors. Therefore, we starting working on Topic Modeling as a new branch to help professors get an insight on the topics in piazza discussions. Another branch that our team is exploring is metacognition and how it’s important to the professors. Now Jisan will be diving deep into the details of Topic Modeling.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0" name="Shape 150"/>
        <p:cNvGrpSpPr/>
        <p:nvPr/>
      </p:nvGrpSpPr>
      <p:grpSpPr>
        <a:xfrm>
          <a:off x="0" y="0"/>
          <a:ext cx="0" cy="0"/>
          <a:chOff x="0" y="0"/>
          <a:chExt cx="0" cy="0"/>
        </a:xfrm>
      </p:grpSpPr>
      <p:sp>
        <p:nvSpPr>
          <p:cNvPr id="151" name="Google Shape;151;g11a29825126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2" name="Google Shape;152;g11a29825126_1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Jisan</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efbeba6a1c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58" name="Google Shape;158;gefbeba6a1c_0_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Jisan</a:t>
            </a:r>
            <a:endParaRPr/>
          </a:p>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11a29825126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11a29825126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Jisan</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11a29825126_1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11a29825126_1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US"/>
              <a:t>The next steps we’ll be working on throughout the end of the semester are as follows: The data we got from the PRQR team is not formatted correctly and how we needed it to be. For topic modeling that we were supposed to perform, we need to separate questions from the answers from the data. We have a pre-trained neural net that would solve our purpose. The second goal for the project is to create a functional pipeline that could generate </a:t>
            </a:r>
            <a:r>
              <a:rPr lang="en-US"/>
              <a:t>probability</a:t>
            </a:r>
            <a:r>
              <a:rPr lang="en-US"/>
              <a:t> </a:t>
            </a:r>
            <a:r>
              <a:rPr lang="en-US"/>
              <a:t>distribution for the live comments using our trained model. This would be integrated with the web-dev team by fetching data from their SQL database to release our web application at the end of the semester.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 name="Shape 181"/>
        <p:cNvGrpSpPr/>
        <p:nvPr/>
      </p:nvGrpSpPr>
      <p:grpSpPr>
        <a:xfrm>
          <a:off x="0" y="0"/>
          <a:ext cx="0" cy="0"/>
          <a:chOff x="0" y="0"/>
          <a:chExt cx="0" cy="0"/>
        </a:xfrm>
      </p:grpSpPr>
      <p:sp>
        <p:nvSpPr>
          <p:cNvPr id="182" name="Google Shape;182;gf4bb9c8d2f_2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3" name="Google Shape;183;gf4bb9c8d2f_2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Daniel</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gefbeba6a1c_0_3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89" name="Google Shape;189;gefbeba6a1c_0_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2" name="Shape 192"/>
        <p:cNvGrpSpPr/>
        <p:nvPr/>
      </p:nvGrpSpPr>
      <p:grpSpPr>
        <a:xfrm>
          <a:off x="0" y="0"/>
          <a:ext cx="0" cy="0"/>
          <a:chOff x="0" y="0"/>
          <a:chExt cx="0" cy="0"/>
        </a:xfrm>
      </p:grpSpPr>
      <p:sp>
        <p:nvSpPr>
          <p:cNvPr id="193" name="Google Shape;193;gefb32003ea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94" name="Google Shape;194;gefb32003ea_0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Aanya</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3" name="Shape 203"/>
        <p:cNvGrpSpPr/>
        <p:nvPr/>
      </p:nvGrpSpPr>
      <p:grpSpPr>
        <a:xfrm>
          <a:off x="0" y="0"/>
          <a:ext cx="0" cy="0"/>
          <a:chOff x="0" y="0"/>
          <a:chExt cx="0" cy="0"/>
        </a:xfrm>
      </p:grpSpPr>
      <p:sp>
        <p:nvSpPr>
          <p:cNvPr id="204" name="Google Shape;204;g1153fb2e3d8_1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05" name="Google Shape;205;g1153fb2e3d8_1_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Harriet</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9d659091a8_1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25" name="Google Shape;225;g9d659091a8_1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Gautam</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gefbeba6a1c_0_5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gefbeba6a1c_0_5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5" name="Shape 235"/>
        <p:cNvGrpSpPr/>
        <p:nvPr/>
      </p:nvGrpSpPr>
      <p:grpSpPr>
        <a:xfrm>
          <a:off x="0" y="0"/>
          <a:ext cx="0" cy="0"/>
          <a:chOff x="0" y="0"/>
          <a:chExt cx="0" cy="0"/>
        </a:xfrm>
      </p:grpSpPr>
      <p:sp>
        <p:nvSpPr>
          <p:cNvPr id="236" name="Google Shape;236;gefbeba6a1c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7" name="Google Shape;237;gefbeba6a1c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Gautam</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gefbeba6a1c_0_4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3" name="Google Shape;243;gefbeba6a1c_0_4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a:t>Gautam</a:t>
            </a:r>
            <a:endParaRPr/>
          </a:p>
          <a:p>
            <a:pPr indent="-298450" lvl="0" marL="457200" rtl="0" algn="l">
              <a:lnSpc>
                <a:spcPct val="100000"/>
              </a:lnSpc>
              <a:spcBef>
                <a:spcPts val="0"/>
              </a:spcBef>
              <a:spcAft>
                <a:spcPts val="0"/>
              </a:spcAft>
              <a:buSzPts val="1100"/>
              <a:buChar char="-"/>
            </a:pPr>
            <a:r>
              <a:rPr lang="en-US"/>
              <a:t>mention that’s canvas integrated</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g11dc627c558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48" name="Google Shape;248;g11dc627c558_0_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a:t>Gautam</a:t>
            </a:r>
            <a:endParaRPr/>
          </a:p>
          <a:p>
            <a:pPr indent="-298450" lvl="0" marL="457200" rtl="0" algn="l">
              <a:lnSpc>
                <a:spcPct val="100000"/>
              </a:lnSpc>
              <a:spcBef>
                <a:spcPts val="0"/>
              </a:spcBef>
              <a:spcAft>
                <a:spcPts val="0"/>
              </a:spcAft>
              <a:buSzPts val="1100"/>
              <a:buChar char="-"/>
            </a:pPr>
            <a:r>
              <a:rPr lang="en-US"/>
              <a:t>unresolved posts to allow TAs to quickly see what needs their attention</a:t>
            </a:r>
            <a:endParaRPr/>
          </a:p>
          <a:p>
            <a:pPr indent="-298450" lvl="0" marL="457200" rtl="0" algn="l">
              <a:lnSpc>
                <a:spcPct val="100000"/>
              </a:lnSpc>
              <a:spcBef>
                <a:spcPts val="0"/>
              </a:spcBef>
              <a:spcAft>
                <a:spcPts val="0"/>
              </a:spcAft>
              <a:buSzPts val="1100"/>
              <a:buChar char="-"/>
            </a:pPr>
            <a:r>
              <a:rPr lang="en-US"/>
              <a:t>Head TA can designate people for each post so that work can be distributed evenly</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11dc627c558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g11dc627c558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a:t>Nidhi</a:t>
            </a:r>
            <a:endParaRPr/>
          </a:p>
          <a:p>
            <a:pPr indent="-298450" lvl="0" marL="457200" rtl="0" algn="l">
              <a:lnSpc>
                <a:spcPct val="100000"/>
              </a:lnSpc>
              <a:spcBef>
                <a:spcPts val="0"/>
              </a:spcBef>
              <a:spcAft>
                <a:spcPts val="0"/>
              </a:spcAft>
              <a:buSzPts val="1100"/>
              <a:buChar char="-"/>
            </a:pPr>
            <a:r>
              <a:rPr lang="en-US"/>
              <a:t>result of data science topic analysis</a:t>
            </a:r>
            <a:endParaRPr/>
          </a:p>
          <a:p>
            <a:pPr indent="-298450" lvl="0" marL="457200" rtl="0" algn="l">
              <a:lnSpc>
                <a:spcPct val="100000"/>
              </a:lnSpc>
              <a:spcBef>
                <a:spcPts val="0"/>
              </a:spcBef>
              <a:spcAft>
                <a:spcPts val="0"/>
              </a:spcAft>
              <a:buSzPts val="1100"/>
              <a:buChar char="-"/>
            </a:pPr>
            <a:r>
              <a:rPr lang="en-US"/>
              <a:t>see the topics with the most </a:t>
            </a:r>
            <a:r>
              <a:rPr lang="en-US"/>
              <a:t>questions</a:t>
            </a:r>
            <a:r>
              <a:rPr lang="en-US"/>
              <a:t> so that they can choose what to go over</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11dc627c558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8" name="Google Shape;258;g11dc627c558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US"/>
              <a:t>Nidhi</a:t>
            </a:r>
            <a:endParaRPr/>
          </a:p>
          <a:p>
            <a:pPr indent="-298450" lvl="0" marL="457200" rtl="0" algn="l">
              <a:lnSpc>
                <a:spcPct val="100000"/>
              </a:lnSpc>
              <a:spcBef>
                <a:spcPts val="0"/>
              </a:spcBef>
              <a:spcAft>
                <a:spcPts val="0"/>
              </a:spcAft>
              <a:buSzPts val="1100"/>
              <a:buChar char="-"/>
            </a:pPr>
            <a:r>
              <a:rPr lang="en-US"/>
              <a:t>overall student participation</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1" name="Shape 261"/>
        <p:cNvGrpSpPr/>
        <p:nvPr/>
      </p:nvGrpSpPr>
      <p:grpSpPr>
        <a:xfrm>
          <a:off x="0" y="0"/>
          <a:ext cx="0" cy="0"/>
          <a:chOff x="0" y="0"/>
          <a:chExt cx="0" cy="0"/>
        </a:xfrm>
      </p:grpSpPr>
      <p:sp>
        <p:nvSpPr>
          <p:cNvPr id="262" name="Google Shape;262;g11dc627c558_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3" name="Google Shape;263;g11dc627c558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457200" rtl="0" algn="l">
              <a:lnSpc>
                <a:spcPct val="100000"/>
              </a:lnSpc>
              <a:spcBef>
                <a:spcPts val="0"/>
              </a:spcBef>
              <a:spcAft>
                <a:spcPts val="0"/>
              </a:spcAft>
              <a:buNone/>
            </a:pPr>
            <a:r>
              <a:rPr lang="en-US"/>
              <a:t>Nidhi</a:t>
            </a:r>
            <a:endParaRPr/>
          </a:p>
          <a:p>
            <a:pPr indent="-298450" lvl="0" marL="457200" rtl="0" algn="l">
              <a:lnSpc>
                <a:spcPct val="100000"/>
              </a:lnSpc>
              <a:spcBef>
                <a:spcPts val="0"/>
              </a:spcBef>
              <a:spcAft>
                <a:spcPts val="0"/>
              </a:spcAft>
              <a:buSzPts val="1100"/>
              <a:buChar char="-"/>
            </a:pPr>
            <a:r>
              <a:rPr lang="en-US"/>
              <a:t>instructor contributions</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6" name="Shape 266"/>
        <p:cNvGrpSpPr/>
        <p:nvPr/>
      </p:nvGrpSpPr>
      <p:grpSpPr>
        <a:xfrm>
          <a:off x="0" y="0"/>
          <a:ext cx="0" cy="0"/>
          <a:chOff x="0" y="0"/>
          <a:chExt cx="0" cy="0"/>
        </a:xfrm>
      </p:grpSpPr>
      <p:sp>
        <p:nvSpPr>
          <p:cNvPr id="267" name="Google Shape;267;g11dc627c558_0_2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8" name="Google Shape;268;g11dc627c558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Nidhi</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2" name="Shape 272"/>
        <p:cNvGrpSpPr/>
        <p:nvPr/>
      </p:nvGrpSpPr>
      <p:grpSpPr>
        <a:xfrm>
          <a:off x="0" y="0"/>
          <a:ext cx="0" cy="0"/>
          <a:chOff x="0" y="0"/>
          <a:chExt cx="0" cy="0"/>
        </a:xfrm>
      </p:grpSpPr>
      <p:sp>
        <p:nvSpPr>
          <p:cNvPr id="273" name="Google Shape;273;p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74" name="Google Shape;274;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Pratik</a:t>
            </a:r>
            <a:endParaRPr/>
          </a:p>
          <a:p>
            <a:pPr indent="0" lvl="0" marL="0" rtl="0" algn="l">
              <a:lnSpc>
                <a:spcPct val="100000"/>
              </a:lnSpc>
              <a:spcBef>
                <a:spcPts val="0"/>
              </a:spcBef>
              <a:spcAft>
                <a:spcPts val="0"/>
              </a:spcAft>
              <a:buSzPts val="1100"/>
              <a:buNone/>
            </a:pPr>
            <a:r>
              <a:rPr lang="en-US"/>
              <a:t>To conclude, the next steps in the roadmap is getting the web-app deployed, use topic modeling approach to cluster similar posts which will help create an FAQ list in advance and help reduce overhead by reducing volume of repetitive questions, and get quick feedback from instructors. In education research, our focus will be on understanding metacognition and its manifestation in online discussion forums. Thank you for your time.</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8" name="Shape 278"/>
        <p:cNvGrpSpPr/>
        <p:nvPr/>
      </p:nvGrpSpPr>
      <p:grpSpPr>
        <a:xfrm>
          <a:off x="0" y="0"/>
          <a:ext cx="0" cy="0"/>
          <a:chOff x="0" y="0"/>
          <a:chExt cx="0" cy="0"/>
        </a:xfrm>
      </p:grpSpPr>
      <p:sp>
        <p:nvSpPr>
          <p:cNvPr id="279" name="Google Shape;279;g9d48565bb2_0_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0" name="Google Shape;280;g9d48565bb2_0_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p1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gefbeba6a1c_0_51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1" name="Google Shape;291;gefbeba6a1c_0_5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US"/>
              <a:t>Malav</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5" name="Shape 295"/>
        <p:cNvGrpSpPr/>
        <p:nvPr/>
      </p:nvGrpSpPr>
      <p:grpSpPr>
        <a:xfrm>
          <a:off x="0" y="0"/>
          <a:ext cx="0" cy="0"/>
          <a:chOff x="0" y="0"/>
          <a:chExt cx="0" cy="0"/>
        </a:xfrm>
      </p:grpSpPr>
      <p:sp>
        <p:nvSpPr>
          <p:cNvPr id="296" name="Google Shape;296;gbee4de09ef_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7" name="Google Shape;297;gbee4de09ef_0_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bee4de09ef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4" name="Google Shape;304;gbee4de09ef_0_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ba764dde3e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0" name="Google Shape;310;gba764dde3e_0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4" name="Shape 314"/>
        <p:cNvGrpSpPr/>
        <p:nvPr/>
      </p:nvGrpSpPr>
      <p:grpSpPr>
        <a:xfrm>
          <a:off x="0" y="0"/>
          <a:ext cx="0" cy="0"/>
          <a:chOff x="0" y="0"/>
          <a:chExt cx="0" cy="0"/>
        </a:xfrm>
      </p:grpSpPr>
      <p:sp>
        <p:nvSpPr>
          <p:cNvPr id="315" name="Google Shape;315;gbea1223c9f_0_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6" name="Google Shape;316;gbea1223c9f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6" name="Shape 6"/>
        <p:cNvGrpSpPr/>
        <p:nvPr/>
      </p:nvGrpSpPr>
      <p:grpSpPr>
        <a:xfrm>
          <a:off x="0" y="0"/>
          <a:ext cx="0" cy="0"/>
          <a:chOff x="0" y="0"/>
          <a:chExt cx="0" cy="0"/>
        </a:xfrm>
      </p:grpSpPr>
      <p:sp>
        <p:nvSpPr>
          <p:cNvPr id="7" name="Google Shape;7;p14"/>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lvl1pPr lvl="0" marR="0" rtl="0" algn="l">
              <a:lnSpc>
                <a:spcPct val="120000"/>
              </a:lnSpc>
              <a:spcBef>
                <a:spcPts val="600"/>
              </a:spcBef>
              <a:spcAft>
                <a:spcPts val="0"/>
              </a:spcAft>
              <a:buClr>
                <a:srgbClr val="7F7F7F"/>
              </a:buClr>
              <a:buSzPts val="3000"/>
              <a:buFont typeface="Arial"/>
              <a:buNone/>
              <a:defRPr b="0" i="0" sz="3000" u="none" cap="none" strike="noStrike">
                <a:solidFill>
                  <a:srgbClr val="7F7F7F"/>
                </a:solidFill>
                <a:latin typeface="Roboto Condensed Light"/>
                <a:ea typeface="Roboto Condensed Light"/>
                <a:cs typeface="Roboto Condensed Light"/>
                <a:sym typeface="Roboto Condensed Light"/>
              </a:defRPr>
            </a:lvl1pPr>
            <a:lvl2pPr lvl="1" marR="0" rtl="0" algn="ctr">
              <a:lnSpc>
                <a:spcPct val="100000"/>
              </a:lnSpc>
              <a:spcBef>
                <a:spcPts val="420"/>
              </a:spcBef>
              <a:spcAft>
                <a:spcPts val="0"/>
              </a:spcAft>
              <a:buClr>
                <a:srgbClr val="888888"/>
              </a:buClr>
              <a:buSzPts val="2100"/>
              <a:buFont typeface="Arial"/>
              <a:buNone/>
              <a:defRPr b="0" i="0" sz="2100" u="none" cap="none" strike="noStrike">
                <a:solidFill>
                  <a:srgbClr val="888888"/>
                </a:solidFill>
                <a:latin typeface="Arial"/>
                <a:ea typeface="Arial"/>
                <a:cs typeface="Arial"/>
                <a:sym typeface="Arial"/>
              </a:defRPr>
            </a:lvl2pPr>
            <a:lvl3pPr lvl="2" marR="0" rtl="0" algn="ctr">
              <a:lnSpc>
                <a:spcPct val="100000"/>
              </a:lnSpc>
              <a:spcBef>
                <a:spcPts val="360"/>
              </a:spcBef>
              <a:spcAft>
                <a:spcPts val="0"/>
              </a:spcAft>
              <a:buClr>
                <a:srgbClr val="888888"/>
              </a:buClr>
              <a:buSzPts val="1800"/>
              <a:buFont typeface="Arial"/>
              <a:buNone/>
              <a:defRPr b="0" i="0" sz="1800" u="none" cap="none" strike="noStrike">
                <a:solidFill>
                  <a:srgbClr val="888888"/>
                </a:solidFill>
                <a:latin typeface="Arial"/>
                <a:ea typeface="Arial"/>
                <a:cs typeface="Arial"/>
                <a:sym typeface="Arial"/>
              </a:defRPr>
            </a:lvl3pPr>
            <a:lvl4pPr lvl="3"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4pPr>
            <a:lvl5pPr lvl="4"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5pPr>
            <a:lvl6pPr lvl="5"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6pPr>
            <a:lvl7pPr lvl="6"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7pPr>
            <a:lvl8pPr lvl="7"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8pPr>
            <a:lvl9pPr lvl="8" marR="0" rtl="0" algn="ctr">
              <a:lnSpc>
                <a:spcPct val="100000"/>
              </a:lnSpc>
              <a:spcBef>
                <a:spcPts val="300"/>
              </a:spcBef>
              <a:spcAft>
                <a:spcPts val="0"/>
              </a:spcAft>
              <a:buClr>
                <a:srgbClr val="888888"/>
              </a:buClr>
              <a:buSzPts val="1500"/>
              <a:buFont typeface="Arial"/>
              <a:buNone/>
              <a:defRPr b="0" i="0" sz="1500" u="none" cap="none" strike="noStrike">
                <a:solidFill>
                  <a:srgbClr val="888888"/>
                </a:solidFill>
                <a:latin typeface="Arial"/>
                <a:ea typeface="Arial"/>
                <a:cs typeface="Arial"/>
                <a:sym typeface="Arial"/>
              </a:defRPr>
            </a:lvl9pPr>
          </a:lstStyle>
          <a:p/>
        </p:txBody>
      </p:sp>
      <p:sp>
        <p:nvSpPr>
          <p:cNvPr id="8" name="Google Shape;8;p14"/>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lvl1pPr lvl="0" marR="0" rtl="0" algn="l">
              <a:lnSpc>
                <a:spcPct val="114285"/>
              </a:lnSpc>
              <a:spcBef>
                <a:spcPts val="0"/>
              </a:spcBef>
              <a:spcAft>
                <a:spcPts val="0"/>
              </a:spcAft>
              <a:buClr>
                <a:srgbClr val="A7934B"/>
              </a:buClr>
              <a:buSzPts val="4200"/>
              <a:buFont typeface="Roboto"/>
              <a:buNone/>
              <a:defRPr b="1" i="0" sz="42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
    <p:spTree>
      <p:nvGrpSpPr>
        <p:cNvPr id="15" name="Shape 15"/>
        <p:cNvGrpSpPr/>
        <p:nvPr/>
      </p:nvGrpSpPr>
      <p:grpSpPr>
        <a:xfrm>
          <a:off x="0" y="0"/>
          <a:ext cx="0" cy="0"/>
          <a:chOff x="0" y="0"/>
          <a:chExt cx="0" cy="0"/>
        </a:xfrm>
      </p:grpSpPr>
      <p:sp>
        <p:nvSpPr>
          <p:cNvPr id="16" name="Google Shape;16;p16"/>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7" name="Google Shape;17;p16"/>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8" name="Google Shape;18;p16"/>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6"/>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20" name="Google Shape;20;p16"/>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_ONLY" type="titleOnly">
  <p:cSld name="TITLE_ONLY">
    <p:spTree>
      <p:nvGrpSpPr>
        <p:cNvPr id="21" name="Shape 21"/>
        <p:cNvGrpSpPr/>
        <p:nvPr/>
      </p:nvGrpSpPr>
      <p:grpSpPr>
        <a:xfrm>
          <a:off x="0" y="0"/>
          <a:ext cx="0" cy="0"/>
          <a:chOff x="0" y="0"/>
          <a:chExt cx="0" cy="0"/>
        </a:xfrm>
      </p:grpSpPr>
      <p:sp>
        <p:nvSpPr>
          <p:cNvPr id="22" name="Google Shape;22;p20"/>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20"/>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4" name="Google Shape;24;p20"/>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5" name="Google Shape;25;p20"/>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17"/>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7"/>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7"/>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_OBJECTS" type="twoObj">
  <p:cSld name="TWO_OBJECTS">
    <p:spTree>
      <p:nvGrpSpPr>
        <p:cNvPr id="30" name="Shape 30"/>
        <p:cNvGrpSpPr/>
        <p:nvPr/>
      </p:nvGrpSpPr>
      <p:grpSpPr>
        <a:xfrm>
          <a:off x="0" y="0"/>
          <a:ext cx="0" cy="0"/>
          <a:chOff x="0" y="0"/>
          <a:chExt cx="0" cy="0"/>
        </a:xfrm>
      </p:grpSpPr>
      <p:sp>
        <p:nvSpPr>
          <p:cNvPr id="31" name="Google Shape;31;p18"/>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8"/>
          <p:cNvSpPr txBox="1"/>
          <p:nvPr>
            <p:ph idx="1" type="body"/>
          </p:nvPr>
        </p:nvSpPr>
        <p:spPr>
          <a:xfrm>
            <a:off x="379048" y="1215483"/>
            <a:ext cx="5615353"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3" name="Google Shape;33;p18"/>
          <p:cNvSpPr txBox="1"/>
          <p:nvPr>
            <p:ph idx="2" type="body"/>
          </p:nvPr>
        </p:nvSpPr>
        <p:spPr>
          <a:xfrm>
            <a:off x="6197600" y="1215483"/>
            <a:ext cx="5613400" cy="496148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4" name="Google Shape;34;p18"/>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5" name="Google Shape;35;p18"/>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6" name="Google Shape;36;p18"/>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p:cSld name="Comparison">
    <p:spTree>
      <p:nvGrpSpPr>
        <p:cNvPr id="37" name="Shape 37"/>
        <p:cNvGrpSpPr/>
        <p:nvPr/>
      </p:nvGrpSpPr>
      <p:grpSpPr>
        <a:xfrm>
          <a:off x="0" y="0"/>
          <a:ext cx="0" cy="0"/>
          <a:chOff x="0" y="0"/>
          <a:chExt cx="0" cy="0"/>
        </a:xfrm>
      </p:grpSpPr>
      <p:sp>
        <p:nvSpPr>
          <p:cNvPr id="38" name="Google Shape;38;p19"/>
          <p:cNvSpPr txBox="1"/>
          <p:nvPr>
            <p:ph idx="1" type="body"/>
          </p:nvPr>
        </p:nvSpPr>
        <p:spPr>
          <a:xfrm>
            <a:off x="381001" y="1235113"/>
            <a:ext cx="5617633"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9" name="Google Shape;39;p19"/>
          <p:cNvSpPr txBox="1"/>
          <p:nvPr>
            <p:ph idx="2" type="body"/>
          </p:nvPr>
        </p:nvSpPr>
        <p:spPr>
          <a:xfrm>
            <a:off x="381001" y="2078657"/>
            <a:ext cx="5617633"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0" name="Google Shape;40;p19"/>
          <p:cNvSpPr txBox="1"/>
          <p:nvPr>
            <p:ph idx="3" type="body"/>
          </p:nvPr>
        </p:nvSpPr>
        <p:spPr>
          <a:xfrm>
            <a:off x="6172200" y="1235113"/>
            <a:ext cx="563880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41" name="Google Shape;41;p19"/>
          <p:cNvSpPr txBox="1"/>
          <p:nvPr>
            <p:ph idx="4" type="body"/>
          </p:nvPr>
        </p:nvSpPr>
        <p:spPr>
          <a:xfrm>
            <a:off x="6172200" y="2078657"/>
            <a:ext cx="5638800" cy="4111007"/>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19"/>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9"/>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4" name="Google Shape;44;p19"/>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
        <p:nvSpPr>
          <p:cNvPr id="45" name="Google Shape;45;p19"/>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BJECT_WITH_CAPTION_TEXT" type="objTx">
  <p:cSld name="OBJECT_WITH_CAPTION_TEXT">
    <p:spTree>
      <p:nvGrpSpPr>
        <p:cNvPr id="46" name="Shape 46"/>
        <p:cNvGrpSpPr/>
        <p:nvPr/>
      </p:nvGrpSpPr>
      <p:grpSpPr>
        <a:xfrm>
          <a:off x="0" y="0"/>
          <a:ext cx="0" cy="0"/>
          <a:chOff x="0" y="0"/>
          <a:chExt cx="0" cy="0"/>
        </a:xfrm>
      </p:grpSpPr>
      <p:sp>
        <p:nvSpPr>
          <p:cNvPr id="47" name="Google Shape;47;p21"/>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21"/>
          <p:cNvSpPr txBox="1"/>
          <p:nvPr>
            <p:ph idx="1" type="body"/>
          </p:nvPr>
        </p:nvSpPr>
        <p:spPr>
          <a:xfrm>
            <a:off x="4313768" y="457201"/>
            <a:ext cx="7497233" cy="5403850"/>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9" name="Google Shape;49;p21"/>
          <p:cNvSpPr txBox="1"/>
          <p:nvPr>
            <p:ph idx="2"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0" name="Google Shape;50;p21"/>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21"/>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21"/>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_WITH_CAPTION_TEXT" type="picTx">
  <p:cSld name="PICTURE_WITH_CAPTION_TEXT">
    <p:spTree>
      <p:nvGrpSpPr>
        <p:cNvPr id="53" name="Shape 53"/>
        <p:cNvGrpSpPr/>
        <p:nvPr/>
      </p:nvGrpSpPr>
      <p:grpSpPr>
        <a:xfrm>
          <a:off x="0" y="0"/>
          <a:ext cx="0" cy="0"/>
          <a:chOff x="0" y="0"/>
          <a:chExt cx="0" cy="0"/>
        </a:xfrm>
      </p:grpSpPr>
      <p:sp>
        <p:nvSpPr>
          <p:cNvPr id="54" name="Google Shape;54;p22"/>
          <p:cNvSpPr txBox="1"/>
          <p:nvPr>
            <p:ph type="title"/>
          </p:nvPr>
        </p:nvSpPr>
        <p:spPr>
          <a:xfrm>
            <a:off x="381001" y="457200"/>
            <a:ext cx="393276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rgbClr val="A7934B"/>
              </a:buClr>
              <a:buSzPts val="3200"/>
              <a:buFont typeface="Roboto"/>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5" name="Google Shape;55;p22"/>
          <p:cNvSpPr/>
          <p:nvPr>
            <p:ph idx="2" type="pic"/>
          </p:nvPr>
        </p:nvSpPr>
        <p:spPr>
          <a:xfrm>
            <a:off x="4313768" y="457201"/>
            <a:ext cx="7497233" cy="5403850"/>
          </a:xfrm>
          <a:prstGeom prst="rect">
            <a:avLst/>
          </a:prstGeom>
          <a:noFill/>
          <a:ln>
            <a:noFill/>
          </a:ln>
        </p:spPr>
      </p:sp>
      <p:sp>
        <p:nvSpPr>
          <p:cNvPr id="56" name="Google Shape;56;p22"/>
          <p:cNvSpPr txBox="1"/>
          <p:nvPr>
            <p:ph idx="1" type="body"/>
          </p:nvPr>
        </p:nvSpPr>
        <p:spPr>
          <a:xfrm>
            <a:off x="381001" y="2274849"/>
            <a:ext cx="3932767" cy="3594139"/>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7" name="Google Shape;57;p22"/>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8" name="Google Shape;58;p22"/>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9" name="Google Shape;59;p22"/>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EXT" type="vertTx">
  <p:cSld name="VERTICAL_TEXT">
    <p:spTree>
      <p:nvGrpSpPr>
        <p:cNvPr id="60" name="Shape 60"/>
        <p:cNvGrpSpPr/>
        <p:nvPr/>
      </p:nvGrpSpPr>
      <p:grpSpPr>
        <a:xfrm>
          <a:off x="0" y="0"/>
          <a:ext cx="0" cy="0"/>
          <a:chOff x="0" y="0"/>
          <a:chExt cx="0" cy="0"/>
        </a:xfrm>
      </p:grpSpPr>
      <p:sp>
        <p:nvSpPr>
          <p:cNvPr id="61" name="Google Shape;61;p23"/>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2" name="Google Shape;62;p23"/>
          <p:cNvSpPr txBox="1"/>
          <p:nvPr>
            <p:ph idx="1" type="body"/>
          </p:nvPr>
        </p:nvSpPr>
        <p:spPr>
          <a:xfrm rot="5400000">
            <a:off x="3797823" y="-2201338"/>
            <a:ext cx="4596355" cy="114300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3" name="Google Shape;63;p23"/>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23"/>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23"/>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_TITLE_AND_VERTICAL_TEXT" type="vertTitleAndTx">
  <p:cSld name="VERTICAL_TITLE_AND_VERTICAL_TEXT">
    <p:spTree>
      <p:nvGrpSpPr>
        <p:cNvPr id="66" name="Shape 66"/>
        <p:cNvGrpSpPr/>
        <p:nvPr/>
      </p:nvGrpSpPr>
      <p:grpSpPr>
        <a:xfrm>
          <a:off x="0" y="0"/>
          <a:ext cx="0" cy="0"/>
          <a:chOff x="0" y="0"/>
          <a:chExt cx="0" cy="0"/>
        </a:xfrm>
      </p:grpSpPr>
      <p:sp>
        <p:nvSpPr>
          <p:cNvPr id="67" name="Google Shape;67;p24"/>
          <p:cNvSpPr txBox="1"/>
          <p:nvPr>
            <p:ph type="title"/>
          </p:nvPr>
        </p:nvSpPr>
        <p:spPr>
          <a:xfrm rot="5400000">
            <a:off x="7590632"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rgbClr val="A7934B"/>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8" name="Google Shape;68;p24"/>
          <p:cNvSpPr txBox="1"/>
          <p:nvPr>
            <p:ph idx="1" type="body"/>
          </p:nvPr>
        </p:nvSpPr>
        <p:spPr>
          <a:xfrm rot="5400000">
            <a:off x="1875632" y="-1129506"/>
            <a:ext cx="5811838" cy="88011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9" name="Google Shape;69;p24"/>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0" name="Google Shape;70;p24"/>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1" name="Google Shape;71;p24"/>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image" Target="../media/image1.jpg"/><Relationship Id="rId2" Type="http://schemas.openxmlformats.org/officeDocument/2006/relationships/slideLayout" Target="../slideLayouts/slideLayout1.xml"/><Relationship Id="rId3"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image" Target="../media/image2.jpg"/><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theme" Target="../theme/theme2.xml"/><Relationship Id="rId10" Type="http://schemas.openxmlformats.org/officeDocument/2006/relationships/slideLayout" Target="../slideLayouts/slideLayout10.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2"/>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9" name="Shape 9"/>
        <p:cNvGrpSpPr/>
        <p:nvPr/>
      </p:nvGrpSpPr>
      <p:grpSpPr>
        <a:xfrm>
          <a:off x="0" y="0"/>
          <a:ext cx="0" cy="0"/>
          <a:chOff x="0" y="0"/>
          <a:chExt cx="0" cy="0"/>
        </a:xfrm>
      </p:grpSpPr>
      <p:sp>
        <p:nvSpPr>
          <p:cNvPr id="10" name="Google Shape;10;p15"/>
          <p:cNvSpPr txBox="1"/>
          <p:nvPr>
            <p:ph type="title"/>
          </p:nvPr>
        </p:nvSpPr>
        <p:spPr>
          <a:xfrm>
            <a:off x="381000" y="200722"/>
            <a:ext cx="11430000" cy="1014761"/>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rgbClr val="A7934B"/>
              </a:buClr>
              <a:buSzPts val="3600"/>
              <a:buFont typeface="Roboto"/>
              <a:buNone/>
              <a:defRPr b="1" i="0" sz="3600" u="none" cap="none" strike="noStrike">
                <a:solidFill>
                  <a:srgbClr val="A7934B"/>
                </a:solidFill>
                <a:latin typeface="Roboto"/>
                <a:ea typeface="Roboto"/>
                <a:cs typeface="Roboto"/>
                <a:sym typeface="Roboto"/>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11" name="Google Shape;11;p15"/>
          <p:cNvSpPr txBox="1"/>
          <p:nvPr>
            <p:ph idx="1" type="body"/>
          </p:nvPr>
        </p:nvSpPr>
        <p:spPr>
          <a:xfrm>
            <a:off x="381000" y="1215484"/>
            <a:ext cx="11430000" cy="4596355"/>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Roboto"/>
                <a:ea typeface="Roboto"/>
                <a:cs typeface="Roboto"/>
                <a:sym typeface="Roboto"/>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Roboto"/>
                <a:ea typeface="Roboto"/>
                <a:cs typeface="Roboto"/>
                <a:sym typeface="Roboto"/>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Roboto"/>
                <a:ea typeface="Roboto"/>
                <a:cs typeface="Roboto"/>
                <a:sym typeface="Roboto"/>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Roboto"/>
                <a:ea typeface="Roboto"/>
                <a:cs typeface="Roboto"/>
                <a:sym typeface="Roboto"/>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15"/>
          <p:cNvSpPr txBox="1"/>
          <p:nvPr>
            <p:ph idx="10" type="dt"/>
          </p:nvPr>
        </p:nvSpPr>
        <p:spPr>
          <a:xfrm>
            <a:off x="381000" y="5811839"/>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3" name="Google Shape;13;p15"/>
          <p:cNvSpPr txBox="1"/>
          <p:nvPr>
            <p:ph idx="11" type="ftr"/>
          </p:nvPr>
        </p:nvSpPr>
        <p:spPr>
          <a:xfrm>
            <a:off x="3126154" y="5811839"/>
            <a:ext cx="5941647"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Arial"/>
                <a:ea typeface="Arial"/>
                <a:cs typeface="Arial"/>
                <a:sym typeface="Arial"/>
              </a:defRPr>
            </a:lvl9pPr>
          </a:lstStyle>
          <a:p/>
        </p:txBody>
      </p:sp>
      <p:sp>
        <p:nvSpPr>
          <p:cNvPr id="14" name="Google Shape;14;p15"/>
          <p:cNvSpPr txBox="1"/>
          <p:nvPr>
            <p:ph idx="12" type="sldNum"/>
          </p:nvPr>
        </p:nvSpPr>
        <p:spPr>
          <a:xfrm>
            <a:off x="9067800" y="5811839"/>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0.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7.png"/><Relationship Id="rId4" Type="http://schemas.openxmlformats.org/officeDocument/2006/relationships/image" Target="../media/image3.jpg"/><Relationship Id="rId10" Type="http://schemas.openxmlformats.org/officeDocument/2006/relationships/image" Target="../media/image4.jpg"/><Relationship Id="rId9" Type="http://schemas.openxmlformats.org/officeDocument/2006/relationships/image" Target="../media/image13.jpg"/><Relationship Id="rId5" Type="http://schemas.openxmlformats.org/officeDocument/2006/relationships/image" Target="../media/image9.png"/><Relationship Id="rId6" Type="http://schemas.openxmlformats.org/officeDocument/2006/relationships/image" Target="../media/image15.png"/><Relationship Id="rId7" Type="http://schemas.openxmlformats.org/officeDocument/2006/relationships/image" Target="../media/image6.png"/><Relationship Id="rId8" Type="http://schemas.openxmlformats.org/officeDocument/2006/relationships/image" Target="../media/image1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22.png"/><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8.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2.png"/><Relationship Id="rId4" Type="http://schemas.openxmlformats.org/officeDocument/2006/relationships/image" Target="../media/image34.png"/><Relationship Id="rId5" Type="http://schemas.openxmlformats.org/officeDocument/2006/relationships/image" Target="../media/image1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3.png"/><Relationship Id="rId4" Type="http://schemas.openxmlformats.org/officeDocument/2006/relationships/image" Target="../media/image35.png"/><Relationship Id="rId5" Type="http://schemas.openxmlformats.org/officeDocument/2006/relationships/image" Target="../media/image17.png"/><Relationship Id="rId6" Type="http://schemas.openxmlformats.org/officeDocument/2006/relationships/image" Target="../media/image2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image" Target="../media/image2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20.jpg"/><Relationship Id="rId4" Type="http://schemas.openxmlformats.org/officeDocument/2006/relationships/image" Target="../media/image24.png"/><Relationship Id="rId5" Type="http://schemas.openxmlformats.org/officeDocument/2006/relationships/image" Target="../media/image27.png"/><Relationship Id="rId6"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2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2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30.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3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 Id="rId3" Type="http://schemas.openxmlformats.org/officeDocument/2006/relationships/image" Target="../media/image3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 Id="rId3" Type="http://schemas.openxmlformats.org/officeDocument/2006/relationships/hyperlink" Target="https://doi.org/10.1016/j.asej.2014.04.011" TargetMode="Externa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9.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5" name="Shape 75"/>
        <p:cNvGrpSpPr/>
        <p:nvPr/>
      </p:nvGrpSpPr>
      <p:grpSpPr>
        <a:xfrm>
          <a:off x="0" y="0"/>
          <a:ext cx="0" cy="0"/>
          <a:chOff x="0" y="0"/>
          <a:chExt cx="0" cy="0"/>
        </a:xfrm>
      </p:grpSpPr>
      <p:sp>
        <p:nvSpPr>
          <p:cNvPr id="76" name="Google Shape;76;p1"/>
          <p:cNvSpPr txBox="1"/>
          <p:nvPr>
            <p:ph idx="1" type="subTitle"/>
          </p:nvPr>
        </p:nvSpPr>
        <p:spPr>
          <a:xfrm>
            <a:off x="4024461" y="3793068"/>
            <a:ext cx="6795913" cy="1684868"/>
          </a:xfrm>
          <a:prstGeom prst="rect">
            <a:avLst/>
          </a:prstGeom>
          <a:noFill/>
          <a:ln>
            <a:noFill/>
          </a:ln>
        </p:spPr>
        <p:txBody>
          <a:bodyPr anchorCtr="0" anchor="t" bIns="45700" lIns="91425" spcFirstLastPara="1" rIns="91425" wrap="square" tIns="45700">
            <a:noAutofit/>
          </a:bodyPr>
          <a:lstStyle/>
          <a:p>
            <a:pPr indent="0" lvl="0" marL="0" rtl="0" algn="l">
              <a:lnSpc>
                <a:spcPct val="120000"/>
              </a:lnSpc>
              <a:spcBef>
                <a:spcPts val="0"/>
              </a:spcBef>
              <a:spcAft>
                <a:spcPts val="0"/>
              </a:spcAft>
              <a:buClr>
                <a:srgbClr val="7F7F7F"/>
              </a:buClr>
              <a:buSzPts val="3000"/>
              <a:buNone/>
            </a:pPr>
            <a:r>
              <a:rPr lang="en-US"/>
              <a:t>Discussion Forum Subteam</a:t>
            </a:r>
            <a:endParaRPr/>
          </a:p>
          <a:p>
            <a:pPr indent="0" lvl="0" marL="0" rtl="0" algn="l">
              <a:lnSpc>
                <a:spcPct val="120000"/>
              </a:lnSpc>
              <a:spcBef>
                <a:spcPts val="600"/>
              </a:spcBef>
              <a:spcAft>
                <a:spcPts val="0"/>
              </a:spcAft>
              <a:buClr>
                <a:srgbClr val="7F7F7F"/>
              </a:buClr>
              <a:buSzPts val="3000"/>
              <a:buNone/>
            </a:pPr>
            <a:r>
              <a:rPr lang="en-US"/>
              <a:t>Presentation 2 - 3/16/2022</a:t>
            </a:r>
            <a:endParaRPr/>
          </a:p>
        </p:txBody>
      </p:sp>
      <p:sp>
        <p:nvSpPr>
          <p:cNvPr id="77" name="Google Shape;77;p1"/>
          <p:cNvSpPr txBox="1"/>
          <p:nvPr>
            <p:ph type="ctrTitle"/>
          </p:nvPr>
        </p:nvSpPr>
        <p:spPr>
          <a:xfrm>
            <a:off x="4024462" y="333633"/>
            <a:ext cx="6795913" cy="3459435"/>
          </a:xfrm>
          <a:prstGeom prst="rect">
            <a:avLst/>
          </a:prstGeom>
          <a:noFill/>
          <a:ln>
            <a:noFill/>
          </a:ln>
        </p:spPr>
        <p:txBody>
          <a:bodyPr anchorCtr="0" anchor="b" bIns="45700" lIns="91425" spcFirstLastPara="1" rIns="91425" wrap="square" tIns="45700">
            <a:normAutofit/>
          </a:bodyPr>
          <a:lstStyle/>
          <a:p>
            <a:pPr indent="0" lvl="0" marL="0" rtl="0" algn="l">
              <a:lnSpc>
                <a:spcPct val="114285"/>
              </a:lnSpc>
              <a:spcBef>
                <a:spcPts val="0"/>
              </a:spcBef>
              <a:spcAft>
                <a:spcPts val="0"/>
              </a:spcAft>
              <a:buClr>
                <a:srgbClr val="A7934B"/>
              </a:buClr>
              <a:buSzPts val="4200"/>
              <a:buFont typeface="Roboto"/>
              <a:buNone/>
            </a:pPr>
            <a:r>
              <a:rPr lang="en-US"/>
              <a:t>Data Driven Education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ctr">
              <a:lnSpc>
                <a:spcPct val="90000"/>
              </a:lnSpc>
              <a:spcBef>
                <a:spcPts val="0"/>
              </a:spcBef>
              <a:spcAft>
                <a:spcPts val="0"/>
              </a:spcAft>
              <a:buSzPts val="1800"/>
              <a:buNone/>
            </a:pPr>
            <a:r>
              <a:rPr lang="en-US"/>
              <a:t>Team Members</a:t>
            </a:r>
            <a:endParaRPr/>
          </a:p>
        </p:txBody>
      </p:sp>
      <p:sp>
        <p:nvSpPr>
          <p:cNvPr id="83" name="Google Shape;83;p2"/>
          <p:cNvSpPr txBox="1"/>
          <p:nvPr/>
        </p:nvSpPr>
        <p:spPr>
          <a:xfrm>
            <a:off x="851950" y="5385588"/>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Aanya Khandelwal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4" name="Google Shape;84;p2"/>
          <p:cNvSpPr txBox="1"/>
          <p:nvPr/>
        </p:nvSpPr>
        <p:spPr>
          <a:xfrm>
            <a:off x="3424375" y="53716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Gautam Sugasi</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sp>
        <p:nvSpPr>
          <p:cNvPr id="85" name="Google Shape;85;p2"/>
          <p:cNvSpPr txBox="1"/>
          <p:nvPr/>
        </p:nvSpPr>
        <p:spPr>
          <a:xfrm>
            <a:off x="5996800" y="53716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Jisan Park</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6" name="Google Shape;86;p2"/>
          <p:cNvSpPr txBox="1"/>
          <p:nvPr/>
        </p:nvSpPr>
        <p:spPr>
          <a:xfrm>
            <a:off x="6001763" y="27192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Nidhi Pai</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87" name="Google Shape;87;p2"/>
          <p:cNvSpPr/>
          <p:nvPr/>
        </p:nvSpPr>
        <p:spPr>
          <a:xfrm>
            <a:off x="6315400" y="40465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8" name="Google Shape;88;p2"/>
          <p:cNvSpPr txBox="1"/>
          <p:nvPr/>
        </p:nvSpPr>
        <p:spPr>
          <a:xfrm>
            <a:off x="8521625" y="539065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Pratik Agarwal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Project Manager</a:t>
            </a:r>
            <a:endParaRPr b="0" i="0" sz="1400" u="none" cap="none" strike="noStrike">
              <a:solidFill>
                <a:srgbClr val="000000"/>
              </a:solidFill>
              <a:latin typeface="Roboto"/>
              <a:ea typeface="Roboto"/>
              <a:cs typeface="Roboto"/>
              <a:sym typeface="Roboto"/>
            </a:endParaRPr>
          </a:p>
        </p:txBody>
      </p:sp>
      <p:sp>
        <p:nvSpPr>
          <p:cNvPr id="89" name="Google Shape;89;p2"/>
          <p:cNvSpPr/>
          <p:nvPr/>
        </p:nvSpPr>
        <p:spPr>
          <a:xfrm>
            <a:off x="3718900" y="4100500"/>
            <a:ext cx="1153200" cy="1183500"/>
          </a:xfrm>
          <a:prstGeom prst="smileyFace">
            <a:avLst>
              <a:gd fmla="val 4653" name="adj"/>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90" name="Google Shape;90;p2"/>
          <p:cNvPicPr preferRelativeResize="0"/>
          <p:nvPr/>
        </p:nvPicPr>
        <p:blipFill rotWithShape="1">
          <a:blip r:embed="rId3">
            <a:alphaModFix/>
          </a:blip>
          <a:srcRect b="0" l="2552" r="2561" t="0"/>
          <a:stretch/>
        </p:blipFill>
        <p:spPr>
          <a:xfrm>
            <a:off x="6241788" y="1325700"/>
            <a:ext cx="1252800" cy="1320300"/>
          </a:xfrm>
          <a:prstGeom prst="ellipse">
            <a:avLst/>
          </a:prstGeom>
          <a:noFill/>
          <a:ln>
            <a:noFill/>
          </a:ln>
        </p:spPr>
      </p:pic>
      <p:pic>
        <p:nvPicPr>
          <p:cNvPr id="91" name="Google Shape;91;p2"/>
          <p:cNvPicPr preferRelativeResize="0"/>
          <p:nvPr/>
        </p:nvPicPr>
        <p:blipFill rotWithShape="1">
          <a:blip r:embed="rId4">
            <a:alphaModFix/>
          </a:blip>
          <a:srcRect b="0" l="0" r="0" t="0"/>
          <a:stretch/>
        </p:blipFill>
        <p:spPr>
          <a:xfrm>
            <a:off x="1180500" y="4100512"/>
            <a:ext cx="1252800" cy="1269000"/>
          </a:xfrm>
          <a:prstGeom prst="ellipse">
            <a:avLst/>
          </a:prstGeom>
          <a:noFill/>
          <a:ln>
            <a:noFill/>
          </a:ln>
          <a:effectLst>
            <a:outerShdw blurRad="57150" rotWithShape="0" algn="bl" dir="5400000" dist="19050">
              <a:srgbClr val="000000">
                <a:alpha val="49019"/>
              </a:srgbClr>
            </a:outerShdw>
          </a:effectLst>
        </p:spPr>
      </p:pic>
      <p:pic>
        <p:nvPicPr>
          <p:cNvPr id="92" name="Google Shape;92;p2"/>
          <p:cNvPicPr preferRelativeResize="0"/>
          <p:nvPr/>
        </p:nvPicPr>
        <p:blipFill rotWithShape="1">
          <a:blip r:embed="rId5">
            <a:alphaModFix/>
          </a:blip>
          <a:srcRect b="0" l="0" r="0" t="0"/>
          <a:stretch/>
        </p:blipFill>
        <p:spPr>
          <a:xfrm>
            <a:off x="8773025" y="4033200"/>
            <a:ext cx="1413775" cy="1413750"/>
          </a:xfrm>
          <a:prstGeom prst="rect">
            <a:avLst/>
          </a:prstGeom>
          <a:noFill/>
          <a:ln>
            <a:noFill/>
          </a:ln>
        </p:spPr>
      </p:pic>
      <p:sp>
        <p:nvSpPr>
          <p:cNvPr id="93" name="Google Shape;93;p2"/>
          <p:cNvSpPr txBox="1"/>
          <p:nvPr/>
        </p:nvSpPr>
        <p:spPr>
          <a:xfrm>
            <a:off x="851950" y="25968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Malav Patel</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Data Scientist</a:t>
            </a:r>
            <a:endParaRPr b="0" i="0" sz="1400" u="none" cap="none" strike="noStrike">
              <a:solidFill>
                <a:srgbClr val="000000"/>
              </a:solidFill>
              <a:latin typeface="Roboto"/>
              <a:ea typeface="Roboto"/>
              <a:cs typeface="Roboto"/>
              <a:sym typeface="Roboto"/>
            </a:endParaRPr>
          </a:p>
        </p:txBody>
      </p:sp>
      <p:sp>
        <p:nvSpPr>
          <p:cNvPr id="94" name="Google Shape;94;p2"/>
          <p:cNvSpPr txBox="1"/>
          <p:nvPr/>
        </p:nvSpPr>
        <p:spPr>
          <a:xfrm>
            <a:off x="3424375" y="2596800"/>
            <a:ext cx="1790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Hyun Soo Kim</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Back-end</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Developer</a:t>
            </a:r>
            <a:endParaRPr b="0" i="0" sz="1400" u="none" cap="none" strike="noStrike">
              <a:solidFill>
                <a:srgbClr val="000000"/>
              </a:solidFill>
              <a:latin typeface="Roboto"/>
              <a:ea typeface="Roboto"/>
              <a:cs typeface="Roboto"/>
              <a:sym typeface="Roboto"/>
            </a:endParaRPr>
          </a:p>
        </p:txBody>
      </p:sp>
      <p:pic>
        <p:nvPicPr>
          <p:cNvPr id="95" name="Google Shape;95;p2"/>
          <p:cNvPicPr preferRelativeResize="0"/>
          <p:nvPr/>
        </p:nvPicPr>
        <p:blipFill rotWithShape="1">
          <a:blip r:embed="rId6">
            <a:alphaModFix/>
          </a:blip>
          <a:srcRect b="15388" l="0" r="0" t="20468"/>
          <a:stretch/>
        </p:blipFill>
        <p:spPr>
          <a:xfrm>
            <a:off x="3670750" y="3985450"/>
            <a:ext cx="1249500" cy="1413600"/>
          </a:xfrm>
          <a:prstGeom prst="ellipse">
            <a:avLst/>
          </a:prstGeom>
          <a:noFill/>
          <a:ln>
            <a:noFill/>
          </a:ln>
        </p:spPr>
      </p:pic>
      <p:pic>
        <p:nvPicPr>
          <p:cNvPr id="96" name="Google Shape;96;p2"/>
          <p:cNvPicPr preferRelativeResize="0"/>
          <p:nvPr/>
        </p:nvPicPr>
        <p:blipFill rotWithShape="1">
          <a:blip r:embed="rId7">
            <a:alphaModFix/>
          </a:blip>
          <a:srcRect b="0" l="0" r="0" t="0"/>
          <a:stretch/>
        </p:blipFill>
        <p:spPr>
          <a:xfrm>
            <a:off x="1029899" y="1325700"/>
            <a:ext cx="1367439" cy="1320300"/>
          </a:xfrm>
          <a:prstGeom prst="rect">
            <a:avLst/>
          </a:prstGeom>
          <a:noFill/>
          <a:ln>
            <a:noFill/>
          </a:ln>
        </p:spPr>
      </p:pic>
      <p:sp>
        <p:nvSpPr>
          <p:cNvPr id="97" name="Google Shape;97;p2"/>
          <p:cNvSpPr txBox="1"/>
          <p:nvPr/>
        </p:nvSpPr>
        <p:spPr>
          <a:xfrm>
            <a:off x="8521625" y="2723650"/>
            <a:ext cx="2048400" cy="647400"/>
          </a:xfrm>
          <a:prstGeom prst="rect">
            <a:avLst/>
          </a:prstGeom>
          <a:noFill/>
          <a:ln>
            <a:noFill/>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Daniel Schall</a:t>
            </a:r>
            <a:endParaRPr b="0" i="0" sz="1400" u="none" cap="none" strike="noStrike">
              <a:solidFill>
                <a:srgbClr val="000000"/>
              </a:solidFill>
              <a:latin typeface="Roboto"/>
              <a:ea typeface="Roboto"/>
              <a:cs typeface="Roboto"/>
              <a:sym typeface="Roboto"/>
            </a:endParaRPr>
          </a:p>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Education Researcher</a:t>
            </a:r>
            <a:endParaRPr b="0" i="0" sz="1400" u="none" cap="none" strike="noStrike">
              <a:solidFill>
                <a:srgbClr val="000000"/>
              </a:solidFill>
              <a:latin typeface="Roboto"/>
              <a:ea typeface="Roboto"/>
              <a:cs typeface="Roboto"/>
              <a:sym typeface="Roboto"/>
            </a:endParaRPr>
          </a:p>
        </p:txBody>
      </p:sp>
      <p:pic>
        <p:nvPicPr>
          <p:cNvPr id="98" name="Google Shape;98;p2"/>
          <p:cNvPicPr preferRelativeResize="0"/>
          <p:nvPr/>
        </p:nvPicPr>
        <p:blipFill rotWithShape="1">
          <a:blip r:embed="rId8">
            <a:alphaModFix/>
          </a:blip>
          <a:srcRect b="0" l="0" r="0" t="0"/>
          <a:stretch/>
        </p:blipFill>
        <p:spPr>
          <a:xfrm>
            <a:off x="3693175" y="1300775"/>
            <a:ext cx="1301963" cy="1320300"/>
          </a:xfrm>
          <a:prstGeom prst="rect">
            <a:avLst/>
          </a:prstGeom>
          <a:noFill/>
          <a:ln>
            <a:noFill/>
          </a:ln>
        </p:spPr>
      </p:pic>
      <p:pic>
        <p:nvPicPr>
          <p:cNvPr id="99" name="Google Shape;99;p2"/>
          <p:cNvPicPr preferRelativeResize="0"/>
          <p:nvPr/>
        </p:nvPicPr>
        <p:blipFill rotWithShape="1">
          <a:blip r:embed="rId9">
            <a:alphaModFix/>
          </a:blip>
          <a:srcRect b="0" l="0" r="0" t="0"/>
          <a:stretch/>
        </p:blipFill>
        <p:spPr>
          <a:xfrm>
            <a:off x="6320375" y="3980500"/>
            <a:ext cx="1153200" cy="1423500"/>
          </a:xfrm>
          <a:prstGeom prst="ellipse">
            <a:avLst/>
          </a:prstGeom>
          <a:noFill/>
          <a:ln>
            <a:noFill/>
          </a:ln>
        </p:spPr>
      </p:pic>
      <p:pic>
        <p:nvPicPr>
          <p:cNvPr id="100" name="Google Shape;100;p2"/>
          <p:cNvPicPr preferRelativeResize="0"/>
          <p:nvPr/>
        </p:nvPicPr>
        <p:blipFill rotWithShape="1">
          <a:blip r:embed="rId10">
            <a:alphaModFix/>
          </a:blip>
          <a:srcRect b="47196" l="26786" r="26789" t="12356"/>
          <a:stretch/>
        </p:blipFill>
        <p:spPr>
          <a:xfrm>
            <a:off x="8838875" y="1274088"/>
            <a:ext cx="1413900" cy="1423500"/>
          </a:xfrm>
          <a:prstGeom prst="ellipse">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4" name="Shape 104"/>
        <p:cNvGrpSpPr/>
        <p:nvPr/>
      </p:nvGrpSpPr>
      <p:grpSpPr>
        <a:xfrm>
          <a:off x="0" y="0"/>
          <a:ext cx="0" cy="0"/>
          <a:chOff x="0" y="0"/>
          <a:chExt cx="0" cy="0"/>
        </a:xfrm>
      </p:grpSpPr>
      <p:sp>
        <p:nvSpPr>
          <p:cNvPr id="105" name="Google Shape;105;g9d48565bb2_0_0"/>
          <p:cNvSpPr txBox="1"/>
          <p:nvPr>
            <p:ph idx="1" type="body"/>
          </p:nvPr>
        </p:nvSpPr>
        <p:spPr>
          <a:xfrm>
            <a:off x="381000" y="1215475"/>
            <a:ext cx="7187100" cy="4596300"/>
          </a:xfrm>
          <a:prstGeom prst="rect">
            <a:avLst/>
          </a:prstGeom>
          <a:noFill/>
          <a:ln>
            <a:noFill/>
          </a:ln>
        </p:spPr>
        <p:txBody>
          <a:bodyPr anchorCtr="0" anchor="t" bIns="45700" lIns="91425" spcFirstLastPara="1" rIns="91425" wrap="square" tIns="45700">
            <a:noAutofit/>
          </a:bodyPr>
          <a:lstStyle/>
          <a:p>
            <a:pPr indent="-330200" lvl="0" marL="457200" rtl="0" algn="l">
              <a:lnSpc>
                <a:spcPct val="100000"/>
              </a:lnSpc>
              <a:spcBef>
                <a:spcPts val="1500"/>
              </a:spcBef>
              <a:spcAft>
                <a:spcPts val="0"/>
              </a:spcAft>
              <a:buSzPts val="1600"/>
              <a:buChar char="●"/>
            </a:pPr>
            <a:r>
              <a:rPr lang="en-US" sz="2600"/>
              <a:t>Discussion forums</a:t>
            </a:r>
            <a:endParaRPr sz="2600"/>
          </a:p>
          <a:p>
            <a:pPr indent="-330200" lvl="1" marL="914400" rtl="0" algn="l">
              <a:lnSpc>
                <a:spcPct val="100000"/>
              </a:lnSpc>
              <a:spcBef>
                <a:spcPts val="1500"/>
              </a:spcBef>
              <a:spcAft>
                <a:spcPts val="0"/>
              </a:spcAft>
              <a:buSzPts val="1600"/>
              <a:buChar char="•"/>
            </a:pPr>
            <a:r>
              <a:rPr lang="en-US" sz="2200"/>
              <a:t>Online formats - primary source of interaction</a:t>
            </a:r>
            <a:endParaRPr sz="2200"/>
          </a:p>
          <a:p>
            <a:pPr indent="-330200" lvl="0" marL="457200" rtl="0" algn="l">
              <a:lnSpc>
                <a:spcPct val="100000"/>
              </a:lnSpc>
              <a:spcBef>
                <a:spcPts val="1500"/>
              </a:spcBef>
              <a:spcAft>
                <a:spcPts val="0"/>
              </a:spcAft>
              <a:buSzPts val="1600"/>
              <a:buChar char="●"/>
            </a:pPr>
            <a:r>
              <a:rPr lang="en-US" sz="2600"/>
              <a:t>Student interaction </a:t>
            </a:r>
            <a:endParaRPr sz="2600"/>
          </a:p>
          <a:p>
            <a:pPr indent="-330200" lvl="1" marL="914400" rtl="0" algn="l">
              <a:lnSpc>
                <a:spcPct val="100000"/>
              </a:lnSpc>
              <a:spcBef>
                <a:spcPts val="1500"/>
              </a:spcBef>
              <a:spcAft>
                <a:spcPts val="0"/>
              </a:spcAft>
              <a:buSzPts val="1600"/>
              <a:buChar char="•"/>
            </a:pPr>
            <a:r>
              <a:rPr lang="en-US" sz="2200"/>
              <a:t>Cognitive presence</a:t>
            </a:r>
            <a:endParaRPr sz="2200"/>
          </a:p>
          <a:p>
            <a:pPr indent="-330200" lvl="1" marL="914400" rtl="0" algn="l">
              <a:lnSpc>
                <a:spcPct val="100000"/>
              </a:lnSpc>
              <a:spcBef>
                <a:spcPts val="1500"/>
              </a:spcBef>
              <a:spcAft>
                <a:spcPts val="0"/>
              </a:spcAft>
              <a:buSzPts val="1600"/>
              <a:buChar char="•"/>
            </a:pPr>
            <a:r>
              <a:rPr lang="en-US" sz="2200"/>
              <a:t>Social presence</a:t>
            </a:r>
            <a:endParaRPr sz="2200"/>
          </a:p>
          <a:p>
            <a:pPr indent="-330200" lvl="0" marL="457200" rtl="0" algn="l">
              <a:lnSpc>
                <a:spcPct val="100000"/>
              </a:lnSpc>
              <a:spcBef>
                <a:spcPts val="1500"/>
              </a:spcBef>
              <a:spcAft>
                <a:spcPts val="0"/>
              </a:spcAft>
              <a:buSzPts val="1600"/>
              <a:buChar char="●"/>
            </a:pPr>
            <a:r>
              <a:rPr lang="en-US" sz="2600"/>
              <a:t>Activity on forums indicative of student engagement and interest</a:t>
            </a:r>
            <a:endParaRPr sz="2600"/>
          </a:p>
          <a:p>
            <a:pPr indent="-330200" lvl="0" marL="457200" rtl="0" algn="l">
              <a:lnSpc>
                <a:spcPct val="100000"/>
              </a:lnSpc>
              <a:spcBef>
                <a:spcPts val="1500"/>
              </a:spcBef>
              <a:spcAft>
                <a:spcPts val="1500"/>
              </a:spcAft>
              <a:buSzPts val="1600"/>
              <a:buChar char="●"/>
            </a:pPr>
            <a:r>
              <a:rPr b="1" lang="en-US" sz="2600"/>
              <a:t>Goal:</a:t>
            </a:r>
            <a:r>
              <a:rPr lang="en-US" sz="2600"/>
              <a:t> Creating a web application to help instructors save time on managing forums and increase cognitive engagement in their courses</a:t>
            </a:r>
            <a:endParaRPr sz="2600"/>
          </a:p>
        </p:txBody>
      </p:sp>
      <p:sp>
        <p:nvSpPr>
          <p:cNvPr id="106" name="Google Shape;106;g9d48565bb2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Introduction</a:t>
            </a:r>
            <a:endParaRPr/>
          </a:p>
        </p:txBody>
      </p:sp>
      <p:pic>
        <p:nvPicPr>
          <p:cNvPr id="107" name="Google Shape;107;g9d48565bb2_0_0"/>
          <p:cNvPicPr preferRelativeResize="0"/>
          <p:nvPr/>
        </p:nvPicPr>
        <p:blipFill rotWithShape="1">
          <a:blip r:embed="rId3">
            <a:alphaModFix/>
          </a:blip>
          <a:srcRect b="0" l="0" r="0" t="0"/>
          <a:stretch/>
        </p:blipFill>
        <p:spPr>
          <a:xfrm>
            <a:off x="6123100" y="1018700"/>
            <a:ext cx="3108126" cy="802100"/>
          </a:xfrm>
          <a:prstGeom prst="rect">
            <a:avLst/>
          </a:prstGeom>
          <a:noFill/>
          <a:ln>
            <a:noFill/>
          </a:ln>
        </p:spPr>
      </p:pic>
      <p:pic>
        <p:nvPicPr>
          <p:cNvPr id="108" name="Google Shape;108;g9d48565bb2_0_0"/>
          <p:cNvPicPr preferRelativeResize="0"/>
          <p:nvPr/>
        </p:nvPicPr>
        <p:blipFill rotWithShape="1">
          <a:blip r:embed="rId4">
            <a:alphaModFix/>
          </a:blip>
          <a:srcRect b="0" l="0" r="0" t="0"/>
          <a:stretch/>
        </p:blipFill>
        <p:spPr>
          <a:xfrm>
            <a:off x="7568100" y="1950800"/>
            <a:ext cx="4442200" cy="399155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 name="Shape 112"/>
        <p:cNvGrpSpPr/>
        <p:nvPr/>
      </p:nvGrpSpPr>
      <p:grpSpPr>
        <a:xfrm>
          <a:off x="0" y="0"/>
          <a:ext cx="0" cy="0"/>
          <a:chOff x="0" y="0"/>
          <a:chExt cx="0" cy="0"/>
        </a:xfrm>
      </p:grpSpPr>
      <p:sp>
        <p:nvSpPr>
          <p:cNvPr id="113" name="Google Shape;113;gba764dde3e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Current Progress</a:t>
            </a:r>
            <a:endParaRPr/>
          </a:p>
        </p:txBody>
      </p:sp>
      <p:graphicFrame>
        <p:nvGraphicFramePr>
          <p:cNvPr id="114" name="Google Shape;114;gba764dde3e_0_0"/>
          <p:cNvGraphicFramePr/>
          <p:nvPr/>
        </p:nvGraphicFramePr>
        <p:xfrm>
          <a:off x="620313" y="1215617"/>
          <a:ext cx="3000000" cy="3000000"/>
        </p:xfrm>
        <a:graphic>
          <a:graphicData uri="http://schemas.openxmlformats.org/drawingml/2006/table">
            <a:tbl>
              <a:tblPr>
                <a:noFill/>
                <a:tableStyleId>{ED9D76DC-395E-4700-9DAB-660AEE7810A5}</a:tableStyleId>
              </a:tblPr>
              <a:tblGrid>
                <a:gridCol w="3564725"/>
                <a:gridCol w="3564725"/>
                <a:gridCol w="3564725"/>
              </a:tblGrid>
              <a:tr h="398225">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Category</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Accomplished</a:t>
                      </a:r>
                      <a:endParaRPr b="1" sz="2400" u="none" cap="none" strike="noStrike">
                        <a:latin typeface="Roboto"/>
                        <a:ea typeface="Roboto"/>
                        <a:cs typeface="Roboto"/>
                        <a:sym typeface="Roboto"/>
                      </a:endParaRPr>
                    </a:p>
                  </a:txBody>
                  <a:tcPr marT="91425" marB="91425" marR="91425" marL="91425"/>
                </a:tc>
                <a:tc>
                  <a:txBody>
                    <a:bodyPr/>
                    <a:lstStyle/>
                    <a:p>
                      <a:pPr indent="0" lvl="0" marL="0" marR="0" rtl="0" algn="ctr">
                        <a:lnSpc>
                          <a:spcPct val="100000"/>
                        </a:lnSpc>
                        <a:spcBef>
                          <a:spcPts val="0"/>
                        </a:spcBef>
                        <a:spcAft>
                          <a:spcPts val="0"/>
                        </a:spcAft>
                        <a:buClr>
                          <a:srgbClr val="000000"/>
                        </a:buClr>
                        <a:buSzPts val="2400"/>
                        <a:buFont typeface="Arial"/>
                        <a:buNone/>
                      </a:pPr>
                      <a:r>
                        <a:rPr b="1" lang="en-US" sz="2400" u="none" cap="none" strike="noStrike">
                          <a:latin typeface="Roboto"/>
                          <a:ea typeface="Roboto"/>
                          <a:cs typeface="Roboto"/>
                          <a:sym typeface="Roboto"/>
                        </a:rPr>
                        <a:t>Next </a:t>
                      </a:r>
                      <a:r>
                        <a:rPr b="1" lang="en-US" sz="2400">
                          <a:latin typeface="Roboto"/>
                          <a:ea typeface="Roboto"/>
                          <a:cs typeface="Roboto"/>
                          <a:sym typeface="Roboto"/>
                        </a:rPr>
                        <a:t>Goals</a:t>
                      </a:r>
                      <a:endParaRPr b="1" sz="2400" u="none" cap="none" strike="noStrike">
                        <a:latin typeface="Roboto"/>
                        <a:ea typeface="Roboto"/>
                        <a:cs typeface="Roboto"/>
                        <a:sym typeface="Roboto"/>
                      </a:endParaRPr>
                    </a:p>
                  </a:txBody>
                  <a:tcPr marT="91425" marB="91425" marR="91425" marL="91425"/>
                </a:tc>
              </a:tr>
              <a:tr h="4889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Web Dev</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Connected with the Piazza api using python script</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solidFill>
                            <a:schemeClr val="dk1"/>
                          </a:solidFill>
                          <a:latin typeface="Roboto"/>
                          <a:ea typeface="Roboto"/>
                          <a:cs typeface="Roboto"/>
                          <a:sym typeface="Roboto"/>
                        </a:rPr>
                        <a:t>C</a:t>
                      </a:r>
                      <a:r>
                        <a:rPr lang="en-US" sz="1600">
                          <a:solidFill>
                            <a:schemeClr val="dk1"/>
                          </a:solidFill>
                          <a:latin typeface="Roboto"/>
                          <a:ea typeface="Roboto"/>
                          <a:cs typeface="Roboto"/>
                          <a:sym typeface="Roboto"/>
                        </a:rPr>
                        <a:t>reate api to send responses to front-end</a:t>
                      </a:r>
                      <a:r>
                        <a:rPr lang="en-US" sz="1600">
                          <a:latin typeface="Roboto"/>
                          <a:ea typeface="Roboto"/>
                          <a:cs typeface="Roboto"/>
                          <a:sym typeface="Roboto"/>
                        </a:rPr>
                        <a:t> and perform integration testing</a:t>
                      </a:r>
                      <a:endParaRPr sz="1600" u="none" cap="none" strike="noStrike">
                        <a:latin typeface="Roboto"/>
                        <a:ea typeface="Roboto"/>
                        <a:cs typeface="Roboto"/>
                        <a:sym typeface="Roboto"/>
                      </a:endParaRPr>
                    </a:p>
                  </a:txBody>
                  <a:tcPr marT="91425" marB="91425" marR="91425" marL="91425"/>
                </a:tc>
              </a:tr>
              <a:tr h="5084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UX Research</a:t>
                      </a:r>
                      <a:endParaRPr sz="1600" u="none" cap="none" strike="noStrike">
                        <a:latin typeface="Roboto"/>
                        <a:ea typeface="Roboto"/>
                        <a:cs typeface="Roboto"/>
                        <a:sym typeface="Roboto"/>
                      </a:endParaRPr>
                    </a:p>
                  </a:txBody>
                  <a:tcPr marT="91425" marB="91425" marR="91425" marL="91425"/>
                </a:tc>
                <a:tc>
                  <a:txBody>
                    <a:bodyPr/>
                    <a:lstStyle/>
                    <a:p>
                      <a:pPr indent="-330200" lvl="0" marL="457200" rtl="0" algn="l">
                        <a:spcBef>
                          <a:spcPts val="0"/>
                        </a:spcBef>
                        <a:spcAft>
                          <a:spcPts val="0"/>
                        </a:spcAft>
                        <a:buSzPts val="1600"/>
                        <a:buFont typeface="Roboto"/>
                        <a:buChar char="●"/>
                      </a:pPr>
                      <a:r>
                        <a:rPr lang="en-US" sz="1600">
                          <a:solidFill>
                            <a:schemeClr val="dk1"/>
                          </a:solidFill>
                          <a:latin typeface="Roboto"/>
                          <a:ea typeface="Roboto"/>
                          <a:cs typeface="Roboto"/>
                          <a:sym typeface="Roboto"/>
                        </a:rPr>
                        <a:t>Basic wireframe ready to get feedback on from instructors</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Feedback + create high-fidelity design for dashboard</a:t>
                      </a:r>
                      <a:endParaRPr sz="1600" u="none" cap="none" strike="noStrike">
                        <a:latin typeface="Roboto"/>
                        <a:ea typeface="Roboto"/>
                        <a:cs typeface="Roboto"/>
                        <a:sym typeface="Roboto"/>
                      </a:endParaRPr>
                    </a:p>
                  </a:txBody>
                  <a:tcPr marT="91425" marB="91425" marR="91425" marL="91425"/>
                </a:tc>
              </a:tr>
              <a:tr h="508400">
                <a:tc>
                  <a:txBody>
                    <a:bodyPr/>
                    <a:lstStyle/>
                    <a:p>
                      <a:pPr indent="0" lvl="0" marL="0" marR="0" rtl="0" algn="ctr">
                        <a:lnSpc>
                          <a:spcPct val="100000"/>
                        </a:lnSpc>
                        <a:spcBef>
                          <a:spcPts val="0"/>
                        </a:spcBef>
                        <a:spcAft>
                          <a:spcPts val="0"/>
                        </a:spcAft>
                        <a:buClr>
                          <a:srgbClr val="000000"/>
                        </a:buClr>
                        <a:buSzPts val="1600"/>
                        <a:buFont typeface="Arial"/>
                        <a:buNone/>
                      </a:pPr>
                      <a:r>
                        <a:rPr lang="en-US" sz="1600" u="none" cap="none" strike="noStrike">
                          <a:latin typeface="Roboto"/>
                          <a:ea typeface="Roboto"/>
                          <a:cs typeface="Roboto"/>
                          <a:sym typeface="Roboto"/>
                        </a:rPr>
                        <a:t>Data Science</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Created first version of topic model</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Clr>
                          <a:srgbClr val="000000"/>
                        </a:buClr>
                        <a:buSzPts val="1600"/>
                        <a:buFont typeface="Roboto"/>
                        <a:buChar char="●"/>
                      </a:pPr>
                      <a:r>
                        <a:rPr lang="en-US" sz="1600">
                          <a:latin typeface="Roboto"/>
                          <a:ea typeface="Roboto"/>
                          <a:cs typeface="Roboto"/>
                          <a:sym typeface="Roboto"/>
                        </a:rPr>
                        <a:t>Integrate with the </a:t>
                      </a:r>
                      <a:r>
                        <a:rPr lang="en-US" sz="1600">
                          <a:latin typeface="Roboto"/>
                          <a:ea typeface="Roboto"/>
                          <a:cs typeface="Roboto"/>
                          <a:sym typeface="Roboto"/>
                        </a:rPr>
                        <a:t>backend</a:t>
                      </a:r>
                      <a:r>
                        <a:rPr lang="en-US" sz="1600">
                          <a:latin typeface="Roboto"/>
                          <a:ea typeface="Roboto"/>
                          <a:cs typeface="Roboto"/>
                          <a:sym typeface="Roboto"/>
                        </a:rPr>
                        <a:t> and improve topic model</a:t>
                      </a:r>
                      <a:endParaRPr sz="1600" u="none" cap="none" strike="noStrike">
                        <a:latin typeface="Roboto"/>
                        <a:ea typeface="Roboto"/>
                        <a:cs typeface="Roboto"/>
                        <a:sym typeface="Roboto"/>
                      </a:endParaRPr>
                    </a:p>
                  </a:txBody>
                  <a:tcPr marT="91425" marB="91425" marR="91425" marL="91425"/>
                </a:tc>
              </a:tr>
              <a:tr h="508400">
                <a:tc>
                  <a:txBody>
                    <a:bodyPr/>
                    <a:lstStyle/>
                    <a:p>
                      <a:pPr indent="0" lvl="0" marL="0" marR="0" rtl="0" algn="ctr">
                        <a:lnSpc>
                          <a:spcPct val="100000"/>
                        </a:lnSpc>
                        <a:spcBef>
                          <a:spcPts val="0"/>
                        </a:spcBef>
                        <a:spcAft>
                          <a:spcPts val="0"/>
                        </a:spcAft>
                        <a:buNone/>
                      </a:pPr>
                      <a:r>
                        <a:rPr lang="en-US" sz="1600">
                          <a:latin typeface="Roboto"/>
                          <a:ea typeface="Roboto"/>
                          <a:cs typeface="Roboto"/>
                          <a:sym typeface="Roboto"/>
                        </a:rPr>
                        <a:t>Education Research</a:t>
                      </a:r>
                      <a:endParaRPr sz="1600" u="none" cap="none" strike="noStrike">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Preliminary background study on metacognition</a:t>
                      </a:r>
                      <a:endParaRPr sz="1600">
                        <a:latin typeface="Roboto"/>
                        <a:ea typeface="Roboto"/>
                        <a:cs typeface="Roboto"/>
                        <a:sym typeface="Roboto"/>
                      </a:endParaRPr>
                    </a:p>
                  </a:txBody>
                  <a:tcPr marT="91425" marB="91425" marR="91425" marL="91425"/>
                </a:tc>
                <a:tc>
                  <a:txBody>
                    <a:bodyPr/>
                    <a:lstStyle/>
                    <a:p>
                      <a:pPr indent="-330200" lvl="0" marL="457200" marR="0" rtl="0" algn="l">
                        <a:lnSpc>
                          <a:spcPct val="100000"/>
                        </a:lnSpc>
                        <a:spcBef>
                          <a:spcPts val="0"/>
                        </a:spcBef>
                        <a:spcAft>
                          <a:spcPts val="0"/>
                        </a:spcAft>
                        <a:buSzPts val="1600"/>
                        <a:buFont typeface="Roboto"/>
                        <a:buChar char="●"/>
                      </a:pPr>
                      <a:r>
                        <a:rPr lang="en-US" sz="1600">
                          <a:latin typeface="Roboto"/>
                          <a:ea typeface="Roboto"/>
                          <a:cs typeface="Roboto"/>
                          <a:sym typeface="Roboto"/>
                        </a:rPr>
                        <a:t>Perform initial experiments with our forums data</a:t>
                      </a:r>
                      <a:endParaRPr sz="1600" u="none" cap="none" strike="noStrike">
                        <a:latin typeface="Roboto"/>
                        <a:ea typeface="Roboto"/>
                        <a:cs typeface="Roboto"/>
                        <a:sym typeface="Roboto"/>
                      </a:endParaRPr>
                    </a:p>
                  </a:txBody>
                  <a:tcPr marT="91425" marB="91425" marR="91425" marL="91425"/>
                </a:tc>
              </a:tr>
            </a:tbl>
          </a:graphicData>
        </a:graphic>
      </p:graphicFrame>
      <p:sp>
        <p:nvSpPr>
          <p:cNvPr id="115" name="Google Shape;115;gba764dde3e_0_0"/>
          <p:cNvSpPr txBox="1"/>
          <p:nvPr/>
        </p:nvSpPr>
        <p:spPr>
          <a:xfrm>
            <a:off x="386363" y="4867275"/>
            <a:ext cx="11162100" cy="15855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500"/>
              </a:spcBef>
              <a:spcAft>
                <a:spcPts val="0"/>
              </a:spcAft>
              <a:buClr>
                <a:srgbClr val="000000"/>
              </a:buClr>
              <a:buSzPts val="2600"/>
              <a:buFont typeface="Arial"/>
              <a:buNone/>
            </a:pPr>
            <a:r>
              <a:rPr b="1" i="0" lang="en-US" sz="2600" u="none" cap="none" strike="noStrike">
                <a:solidFill>
                  <a:schemeClr val="dk1"/>
                </a:solidFill>
                <a:latin typeface="Roboto"/>
                <a:ea typeface="Roboto"/>
                <a:cs typeface="Roboto"/>
                <a:sym typeface="Roboto"/>
              </a:rPr>
              <a:t>Learnings and Challenges as a Project Manager:</a:t>
            </a:r>
            <a:endParaRPr b="1" i="0" sz="2600" u="none" cap="none" strike="noStrike">
              <a:solidFill>
                <a:schemeClr val="dk1"/>
              </a:solidFill>
              <a:latin typeface="Roboto"/>
              <a:ea typeface="Roboto"/>
              <a:cs typeface="Roboto"/>
              <a:sym typeface="Roboto"/>
            </a:endParaRPr>
          </a:p>
          <a:p>
            <a:pPr indent="-355600" lvl="0" marL="457200" marR="0" rtl="0" algn="l">
              <a:lnSpc>
                <a:spcPct val="100000"/>
              </a:lnSpc>
              <a:spcBef>
                <a:spcPts val="1500"/>
              </a:spcBef>
              <a:spcAft>
                <a:spcPts val="0"/>
              </a:spcAft>
              <a:buClr>
                <a:schemeClr val="dk1"/>
              </a:buClr>
              <a:buSzPts val="2000"/>
              <a:buFont typeface="Arial"/>
              <a:buChar char="•"/>
            </a:pPr>
            <a:r>
              <a:rPr lang="en-US" sz="2000">
                <a:solidFill>
                  <a:schemeClr val="dk1"/>
                </a:solidFill>
                <a:latin typeface="Roboto"/>
                <a:ea typeface="Roboto"/>
                <a:cs typeface="Roboto"/>
                <a:sym typeface="Roboto"/>
              </a:rPr>
              <a:t>Team is awesome. Give individuals autonomy and they’ll exceed your expectations</a:t>
            </a:r>
            <a:endParaRPr sz="2000">
              <a:solidFill>
                <a:schemeClr val="dk1"/>
              </a:solidFill>
              <a:latin typeface="Roboto"/>
              <a:ea typeface="Roboto"/>
              <a:cs typeface="Roboto"/>
              <a:sym typeface="Roboto"/>
            </a:endParaRPr>
          </a:p>
          <a:p>
            <a:pPr indent="-355600" lvl="0" marL="457200" marR="0" rtl="0" algn="l">
              <a:lnSpc>
                <a:spcPct val="100000"/>
              </a:lnSpc>
              <a:spcBef>
                <a:spcPts val="1500"/>
              </a:spcBef>
              <a:spcAft>
                <a:spcPts val="0"/>
              </a:spcAft>
              <a:buClr>
                <a:schemeClr val="dk1"/>
              </a:buClr>
              <a:buSzPts val="2000"/>
              <a:buFont typeface="Roboto"/>
              <a:buChar char="•"/>
            </a:pPr>
            <a:r>
              <a:rPr lang="en-US" sz="2000">
                <a:solidFill>
                  <a:schemeClr val="dk1"/>
                </a:solidFill>
                <a:latin typeface="Roboto"/>
                <a:ea typeface="Roboto"/>
                <a:cs typeface="Roboto"/>
                <a:sym typeface="Roboto"/>
              </a:rPr>
              <a:t>Need to work out how to be truly agile and prepare for bottlenecks</a:t>
            </a:r>
            <a:endParaRPr sz="2000">
              <a:solidFill>
                <a:schemeClr val="dk1"/>
              </a:solidFill>
              <a:latin typeface="Roboto"/>
              <a:ea typeface="Roboto"/>
              <a:cs typeface="Roboto"/>
              <a:sym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gf4b38d8802_0_0"/>
          <p:cNvSpPr txBox="1"/>
          <p:nvPr/>
        </p:nvSpPr>
        <p:spPr>
          <a:xfrm>
            <a:off x="190850" y="1115050"/>
            <a:ext cx="10292400" cy="3368400"/>
          </a:xfrm>
          <a:prstGeom prst="rect">
            <a:avLst/>
          </a:prstGeom>
          <a:noFill/>
          <a:ln>
            <a:noFill/>
          </a:ln>
        </p:spPr>
        <p:txBody>
          <a:bodyPr anchorCtr="0" anchor="t" bIns="91425" lIns="91425" spcFirstLastPara="1" rIns="91425" wrap="square" tIns="91425">
            <a:spAutoFit/>
          </a:bodyPr>
          <a:lstStyle/>
          <a:p>
            <a:pPr indent="-387350" lvl="0" marL="457200" marR="0" rtl="0" algn="l">
              <a:lnSpc>
                <a:spcPct val="90000"/>
              </a:lnSpc>
              <a:spcBef>
                <a:spcPts val="1000"/>
              </a:spcBef>
              <a:spcAft>
                <a:spcPts val="0"/>
              </a:spcAft>
              <a:buClr>
                <a:schemeClr val="dk1"/>
              </a:buClr>
              <a:buSzPts val="2500"/>
              <a:buFont typeface="Roboto"/>
              <a:buChar char="●"/>
            </a:pPr>
            <a:r>
              <a:rPr b="1" i="0" lang="en-US" sz="2500" u="none" cap="none" strike="noStrike">
                <a:solidFill>
                  <a:schemeClr val="dk1"/>
                </a:solidFill>
                <a:latin typeface="Roboto"/>
                <a:ea typeface="Roboto"/>
                <a:cs typeface="Roboto"/>
                <a:sym typeface="Roboto"/>
              </a:rPr>
              <a:t>Development</a:t>
            </a:r>
            <a:endParaRPr b="1" i="0" sz="2500" u="none" cap="none" strike="noStrike">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A responsive web-app tested inside the Piazza sandbox environment</a:t>
            </a:r>
            <a:endParaRPr b="0" i="0" sz="1800" u="none" cap="none" strike="noStrike">
              <a:solidFill>
                <a:schemeClr val="dk1"/>
              </a:solidFill>
              <a:latin typeface="Roboto"/>
              <a:ea typeface="Roboto"/>
              <a:cs typeface="Roboto"/>
              <a:sym typeface="Roboto"/>
            </a:endParaRPr>
          </a:p>
          <a:p>
            <a:pPr indent="0" lvl="0" marL="914400" marR="0" rtl="0" algn="l">
              <a:lnSpc>
                <a:spcPct val="90000"/>
              </a:lnSpc>
              <a:spcBef>
                <a:spcPts val="100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a:p>
            <a:pPr indent="-387350" lvl="0" marL="457200" marR="0" rtl="0" algn="l">
              <a:lnSpc>
                <a:spcPct val="90000"/>
              </a:lnSpc>
              <a:spcBef>
                <a:spcPts val="1000"/>
              </a:spcBef>
              <a:spcAft>
                <a:spcPts val="0"/>
              </a:spcAft>
              <a:buClr>
                <a:schemeClr val="dk1"/>
              </a:buClr>
              <a:buSzPts val="2500"/>
              <a:buFont typeface="Roboto"/>
              <a:buChar char="●"/>
            </a:pPr>
            <a:r>
              <a:rPr b="1" i="0" lang="en-US" sz="2500" u="none" cap="none" strike="noStrike">
                <a:solidFill>
                  <a:schemeClr val="dk1"/>
                </a:solidFill>
                <a:latin typeface="Roboto"/>
                <a:ea typeface="Roboto"/>
                <a:cs typeface="Roboto"/>
                <a:sym typeface="Roboto"/>
              </a:rPr>
              <a:t>Research</a:t>
            </a:r>
            <a:endParaRPr b="1" i="0" sz="2500" u="none" cap="none" strike="noStrike">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Metacognition prediction and topic model fit for preliminary use by instructors</a:t>
            </a:r>
            <a:endParaRPr b="0" i="0" sz="1800" u="none" cap="none" strike="noStrike">
              <a:solidFill>
                <a:schemeClr val="dk1"/>
              </a:solidFill>
              <a:latin typeface="Roboto"/>
              <a:ea typeface="Roboto"/>
              <a:cs typeface="Roboto"/>
              <a:sym typeface="Roboto"/>
            </a:endParaRPr>
          </a:p>
          <a:p>
            <a:pPr indent="0" lvl="0" marL="0" marR="0" rtl="0" algn="l">
              <a:lnSpc>
                <a:spcPct val="90000"/>
              </a:lnSpc>
              <a:spcBef>
                <a:spcPts val="1000"/>
              </a:spcBef>
              <a:spcAft>
                <a:spcPts val="0"/>
              </a:spcAft>
              <a:buClr>
                <a:srgbClr val="000000"/>
              </a:buClr>
              <a:buSzPts val="1800"/>
              <a:buFont typeface="Arial"/>
              <a:buNone/>
            </a:pPr>
            <a:r>
              <a:t/>
            </a:r>
            <a:endParaRPr b="0" i="0" sz="1800" u="none" cap="none" strike="noStrike">
              <a:solidFill>
                <a:schemeClr val="dk1"/>
              </a:solidFill>
              <a:latin typeface="Roboto"/>
              <a:ea typeface="Roboto"/>
              <a:cs typeface="Roboto"/>
              <a:sym typeface="Roboto"/>
            </a:endParaRPr>
          </a:p>
          <a:p>
            <a:pPr indent="-387350" lvl="0" marL="457200" marR="0" rtl="0" algn="l">
              <a:lnSpc>
                <a:spcPct val="90000"/>
              </a:lnSpc>
              <a:spcBef>
                <a:spcPts val="1000"/>
              </a:spcBef>
              <a:spcAft>
                <a:spcPts val="0"/>
              </a:spcAft>
              <a:buClr>
                <a:schemeClr val="dk1"/>
              </a:buClr>
              <a:buSzPts val="2500"/>
              <a:buFont typeface="Roboto"/>
              <a:buChar char="●"/>
            </a:pPr>
            <a:r>
              <a:rPr b="1" i="0" lang="en-US" sz="2500" u="none" cap="none" strike="noStrike">
                <a:solidFill>
                  <a:schemeClr val="dk1"/>
                </a:solidFill>
                <a:latin typeface="Roboto"/>
                <a:ea typeface="Roboto"/>
                <a:cs typeface="Roboto"/>
                <a:sym typeface="Roboto"/>
              </a:rPr>
              <a:t>Project Management</a:t>
            </a:r>
            <a:endParaRPr b="1" i="0" sz="2500" u="none" cap="none" strike="noStrike">
              <a:solidFill>
                <a:schemeClr val="dk1"/>
              </a:solidFill>
              <a:latin typeface="Roboto"/>
              <a:ea typeface="Roboto"/>
              <a:cs typeface="Roboto"/>
              <a:sym typeface="Roboto"/>
            </a:endParaRPr>
          </a:p>
          <a:p>
            <a:pPr indent="-342900" lvl="1" marL="914400" marR="0" rtl="0" algn="l">
              <a:lnSpc>
                <a:spcPct val="90000"/>
              </a:lnSpc>
              <a:spcBef>
                <a:spcPts val="1000"/>
              </a:spcBef>
              <a:spcAft>
                <a:spcPts val="0"/>
              </a:spcAft>
              <a:buClr>
                <a:schemeClr val="dk1"/>
              </a:buClr>
              <a:buSzPts val="1800"/>
              <a:buFont typeface="Roboto"/>
              <a:buChar char="○"/>
            </a:pPr>
            <a:r>
              <a:rPr lang="en-US" sz="1800">
                <a:solidFill>
                  <a:schemeClr val="dk1"/>
                </a:solidFill>
                <a:latin typeface="Roboto"/>
                <a:ea typeface="Roboto"/>
                <a:cs typeface="Roboto"/>
                <a:sym typeface="Roboto"/>
              </a:rPr>
              <a:t>Documentation/User Guide + Proposal for testing in a real class</a:t>
            </a:r>
            <a:endParaRPr b="0" i="0" sz="1800" u="none" cap="none" strike="noStrike">
              <a:solidFill>
                <a:schemeClr val="dk1"/>
              </a:solidFill>
              <a:latin typeface="Roboto"/>
              <a:ea typeface="Roboto"/>
              <a:cs typeface="Roboto"/>
              <a:sym typeface="Roboto"/>
            </a:endParaRPr>
          </a:p>
        </p:txBody>
      </p:sp>
      <p:sp>
        <p:nvSpPr>
          <p:cNvPr id="121" name="Google Shape;121;gf4b38d8802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Targets for semester end</a:t>
            </a:r>
            <a:endParaRPr/>
          </a:p>
        </p:txBody>
      </p:sp>
      <p:pic>
        <p:nvPicPr>
          <p:cNvPr id="122" name="Google Shape;122;gf4b38d8802_0_0"/>
          <p:cNvPicPr preferRelativeResize="0"/>
          <p:nvPr/>
        </p:nvPicPr>
        <p:blipFill rotWithShape="1">
          <a:blip r:embed="rId3">
            <a:alphaModFix/>
          </a:blip>
          <a:srcRect b="0" l="0" r="0" t="0"/>
          <a:stretch/>
        </p:blipFill>
        <p:spPr>
          <a:xfrm>
            <a:off x="8466225" y="926100"/>
            <a:ext cx="3108126" cy="802100"/>
          </a:xfrm>
          <a:prstGeom prst="rect">
            <a:avLst/>
          </a:prstGeom>
          <a:noFill/>
          <a:ln>
            <a:noFill/>
          </a:ln>
        </p:spPr>
      </p:pic>
      <p:pic>
        <p:nvPicPr>
          <p:cNvPr id="123" name="Google Shape;123;gf4b38d8802_0_0"/>
          <p:cNvPicPr preferRelativeResize="0"/>
          <p:nvPr/>
        </p:nvPicPr>
        <p:blipFill rotWithShape="1">
          <a:blip r:embed="rId4">
            <a:alphaModFix/>
          </a:blip>
          <a:srcRect b="0" l="0" r="0" t="0"/>
          <a:stretch/>
        </p:blipFill>
        <p:spPr>
          <a:xfrm>
            <a:off x="7915275" y="3776300"/>
            <a:ext cx="3809125" cy="11658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sp>
        <p:nvSpPr>
          <p:cNvPr id="128" name="Google Shape;128;gefbeba6a1c_0_0"/>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Data Science</a:t>
            </a:r>
            <a:endParaRPr sz="70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gbea1223c9f_0_11"/>
          <p:cNvSpPr txBox="1"/>
          <p:nvPr>
            <p:ph idx="1" type="body"/>
          </p:nvPr>
        </p:nvSpPr>
        <p:spPr>
          <a:xfrm>
            <a:off x="451725" y="1915350"/>
            <a:ext cx="11430000" cy="3027300"/>
          </a:xfrm>
          <a:prstGeom prst="rect">
            <a:avLst/>
          </a:prstGeom>
          <a:noFill/>
          <a:ln>
            <a:noFill/>
          </a:ln>
        </p:spPr>
        <p:txBody>
          <a:bodyPr anchorCtr="0" anchor="t" bIns="45700" lIns="91425" spcFirstLastPara="1" rIns="91425" wrap="square" tIns="45700">
            <a:normAutofit lnSpcReduction="10000"/>
          </a:bodyPr>
          <a:lstStyle/>
          <a:p>
            <a:pPr indent="0" lvl="0" marL="0" rtl="0" algn="just">
              <a:lnSpc>
                <a:spcPct val="90000"/>
              </a:lnSpc>
              <a:spcBef>
                <a:spcPts val="1000"/>
              </a:spcBef>
              <a:spcAft>
                <a:spcPts val="0"/>
              </a:spcAft>
              <a:buSzPts val="1800"/>
              <a:buNone/>
            </a:pPr>
            <a:r>
              <a:rPr lang="en-US"/>
              <a:t>Based on the </a:t>
            </a:r>
            <a:r>
              <a:rPr b="1" lang="en-US"/>
              <a:t>community of inquiry framework</a:t>
            </a:r>
            <a:r>
              <a:rPr lang="en-US"/>
              <a:t>, what are some key factors in discussion forum activities influencing student </a:t>
            </a:r>
            <a:r>
              <a:rPr b="1" lang="en-US"/>
              <a:t>engagement</a:t>
            </a:r>
            <a:r>
              <a:rPr lang="en-US"/>
              <a:t> and </a:t>
            </a:r>
            <a:r>
              <a:rPr b="1" lang="en-US"/>
              <a:t>performance</a:t>
            </a:r>
            <a:r>
              <a:rPr lang="en-US"/>
              <a:t> in an asynchronous online classroom?</a:t>
            </a:r>
            <a:endParaRPr/>
          </a:p>
          <a:p>
            <a:pPr indent="0" lvl="0" marL="0" rtl="0" algn="just">
              <a:lnSpc>
                <a:spcPct val="90000"/>
              </a:lnSpc>
              <a:spcBef>
                <a:spcPts val="1000"/>
              </a:spcBef>
              <a:spcAft>
                <a:spcPts val="0"/>
              </a:spcAft>
              <a:buSzPts val="1800"/>
              <a:buNone/>
            </a:pPr>
            <a:r>
              <a:t/>
            </a:r>
            <a:endParaRPr/>
          </a:p>
          <a:p>
            <a:pPr indent="0" lvl="0" marL="0" rtl="0" algn="just">
              <a:lnSpc>
                <a:spcPct val="90000"/>
              </a:lnSpc>
              <a:spcBef>
                <a:spcPts val="1000"/>
              </a:spcBef>
              <a:spcAft>
                <a:spcPts val="0"/>
              </a:spcAft>
              <a:buSzPts val="1800"/>
              <a:buNone/>
            </a:pPr>
            <a:r>
              <a:rPr lang="en-US"/>
              <a:t>How can we design a </a:t>
            </a:r>
            <a:r>
              <a:rPr b="1" lang="en-US"/>
              <a:t>web app</a:t>
            </a:r>
            <a:r>
              <a:rPr lang="en-US"/>
              <a:t> that can provide actionable insights to the instructor in order to increase engagement and performance?</a:t>
            </a:r>
            <a:endParaRPr/>
          </a:p>
          <a:p>
            <a:pPr indent="0" lvl="0" marL="0" rtl="0" algn="just">
              <a:lnSpc>
                <a:spcPct val="90000"/>
              </a:lnSpc>
              <a:spcBef>
                <a:spcPts val="1000"/>
              </a:spcBef>
              <a:spcAft>
                <a:spcPts val="0"/>
              </a:spcAft>
              <a:buSzPts val="1800"/>
              <a:buNone/>
            </a:pPr>
            <a:r>
              <a:t/>
            </a:r>
            <a:endParaRPr/>
          </a:p>
        </p:txBody>
      </p:sp>
      <p:sp>
        <p:nvSpPr>
          <p:cNvPr id="134" name="Google Shape;134;gbea1223c9f_0_11"/>
          <p:cNvSpPr txBox="1"/>
          <p:nvPr>
            <p:ph type="title"/>
          </p:nvPr>
        </p:nvSpPr>
        <p:spPr>
          <a:xfrm>
            <a:off x="381000" y="212247"/>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Research Goal</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efbeba6a1c_0_509"/>
          <p:cNvSpPr txBox="1"/>
          <p:nvPr>
            <p:ph idx="1" type="body"/>
          </p:nvPr>
        </p:nvSpPr>
        <p:spPr>
          <a:xfrm>
            <a:off x="381000" y="1215474"/>
            <a:ext cx="11430000" cy="16437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Data available</a:t>
            </a:r>
            <a:endParaRPr/>
          </a:p>
          <a:p>
            <a:pPr indent="-342900" lvl="1" marL="914400" rtl="0" algn="l">
              <a:lnSpc>
                <a:spcPct val="90000"/>
              </a:lnSpc>
              <a:spcBef>
                <a:spcPts val="0"/>
              </a:spcBef>
              <a:spcAft>
                <a:spcPts val="0"/>
              </a:spcAft>
              <a:buSzPts val="1800"/>
              <a:buChar char="•"/>
            </a:pPr>
            <a:r>
              <a:rPr lang="en-US"/>
              <a:t>Focusing on Piazza data from Dr. Thad Starner</a:t>
            </a:r>
            <a:endParaRPr/>
          </a:p>
          <a:p>
            <a:pPr indent="-342900" lvl="1" marL="914400" rtl="0" algn="l">
              <a:lnSpc>
                <a:spcPct val="90000"/>
              </a:lnSpc>
              <a:spcBef>
                <a:spcPts val="0"/>
              </a:spcBef>
              <a:spcAft>
                <a:spcPts val="0"/>
              </a:spcAft>
              <a:buSzPts val="1800"/>
              <a:buChar char="•"/>
            </a:pPr>
            <a:r>
              <a:rPr lang="en-US"/>
              <a:t>1493 posts, coded for cognitive presence and working on Topic Modeling</a:t>
            </a:r>
            <a:endParaRPr/>
          </a:p>
        </p:txBody>
      </p:sp>
      <p:sp>
        <p:nvSpPr>
          <p:cNvPr id="140" name="Google Shape;140;gefbeba6a1c_0_509"/>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Big Picture</a:t>
            </a:r>
            <a:endParaRPr/>
          </a:p>
        </p:txBody>
      </p:sp>
      <p:sp>
        <p:nvSpPr>
          <p:cNvPr id="141" name="Google Shape;141;gefbeba6a1c_0_509"/>
          <p:cNvSpPr/>
          <p:nvPr/>
        </p:nvSpPr>
        <p:spPr>
          <a:xfrm>
            <a:off x="5002788" y="4111075"/>
            <a:ext cx="2186400" cy="710100"/>
          </a:xfrm>
          <a:prstGeom prst="roundRect">
            <a:avLst>
              <a:gd fmla="val 16667" name="adj"/>
            </a:avLst>
          </a:prstGeom>
          <a:solidFill>
            <a:schemeClr val="accent5"/>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Data Science</a:t>
            </a:r>
            <a:endParaRPr b="0" i="0" sz="2300" u="none" cap="none" strike="noStrike">
              <a:solidFill>
                <a:schemeClr val="lt1"/>
              </a:solidFill>
              <a:latin typeface="Arial"/>
              <a:ea typeface="Arial"/>
              <a:cs typeface="Arial"/>
              <a:sym typeface="Arial"/>
            </a:endParaRPr>
          </a:p>
        </p:txBody>
      </p:sp>
      <p:sp>
        <p:nvSpPr>
          <p:cNvPr id="142" name="Google Shape;142;gefbeba6a1c_0_509"/>
          <p:cNvSpPr/>
          <p:nvPr/>
        </p:nvSpPr>
        <p:spPr>
          <a:xfrm>
            <a:off x="4611888" y="3028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Cognitive Presence </a:t>
            </a:r>
            <a:endParaRPr b="0" i="0" sz="2300" u="none" cap="none" strike="noStrike">
              <a:solidFill>
                <a:schemeClr val="lt1"/>
              </a:solidFill>
              <a:latin typeface="Arial"/>
              <a:ea typeface="Arial"/>
              <a:cs typeface="Arial"/>
              <a:sym typeface="Arial"/>
            </a:endParaRPr>
          </a:p>
        </p:txBody>
      </p:sp>
      <p:sp>
        <p:nvSpPr>
          <p:cNvPr id="143" name="Google Shape;143;gefbeba6a1c_0_509"/>
          <p:cNvSpPr/>
          <p:nvPr/>
        </p:nvSpPr>
        <p:spPr>
          <a:xfrm>
            <a:off x="4611888" y="4990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Metacognition</a:t>
            </a:r>
            <a:endParaRPr b="0" i="0" sz="2300" u="none" cap="none" strike="noStrike">
              <a:solidFill>
                <a:schemeClr val="lt1"/>
              </a:solidFill>
              <a:latin typeface="Arial"/>
              <a:ea typeface="Arial"/>
              <a:cs typeface="Arial"/>
              <a:sym typeface="Arial"/>
            </a:endParaRPr>
          </a:p>
        </p:txBody>
      </p:sp>
      <p:sp>
        <p:nvSpPr>
          <p:cNvPr id="144" name="Google Shape;144;gefbeba6a1c_0_509"/>
          <p:cNvSpPr/>
          <p:nvPr/>
        </p:nvSpPr>
        <p:spPr>
          <a:xfrm>
            <a:off x="7990275" y="4009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Topic Modeling</a:t>
            </a:r>
            <a:endParaRPr b="0" i="0" sz="2300" u="none" cap="none" strike="noStrike">
              <a:solidFill>
                <a:schemeClr val="lt1"/>
              </a:solidFill>
              <a:latin typeface="Arial"/>
              <a:ea typeface="Arial"/>
              <a:cs typeface="Arial"/>
              <a:sym typeface="Arial"/>
            </a:endParaRPr>
          </a:p>
        </p:txBody>
      </p:sp>
      <p:sp>
        <p:nvSpPr>
          <p:cNvPr id="145" name="Google Shape;145;gefbeba6a1c_0_509"/>
          <p:cNvSpPr/>
          <p:nvPr/>
        </p:nvSpPr>
        <p:spPr>
          <a:xfrm>
            <a:off x="1233525" y="4009825"/>
            <a:ext cx="2968200" cy="912600"/>
          </a:xfrm>
          <a:prstGeom prst="roundRect">
            <a:avLst>
              <a:gd fmla="val 16667" name="adj"/>
            </a:avLst>
          </a:prstGeom>
          <a:solidFill>
            <a:schemeClr val="accent6"/>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300"/>
              <a:buFont typeface="Arial"/>
              <a:buNone/>
            </a:pPr>
            <a:r>
              <a:rPr b="0" i="0" lang="en-US" sz="2300" u="none" cap="none" strike="noStrike">
                <a:solidFill>
                  <a:schemeClr val="lt1"/>
                </a:solidFill>
                <a:latin typeface="Arial"/>
                <a:ea typeface="Arial"/>
                <a:cs typeface="Arial"/>
                <a:sym typeface="Arial"/>
              </a:rPr>
              <a:t>Sentiment Analysis</a:t>
            </a:r>
            <a:endParaRPr b="0" i="0" sz="2300" u="none" cap="none" strike="noStrike">
              <a:solidFill>
                <a:schemeClr val="lt1"/>
              </a:solidFill>
              <a:latin typeface="Arial"/>
              <a:ea typeface="Arial"/>
              <a:cs typeface="Arial"/>
              <a:sym typeface="Arial"/>
            </a:endParaRPr>
          </a:p>
        </p:txBody>
      </p:sp>
      <p:cxnSp>
        <p:nvCxnSpPr>
          <p:cNvPr id="146" name="Google Shape;146;gefbeba6a1c_0_509"/>
          <p:cNvCxnSpPr>
            <a:endCxn id="142" idx="2"/>
          </p:cNvCxnSpPr>
          <p:nvPr/>
        </p:nvCxnSpPr>
        <p:spPr>
          <a:xfrm rot="10800000">
            <a:off x="6095988" y="3941425"/>
            <a:ext cx="0" cy="169500"/>
          </a:xfrm>
          <a:prstGeom prst="straightConnector1">
            <a:avLst/>
          </a:prstGeom>
          <a:noFill/>
          <a:ln cap="flat" cmpd="sng" w="9525">
            <a:solidFill>
              <a:schemeClr val="dk2"/>
            </a:solidFill>
            <a:prstDash val="solid"/>
            <a:round/>
            <a:headEnd len="sm" w="sm" type="none"/>
            <a:tailEnd len="med" w="med" type="triangle"/>
          </a:ln>
        </p:spPr>
      </p:cxnSp>
      <p:cxnSp>
        <p:nvCxnSpPr>
          <p:cNvPr id="147" name="Google Shape;147;gefbeba6a1c_0_509"/>
          <p:cNvCxnSpPr>
            <a:stCxn id="141" idx="1"/>
            <a:endCxn id="145" idx="3"/>
          </p:cNvCxnSpPr>
          <p:nvPr/>
        </p:nvCxnSpPr>
        <p:spPr>
          <a:xfrm rot="10800000">
            <a:off x="4201788" y="446612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48" name="Google Shape;148;gefbeba6a1c_0_509"/>
          <p:cNvCxnSpPr>
            <a:stCxn id="141" idx="3"/>
            <a:endCxn id="144" idx="1"/>
          </p:cNvCxnSpPr>
          <p:nvPr/>
        </p:nvCxnSpPr>
        <p:spPr>
          <a:xfrm>
            <a:off x="7189188" y="4466125"/>
            <a:ext cx="801000" cy="0"/>
          </a:xfrm>
          <a:prstGeom prst="straightConnector1">
            <a:avLst/>
          </a:prstGeom>
          <a:noFill/>
          <a:ln cap="flat" cmpd="sng" w="9525">
            <a:solidFill>
              <a:schemeClr val="dk2"/>
            </a:solidFill>
            <a:prstDash val="solid"/>
            <a:round/>
            <a:headEnd len="sm" w="sm" type="none"/>
            <a:tailEnd len="med" w="med" type="triangle"/>
          </a:ln>
        </p:spPr>
      </p:cxnSp>
      <p:cxnSp>
        <p:nvCxnSpPr>
          <p:cNvPr id="149" name="Google Shape;149;gefbeba6a1c_0_509"/>
          <p:cNvCxnSpPr>
            <a:stCxn id="141" idx="2"/>
            <a:endCxn id="143" idx="0"/>
          </p:cNvCxnSpPr>
          <p:nvPr/>
        </p:nvCxnSpPr>
        <p:spPr>
          <a:xfrm>
            <a:off x="6095988" y="4821175"/>
            <a:ext cx="0" cy="169800"/>
          </a:xfrm>
          <a:prstGeom prst="straightConnector1">
            <a:avLst/>
          </a:prstGeom>
          <a:noFill/>
          <a:ln cap="flat" cmpd="sng" w="9525">
            <a:solidFill>
              <a:schemeClr val="dk2"/>
            </a:solidFill>
            <a:prstDash val="solid"/>
            <a:round/>
            <a:headEnd len="sm" w="sm" type="none"/>
            <a:tailEnd len="med" w="med" type="triangle"/>
          </a:ln>
        </p:spPr>
      </p:cxn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3" name="Shape 153"/>
        <p:cNvGrpSpPr/>
        <p:nvPr/>
      </p:nvGrpSpPr>
      <p:grpSpPr>
        <a:xfrm>
          <a:off x="0" y="0"/>
          <a:ext cx="0" cy="0"/>
          <a:chOff x="0" y="0"/>
          <a:chExt cx="0" cy="0"/>
        </a:xfrm>
      </p:grpSpPr>
      <p:sp>
        <p:nvSpPr>
          <p:cNvPr id="154" name="Google Shape;154;g11a29825126_1_15"/>
          <p:cNvSpPr txBox="1"/>
          <p:nvPr>
            <p:ph idx="1" type="body"/>
          </p:nvPr>
        </p:nvSpPr>
        <p:spPr>
          <a:xfrm>
            <a:off x="381000" y="1684659"/>
            <a:ext cx="11430000" cy="4596300"/>
          </a:xfrm>
          <a:prstGeom prst="rect">
            <a:avLst/>
          </a:prstGeom>
        </p:spPr>
        <p:txBody>
          <a:bodyPr anchorCtr="0" anchor="t" bIns="45700" lIns="91425" spcFirstLastPara="1" rIns="91425" wrap="square" tIns="45700">
            <a:normAutofit lnSpcReduction="10000"/>
          </a:bodyPr>
          <a:lstStyle/>
          <a:p>
            <a:pPr indent="-342900" lvl="0" marL="457200" rtl="0" algn="l">
              <a:spcBef>
                <a:spcPts val="1000"/>
              </a:spcBef>
              <a:spcAft>
                <a:spcPts val="0"/>
              </a:spcAft>
              <a:buSzPts val="1800"/>
              <a:buChar char="●"/>
            </a:pPr>
            <a:r>
              <a:rPr lang="en-US"/>
              <a:t>The results of this modeling will be used by the web-dev team to </a:t>
            </a:r>
            <a:r>
              <a:rPr lang="en-US"/>
              <a:t>display</a:t>
            </a:r>
            <a:r>
              <a:rPr lang="en-US"/>
              <a:t> a group of words and their </a:t>
            </a:r>
            <a:r>
              <a:rPr lang="en-US"/>
              <a:t>probability distribution of the key topics of discussion in Piazza forum.</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US"/>
              <a:t>Based on the TA feedback, this modeling will also help TAs/prof. answer similar questions (based on topic distribution) from previous semesters to ease their work. </a:t>
            </a:r>
            <a:endParaRPr/>
          </a:p>
          <a:p>
            <a:pPr indent="0" lvl="0" marL="457200" rtl="0" algn="l">
              <a:spcBef>
                <a:spcPts val="1000"/>
              </a:spcBef>
              <a:spcAft>
                <a:spcPts val="0"/>
              </a:spcAft>
              <a:buNone/>
            </a:pPr>
            <a:r>
              <a:t/>
            </a:r>
            <a:endParaRPr/>
          </a:p>
          <a:p>
            <a:pPr indent="-342900" lvl="0" marL="457200" rtl="0" algn="l">
              <a:spcBef>
                <a:spcPts val="1000"/>
              </a:spcBef>
              <a:spcAft>
                <a:spcPts val="0"/>
              </a:spcAft>
              <a:buSzPts val="1800"/>
              <a:buChar char="●"/>
            </a:pPr>
            <a:r>
              <a:rPr lang="en-US"/>
              <a:t>Three models we used to perform topic modeling: </a:t>
            </a:r>
            <a:endParaRPr/>
          </a:p>
          <a:p>
            <a:pPr indent="-342900" lvl="1" marL="914400" rtl="0" algn="l">
              <a:spcBef>
                <a:spcPts val="0"/>
              </a:spcBef>
              <a:spcAft>
                <a:spcPts val="0"/>
              </a:spcAft>
              <a:buSzPts val="1800"/>
              <a:buChar char="○"/>
            </a:pPr>
            <a:r>
              <a:rPr lang="en-US"/>
              <a:t>LDA (Latent Dirichlet allocation)</a:t>
            </a:r>
            <a:endParaRPr/>
          </a:p>
          <a:p>
            <a:pPr indent="-342900" lvl="1" marL="914400" rtl="0" algn="l">
              <a:spcBef>
                <a:spcPts val="0"/>
              </a:spcBef>
              <a:spcAft>
                <a:spcPts val="0"/>
              </a:spcAft>
              <a:buSzPts val="1800"/>
              <a:buChar char="○"/>
            </a:pPr>
            <a:r>
              <a:rPr lang="en-US"/>
              <a:t>BERT + LDA</a:t>
            </a:r>
            <a:endParaRPr/>
          </a:p>
          <a:p>
            <a:pPr indent="-342900" lvl="1" marL="914400" rtl="0" algn="l">
              <a:spcBef>
                <a:spcPts val="0"/>
              </a:spcBef>
              <a:spcAft>
                <a:spcPts val="0"/>
              </a:spcAft>
              <a:buSzPts val="1800"/>
              <a:buChar char="○"/>
            </a:pPr>
            <a:r>
              <a:rPr lang="en-US"/>
              <a:t>Roberta</a:t>
            </a:r>
            <a:endParaRPr/>
          </a:p>
        </p:txBody>
      </p:sp>
      <p:sp>
        <p:nvSpPr>
          <p:cNvPr id="155" name="Google Shape;155;g11a29825126_1_15"/>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Why this is useful?</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gefbeba6a1c_0_2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Topic Modeling using LDA </a:t>
            </a:r>
            <a:endParaRPr/>
          </a:p>
        </p:txBody>
      </p:sp>
      <p:sp>
        <p:nvSpPr>
          <p:cNvPr id="161" name="Google Shape;161;gefbeba6a1c_0_20"/>
          <p:cNvSpPr txBox="1"/>
          <p:nvPr>
            <p:ph idx="1" type="body"/>
          </p:nvPr>
        </p:nvSpPr>
        <p:spPr>
          <a:xfrm>
            <a:off x="381000" y="1215474"/>
            <a:ext cx="11430000" cy="1643700"/>
          </a:xfrm>
          <a:prstGeom prst="rect">
            <a:avLst/>
          </a:prstGeom>
          <a:noFill/>
          <a:ln>
            <a:noFill/>
          </a:ln>
        </p:spPr>
        <p:txBody>
          <a:bodyPr anchorCtr="0" anchor="t" bIns="45700" lIns="91425" spcFirstLastPara="1" rIns="91425" wrap="square" tIns="45700">
            <a:noAutofit/>
          </a:bodyPr>
          <a:lstStyle/>
          <a:p>
            <a:pPr indent="-387350" lvl="0" marL="457200" rtl="0" algn="l">
              <a:lnSpc>
                <a:spcPct val="115000"/>
              </a:lnSpc>
              <a:spcBef>
                <a:spcPts val="1200"/>
              </a:spcBef>
              <a:spcAft>
                <a:spcPts val="0"/>
              </a:spcAft>
              <a:buSzPts val="2500"/>
              <a:buChar char="●"/>
            </a:pPr>
            <a:r>
              <a:rPr lang="en-US" sz="2500">
                <a:latin typeface="Arial"/>
                <a:ea typeface="Arial"/>
                <a:cs typeface="Arial"/>
                <a:sym typeface="Arial"/>
              </a:rPr>
              <a:t>Latent Dirichlet Allocation</a:t>
            </a:r>
            <a:endParaRPr sz="2500">
              <a:latin typeface="Arial"/>
              <a:ea typeface="Arial"/>
              <a:cs typeface="Arial"/>
              <a:sym typeface="Arial"/>
            </a:endParaRPr>
          </a:p>
          <a:p>
            <a:pPr indent="-387350" lvl="1" marL="914400" rtl="0" algn="l">
              <a:lnSpc>
                <a:spcPct val="115000"/>
              </a:lnSpc>
              <a:spcBef>
                <a:spcPts val="0"/>
              </a:spcBef>
              <a:spcAft>
                <a:spcPts val="0"/>
              </a:spcAft>
              <a:buSzPts val="2500"/>
              <a:buChar char="○"/>
            </a:pPr>
            <a:r>
              <a:rPr lang="en-US" sz="2500">
                <a:latin typeface="Arial"/>
                <a:ea typeface="Arial"/>
                <a:cs typeface="Arial"/>
                <a:sym typeface="Arial"/>
              </a:rPr>
              <a:t>Topic Distribution in docs</a:t>
            </a:r>
            <a:endParaRPr sz="2500">
              <a:latin typeface="Arial"/>
              <a:ea typeface="Arial"/>
              <a:cs typeface="Arial"/>
              <a:sym typeface="Arial"/>
            </a:endParaRPr>
          </a:p>
          <a:p>
            <a:pPr indent="-387350" lvl="1" marL="914400" rtl="0" algn="l">
              <a:lnSpc>
                <a:spcPct val="115000"/>
              </a:lnSpc>
              <a:spcBef>
                <a:spcPts val="0"/>
              </a:spcBef>
              <a:spcAft>
                <a:spcPts val="0"/>
              </a:spcAft>
              <a:buSzPts val="2500"/>
              <a:buChar char="○"/>
            </a:pPr>
            <a:r>
              <a:rPr lang="en-US" sz="2500">
                <a:latin typeface="Arial"/>
                <a:ea typeface="Arial"/>
                <a:cs typeface="Arial"/>
                <a:sym typeface="Arial"/>
              </a:rPr>
              <a:t>Weight of words in topics</a:t>
            </a:r>
            <a:endParaRPr/>
          </a:p>
        </p:txBody>
      </p:sp>
      <p:pic>
        <p:nvPicPr>
          <p:cNvPr id="162" name="Google Shape;162;gefbeba6a1c_0_20"/>
          <p:cNvPicPr preferRelativeResize="0"/>
          <p:nvPr/>
        </p:nvPicPr>
        <p:blipFill>
          <a:blip r:embed="rId3">
            <a:alphaModFix/>
          </a:blip>
          <a:stretch>
            <a:fillRect/>
          </a:stretch>
        </p:blipFill>
        <p:spPr>
          <a:xfrm>
            <a:off x="6267601" y="316800"/>
            <a:ext cx="5405926" cy="2977474"/>
          </a:xfrm>
          <a:prstGeom prst="rect">
            <a:avLst/>
          </a:prstGeom>
          <a:noFill/>
          <a:ln>
            <a:noFill/>
          </a:ln>
        </p:spPr>
      </p:pic>
      <p:pic>
        <p:nvPicPr>
          <p:cNvPr id="163" name="Google Shape;163;gefbeba6a1c_0_20"/>
          <p:cNvPicPr preferRelativeResize="0"/>
          <p:nvPr/>
        </p:nvPicPr>
        <p:blipFill>
          <a:blip r:embed="rId4">
            <a:alphaModFix/>
          </a:blip>
          <a:stretch>
            <a:fillRect/>
          </a:stretch>
        </p:blipFill>
        <p:spPr>
          <a:xfrm>
            <a:off x="387350" y="2552597"/>
            <a:ext cx="3453150" cy="4000603"/>
          </a:xfrm>
          <a:prstGeom prst="rect">
            <a:avLst/>
          </a:prstGeom>
          <a:noFill/>
          <a:ln>
            <a:noFill/>
          </a:ln>
        </p:spPr>
      </p:pic>
      <p:pic>
        <p:nvPicPr>
          <p:cNvPr id="164" name="Google Shape;164;gefbeba6a1c_0_20"/>
          <p:cNvPicPr preferRelativeResize="0"/>
          <p:nvPr/>
        </p:nvPicPr>
        <p:blipFill>
          <a:blip r:embed="rId5">
            <a:alphaModFix/>
          </a:blip>
          <a:stretch>
            <a:fillRect/>
          </a:stretch>
        </p:blipFill>
        <p:spPr>
          <a:xfrm>
            <a:off x="3977749" y="3417274"/>
            <a:ext cx="8046700" cy="2483161"/>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11a29825126_1_0"/>
          <p:cNvSpPr txBox="1"/>
          <p:nvPr>
            <p:ph idx="1" type="body"/>
          </p:nvPr>
        </p:nvSpPr>
        <p:spPr>
          <a:xfrm>
            <a:off x="153650" y="1215475"/>
            <a:ext cx="4828500" cy="4596300"/>
          </a:xfrm>
          <a:prstGeom prst="rect">
            <a:avLst/>
          </a:prstGeom>
        </p:spPr>
        <p:txBody>
          <a:bodyPr anchorCtr="0" anchor="t" bIns="45700" lIns="91425" spcFirstLastPara="1" rIns="91425" wrap="square" tIns="45700">
            <a:normAutofit lnSpcReduction="20000"/>
          </a:bodyPr>
          <a:lstStyle/>
          <a:p>
            <a:pPr indent="-406400" lvl="0" marL="457200" rtl="0" algn="l">
              <a:lnSpc>
                <a:spcPct val="115000"/>
              </a:lnSpc>
              <a:spcBef>
                <a:spcPts val="1200"/>
              </a:spcBef>
              <a:spcAft>
                <a:spcPts val="0"/>
              </a:spcAft>
              <a:buSzPts val="2800"/>
              <a:buFont typeface="Roboto"/>
              <a:buChar char="•"/>
            </a:pPr>
            <a:r>
              <a:rPr lang="en-US"/>
              <a:t>Bert for sentence embedding vector</a:t>
            </a:r>
            <a:endParaRPr/>
          </a:p>
          <a:p>
            <a:pPr indent="-406400" lvl="0" marL="457200" rtl="0" algn="l">
              <a:lnSpc>
                <a:spcPct val="115000"/>
              </a:lnSpc>
              <a:spcBef>
                <a:spcPts val="0"/>
              </a:spcBef>
              <a:spcAft>
                <a:spcPts val="0"/>
              </a:spcAft>
              <a:buSzPts val="2800"/>
              <a:buFont typeface="Roboto"/>
              <a:buChar char="•"/>
            </a:pPr>
            <a:r>
              <a:rPr lang="en-US"/>
              <a:t>LDA for probabilistic topic assignment vector</a:t>
            </a:r>
            <a:endParaRPr/>
          </a:p>
          <a:p>
            <a:pPr indent="-342900" lvl="0" marL="457200" rtl="0" algn="l">
              <a:lnSpc>
                <a:spcPct val="115000"/>
              </a:lnSpc>
              <a:spcBef>
                <a:spcPts val="0"/>
              </a:spcBef>
              <a:spcAft>
                <a:spcPts val="0"/>
              </a:spcAft>
              <a:buSzPts val="1800"/>
              <a:buChar char="•"/>
            </a:pPr>
            <a:r>
              <a:rPr b="1" lang="en-US"/>
              <a:t>Coherence Score</a:t>
            </a:r>
            <a:r>
              <a:rPr lang="en-US"/>
              <a:t> </a:t>
            </a:r>
            <a:r>
              <a:rPr lang="en-US"/>
              <a:t>= 0.51 </a:t>
            </a:r>
            <a:r>
              <a:rPr lang="en-US"/>
              <a:t>(measure how the topics are interpreted to humans) </a:t>
            </a:r>
            <a:endParaRPr/>
          </a:p>
          <a:p>
            <a:pPr indent="-342900" lvl="0" marL="457200" rtl="0" algn="l">
              <a:lnSpc>
                <a:spcPct val="115000"/>
              </a:lnSpc>
              <a:spcBef>
                <a:spcPts val="0"/>
              </a:spcBef>
              <a:spcAft>
                <a:spcPts val="0"/>
              </a:spcAft>
              <a:buSzPts val="1800"/>
              <a:buChar char="•"/>
            </a:pPr>
            <a:r>
              <a:rPr lang="en-US"/>
              <a:t>Better serves our purpose</a:t>
            </a:r>
            <a:endParaRPr/>
          </a:p>
          <a:p>
            <a:pPr indent="0" lvl="0" marL="457200" rtl="0" algn="l">
              <a:spcBef>
                <a:spcPts val="1500"/>
              </a:spcBef>
              <a:spcAft>
                <a:spcPts val="0"/>
              </a:spcAft>
              <a:buNone/>
            </a:pPr>
            <a:r>
              <a:t/>
            </a:r>
            <a:endParaRPr/>
          </a:p>
        </p:txBody>
      </p:sp>
      <p:sp>
        <p:nvSpPr>
          <p:cNvPr id="170" name="Google Shape;170;g11a29825126_1_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Topic Modeling with BERT+LDA</a:t>
            </a:r>
            <a:endParaRPr/>
          </a:p>
        </p:txBody>
      </p:sp>
      <p:pic>
        <p:nvPicPr>
          <p:cNvPr id="171" name="Google Shape;171;g11a29825126_1_0"/>
          <p:cNvPicPr preferRelativeResize="0"/>
          <p:nvPr/>
        </p:nvPicPr>
        <p:blipFill>
          <a:blip r:embed="rId3">
            <a:alphaModFix/>
          </a:blip>
          <a:stretch>
            <a:fillRect/>
          </a:stretch>
        </p:blipFill>
        <p:spPr>
          <a:xfrm>
            <a:off x="4981988" y="4195104"/>
            <a:ext cx="3413626" cy="2422758"/>
          </a:xfrm>
          <a:prstGeom prst="rect">
            <a:avLst/>
          </a:prstGeom>
          <a:noFill/>
          <a:ln>
            <a:noFill/>
          </a:ln>
        </p:spPr>
      </p:pic>
      <p:pic>
        <p:nvPicPr>
          <p:cNvPr id="172" name="Google Shape;172;g11a29825126_1_0"/>
          <p:cNvPicPr preferRelativeResize="0"/>
          <p:nvPr/>
        </p:nvPicPr>
        <p:blipFill>
          <a:blip r:embed="rId4">
            <a:alphaModFix/>
          </a:blip>
          <a:stretch>
            <a:fillRect/>
          </a:stretch>
        </p:blipFill>
        <p:spPr>
          <a:xfrm>
            <a:off x="8487602" y="4196031"/>
            <a:ext cx="3413634" cy="2420893"/>
          </a:xfrm>
          <a:prstGeom prst="rect">
            <a:avLst/>
          </a:prstGeom>
          <a:noFill/>
          <a:ln>
            <a:noFill/>
          </a:ln>
        </p:spPr>
      </p:pic>
      <p:pic>
        <p:nvPicPr>
          <p:cNvPr id="173" name="Google Shape;173;g11a29825126_1_0"/>
          <p:cNvPicPr preferRelativeResize="0"/>
          <p:nvPr/>
        </p:nvPicPr>
        <p:blipFill>
          <a:blip r:embed="rId5">
            <a:alphaModFix/>
          </a:blip>
          <a:stretch>
            <a:fillRect/>
          </a:stretch>
        </p:blipFill>
        <p:spPr>
          <a:xfrm>
            <a:off x="5268400" y="1106025"/>
            <a:ext cx="6711649" cy="3090000"/>
          </a:xfrm>
          <a:prstGeom prst="rect">
            <a:avLst/>
          </a:prstGeom>
          <a:noFill/>
          <a:ln>
            <a:noFill/>
          </a:ln>
        </p:spPr>
      </p:pic>
      <p:pic>
        <p:nvPicPr>
          <p:cNvPr id="174" name="Google Shape;174;g11a29825126_1_0"/>
          <p:cNvPicPr preferRelativeResize="0"/>
          <p:nvPr/>
        </p:nvPicPr>
        <p:blipFill>
          <a:blip r:embed="rId6">
            <a:alphaModFix/>
          </a:blip>
          <a:stretch>
            <a:fillRect/>
          </a:stretch>
        </p:blipFill>
        <p:spPr>
          <a:xfrm>
            <a:off x="387350" y="5246450"/>
            <a:ext cx="4341125" cy="10983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g11a29825126_1_20"/>
          <p:cNvSpPr txBox="1"/>
          <p:nvPr>
            <p:ph idx="1" type="body"/>
          </p:nvPr>
        </p:nvSpPr>
        <p:spPr>
          <a:xfrm>
            <a:off x="381000" y="1215474"/>
            <a:ext cx="11430000" cy="5124000"/>
          </a:xfrm>
          <a:prstGeom prst="rect">
            <a:avLst/>
          </a:prstGeom>
        </p:spPr>
        <p:txBody>
          <a:bodyPr anchorCtr="0" anchor="t" bIns="45700" lIns="91425" spcFirstLastPara="1" rIns="91425" wrap="square" tIns="45700">
            <a:normAutofit/>
          </a:bodyPr>
          <a:lstStyle/>
          <a:p>
            <a:pPr indent="-342900" lvl="0" marL="457200" rtl="0" algn="l">
              <a:spcBef>
                <a:spcPts val="1000"/>
              </a:spcBef>
              <a:spcAft>
                <a:spcPts val="0"/>
              </a:spcAft>
              <a:buSzPts val="1800"/>
              <a:buChar char="●"/>
            </a:pPr>
            <a:r>
              <a:rPr lang="en-US"/>
              <a:t>Questions and answers are not separated in the Piazza data we received. </a:t>
            </a:r>
            <a:endParaRPr/>
          </a:p>
          <a:p>
            <a:pPr indent="-342900" lvl="1" marL="914400" rtl="0" algn="l">
              <a:spcBef>
                <a:spcPts val="0"/>
              </a:spcBef>
              <a:spcAft>
                <a:spcPts val="0"/>
              </a:spcAft>
              <a:buSzPts val="1800"/>
              <a:buChar char="○"/>
            </a:pPr>
            <a:r>
              <a:rPr lang="en-US"/>
              <a:t>sentence-classification modeling using CNN </a:t>
            </a:r>
            <a:r>
              <a:rPr lang="en-US"/>
              <a:t>(</a:t>
            </a:r>
            <a:r>
              <a:rPr lang="en-US"/>
              <a:t>Convolutional Neural Network)</a:t>
            </a:r>
            <a:endParaRPr/>
          </a:p>
          <a:p>
            <a:pPr indent="-342900" lvl="1" marL="914400" rtl="0" algn="l">
              <a:spcBef>
                <a:spcPts val="0"/>
              </a:spcBef>
              <a:spcAft>
                <a:spcPts val="0"/>
              </a:spcAft>
              <a:buSzPts val="1800"/>
              <a:buChar char="○"/>
            </a:pPr>
            <a:r>
              <a:rPr lang="en-US"/>
              <a:t>pre-trained model</a:t>
            </a:r>
            <a:endParaRPr/>
          </a:p>
          <a:p>
            <a:pPr indent="-342900" lvl="1" marL="914400" rtl="0" algn="l">
              <a:spcBef>
                <a:spcPts val="0"/>
              </a:spcBef>
              <a:spcAft>
                <a:spcPts val="0"/>
              </a:spcAft>
              <a:buSzPts val="1800"/>
              <a:buChar char="○"/>
            </a:pPr>
            <a:r>
              <a:rPr lang="en-US"/>
              <a:t>This model classifies a sentence in one of the common sentence types: Question, Statement, Command, </a:t>
            </a:r>
            <a:r>
              <a:rPr lang="en-US"/>
              <a:t>Exclamation</a:t>
            </a:r>
            <a:r>
              <a:rPr lang="en-US"/>
              <a:t> </a:t>
            </a:r>
            <a:endParaRPr/>
          </a:p>
          <a:p>
            <a:pPr indent="-342900" lvl="0" marL="457200" rtl="0" algn="l">
              <a:spcBef>
                <a:spcPts val="0"/>
              </a:spcBef>
              <a:spcAft>
                <a:spcPts val="0"/>
              </a:spcAft>
              <a:buSzPts val="1800"/>
              <a:buChar char="●"/>
            </a:pPr>
            <a:r>
              <a:rPr lang="en-US"/>
              <a:t>Running the model on </a:t>
            </a:r>
            <a:r>
              <a:rPr lang="en-US"/>
              <a:t>incoming</a:t>
            </a:r>
            <a:r>
              <a:rPr lang="en-US"/>
              <a:t> </a:t>
            </a:r>
            <a:r>
              <a:rPr lang="en-US"/>
              <a:t>comments from Piazza API to distribute them into topics using the BERT+LDA Modeling </a:t>
            </a:r>
            <a:endParaRPr/>
          </a:p>
          <a:p>
            <a:pPr indent="-342900" lvl="1" marL="914400" rtl="0" algn="l">
              <a:spcBef>
                <a:spcPts val="0"/>
              </a:spcBef>
              <a:spcAft>
                <a:spcPts val="0"/>
              </a:spcAft>
              <a:buSzPts val="1800"/>
              <a:buChar char="○"/>
            </a:pPr>
            <a:r>
              <a:rPr lang="en-US"/>
              <a:t>our main priority for the other half </a:t>
            </a:r>
            <a:endParaRPr/>
          </a:p>
          <a:p>
            <a:pPr indent="0" lvl="0" marL="914400" rtl="0" algn="l">
              <a:spcBef>
                <a:spcPts val="1000"/>
              </a:spcBef>
              <a:spcAft>
                <a:spcPts val="0"/>
              </a:spcAft>
              <a:buNone/>
            </a:pPr>
            <a:r>
              <a:t/>
            </a:r>
            <a:endParaRPr/>
          </a:p>
          <a:p>
            <a:pPr indent="-342900" lvl="0" marL="457200" rtl="0" algn="l">
              <a:spcBef>
                <a:spcPts val="1000"/>
              </a:spcBef>
              <a:spcAft>
                <a:spcPts val="0"/>
              </a:spcAft>
              <a:buSzPts val="1800"/>
              <a:buChar char="●"/>
            </a:pPr>
            <a:r>
              <a:rPr lang="en-US"/>
              <a:t>Work with the Web-dev team to create a successful pipeline for the final web application.</a:t>
            </a:r>
            <a:endParaRPr/>
          </a:p>
        </p:txBody>
      </p:sp>
      <p:sp>
        <p:nvSpPr>
          <p:cNvPr id="180" name="Google Shape;180;g11a29825126_1_20"/>
          <p:cNvSpPr txBox="1"/>
          <p:nvPr>
            <p:ph type="title"/>
          </p:nvPr>
        </p:nvSpPr>
        <p:spPr>
          <a:xfrm>
            <a:off x="381000" y="200722"/>
            <a:ext cx="11430000" cy="10149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lang="en-US"/>
              <a:t>Next Steps</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4" name="Shape 184"/>
        <p:cNvGrpSpPr/>
        <p:nvPr/>
      </p:nvGrpSpPr>
      <p:grpSpPr>
        <a:xfrm>
          <a:off x="0" y="0"/>
          <a:ext cx="0" cy="0"/>
          <a:chOff x="0" y="0"/>
          <a:chExt cx="0" cy="0"/>
        </a:xfrm>
      </p:grpSpPr>
      <p:sp>
        <p:nvSpPr>
          <p:cNvPr id="185" name="Google Shape;185;gf4bb9c8d2f_2_0"/>
          <p:cNvSpPr txBox="1"/>
          <p:nvPr/>
        </p:nvSpPr>
        <p:spPr>
          <a:xfrm>
            <a:off x="424650" y="1215625"/>
            <a:ext cx="11342700" cy="4633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1000"/>
              </a:spcBef>
              <a:spcAft>
                <a:spcPts val="0"/>
              </a:spcAft>
              <a:buNone/>
            </a:pPr>
            <a:r>
              <a:rPr lang="en-US" sz="2200">
                <a:solidFill>
                  <a:schemeClr val="dk1"/>
                </a:solidFill>
                <a:latin typeface="Roboto"/>
                <a:ea typeface="Roboto"/>
                <a:cs typeface="Roboto"/>
                <a:sym typeface="Roboto"/>
              </a:rPr>
              <a:t>Upon </a:t>
            </a:r>
            <a:r>
              <a:rPr lang="en-US" sz="2200">
                <a:solidFill>
                  <a:schemeClr val="dk1"/>
                </a:solidFill>
                <a:latin typeface="Roboto"/>
                <a:ea typeface="Roboto"/>
                <a:cs typeface="Roboto"/>
                <a:sym typeface="Roboto"/>
              </a:rPr>
              <a:t>researching</a:t>
            </a:r>
            <a:r>
              <a:rPr lang="en-US" sz="2200">
                <a:solidFill>
                  <a:schemeClr val="dk1"/>
                </a:solidFill>
                <a:latin typeface="Roboto"/>
                <a:ea typeface="Roboto"/>
                <a:cs typeface="Roboto"/>
                <a:sym typeface="Roboto"/>
              </a:rPr>
              <a:t> further into metacognition, we have found that metacognition is especially important in the online classroom because it greatly boosts students ability to set goals, apply learning strategies, and assess their own progress / readiness to take a test on the subject. Essentially, instilling metacognitive thinking partially negates the downside of not having a physical professor guiding instruction. </a:t>
            </a:r>
            <a:endParaRPr sz="2200">
              <a:solidFill>
                <a:schemeClr val="dk1"/>
              </a:solidFill>
              <a:latin typeface="Roboto"/>
              <a:ea typeface="Roboto"/>
              <a:cs typeface="Roboto"/>
              <a:sym typeface="Roboto"/>
            </a:endParaRPr>
          </a:p>
          <a:p>
            <a:pPr indent="0" lvl="0" marL="0" marR="0" rtl="0" algn="l">
              <a:lnSpc>
                <a:spcPct val="100000"/>
              </a:lnSpc>
              <a:spcBef>
                <a:spcPts val="1000"/>
              </a:spcBef>
              <a:spcAft>
                <a:spcPts val="0"/>
              </a:spcAft>
              <a:buNone/>
            </a:pPr>
            <a:r>
              <a:t/>
            </a:r>
            <a:endParaRPr sz="2200">
              <a:solidFill>
                <a:schemeClr val="dk1"/>
              </a:solidFill>
              <a:latin typeface="Roboto"/>
              <a:ea typeface="Roboto"/>
              <a:cs typeface="Roboto"/>
              <a:sym typeface="Roboto"/>
            </a:endParaRPr>
          </a:p>
          <a:p>
            <a:pPr indent="0" lvl="0" marL="0" marR="0" rtl="0" algn="l">
              <a:lnSpc>
                <a:spcPct val="100000"/>
              </a:lnSpc>
              <a:spcBef>
                <a:spcPts val="1000"/>
              </a:spcBef>
              <a:spcAft>
                <a:spcPts val="0"/>
              </a:spcAft>
              <a:buNone/>
            </a:pPr>
            <a:r>
              <a:rPr lang="en-US" sz="2200">
                <a:solidFill>
                  <a:schemeClr val="dk1"/>
                </a:solidFill>
                <a:latin typeface="Roboto"/>
                <a:ea typeface="Roboto"/>
                <a:cs typeface="Roboto"/>
                <a:sym typeface="Roboto"/>
              </a:rPr>
              <a:t>We also found an open source Metacognitive Presence detection algorithm </a:t>
            </a:r>
            <a:r>
              <a:rPr lang="en-US" sz="2200">
                <a:solidFill>
                  <a:schemeClr val="dk1"/>
                </a:solidFill>
                <a:latin typeface="Roboto"/>
                <a:ea typeface="Roboto"/>
                <a:cs typeface="Roboto"/>
                <a:sym typeface="Roboto"/>
              </a:rPr>
              <a:t>developed</a:t>
            </a:r>
            <a:r>
              <a:rPr lang="en-US" sz="2200">
                <a:solidFill>
                  <a:schemeClr val="dk1"/>
                </a:solidFill>
                <a:latin typeface="Roboto"/>
                <a:ea typeface="Roboto"/>
                <a:cs typeface="Roboto"/>
                <a:sym typeface="Roboto"/>
              </a:rPr>
              <a:t> by another study, possibly to be integrated into current text evaluation process. (7) This algorithm has identified keywords and phrases that indicate </a:t>
            </a:r>
            <a:r>
              <a:rPr lang="en-US" sz="2200">
                <a:solidFill>
                  <a:schemeClr val="dk1"/>
                </a:solidFill>
                <a:latin typeface="Roboto"/>
                <a:ea typeface="Roboto"/>
                <a:cs typeface="Roboto"/>
                <a:sym typeface="Roboto"/>
              </a:rPr>
              <a:t>whether</a:t>
            </a:r>
            <a:r>
              <a:rPr lang="en-US" sz="2200">
                <a:solidFill>
                  <a:schemeClr val="dk1"/>
                </a:solidFill>
                <a:latin typeface="Roboto"/>
                <a:ea typeface="Roboto"/>
                <a:cs typeface="Roboto"/>
                <a:sym typeface="Roboto"/>
              </a:rPr>
              <a:t> or not the students are using metacognition, and whether said metacognition indicates confidence or unconfidence. </a:t>
            </a:r>
            <a:endParaRPr sz="2200">
              <a:solidFill>
                <a:schemeClr val="dk1"/>
              </a:solidFill>
              <a:latin typeface="Roboto"/>
              <a:ea typeface="Roboto"/>
              <a:cs typeface="Roboto"/>
              <a:sym typeface="Roboto"/>
            </a:endParaRPr>
          </a:p>
          <a:p>
            <a:pPr indent="0" lvl="0" marL="0" marR="0" rtl="0" algn="l">
              <a:lnSpc>
                <a:spcPct val="100000"/>
              </a:lnSpc>
              <a:spcBef>
                <a:spcPts val="1000"/>
              </a:spcBef>
              <a:spcAft>
                <a:spcPts val="0"/>
              </a:spcAft>
              <a:buClr>
                <a:srgbClr val="000000"/>
              </a:buClr>
              <a:buSzPts val="2200"/>
              <a:buFont typeface="Arial"/>
              <a:buNone/>
            </a:pPr>
            <a:r>
              <a:t/>
            </a:r>
            <a:endParaRPr b="0" i="0" sz="2200" u="none" cap="none" strike="noStrike">
              <a:solidFill>
                <a:schemeClr val="dk1"/>
              </a:solidFill>
              <a:latin typeface="Roboto"/>
              <a:ea typeface="Roboto"/>
              <a:cs typeface="Roboto"/>
              <a:sym typeface="Roboto"/>
            </a:endParaRPr>
          </a:p>
        </p:txBody>
      </p:sp>
      <p:sp>
        <p:nvSpPr>
          <p:cNvPr id="186" name="Google Shape;186;gf4bb9c8d2f_2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Metacognition</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gefbeba6a1c_0_3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Web Development</a:t>
            </a:r>
            <a:endParaRPr sz="7000"/>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5" name="Shape 195"/>
        <p:cNvGrpSpPr/>
        <p:nvPr/>
      </p:nvGrpSpPr>
      <p:grpSpPr>
        <a:xfrm>
          <a:off x="0" y="0"/>
          <a:ext cx="0" cy="0"/>
          <a:chOff x="0" y="0"/>
          <a:chExt cx="0" cy="0"/>
        </a:xfrm>
      </p:grpSpPr>
      <p:sp>
        <p:nvSpPr>
          <p:cNvPr id="196" name="Google Shape;196;gefb32003ea_0_0"/>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90000"/>
              </a:lnSpc>
              <a:spcBef>
                <a:spcPts val="1000"/>
              </a:spcBef>
              <a:spcAft>
                <a:spcPts val="0"/>
              </a:spcAft>
              <a:buSzPts val="1800"/>
              <a:buChar char="•"/>
            </a:pPr>
            <a:r>
              <a:rPr b="1" lang="en-US" sz="1800"/>
              <a:t>Meeting with PARQR Team</a:t>
            </a:r>
            <a:endParaRPr b="1" sz="1800"/>
          </a:p>
          <a:p>
            <a:pPr indent="-342900" lvl="1" marL="914400" rtl="0" algn="l">
              <a:lnSpc>
                <a:spcPct val="90000"/>
              </a:lnSpc>
              <a:spcBef>
                <a:spcPts val="1000"/>
              </a:spcBef>
              <a:spcAft>
                <a:spcPts val="0"/>
              </a:spcAft>
              <a:buSzPts val="1800"/>
              <a:buChar char="•"/>
            </a:pPr>
            <a:r>
              <a:rPr lang="en-US" sz="1800"/>
              <a:t>Considered use of Ed over Piazza</a:t>
            </a:r>
            <a:endParaRPr sz="1800"/>
          </a:p>
          <a:p>
            <a:pPr indent="-342900" lvl="1" marL="914400" rtl="0" algn="l">
              <a:lnSpc>
                <a:spcPct val="90000"/>
              </a:lnSpc>
              <a:spcBef>
                <a:spcPts val="1000"/>
              </a:spcBef>
              <a:spcAft>
                <a:spcPts val="0"/>
              </a:spcAft>
              <a:buSzPts val="1800"/>
              <a:buChar char="•"/>
            </a:pPr>
            <a:r>
              <a:rPr lang="en-US" sz="1800"/>
              <a:t>Unofficial Piazza API for data extraction</a:t>
            </a:r>
            <a:endParaRPr sz="1800"/>
          </a:p>
          <a:p>
            <a:pPr indent="-342900" lvl="1" marL="914400" rtl="0" algn="l">
              <a:lnSpc>
                <a:spcPct val="90000"/>
              </a:lnSpc>
              <a:spcBef>
                <a:spcPts val="1000"/>
              </a:spcBef>
              <a:spcAft>
                <a:spcPts val="0"/>
              </a:spcAft>
              <a:buSzPts val="1800"/>
              <a:buChar char="•"/>
            </a:pPr>
            <a:r>
              <a:rPr lang="en-US" sz="1800"/>
              <a:t>Requested for Python scripts</a:t>
            </a:r>
            <a:endParaRPr sz="1800"/>
          </a:p>
          <a:p>
            <a:pPr indent="-342900" lvl="0" marL="457200" rtl="0" algn="l">
              <a:lnSpc>
                <a:spcPct val="90000"/>
              </a:lnSpc>
              <a:spcBef>
                <a:spcPts val="1000"/>
              </a:spcBef>
              <a:spcAft>
                <a:spcPts val="0"/>
              </a:spcAft>
              <a:buSzPts val="1800"/>
              <a:buChar char="•"/>
            </a:pPr>
            <a:r>
              <a:rPr b="1" lang="en-US" sz="1800"/>
              <a:t>Meeting with Dr. Lee</a:t>
            </a:r>
            <a:endParaRPr b="1" sz="1800"/>
          </a:p>
          <a:p>
            <a:pPr indent="-342900" lvl="1" marL="914400" rtl="0" algn="l">
              <a:lnSpc>
                <a:spcPct val="90000"/>
              </a:lnSpc>
              <a:spcBef>
                <a:spcPts val="1000"/>
              </a:spcBef>
              <a:spcAft>
                <a:spcPts val="0"/>
              </a:spcAft>
              <a:buSzPts val="1800"/>
              <a:buChar char="•"/>
            </a:pPr>
            <a:r>
              <a:rPr lang="en-US" sz="1800"/>
              <a:t>Resolved issues regarding data access</a:t>
            </a:r>
            <a:endParaRPr sz="1800"/>
          </a:p>
          <a:p>
            <a:pPr indent="-342900" lvl="1" marL="914400" rtl="0" algn="l">
              <a:lnSpc>
                <a:spcPct val="90000"/>
              </a:lnSpc>
              <a:spcBef>
                <a:spcPts val="1000"/>
              </a:spcBef>
              <a:spcAft>
                <a:spcPts val="0"/>
              </a:spcAft>
              <a:buSzPts val="1800"/>
              <a:buChar char="•"/>
            </a:pPr>
            <a:r>
              <a:rPr lang="en-US" sz="1800"/>
              <a:t>Permissions for using unofficial Piazza API</a:t>
            </a:r>
            <a:endParaRPr sz="1800"/>
          </a:p>
          <a:p>
            <a:pPr indent="-342900" lvl="0" marL="457200" rtl="0" algn="l">
              <a:lnSpc>
                <a:spcPct val="90000"/>
              </a:lnSpc>
              <a:spcBef>
                <a:spcPts val="1000"/>
              </a:spcBef>
              <a:spcAft>
                <a:spcPts val="0"/>
              </a:spcAft>
              <a:buSzPts val="1800"/>
              <a:buChar char="•"/>
            </a:pPr>
            <a:r>
              <a:rPr b="1" lang="en-US" sz="1800"/>
              <a:t>Writing Python scripts for data access</a:t>
            </a:r>
            <a:endParaRPr b="1" sz="1800"/>
          </a:p>
          <a:p>
            <a:pPr indent="-342900" lvl="1" marL="914400" rtl="0" algn="l">
              <a:lnSpc>
                <a:spcPct val="90000"/>
              </a:lnSpc>
              <a:spcBef>
                <a:spcPts val="1000"/>
              </a:spcBef>
              <a:spcAft>
                <a:spcPts val="0"/>
              </a:spcAft>
              <a:buSzPts val="1800"/>
              <a:buChar char="•"/>
            </a:pPr>
            <a:r>
              <a:rPr lang="en-US" sz="1800"/>
              <a:t>Successfully</a:t>
            </a:r>
            <a:r>
              <a:rPr lang="en-US" sz="1800"/>
              <a:t> making API calls to Piazza and retrieving information</a:t>
            </a:r>
            <a:endParaRPr sz="1800"/>
          </a:p>
          <a:p>
            <a:pPr indent="-342900" lvl="1" marL="914400" rtl="0" algn="l">
              <a:lnSpc>
                <a:spcPct val="90000"/>
              </a:lnSpc>
              <a:spcBef>
                <a:spcPts val="1000"/>
              </a:spcBef>
              <a:spcAft>
                <a:spcPts val="0"/>
              </a:spcAft>
              <a:buSzPts val="1800"/>
              <a:buChar char="•"/>
            </a:pPr>
            <a:r>
              <a:rPr lang="en-US" sz="1800"/>
              <a:t>Clarified what fields need to be extracted</a:t>
            </a:r>
            <a:endParaRPr sz="1800"/>
          </a:p>
          <a:p>
            <a:pPr indent="-342900" lvl="1" marL="914400" rtl="0" algn="l">
              <a:lnSpc>
                <a:spcPct val="90000"/>
              </a:lnSpc>
              <a:spcBef>
                <a:spcPts val="1000"/>
              </a:spcBef>
              <a:spcAft>
                <a:spcPts val="0"/>
              </a:spcAft>
              <a:buSzPts val="1800"/>
              <a:buChar char="•"/>
            </a:pPr>
            <a:r>
              <a:rPr lang="en-US" sz="1800"/>
              <a:t>Next steps: Store the information in a database</a:t>
            </a:r>
            <a:endParaRPr sz="1800"/>
          </a:p>
          <a:p>
            <a:pPr indent="-342900" lvl="0" marL="457200" rtl="0" algn="l">
              <a:lnSpc>
                <a:spcPct val="90000"/>
              </a:lnSpc>
              <a:spcBef>
                <a:spcPts val="1000"/>
              </a:spcBef>
              <a:spcAft>
                <a:spcPts val="0"/>
              </a:spcAft>
              <a:buSzPts val="1800"/>
              <a:buChar char="•"/>
            </a:pPr>
            <a:r>
              <a:rPr b="1" lang="en-US" sz="1800"/>
              <a:t>Meeting with Data Science Team</a:t>
            </a:r>
            <a:endParaRPr b="1" sz="1800"/>
          </a:p>
          <a:p>
            <a:pPr indent="-342900" lvl="1" marL="914400" rtl="0" algn="l">
              <a:lnSpc>
                <a:spcPct val="90000"/>
              </a:lnSpc>
              <a:spcBef>
                <a:spcPts val="1000"/>
              </a:spcBef>
              <a:spcAft>
                <a:spcPts val="0"/>
              </a:spcAft>
              <a:buSzPts val="1800"/>
              <a:buChar char="•"/>
            </a:pPr>
            <a:r>
              <a:rPr lang="en-US" sz="1800"/>
              <a:t>Further discussion on table columns/fields</a:t>
            </a:r>
            <a:endParaRPr sz="1800"/>
          </a:p>
          <a:p>
            <a:pPr indent="-342900" lvl="1" marL="914400" rtl="0" algn="l">
              <a:spcBef>
                <a:spcPts val="1000"/>
              </a:spcBef>
              <a:spcAft>
                <a:spcPts val="0"/>
              </a:spcAft>
              <a:buSzPts val="1800"/>
              <a:buChar char="•"/>
            </a:pPr>
            <a:r>
              <a:rPr lang="en-US" sz="1800"/>
              <a:t> More on data extraction based on megathread vs. individual post content</a:t>
            </a:r>
            <a:endParaRPr sz="1800"/>
          </a:p>
        </p:txBody>
      </p:sp>
      <p:sp>
        <p:nvSpPr>
          <p:cNvPr id="197" name="Google Shape;197;gefb32003ea_0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Back-End Web Development</a:t>
            </a:r>
            <a:endParaRPr/>
          </a:p>
        </p:txBody>
      </p:sp>
      <p:pic>
        <p:nvPicPr>
          <p:cNvPr id="198" name="Google Shape;198;gefb32003ea_0_0"/>
          <p:cNvPicPr preferRelativeResize="0"/>
          <p:nvPr/>
        </p:nvPicPr>
        <p:blipFill rotWithShape="1">
          <a:blip r:embed="rId3">
            <a:alphaModFix/>
          </a:blip>
          <a:srcRect b="0" l="0" r="0" t="0"/>
          <a:stretch/>
        </p:blipFill>
        <p:spPr>
          <a:xfrm>
            <a:off x="7972563" y="787275"/>
            <a:ext cx="3108126" cy="802100"/>
          </a:xfrm>
          <a:prstGeom prst="rect">
            <a:avLst/>
          </a:prstGeom>
          <a:noFill/>
          <a:ln>
            <a:noFill/>
          </a:ln>
        </p:spPr>
      </p:pic>
      <p:pic>
        <p:nvPicPr>
          <p:cNvPr id="199" name="Google Shape;199;gefb32003ea_0_0"/>
          <p:cNvPicPr preferRelativeResize="0"/>
          <p:nvPr/>
        </p:nvPicPr>
        <p:blipFill>
          <a:blip r:embed="rId4">
            <a:alphaModFix/>
          </a:blip>
          <a:stretch>
            <a:fillRect/>
          </a:stretch>
        </p:blipFill>
        <p:spPr>
          <a:xfrm>
            <a:off x="8832012" y="2200175"/>
            <a:ext cx="1389254" cy="1389301"/>
          </a:xfrm>
          <a:prstGeom prst="rect">
            <a:avLst/>
          </a:prstGeom>
          <a:noFill/>
          <a:ln>
            <a:noFill/>
          </a:ln>
        </p:spPr>
      </p:pic>
      <p:pic>
        <p:nvPicPr>
          <p:cNvPr id="200" name="Google Shape;200;gefb32003ea_0_0"/>
          <p:cNvPicPr preferRelativeResize="0"/>
          <p:nvPr/>
        </p:nvPicPr>
        <p:blipFill>
          <a:blip r:embed="rId5">
            <a:alphaModFix/>
          </a:blip>
          <a:stretch>
            <a:fillRect/>
          </a:stretch>
        </p:blipFill>
        <p:spPr>
          <a:xfrm>
            <a:off x="8757212" y="4238125"/>
            <a:ext cx="1538851" cy="1573651"/>
          </a:xfrm>
          <a:prstGeom prst="rect">
            <a:avLst/>
          </a:prstGeom>
          <a:noFill/>
          <a:ln>
            <a:noFill/>
          </a:ln>
        </p:spPr>
      </p:pic>
      <p:cxnSp>
        <p:nvCxnSpPr>
          <p:cNvPr id="201" name="Google Shape;201;gefb32003ea_0_0"/>
          <p:cNvCxnSpPr>
            <a:endCxn id="199" idx="0"/>
          </p:cNvCxnSpPr>
          <p:nvPr/>
        </p:nvCxnSpPr>
        <p:spPr>
          <a:xfrm>
            <a:off x="9512839" y="1374875"/>
            <a:ext cx="13800" cy="825300"/>
          </a:xfrm>
          <a:prstGeom prst="straightConnector1">
            <a:avLst/>
          </a:prstGeom>
          <a:noFill/>
          <a:ln cap="flat" cmpd="sng" w="9525">
            <a:solidFill>
              <a:schemeClr val="dk2"/>
            </a:solidFill>
            <a:prstDash val="solid"/>
            <a:round/>
            <a:headEnd len="med" w="med" type="none"/>
            <a:tailEnd len="med" w="med" type="triangle"/>
          </a:ln>
        </p:spPr>
      </p:cxnSp>
      <p:cxnSp>
        <p:nvCxnSpPr>
          <p:cNvPr id="202" name="Google Shape;202;gefb32003ea_0_0"/>
          <p:cNvCxnSpPr>
            <a:stCxn id="199" idx="2"/>
            <a:endCxn id="200" idx="0"/>
          </p:cNvCxnSpPr>
          <p:nvPr/>
        </p:nvCxnSpPr>
        <p:spPr>
          <a:xfrm>
            <a:off x="9526639" y="3589476"/>
            <a:ext cx="0" cy="648600"/>
          </a:xfrm>
          <a:prstGeom prst="straightConnector1">
            <a:avLst/>
          </a:prstGeom>
          <a:noFill/>
          <a:ln cap="flat" cmpd="sng" w="9525">
            <a:solidFill>
              <a:schemeClr val="dk2"/>
            </a:solidFill>
            <a:prstDash val="solid"/>
            <a:round/>
            <a:headEnd len="med" w="med" type="none"/>
            <a:tailEnd len="med" w="med" type="triangle"/>
          </a:ln>
        </p:spPr>
      </p:cxn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pic>
        <p:nvPicPr>
          <p:cNvPr id="207" name="Google Shape;207;g1153fb2e3d8_1_0"/>
          <p:cNvPicPr preferRelativeResize="0"/>
          <p:nvPr/>
        </p:nvPicPr>
        <p:blipFill>
          <a:blip r:embed="rId3">
            <a:alphaModFix/>
          </a:blip>
          <a:stretch>
            <a:fillRect/>
          </a:stretch>
        </p:blipFill>
        <p:spPr>
          <a:xfrm>
            <a:off x="866549" y="3910700"/>
            <a:ext cx="3643875" cy="2158025"/>
          </a:xfrm>
          <a:prstGeom prst="rect">
            <a:avLst/>
          </a:prstGeom>
          <a:noFill/>
          <a:ln>
            <a:noFill/>
          </a:ln>
        </p:spPr>
      </p:pic>
      <p:sp>
        <p:nvSpPr>
          <p:cNvPr id="208" name="Google Shape;208;g1153fb2e3d8_1_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Workflow Diagram</a:t>
            </a:r>
            <a:endParaRPr/>
          </a:p>
        </p:txBody>
      </p:sp>
      <p:sp>
        <p:nvSpPr>
          <p:cNvPr id="209" name="Google Shape;209;g1153fb2e3d8_1_0"/>
          <p:cNvSpPr/>
          <p:nvPr/>
        </p:nvSpPr>
        <p:spPr>
          <a:xfrm>
            <a:off x="1539650" y="17717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Clr>
                <a:schemeClr val="dk1"/>
              </a:buClr>
              <a:buSzPts val="1400"/>
              <a:buFont typeface="Arial"/>
              <a:buNone/>
            </a:pPr>
            <a:r>
              <a:rPr lang="en-US">
                <a:solidFill>
                  <a:schemeClr val="dk1"/>
                </a:solidFill>
              </a:rPr>
              <a:t>Analysis from Data Science team</a:t>
            </a:r>
            <a:endParaRPr/>
          </a:p>
        </p:txBody>
      </p:sp>
      <p:sp>
        <p:nvSpPr>
          <p:cNvPr id="210" name="Google Shape;210;g1153fb2e3d8_1_0"/>
          <p:cNvSpPr/>
          <p:nvPr/>
        </p:nvSpPr>
        <p:spPr>
          <a:xfrm>
            <a:off x="4235525" y="36713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lang="en-US"/>
              <a:t>Extract real time Piazza data</a:t>
            </a:r>
            <a:endParaRPr b="0" i="0" sz="1400" u="none" cap="none" strike="noStrike">
              <a:solidFill>
                <a:srgbClr val="000000"/>
              </a:solidFill>
              <a:latin typeface="Arial"/>
              <a:ea typeface="Arial"/>
              <a:cs typeface="Arial"/>
              <a:sym typeface="Arial"/>
            </a:endParaRPr>
          </a:p>
        </p:txBody>
      </p:sp>
      <p:sp>
        <p:nvSpPr>
          <p:cNvPr id="211" name="Google Shape;211;g1153fb2e3d8_1_0"/>
          <p:cNvSpPr/>
          <p:nvPr/>
        </p:nvSpPr>
        <p:spPr>
          <a:xfrm>
            <a:off x="7038400" y="17717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Integrate into </a:t>
            </a:r>
            <a:r>
              <a:rPr lang="en-US"/>
              <a:t>database and </a:t>
            </a:r>
            <a:r>
              <a:rPr b="0" i="0" lang="en-US" sz="1400" u="none" cap="none" strike="noStrike">
                <a:solidFill>
                  <a:srgbClr val="000000"/>
                </a:solidFill>
                <a:latin typeface="Arial"/>
                <a:ea typeface="Arial"/>
                <a:cs typeface="Arial"/>
                <a:sym typeface="Arial"/>
              </a:rPr>
              <a:t>a real time prototype</a:t>
            </a:r>
            <a:endParaRPr b="0" i="0" sz="1400" u="none" cap="none" strike="noStrike">
              <a:solidFill>
                <a:srgbClr val="000000"/>
              </a:solidFill>
              <a:latin typeface="Arial"/>
              <a:ea typeface="Arial"/>
              <a:cs typeface="Arial"/>
              <a:sym typeface="Arial"/>
            </a:endParaRPr>
          </a:p>
        </p:txBody>
      </p:sp>
      <p:cxnSp>
        <p:nvCxnSpPr>
          <p:cNvPr id="212" name="Google Shape;212;g1153fb2e3d8_1_0"/>
          <p:cNvCxnSpPr/>
          <p:nvPr/>
        </p:nvCxnSpPr>
        <p:spPr>
          <a:xfrm>
            <a:off x="3251175" y="2817675"/>
            <a:ext cx="831900" cy="796200"/>
          </a:xfrm>
          <a:prstGeom prst="straightConnector1">
            <a:avLst/>
          </a:prstGeom>
          <a:noFill/>
          <a:ln cap="flat" cmpd="sng" w="9525">
            <a:solidFill>
              <a:schemeClr val="dk2"/>
            </a:solidFill>
            <a:prstDash val="solid"/>
            <a:round/>
            <a:headEnd len="sm" w="sm" type="none"/>
            <a:tailEnd len="med" w="med" type="triangle"/>
          </a:ln>
        </p:spPr>
      </p:cxnSp>
      <p:cxnSp>
        <p:nvCxnSpPr>
          <p:cNvPr id="213" name="Google Shape;213;g1153fb2e3d8_1_0"/>
          <p:cNvCxnSpPr/>
          <p:nvPr/>
        </p:nvCxnSpPr>
        <p:spPr>
          <a:xfrm flipH="1" rot="10800000">
            <a:off x="6056175" y="2698825"/>
            <a:ext cx="701400" cy="903300"/>
          </a:xfrm>
          <a:prstGeom prst="straightConnector1">
            <a:avLst/>
          </a:prstGeom>
          <a:noFill/>
          <a:ln cap="flat" cmpd="sng" w="9525">
            <a:solidFill>
              <a:schemeClr val="dk2"/>
            </a:solidFill>
            <a:prstDash val="solid"/>
            <a:round/>
            <a:headEnd len="sm" w="sm" type="none"/>
            <a:tailEnd len="med" w="med" type="triangle"/>
          </a:ln>
        </p:spPr>
      </p:cxnSp>
      <p:cxnSp>
        <p:nvCxnSpPr>
          <p:cNvPr id="214" name="Google Shape;214;g1153fb2e3d8_1_0"/>
          <p:cNvCxnSpPr/>
          <p:nvPr/>
        </p:nvCxnSpPr>
        <p:spPr>
          <a:xfrm>
            <a:off x="8920600" y="2675050"/>
            <a:ext cx="974700" cy="891300"/>
          </a:xfrm>
          <a:prstGeom prst="straightConnector1">
            <a:avLst/>
          </a:prstGeom>
          <a:noFill/>
          <a:ln cap="flat" cmpd="sng" w="9525">
            <a:solidFill>
              <a:schemeClr val="dk2"/>
            </a:solidFill>
            <a:prstDash val="solid"/>
            <a:round/>
            <a:headEnd len="sm" w="sm" type="none"/>
            <a:tailEnd len="med" w="med" type="triangle"/>
          </a:ln>
        </p:spPr>
      </p:cxnSp>
      <p:sp>
        <p:nvSpPr>
          <p:cNvPr id="215" name="Google Shape;215;g1153fb2e3d8_1_0"/>
          <p:cNvSpPr txBox="1"/>
          <p:nvPr/>
        </p:nvSpPr>
        <p:spPr>
          <a:xfrm>
            <a:off x="4370475" y="4562625"/>
            <a:ext cx="168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1" sz="1400" u="none" cap="none" strike="noStrike">
              <a:solidFill>
                <a:srgbClr val="000000"/>
              </a:solidFill>
              <a:latin typeface="Roboto"/>
              <a:ea typeface="Roboto"/>
              <a:cs typeface="Roboto"/>
              <a:sym typeface="Roboto"/>
            </a:endParaRPr>
          </a:p>
        </p:txBody>
      </p:sp>
      <p:sp>
        <p:nvSpPr>
          <p:cNvPr id="216" name="Google Shape;216;g1153fb2e3d8_1_0"/>
          <p:cNvSpPr txBox="1"/>
          <p:nvPr/>
        </p:nvSpPr>
        <p:spPr>
          <a:xfrm>
            <a:off x="1695825" y="2709975"/>
            <a:ext cx="168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Roboto"/>
                <a:ea typeface="Roboto"/>
                <a:cs typeface="Roboto"/>
                <a:sym typeface="Roboto"/>
              </a:rPr>
              <a:t>Last </a:t>
            </a:r>
            <a:r>
              <a:rPr i="1" lang="en-US">
                <a:latin typeface="Roboto"/>
                <a:ea typeface="Roboto"/>
                <a:cs typeface="Roboto"/>
                <a:sym typeface="Roboto"/>
              </a:rPr>
              <a:t>presentation</a:t>
            </a:r>
            <a:endParaRPr b="0" i="1" sz="1400" u="none" cap="none" strike="noStrike">
              <a:solidFill>
                <a:srgbClr val="000000"/>
              </a:solidFill>
              <a:latin typeface="Roboto"/>
              <a:ea typeface="Roboto"/>
              <a:cs typeface="Roboto"/>
              <a:sym typeface="Roboto"/>
            </a:endParaRPr>
          </a:p>
        </p:txBody>
      </p:sp>
      <p:sp>
        <p:nvSpPr>
          <p:cNvPr id="217" name="Google Shape;217;g1153fb2e3d8_1_0"/>
          <p:cNvSpPr txBox="1"/>
          <p:nvPr/>
        </p:nvSpPr>
        <p:spPr>
          <a:xfrm>
            <a:off x="4461800" y="4562625"/>
            <a:ext cx="16857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i="1" lang="en-US">
                <a:latin typeface="Roboto"/>
                <a:ea typeface="Roboto"/>
                <a:cs typeface="Roboto"/>
                <a:sym typeface="Roboto"/>
              </a:rPr>
              <a:t>Here right now</a:t>
            </a:r>
            <a:endParaRPr b="0" i="1" sz="1400" u="none" cap="none" strike="noStrike">
              <a:solidFill>
                <a:srgbClr val="000000"/>
              </a:solidFill>
              <a:latin typeface="Roboto"/>
              <a:ea typeface="Roboto"/>
              <a:cs typeface="Roboto"/>
              <a:sym typeface="Roboto"/>
            </a:endParaRPr>
          </a:p>
        </p:txBody>
      </p:sp>
      <p:sp>
        <p:nvSpPr>
          <p:cNvPr id="218" name="Google Shape;218;g1153fb2e3d8_1_0"/>
          <p:cNvSpPr txBox="1"/>
          <p:nvPr/>
        </p:nvSpPr>
        <p:spPr>
          <a:xfrm>
            <a:off x="10033450" y="4562625"/>
            <a:ext cx="1685700" cy="400200"/>
          </a:xfrm>
          <a:prstGeom prst="rect">
            <a:avLst/>
          </a:prstGeom>
          <a:noFill/>
          <a:ln>
            <a:noFill/>
          </a:ln>
        </p:spPr>
        <p:txBody>
          <a:bodyPr anchorCtr="0" anchor="t" bIns="91425" lIns="91425" spcFirstLastPara="1" rIns="91425" wrap="square" tIns="91425">
            <a:spAutoFit/>
          </a:bodyPr>
          <a:lstStyle/>
          <a:p>
            <a:pPr indent="0" lvl="0" marL="0" marR="0" rtl="0" algn="ctr">
              <a:lnSpc>
                <a:spcPct val="100000"/>
              </a:lnSpc>
              <a:spcBef>
                <a:spcPts val="0"/>
              </a:spcBef>
              <a:spcAft>
                <a:spcPts val="0"/>
              </a:spcAft>
              <a:buClr>
                <a:srgbClr val="000000"/>
              </a:buClr>
              <a:buSzPts val="1400"/>
              <a:buFont typeface="Arial"/>
              <a:buNone/>
            </a:pPr>
            <a:r>
              <a:rPr b="0" i="1" lang="en-US" sz="1400" u="none" cap="none" strike="noStrike">
                <a:solidFill>
                  <a:srgbClr val="000000"/>
                </a:solidFill>
                <a:latin typeface="Roboto"/>
                <a:ea typeface="Roboto"/>
                <a:cs typeface="Roboto"/>
                <a:sym typeface="Roboto"/>
              </a:rPr>
              <a:t>Future goal</a:t>
            </a:r>
            <a:endParaRPr b="0" i="1" sz="1400" u="none" cap="none" strike="noStrike">
              <a:solidFill>
                <a:srgbClr val="000000"/>
              </a:solidFill>
              <a:latin typeface="Roboto"/>
              <a:ea typeface="Roboto"/>
              <a:cs typeface="Roboto"/>
              <a:sym typeface="Roboto"/>
            </a:endParaRPr>
          </a:p>
        </p:txBody>
      </p:sp>
      <p:sp>
        <p:nvSpPr>
          <p:cNvPr id="219" name="Google Shape;219;g1153fb2e3d8_1_0"/>
          <p:cNvSpPr/>
          <p:nvPr/>
        </p:nvSpPr>
        <p:spPr>
          <a:xfrm>
            <a:off x="9983950" y="3671325"/>
            <a:ext cx="1735200" cy="891300"/>
          </a:xfrm>
          <a:prstGeom prst="rect">
            <a:avLst/>
          </a:prstGeom>
          <a:solidFill>
            <a:schemeClr val="lt2"/>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Arial"/>
                <a:ea typeface="Arial"/>
                <a:cs typeface="Arial"/>
                <a:sym typeface="Arial"/>
              </a:rPr>
              <a:t>Use our pilot app to support professors</a:t>
            </a:r>
            <a:endParaRPr b="0" i="0" sz="1400" u="none" cap="none" strike="noStrike">
              <a:solidFill>
                <a:srgbClr val="000000"/>
              </a:solidFill>
              <a:latin typeface="Arial"/>
              <a:ea typeface="Arial"/>
              <a:cs typeface="Arial"/>
              <a:sym typeface="Arial"/>
            </a:endParaRPr>
          </a:p>
        </p:txBody>
      </p:sp>
      <p:pic>
        <p:nvPicPr>
          <p:cNvPr id="220" name="Google Shape;220;g1153fb2e3d8_1_0"/>
          <p:cNvPicPr preferRelativeResize="0"/>
          <p:nvPr/>
        </p:nvPicPr>
        <p:blipFill rotWithShape="1">
          <a:blip r:embed="rId4">
            <a:alphaModFix/>
          </a:blip>
          <a:srcRect b="14958" l="0" r="0" t="0"/>
          <a:stretch/>
        </p:blipFill>
        <p:spPr>
          <a:xfrm>
            <a:off x="6511925" y="3629625"/>
            <a:ext cx="974700" cy="891300"/>
          </a:xfrm>
          <a:prstGeom prst="rect">
            <a:avLst/>
          </a:prstGeom>
          <a:noFill/>
          <a:ln>
            <a:noFill/>
          </a:ln>
        </p:spPr>
      </p:pic>
      <p:pic>
        <p:nvPicPr>
          <p:cNvPr id="221" name="Google Shape;221;g1153fb2e3d8_1_0"/>
          <p:cNvPicPr preferRelativeResize="0"/>
          <p:nvPr/>
        </p:nvPicPr>
        <p:blipFill rotWithShape="1">
          <a:blip r:embed="rId5">
            <a:alphaModFix/>
          </a:blip>
          <a:srcRect b="16340" l="28913" r="27131" t="11451"/>
          <a:stretch/>
        </p:blipFill>
        <p:spPr>
          <a:xfrm>
            <a:off x="7628862" y="3693050"/>
            <a:ext cx="831901" cy="847826"/>
          </a:xfrm>
          <a:prstGeom prst="rect">
            <a:avLst/>
          </a:prstGeom>
          <a:noFill/>
          <a:ln>
            <a:noFill/>
          </a:ln>
        </p:spPr>
      </p:pic>
      <p:pic>
        <p:nvPicPr>
          <p:cNvPr id="222" name="Google Shape;222;g1153fb2e3d8_1_0"/>
          <p:cNvPicPr preferRelativeResize="0"/>
          <p:nvPr/>
        </p:nvPicPr>
        <p:blipFill rotWithShape="1">
          <a:blip r:embed="rId6">
            <a:alphaModFix/>
          </a:blip>
          <a:srcRect b="16437" l="8895" r="8431" t="14324"/>
          <a:stretch/>
        </p:blipFill>
        <p:spPr>
          <a:xfrm>
            <a:off x="8603001" y="3910701"/>
            <a:ext cx="974700" cy="539092"/>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g9d659091a8_1_1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t/>
            </a:r>
            <a:endParaRPr/>
          </a:p>
          <a:p>
            <a:pPr indent="0" lvl="0" marL="0" rtl="0" algn="l">
              <a:lnSpc>
                <a:spcPct val="100000"/>
              </a:lnSpc>
              <a:spcBef>
                <a:spcPts val="1000"/>
              </a:spcBef>
              <a:spcAft>
                <a:spcPts val="0"/>
              </a:spcAft>
              <a:buNone/>
            </a:pPr>
            <a:r>
              <a:rPr lang="en-US"/>
              <a:t>Worked </a:t>
            </a:r>
            <a:r>
              <a:rPr lang="en-US"/>
              <a:t>closely with the UX Team on developing prototypes for how the dashboard should look like</a:t>
            </a:r>
            <a:endParaRPr/>
          </a:p>
          <a:p>
            <a:pPr indent="0" lvl="0" marL="914400" rtl="0" algn="l">
              <a:lnSpc>
                <a:spcPct val="100000"/>
              </a:lnSpc>
              <a:spcBef>
                <a:spcPts val="1000"/>
              </a:spcBef>
              <a:spcAft>
                <a:spcPts val="0"/>
              </a:spcAft>
              <a:buSzPts val="1800"/>
              <a:buNone/>
            </a:pPr>
            <a:r>
              <a:t/>
            </a:r>
            <a:endParaRPr sz="2000"/>
          </a:p>
        </p:txBody>
      </p:sp>
      <p:sp>
        <p:nvSpPr>
          <p:cNvPr id="228" name="Google Shape;228;g9d659091a8_1_1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Front-End Web Development</a:t>
            </a:r>
            <a:endParaRPr/>
          </a:p>
        </p:txBody>
      </p:sp>
      <p:sp>
        <p:nvSpPr>
          <p:cNvPr id="229" name="Google Shape;229;g9d659091a8_1_15"/>
          <p:cNvSpPr txBox="1"/>
          <p:nvPr/>
        </p:nvSpPr>
        <p:spPr>
          <a:xfrm>
            <a:off x="9399938" y="5882125"/>
            <a:ext cx="13644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gefbeba6a1c_0_514"/>
          <p:cNvSpPr txBox="1"/>
          <p:nvPr>
            <p:ph idx="4294967295" type="title"/>
          </p:nvPr>
        </p:nvSpPr>
        <p:spPr>
          <a:xfrm>
            <a:off x="381000" y="292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sz="7000"/>
              <a:t>UX Research</a:t>
            </a:r>
            <a:endParaRPr sz="7000"/>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8" name="Shape 238"/>
        <p:cNvGrpSpPr/>
        <p:nvPr/>
      </p:nvGrpSpPr>
      <p:grpSpPr>
        <a:xfrm>
          <a:off x="0" y="0"/>
          <a:ext cx="0" cy="0"/>
          <a:chOff x="0" y="0"/>
          <a:chExt cx="0" cy="0"/>
        </a:xfrm>
      </p:grpSpPr>
      <p:sp>
        <p:nvSpPr>
          <p:cNvPr id="239" name="Google Shape;239;gefbeba6a1c_0_15"/>
          <p:cNvSpPr txBox="1"/>
          <p:nvPr>
            <p:ph idx="1" type="body"/>
          </p:nvPr>
        </p:nvSpPr>
        <p:spPr>
          <a:xfrm>
            <a:off x="381000" y="1532300"/>
            <a:ext cx="11430000" cy="4036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SzPts val="1800"/>
              <a:buNone/>
            </a:pPr>
            <a:r>
              <a:rPr b="1" lang="en-US"/>
              <a:t>Research Question:</a:t>
            </a:r>
            <a:r>
              <a:rPr lang="en-US"/>
              <a:t> What metrics on a dashboard are useful to instructors in order to improve student engagement &amp; performance and/or reduce workload for instructors?</a:t>
            </a:r>
            <a:endParaRPr/>
          </a:p>
          <a:p>
            <a:pPr indent="0" lvl="0" marL="0" rtl="0" algn="l">
              <a:lnSpc>
                <a:spcPct val="100000"/>
              </a:lnSpc>
              <a:spcBef>
                <a:spcPts val="1000"/>
              </a:spcBef>
              <a:spcAft>
                <a:spcPts val="0"/>
              </a:spcAft>
              <a:buSzPts val="1800"/>
              <a:buNone/>
            </a:pPr>
            <a:r>
              <a:t/>
            </a:r>
            <a:endParaRPr/>
          </a:p>
          <a:p>
            <a:pPr indent="0" lvl="0" marL="0" rtl="0" algn="l">
              <a:lnSpc>
                <a:spcPct val="100000"/>
              </a:lnSpc>
              <a:spcBef>
                <a:spcPts val="1000"/>
              </a:spcBef>
              <a:spcAft>
                <a:spcPts val="0"/>
              </a:spcAft>
              <a:buSzPts val="1800"/>
              <a:buNone/>
            </a:pPr>
            <a:r>
              <a:rPr b="1" lang="en-US"/>
              <a:t>Goals</a:t>
            </a:r>
            <a:r>
              <a:rPr lang="en-US"/>
              <a:t>:</a:t>
            </a:r>
            <a:endParaRPr/>
          </a:p>
          <a:p>
            <a:pPr indent="-342900" lvl="0" marL="457200" rtl="0" algn="l">
              <a:lnSpc>
                <a:spcPct val="100000"/>
              </a:lnSpc>
              <a:spcBef>
                <a:spcPts val="1000"/>
              </a:spcBef>
              <a:spcAft>
                <a:spcPts val="0"/>
              </a:spcAft>
              <a:buSzPts val="1800"/>
              <a:buChar char="•"/>
            </a:pPr>
            <a:r>
              <a:rPr lang="en-US"/>
              <a:t>Collect ideas &amp; insights from users on utility of metrics.</a:t>
            </a:r>
            <a:endParaRPr/>
          </a:p>
          <a:p>
            <a:pPr indent="-342900" lvl="0" marL="457200" rtl="0" algn="l">
              <a:lnSpc>
                <a:spcPct val="100000"/>
              </a:lnSpc>
              <a:spcBef>
                <a:spcPts val="0"/>
              </a:spcBef>
              <a:spcAft>
                <a:spcPts val="0"/>
              </a:spcAft>
              <a:buSzPts val="1800"/>
              <a:buChar char="•"/>
            </a:pPr>
            <a:r>
              <a:rPr lang="en-US"/>
              <a:t>Find the intersection between valuable metrics and feasible metrics.</a:t>
            </a:r>
            <a:endParaRPr/>
          </a:p>
          <a:p>
            <a:pPr indent="-342900" lvl="0" marL="457200" rtl="0" algn="l">
              <a:lnSpc>
                <a:spcPct val="100000"/>
              </a:lnSpc>
              <a:spcBef>
                <a:spcPts val="0"/>
              </a:spcBef>
              <a:spcAft>
                <a:spcPts val="0"/>
              </a:spcAft>
              <a:buSzPts val="1800"/>
              <a:buChar char="•"/>
            </a:pPr>
            <a:r>
              <a:rPr lang="en-US"/>
              <a:t>Pilot test prototypes with users.</a:t>
            </a:r>
            <a:endParaRPr/>
          </a:p>
        </p:txBody>
      </p:sp>
      <p:sp>
        <p:nvSpPr>
          <p:cNvPr id="240" name="Google Shape;240;gefbeba6a1c_0_15"/>
          <p:cNvSpPr txBox="1"/>
          <p:nvPr>
            <p:ph type="title"/>
          </p:nvPr>
        </p:nvSpPr>
        <p:spPr>
          <a:xfrm>
            <a:off x="381000" y="33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User Surveys &amp; Interviews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gefbeba6a1c_0_430"/>
          <p:cNvPicPr preferRelativeResize="0"/>
          <p:nvPr/>
        </p:nvPicPr>
        <p:blipFill>
          <a:blip r:embed="rId3">
            <a:alphaModFix/>
          </a:blip>
          <a:stretch>
            <a:fillRect/>
          </a:stretch>
        </p:blipFill>
        <p:spPr>
          <a:xfrm>
            <a:off x="152400" y="152400"/>
            <a:ext cx="11650133" cy="65532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pic>
        <p:nvPicPr>
          <p:cNvPr id="250" name="Google Shape;250;g11dc627c558_0_11"/>
          <p:cNvPicPr preferRelativeResize="0"/>
          <p:nvPr/>
        </p:nvPicPr>
        <p:blipFill>
          <a:blip r:embed="rId3">
            <a:alphaModFix/>
          </a:blip>
          <a:stretch>
            <a:fillRect/>
          </a:stretch>
        </p:blipFill>
        <p:spPr>
          <a:xfrm>
            <a:off x="270938" y="152400"/>
            <a:ext cx="11650133" cy="65532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g11dc627c558_0_5"/>
          <p:cNvPicPr preferRelativeResize="0"/>
          <p:nvPr/>
        </p:nvPicPr>
        <p:blipFill>
          <a:blip r:embed="rId3">
            <a:alphaModFix/>
          </a:blip>
          <a:stretch>
            <a:fillRect/>
          </a:stretch>
        </p:blipFill>
        <p:spPr>
          <a:xfrm>
            <a:off x="152400" y="152400"/>
            <a:ext cx="11650133" cy="6553200"/>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pic>
        <p:nvPicPr>
          <p:cNvPr id="260" name="Google Shape;260;g11dc627c558_0_1"/>
          <p:cNvPicPr preferRelativeResize="0"/>
          <p:nvPr/>
        </p:nvPicPr>
        <p:blipFill>
          <a:blip r:embed="rId3">
            <a:alphaModFix/>
          </a:blip>
          <a:stretch>
            <a:fillRect/>
          </a:stretch>
        </p:blipFill>
        <p:spPr>
          <a:xfrm>
            <a:off x="152400" y="152400"/>
            <a:ext cx="11650133" cy="6553200"/>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4" name="Shape 264"/>
        <p:cNvGrpSpPr/>
        <p:nvPr/>
      </p:nvGrpSpPr>
      <p:grpSpPr>
        <a:xfrm>
          <a:off x="0" y="0"/>
          <a:ext cx="0" cy="0"/>
          <a:chOff x="0" y="0"/>
          <a:chExt cx="0" cy="0"/>
        </a:xfrm>
      </p:grpSpPr>
      <p:pic>
        <p:nvPicPr>
          <p:cNvPr id="265" name="Google Shape;265;g11dc627c558_0_8"/>
          <p:cNvPicPr preferRelativeResize="0"/>
          <p:nvPr/>
        </p:nvPicPr>
        <p:blipFill>
          <a:blip r:embed="rId3">
            <a:alphaModFix/>
          </a:blip>
          <a:stretch>
            <a:fillRect/>
          </a:stretch>
        </p:blipFill>
        <p:spPr>
          <a:xfrm>
            <a:off x="152400" y="152400"/>
            <a:ext cx="11650133" cy="655320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9" name="Shape 269"/>
        <p:cNvGrpSpPr/>
        <p:nvPr/>
      </p:nvGrpSpPr>
      <p:grpSpPr>
        <a:xfrm>
          <a:off x="0" y="0"/>
          <a:ext cx="0" cy="0"/>
          <a:chOff x="0" y="0"/>
          <a:chExt cx="0" cy="0"/>
        </a:xfrm>
      </p:grpSpPr>
      <p:sp>
        <p:nvSpPr>
          <p:cNvPr id="270" name="Google Shape;270;g11dc627c558_0_22"/>
          <p:cNvSpPr txBox="1"/>
          <p:nvPr>
            <p:ph idx="1" type="body"/>
          </p:nvPr>
        </p:nvSpPr>
        <p:spPr>
          <a:xfrm>
            <a:off x="381000" y="1532300"/>
            <a:ext cx="11430000" cy="4036200"/>
          </a:xfrm>
          <a:prstGeom prst="rect">
            <a:avLst/>
          </a:prstGeom>
          <a:noFill/>
          <a:ln>
            <a:noFill/>
          </a:ln>
        </p:spPr>
        <p:txBody>
          <a:bodyPr anchorCtr="0" anchor="t" bIns="45700" lIns="91425" spcFirstLastPara="1" rIns="91425" wrap="square" tIns="45700">
            <a:noAutofit/>
          </a:bodyPr>
          <a:lstStyle/>
          <a:p>
            <a:pPr indent="0" lvl="0" marL="0" rtl="0" algn="l">
              <a:lnSpc>
                <a:spcPct val="100000"/>
              </a:lnSpc>
              <a:spcBef>
                <a:spcPts val="1000"/>
              </a:spcBef>
              <a:spcAft>
                <a:spcPts val="0"/>
              </a:spcAft>
              <a:buSzPts val="1800"/>
              <a:buNone/>
            </a:pPr>
            <a:r>
              <a:rPr b="1" lang="en-US"/>
              <a:t>Next steps</a:t>
            </a:r>
            <a:r>
              <a:rPr lang="en-US"/>
              <a:t>:</a:t>
            </a:r>
            <a:endParaRPr/>
          </a:p>
          <a:p>
            <a:pPr indent="-342900" lvl="0" marL="457200" rtl="0" algn="l">
              <a:lnSpc>
                <a:spcPct val="100000"/>
              </a:lnSpc>
              <a:spcBef>
                <a:spcPts val="1000"/>
              </a:spcBef>
              <a:spcAft>
                <a:spcPts val="0"/>
              </a:spcAft>
              <a:buSzPts val="1800"/>
              <a:buChar char="•"/>
            </a:pPr>
            <a:r>
              <a:rPr lang="en-US"/>
              <a:t>Collect some feedback from users on current mockups</a:t>
            </a:r>
            <a:endParaRPr/>
          </a:p>
          <a:p>
            <a:pPr indent="-342900" lvl="0" marL="457200" rtl="0" algn="l">
              <a:lnSpc>
                <a:spcPct val="100000"/>
              </a:lnSpc>
              <a:spcBef>
                <a:spcPts val="0"/>
              </a:spcBef>
              <a:spcAft>
                <a:spcPts val="0"/>
              </a:spcAft>
              <a:buSzPts val="1800"/>
              <a:buChar char="•"/>
            </a:pPr>
            <a:r>
              <a:rPr lang="en-US"/>
              <a:t>Refine handwritten mockup content</a:t>
            </a:r>
            <a:endParaRPr/>
          </a:p>
          <a:p>
            <a:pPr indent="-342900" lvl="0" marL="457200" rtl="0" algn="l">
              <a:lnSpc>
                <a:spcPct val="100000"/>
              </a:lnSpc>
              <a:spcBef>
                <a:spcPts val="0"/>
              </a:spcBef>
              <a:spcAft>
                <a:spcPts val="0"/>
              </a:spcAft>
              <a:buSzPts val="1800"/>
              <a:buChar char="•"/>
            </a:pPr>
            <a:r>
              <a:rPr lang="en-US"/>
              <a:t>Think about visual design - themes, colors, etc</a:t>
            </a:r>
            <a:endParaRPr/>
          </a:p>
          <a:p>
            <a:pPr indent="-342900" lvl="0" marL="457200" rtl="0" algn="l">
              <a:lnSpc>
                <a:spcPct val="100000"/>
              </a:lnSpc>
              <a:spcBef>
                <a:spcPts val="0"/>
              </a:spcBef>
              <a:spcAft>
                <a:spcPts val="0"/>
              </a:spcAft>
              <a:buSzPts val="1800"/>
              <a:buChar char="•"/>
            </a:pPr>
            <a:r>
              <a:rPr lang="en-US"/>
              <a:t>Create designs on Figma</a:t>
            </a:r>
            <a:endParaRPr/>
          </a:p>
        </p:txBody>
      </p:sp>
      <p:sp>
        <p:nvSpPr>
          <p:cNvPr id="271" name="Google Shape;271;g11dc627c558_0_22"/>
          <p:cNvSpPr txBox="1"/>
          <p:nvPr>
            <p:ph type="title"/>
          </p:nvPr>
        </p:nvSpPr>
        <p:spPr>
          <a:xfrm>
            <a:off x="381000" y="331547"/>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Conclusions &amp; Semester Roadmap for UX</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Google Shape;276;p11"/>
          <p:cNvSpPr txBox="1"/>
          <p:nvPr>
            <p:ph idx="1" type="body"/>
          </p:nvPr>
        </p:nvSpPr>
        <p:spPr>
          <a:xfrm>
            <a:off x="381000" y="1215471"/>
            <a:ext cx="11430000" cy="5088300"/>
          </a:xfrm>
          <a:prstGeom prst="rect">
            <a:avLst/>
          </a:prstGeom>
          <a:noFill/>
          <a:ln>
            <a:noFill/>
          </a:ln>
        </p:spPr>
        <p:txBody>
          <a:bodyPr anchorCtr="0" anchor="t" bIns="45700" lIns="91425" spcFirstLastPara="1" rIns="91425" wrap="square" tIns="45700">
            <a:noAutofit/>
          </a:bodyPr>
          <a:lstStyle/>
          <a:p>
            <a:pPr indent="-342900" lvl="0" marL="457200" rtl="0" algn="l">
              <a:lnSpc>
                <a:spcPct val="115000"/>
              </a:lnSpc>
              <a:spcBef>
                <a:spcPts val="1000"/>
              </a:spcBef>
              <a:spcAft>
                <a:spcPts val="0"/>
              </a:spcAft>
              <a:buClr>
                <a:srgbClr val="000000"/>
              </a:buClr>
              <a:buSzPts val="1800"/>
              <a:buChar char="●"/>
            </a:pPr>
            <a:r>
              <a:rPr b="1" lang="en-US">
                <a:solidFill>
                  <a:srgbClr val="000000"/>
                </a:solidFill>
              </a:rPr>
              <a:t>Project Roadmap</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Get the web-app deployed after testing it in the Piazza environment and connect with instructors to assess feasibility of pilot testing in a real class</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b="1" lang="en-US">
                <a:solidFill>
                  <a:srgbClr val="000000"/>
                </a:solidFill>
              </a:rPr>
              <a:t>Model Development</a:t>
            </a:r>
            <a:endParaRPr b="1">
              <a:solidFill>
                <a:srgbClr val="000000"/>
              </a:solidFill>
            </a:endParaRPr>
          </a:p>
          <a:p>
            <a:pPr indent="-342900" lvl="1" marL="914400" rtl="0" algn="l">
              <a:lnSpc>
                <a:spcPct val="115000"/>
              </a:lnSpc>
              <a:spcBef>
                <a:spcPts val="1000"/>
              </a:spcBef>
              <a:spcAft>
                <a:spcPts val="0"/>
              </a:spcAft>
              <a:buClr>
                <a:srgbClr val="000000"/>
              </a:buClr>
              <a:buSzPts val="1800"/>
              <a:buChar char="•"/>
            </a:pPr>
            <a:r>
              <a:rPr lang="en-US">
                <a:solidFill>
                  <a:srgbClr val="000000"/>
                </a:solidFill>
              </a:rPr>
              <a:t>Test and iterate on the topic models to generate related question clusters</a:t>
            </a:r>
            <a:endParaRPr>
              <a:solidFill>
                <a:srgbClr val="000000"/>
              </a:solidFill>
            </a:endParaRPr>
          </a:p>
          <a:p>
            <a:pPr indent="-342900" lvl="0" marL="457200" rtl="0" algn="l">
              <a:lnSpc>
                <a:spcPct val="115000"/>
              </a:lnSpc>
              <a:spcBef>
                <a:spcPts val="1000"/>
              </a:spcBef>
              <a:spcAft>
                <a:spcPts val="0"/>
              </a:spcAft>
              <a:buClr>
                <a:srgbClr val="000000"/>
              </a:buClr>
              <a:buSzPts val="1800"/>
              <a:buChar char="●"/>
            </a:pPr>
            <a:r>
              <a:rPr b="1" lang="en-US">
                <a:solidFill>
                  <a:srgbClr val="000000"/>
                </a:solidFill>
              </a:rPr>
              <a:t>Education Research</a:t>
            </a:r>
            <a:endParaRPr b="1">
              <a:solidFill>
                <a:srgbClr val="000000"/>
              </a:solidFill>
            </a:endParaRPr>
          </a:p>
          <a:p>
            <a:pPr indent="-342900" lvl="1" marL="914400" rtl="0" algn="l">
              <a:lnSpc>
                <a:spcPct val="115000"/>
              </a:lnSpc>
              <a:spcBef>
                <a:spcPts val="1000"/>
              </a:spcBef>
              <a:spcAft>
                <a:spcPts val="1000"/>
              </a:spcAft>
              <a:buClr>
                <a:srgbClr val="000000"/>
              </a:buClr>
              <a:buSzPts val="1800"/>
              <a:buChar char="•"/>
            </a:pPr>
            <a:r>
              <a:rPr lang="en-US">
                <a:solidFill>
                  <a:srgbClr val="000000"/>
                </a:solidFill>
              </a:rPr>
              <a:t>Explore effectiveness and potential of metacognitive classification model on Piazza and EdX data</a:t>
            </a:r>
            <a:endParaRPr>
              <a:solidFill>
                <a:srgbClr val="000000"/>
              </a:solidFill>
            </a:endParaRPr>
          </a:p>
        </p:txBody>
      </p:sp>
      <p:sp>
        <p:nvSpPr>
          <p:cNvPr id="277" name="Google Shape;277;p1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Conclusion</a:t>
            </a:r>
            <a:endParaRPr/>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1" name="Shape 281"/>
        <p:cNvGrpSpPr/>
        <p:nvPr/>
      </p:nvGrpSpPr>
      <p:grpSpPr>
        <a:xfrm>
          <a:off x="0" y="0"/>
          <a:ext cx="0" cy="0"/>
          <a:chOff x="0" y="0"/>
          <a:chExt cx="0" cy="0"/>
        </a:xfrm>
      </p:grpSpPr>
      <p:sp>
        <p:nvSpPr>
          <p:cNvPr id="282" name="Google Shape;282;g9d48565bb2_0_10"/>
          <p:cNvSpPr txBox="1"/>
          <p:nvPr>
            <p:ph idx="1" type="body"/>
          </p:nvPr>
        </p:nvSpPr>
        <p:spPr>
          <a:xfrm>
            <a:off x="381000" y="1215473"/>
            <a:ext cx="11430000" cy="5818500"/>
          </a:xfrm>
          <a:prstGeom prst="rect">
            <a:avLst/>
          </a:prstGeom>
          <a:noFill/>
          <a:ln>
            <a:noFill/>
          </a:ln>
        </p:spPr>
        <p:txBody>
          <a:bodyPr anchorCtr="0" anchor="t" bIns="45700" lIns="91425" spcFirstLastPara="1" rIns="91425" wrap="square" tIns="45700">
            <a:noAutofit/>
          </a:bodyPr>
          <a:lstStyle/>
          <a:p>
            <a:pPr indent="-349250" lvl="0" marL="457200" rtl="0" algn="l">
              <a:lnSpc>
                <a:spcPct val="90000"/>
              </a:lnSpc>
              <a:spcBef>
                <a:spcPts val="0"/>
              </a:spcBef>
              <a:spcAft>
                <a:spcPts val="0"/>
              </a:spcAft>
              <a:buSzPts val="1900"/>
              <a:buAutoNum type="arabicPeriod"/>
            </a:pPr>
            <a:r>
              <a:rPr lang="en-US" sz="1900"/>
              <a:t>Garrison, D. R., Anderson, T., &amp; Archer, W. (1999). Critical Inquiry in a Text-Based Environment: Computer Conferencing in Higher Education. </a:t>
            </a:r>
            <a:r>
              <a:rPr i="1" lang="en-US" sz="1900"/>
              <a:t>The Internet and Higher Education</a:t>
            </a:r>
            <a:r>
              <a:rPr lang="en-US" sz="1900"/>
              <a:t>, 2(2–3), 87–105. https://doi.org/10.1016/S1096-7516(00)00016-6</a:t>
            </a:r>
            <a:endParaRPr sz="1900"/>
          </a:p>
          <a:p>
            <a:pPr indent="-349250" lvl="0" marL="457200" rtl="0" algn="l">
              <a:lnSpc>
                <a:spcPct val="90000"/>
              </a:lnSpc>
              <a:spcBef>
                <a:spcPts val="0"/>
              </a:spcBef>
              <a:spcAft>
                <a:spcPts val="0"/>
              </a:spcAft>
              <a:buSzPts val="1900"/>
              <a:buAutoNum type="arabicPeriod"/>
            </a:pPr>
            <a:r>
              <a:rPr lang="en-US" sz="1900"/>
              <a:t>Garrison, D. R., Anderson, T., &amp; Archer, W. (2001). Critical thinking, cognitive presence, and computer conferencing in distance education. </a:t>
            </a:r>
            <a:r>
              <a:rPr i="1" lang="en-US" sz="1900"/>
              <a:t>American Journal of Distance Education</a:t>
            </a:r>
            <a:r>
              <a:rPr lang="en-US" sz="1900"/>
              <a:t>, 15(1), 7–23. https://doi.org/10.1080/08923640109527071</a:t>
            </a:r>
            <a:endParaRPr sz="1900"/>
          </a:p>
          <a:p>
            <a:pPr indent="-349250" lvl="0" marL="457200" rtl="0" algn="l">
              <a:lnSpc>
                <a:spcPct val="90000"/>
              </a:lnSpc>
              <a:spcBef>
                <a:spcPts val="0"/>
              </a:spcBef>
              <a:spcAft>
                <a:spcPts val="0"/>
              </a:spcAft>
              <a:buSzPts val="1900"/>
              <a:buAutoNum type="arabicPeriod"/>
            </a:pPr>
            <a:r>
              <a:rPr lang="en-US" sz="1900"/>
              <a:t>Devlin, J., Chang, M. W., Lee, K., &amp; Toutanova, K. (2018). Bert: Pre-training of deep bidirectional transformers for language understanding. arXiv preprint arXiv:1810.04805.</a:t>
            </a:r>
            <a:endParaRPr sz="1900"/>
          </a:p>
          <a:p>
            <a:pPr indent="-349250" lvl="0" marL="457200" rtl="0" algn="l">
              <a:lnSpc>
                <a:spcPct val="90000"/>
              </a:lnSpc>
              <a:spcBef>
                <a:spcPts val="0"/>
              </a:spcBef>
              <a:spcAft>
                <a:spcPts val="0"/>
              </a:spcAft>
              <a:buSzPts val="1900"/>
              <a:buFont typeface="Roboto"/>
              <a:buAutoNum type="arabicPeriod"/>
            </a:pPr>
            <a:r>
              <a:rPr lang="en-US" sz="1900"/>
              <a:t>Medhat, Walaa, Hassan, Ahmed, Hoda, Korashy (2014). Sentiment analysis algorithms and applications: A survey. </a:t>
            </a:r>
            <a:r>
              <a:rPr i="1" lang="en-US" sz="1900"/>
              <a:t>Ain Sham Engineering Journals.</a:t>
            </a:r>
            <a:r>
              <a:rPr lang="en-US" sz="1900"/>
              <a:t> </a:t>
            </a:r>
            <a:r>
              <a:rPr lang="en-US" sz="1900">
                <a:solidFill>
                  <a:schemeClr val="hlink"/>
                </a:solidFill>
                <a:uFill>
                  <a:noFill/>
                </a:uFill>
                <a:hlinkClick r:id="rId3"/>
              </a:rPr>
              <a:t>https://doi.org/10.1016/j.asej.2014.04.011</a:t>
            </a:r>
            <a:endParaRPr sz="1900"/>
          </a:p>
          <a:p>
            <a:pPr indent="-349250" lvl="0" marL="457200" rtl="0" algn="l">
              <a:lnSpc>
                <a:spcPct val="115000"/>
              </a:lnSpc>
              <a:spcBef>
                <a:spcPts val="0"/>
              </a:spcBef>
              <a:spcAft>
                <a:spcPts val="0"/>
              </a:spcAft>
              <a:buSzPts val="1900"/>
              <a:buFont typeface="Roboto"/>
              <a:buAutoNum type="arabicPeriod"/>
            </a:pPr>
            <a:r>
              <a:rPr lang="en-US" sz="1900"/>
              <a:t>MacMillan, Kelsey, and James D. Wilson. </a:t>
            </a:r>
            <a:r>
              <a:rPr i="1" lang="en-US" sz="1900"/>
              <a:t>Topic Supervised Non-Negative Matrix Factorization</a:t>
            </a:r>
            <a:r>
              <a:rPr lang="en-US" sz="1900"/>
              <a:t>, Arxiv, 4 July 2017, https://arxiv.org/pdf/1706.05084.pdf. </a:t>
            </a:r>
            <a:endParaRPr sz="1900"/>
          </a:p>
          <a:p>
            <a:pPr indent="-349250" lvl="0" marL="457200" rtl="0" algn="l">
              <a:lnSpc>
                <a:spcPct val="115000"/>
              </a:lnSpc>
              <a:spcBef>
                <a:spcPts val="0"/>
              </a:spcBef>
              <a:spcAft>
                <a:spcPts val="0"/>
              </a:spcAft>
              <a:buSzPts val="1900"/>
              <a:buFont typeface="Roboto"/>
              <a:buAutoNum type="arabicPeriod"/>
            </a:pPr>
            <a:r>
              <a:rPr lang="en-US" sz="1900"/>
              <a:t>Beri, Aditya. “Latent Dirichlet Allocation.” </a:t>
            </a:r>
            <a:r>
              <a:rPr i="1" lang="en-US" sz="1900"/>
              <a:t>Latent Dirichlet Allocation</a:t>
            </a:r>
            <a:r>
              <a:rPr lang="en-US" sz="1900"/>
              <a:t>, CodeChef-VIT, 27 Jan. 2021, https://medium.com/codechef-vit/latent-dirichlet-allocation-812bb8099518. </a:t>
            </a:r>
            <a:endParaRPr sz="1900"/>
          </a:p>
          <a:p>
            <a:pPr indent="-349250" lvl="0" marL="457200" rtl="0" algn="l">
              <a:lnSpc>
                <a:spcPct val="115000"/>
              </a:lnSpc>
              <a:spcBef>
                <a:spcPts val="0"/>
              </a:spcBef>
              <a:spcAft>
                <a:spcPts val="0"/>
              </a:spcAft>
              <a:buSzPts val="1900"/>
              <a:buAutoNum type="arabicPeriod"/>
            </a:pPr>
            <a:r>
              <a:rPr lang="en-US" sz="1900"/>
              <a:t>E. Huang, H. Valdiviejas and N. Bosch, "I'm Sure! Automatic Detection of Metacognition in Online Course Discussion Forums," 2019 8th International Conference on Affective Computing and Intelligent Interaction (ACII), 2019, pp. 1-7, doi: 10.1109/ACII.2019.8925506.</a:t>
            </a:r>
            <a:endParaRPr sz="1900"/>
          </a:p>
        </p:txBody>
      </p:sp>
      <p:sp>
        <p:nvSpPr>
          <p:cNvPr id="283" name="Google Shape;283;g9d48565bb2_0_10"/>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Citations</a:t>
            </a:r>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7" name="Shape 287"/>
        <p:cNvGrpSpPr/>
        <p:nvPr/>
      </p:nvGrpSpPr>
      <p:grpSpPr>
        <a:xfrm>
          <a:off x="0" y="0"/>
          <a:ext cx="0" cy="0"/>
          <a:chOff x="0" y="0"/>
          <a:chExt cx="0" cy="0"/>
        </a:xfrm>
      </p:grpSpPr>
      <p:sp>
        <p:nvSpPr>
          <p:cNvPr id="288" name="Google Shape;288;p1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Questions?</a:t>
            </a:r>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2" name="Shape 292"/>
        <p:cNvGrpSpPr/>
        <p:nvPr/>
      </p:nvGrpSpPr>
      <p:grpSpPr>
        <a:xfrm>
          <a:off x="0" y="0"/>
          <a:ext cx="0" cy="0"/>
          <a:chOff x="0" y="0"/>
          <a:chExt cx="0" cy="0"/>
        </a:xfrm>
      </p:grpSpPr>
      <p:sp>
        <p:nvSpPr>
          <p:cNvPr id="293" name="Google Shape;293;gefbeba6a1c_0_518"/>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2900" lvl="0" marL="457200" rtl="0" algn="l">
              <a:lnSpc>
                <a:spcPct val="100000"/>
              </a:lnSpc>
              <a:spcBef>
                <a:spcPts val="1000"/>
              </a:spcBef>
              <a:spcAft>
                <a:spcPts val="0"/>
              </a:spcAft>
              <a:buSzPts val="1800"/>
              <a:buChar char="•"/>
            </a:pPr>
            <a:r>
              <a:rPr lang="en-US"/>
              <a:t>First, focus on </a:t>
            </a:r>
            <a:endParaRPr/>
          </a:p>
          <a:p>
            <a:pPr indent="-342900" lvl="0" marL="457200" rtl="0" algn="l">
              <a:lnSpc>
                <a:spcPct val="100000"/>
              </a:lnSpc>
              <a:spcBef>
                <a:spcPts val="1000"/>
              </a:spcBef>
              <a:spcAft>
                <a:spcPts val="0"/>
              </a:spcAft>
              <a:buSzPts val="1800"/>
              <a:buChar char="•"/>
            </a:pPr>
            <a:r>
              <a:rPr lang="en-US"/>
              <a:t>Timeframe</a:t>
            </a:r>
            <a:endParaRPr/>
          </a:p>
        </p:txBody>
      </p:sp>
      <p:sp>
        <p:nvSpPr>
          <p:cNvPr id="294" name="Google Shape;294;gefbeba6a1c_0_518"/>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Data Science Goals</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98" name="Shape 298"/>
        <p:cNvGrpSpPr/>
        <p:nvPr/>
      </p:nvGrpSpPr>
      <p:grpSpPr>
        <a:xfrm>
          <a:off x="0" y="0"/>
          <a:ext cx="0" cy="0"/>
          <a:chOff x="0" y="0"/>
          <a:chExt cx="0" cy="0"/>
        </a:xfrm>
      </p:grpSpPr>
      <p:sp>
        <p:nvSpPr>
          <p:cNvPr id="299" name="Google Shape;299;gbee4de09ef_0_2"/>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p>
            <a:pPr indent="-342900" lvl="0" marL="457200" rtl="0" algn="l">
              <a:lnSpc>
                <a:spcPct val="115000"/>
              </a:lnSpc>
              <a:spcBef>
                <a:spcPts val="1000"/>
              </a:spcBef>
              <a:spcAft>
                <a:spcPts val="0"/>
              </a:spcAft>
              <a:buSzPts val="1800"/>
              <a:buChar char="•"/>
            </a:pPr>
            <a:r>
              <a:t/>
            </a:r>
            <a:endParaRPr/>
          </a:p>
        </p:txBody>
      </p:sp>
      <p:sp>
        <p:nvSpPr>
          <p:cNvPr id="300" name="Google Shape;300;gbee4de09ef_0_2"/>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Approach used in previous semester</a:t>
            </a:r>
            <a:endParaRPr/>
          </a:p>
        </p:txBody>
      </p:sp>
      <p:sp>
        <p:nvSpPr>
          <p:cNvPr id="301" name="Google Shape;301;gbee4de09ef_0_2"/>
          <p:cNvSpPr txBox="1"/>
          <p:nvPr/>
        </p:nvSpPr>
        <p:spPr>
          <a:xfrm>
            <a:off x="7872950" y="5852550"/>
            <a:ext cx="3395700" cy="4932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The classic WMD example from [5]</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05" name="Shape 305"/>
        <p:cNvGrpSpPr/>
        <p:nvPr/>
      </p:nvGrpSpPr>
      <p:grpSpPr>
        <a:xfrm>
          <a:off x="0" y="0"/>
          <a:ext cx="0" cy="0"/>
          <a:chOff x="0" y="0"/>
          <a:chExt cx="0" cy="0"/>
        </a:xfrm>
      </p:grpSpPr>
      <p:sp>
        <p:nvSpPr>
          <p:cNvPr id="306" name="Google Shape;306;gbee4de09ef_0_7"/>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rmAutofit/>
          </a:bodyPr>
          <a:lstStyle/>
          <a:p>
            <a:pPr indent="-304800" lvl="0" marL="457200" rtl="0" algn="l">
              <a:lnSpc>
                <a:spcPct val="200000"/>
              </a:lnSpc>
              <a:spcBef>
                <a:spcPts val="1000"/>
              </a:spcBef>
              <a:spcAft>
                <a:spcPts val="1000"/>
              </a:spcAft>
              <a:buSzPts val="1200"/>
              <a:buChar char="•"/>
            </a:pPr>
            <a:r>
              <a:t/>
            </a:r>
            <a:endParaRPr sz="2200"/>
          </a:p>
        </p:txBody>
      </p:sp>
      <p:sp>
        <p:nvSpPr>
          <p:cNvPr id="307" name="Google Shape;307;gbee4de09ef_0_7"/>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Challenges encountered</a:t>
            </a:r>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1" name="Shape 311"/>
        <p:cNvGrpSpPr/>
        <p:nvPr/>
      </p:nvGrpSpPr>
      <p:grpSpPr>
        <a:xfrm>
          <a:off x="0" y="0"/>
          <a:ext cx="0" cy="0"/>
          <a:chOff x="0" y="0"/>
          <a:chExt cx="0" cy="0"/>
        </a:xfrm>
      </p:grpSpPr>
      <p:sp>
        <p:nvSpPr>
          <p:cNvPr id="312" name="Google Shape;312;gba764dde3e_0_5"/>
          <p:cNvSpPr txBox="1"/>
          <p:nvPr>
            <p:ph idx="1" type="body"/>
          </p:nvPr>
        </p:nvSpPr>
        <p:spPr>
          <a:xfrm>
            <a:off x="381000" y="1215484"/>
            <a:ext cx="11430000" cy="4596300"/>
          </a:xfrm>
          <a:prstGeom prst="rect">
            <a:avLst/>
          </a:prstGeom>
          <a:noFill/>
          <a:ln>
            <a:noFill/>
          </a:ln>
        </p:spPr>
        <p:txBody>
          <a:bodyPr anchorCtr="0" anchor="t" bIns="45700" lIns="91425" spcFirstLastPara="1" rIns="91425" wrap="square" tIns="45700">
            <a:noAutofit/>
          </a:bodyPr>
          <a:lstStyle/>
          <a:p>
            <a:pPr indent="-349250" lvl="0" marL="457200" rtl="0" algn="l">
              <a:lnSpc>
                <a:spcPct val="100000"/>
              </a:lnSpc>
              <a:spcBef>
                <a:spcPts val="1000"/>
              </a:spcBef>
              <a:spcAft>
                <a:spcPts val="1000"/>
              </a:spcAft>
              <a:buSzPts val="1900"/>
              <a:buChar char="•"/>
            </a:pPr>
            <a:r>
              <a:rPr b="1" i="1" lang="en-US" sz="1900"/>
              <a:t>Sentiment Analysis of Piazza Data</a:t>
            </a:r>
            <a:endParaRPr b="1" i="1" sz="1900"/>
          </a:p>
        </p:txBody>
      </p:sp>
      <p:sp>
        <p:nvSpPr>
          <p:cNvPr id="313" name="Google Shape;313;gba764dde3e_0_5"/>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SzPts val="1800"/>
              <a:buNone/>
            </a:pPr>
            <a:r>
              <a:rPr lang="en-US"/>
              <a:t>Goals for this semester (Data Science)</a:t>
            </a:r>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317" name="Shape 317"/>
        <p:cNvGrpSpPr/>
        <p:nvPr/>
      </p:nvGrpSpPr>
      <p:grpSpPr>
        <a:xfrm>
          <a:off x="0" y="0"/>
          <a:ext cx="0" cy="0"/>
          <a:chOff x="0" y="0"/>
          <a:chExt cx="0" cy="0"/>
        </a:xfrm>
      </p:grpSpPr>
      <p:sp>
        <p:nvSpPr>
          <p:cNvPr id="318" name="Google Shape;318;gbea1223c9f_0_1"/>
          <p:cNvSpPr txBox="1"/>
          <p:nvPr>
            <p:ph idx="1" type="body"/>
          </p:nvPr>
        </p:nvSpPr>
        <p:spPr>
          <a:xfrm>
            <a:off x="6091850" y="1215475"/>
            <a:ext cx="5718900" cy="45963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1000"/>
              </a:spcBef>
              <a:spcAft>
                <a:spcPts val="0"/>
              </a:spcAft>
              <a:buSzPts val="1800"/>
              <a:buNone/>
            </a:pPr>
            <a:r>
              <a:rPr lang="en-US"/>
              <a:t>“a group of individuals who collaboratively engage in purposeful critical discourse and reflection to construct personal meaning and confirm mutual understanding”</a:t>
            </a:r>
            <a:endParaRPr/>
          </a:p>
        </p:txBody>
      </p:sp>
      <p:sp>
        <p:nvSpPr>
          <p:cNvPr id="319" name="Google Shape;319;gbea1223c9f_0_1"/>
          <p:cNvSpPr txBox="1"/>
          <p:nvPr>
            <p:ph type="title"/>
          </p:nvPr>
        </p:nvSpPr>
        <p:spPr>
          <a:xfrm>
            <a:off x="381000" y="200722"/>
            <a:ext cx="11430000" cy="10149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SzPts val="1800"/>
              <a:buNone/>
            </a:pPr>
            <a:r>
              <a:rPr lang="en-US"/>
              <a:t>Community of Inquiry</a:t>
            </a:r>
            <a:endParaRPr/>
          </a:p>
        </p:txBody>
      </p:sp>
      <p:pic>
        <p:nvPicPr>
          <p:cNvPr id="320" name="Google Shape;320;gbea1223c9f_0_1"/>
          <p:cNvPicPr preferRelativeResize="0"/>
          <p:nvPr/>
        </p:nvPicPr>
        <p:blipFill rotWithShape="1">
          <a:blip r:embed="rId3">
            <a:alphaModFix/>
          </a:blip>
          <a:srcRect b="11793" l="0" r="0" t="0"/>
          <a:stretch/>
        </p:blipFill>
        <p:spPr>
          <a:xfrm>
            <a:off x="488775" y="1215475"/>
            <a:ext cx="5117075" cy="4054150"/>
          </a:xfrm>
          <a:prstGeom prst="rect">
            <a:avLst/>
          </a:prstGeom>
          <a:noFill/>
          <a:ln>
            <a:noFill/>
          </a:ln>
        </p:spPr>
      </p:pic>
      <p:sp>
        <p:nvSpPr>
          <p:cNvPr id="321" name="Google Shape;321;gbea1223c9f_0_1"/>
          <p:cNvSpPr txBox="1"/>
          <p:nvPr/>
        </p:nvSpPr>
        <p:spPr>
          <a:xfrm>
            <a:off x="488763" y="5411575"/>
            <a:ext cx="5117100" cy="400200"/>
          </a:xfrm>
          <a:prstGeom prst="rect">
            <a:avLst/>
          </a:prstGeom>
          <a:noFill/>
          <a:ln>
            <a:noFill/>
          </a:ln>
        </p:spPr>
        <p:txBody>
          <a:bodyPr anchorCtr="0" anchor="t" bIns="91425" lIns="91425" spcFirstLastPara="1" rIns="91425" wrap="square" tIns="91425">
            <a:spAutoFit/>
          </a:bodyPr>
          <a:lstStyle/>
          <a:p>
            <a:pPr indent="0" lvl="0" marL="0" marR="0" rtl="0" algn="l">
              <a:lnSpc>
                <a:spcPct val="100000"/>
              </a:lnSpc>
              <a:spcBef>
                <a:spcPts val="0"/>
              </a:spcBef>
              <a:spcAft>
                <a:spcPts val="0"/>
              </a:spcAft>
              <a:buClr>
                <a:srgbClr val="000000"/>
              </a:buClr>
              <a:buSzPts val="1400"/>
              <a:buFont typeface="Arial"/>
              <a:buNone/>
            </a:pPr>
            <a:r>
              <a:rPr b="0" i="0" lang="en-US" sz="1400" u="none" cap="none" strike="noStrike">
                <a:solidFill>
                  <a:srgbClr val="000000"/>
                </a:solidFill>
                <a:latin typeface="Roboto"/>
                <a:ea typeface="Roboto"/>
                <a:cs typeface="Roboto"/>
                <a:sym typeface="Roboto"/>
              </a:rPr>
              <a:t>Elements of an Educational Experience (Garrison et al., 1999)</a:t>
            </a:r>
            <a:endParaRPr b="0" i="0" sz="1400" u="none" cap="none" strike="noStrike">
              <a:solidFill>
                <a:srgbClr val="000000"/>
              </a:solidFill>
              <a:latin typeface="Roboto"/>
              <a:ea typeface="Roboto"/>
              <a:cs typeface="Roboto"/>
              <a:sym typeface="Roboto"/>
            </a:endParaRPr>
          </a:p>
        </p:txBody>
      </p:sp>
    </p:spTree>
  </p:cSld>
  <p:clrMapOvr>
    <a:masterClrMapping/>
  </p:clrMapOvr>
</p:sld>
</file>

<file path=ppt/theme/theme1.xml><?xml version="1.0" encoding="utf-8"?>
<a:theme xmlns:a="http://schemas.openxmlformats.org/drawingml/2006/main" xmlns:r="http://schemas.openxmlformats.org/officeDocument/2006/relationships" name="Custom Design">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1_Custom Design">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2016-03-09T16:46:53Z</dcterms:created>
  <dc:creator>Microsoft Office User</dc:creator>
</cp:coreProperties>
</file>