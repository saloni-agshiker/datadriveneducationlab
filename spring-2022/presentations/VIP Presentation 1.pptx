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6858000" cx="12192000"/>
  <p:notesSz cx="6858000" cy="9144000"/>
  <p:embeddedFontLst>
    <p:embeddedFont>
      <p:font typeface="Roboto"/>
      <p:regular r:id="rId37"/>
      <p:bold r:id="rId38"/>
      <p:italic r:id="rId39"/>
      <p:boldItalic r:id="rId40"/>
    </p:embeddedFont>
    <p:embeddedFont>
      <p:font typeface="Roboto Condensed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5" roundtripDataSignature="AMtx7mggyLQN6zlj0YKwDqo0Lo7gLQzd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0FD9CD-18F4-4D11-89C6-55702FCB5D6F}">
  <a:tblStyle styleId="{FC0FD9CD-18F4-4D11-89C6-55702FCB5D6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3.xml"/><Relationship Id="rId42" Type="http://schemas.openxmlformats.org/officeDocument/2006/relationships/font" Target="fonts/RobotoCondensedLight-bold.fntdata"/><Relationship Id="rId41" Type="http://schemas.openxmlformats.org/officeDocument/2006/relationships/font" Target="fonts/RobotoCondensedLight-regular.fntdata"/><Relationship Id="rId22" Type="http://schemas.openxmlformats.org/officeDocument/2006/relationships/slide" Target="slides/slide15.xml"/><Relationship Id="rId44" Type="http://schemas.openxmlformats.org/officeDocument/2006/relationships/font" Target="fonts/RobotoCondensedLight-boldItalic.fntdata"/><Relationship Id="rId21" Type="http://schemas.openxmlformats.org/officeDocument/2006/relationships/slide" Target="slides/slide14.xml"/><Relationship Id="rId43" Type="http://schemas.openxmlformats.org/officeDocument/2006/relationships/font" Target="fonts/RobotoCondensedLight-italic.fntdata"/><Relationship Id="rId24" Type="http://schemas.openxmlformats.org/officeDocument/2006/relationships/slide" Target="slides/slide17.xml"/><Relationship Id="rId23" Type="http://schemas.openxmlformats.org/officeDocument/2006/relationships/slide" Target="slides/slide16.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regular.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italic.fntdata"/><Relationship Id="rId16" Type="http://schemas.openxmlformats.org/officeDocument/2006/relationships/slide" Target="slides/slide9.xml"/><Relationship Id="rId38" Type="http://schemas.openxmlformats.org/officeDocument/2006/relationships/font" Target="fonts/Roboto-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Discussion forums are the primary source of class interaction in an online asynchronous course. The activity on these forums can be used as an indicator for assessing students’ engagement and understanding in the course. A popular framework in this context is the community of inquiry framework. </a:t>
            </a:r>
            <a:r>
              <a:rPr lang="en-US">
                <a:solidFill>
                  <a:schemeClr val="dk1"/>
                </a:solidFill>
              </a:rPr>
              <a:t>It gives us a way to study how student learning takes place in online and blended environments. As shown in the diagram there are 3 components, cognitive presence, social presence and teaching presence.</a:t>
            </a:r>
            <a:r>
              <a:rPr lang="en-US"/>
              <a:t>We’re focusing on the first two as of now. The ultimate long term goal is to have a web-based application to be used by professors, that gives them insights in real-time which can be used to improve the cognitive engagement levels in their courses and reduce management overhead.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ba764dde3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In the previous semester, </a:t>
            </a:r>
            <a:r>
              <a:rPr lang="en-US">
                <a:solidFill>
                  <a:schemeClr val="dk1"/>
                </a:solidFill>
              </a:rPr>
              <a:t>web-dev team was able to integrate the web-app with the Data Science team’s sentiment analysis model getting the first version of our dashboard working on real Piazza data. In terms of UX research, we were able to collect a few survey results and couple interviews with instructors to help prioritize metrics for the dashboard. The data science team was able to build 2 models, one for sentiment and the other for cognitive presence. As a project manager, there are a few aspects I’d like to improve on based on reflections from previous semester. Mainly setting clear measurable goals at the start rather than in the middle, quicker feedback loops involving multiple interactions with target users, and better scheduling of tasks for each individual to minimize any bottlenecks in execution.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f4b38d88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f4b38d88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spcBef>
                <a:spcPts val="0"/>
              </a:spcBef>
              <a:spcAft>
                <a:spcPts val="0"/>
              </a:spcAft>
              <a:buClr>
                <a:schemeClr val="dk1"/>
              </a:buClr>
              <a:buSzPts val="1100"/>
              <a:buFont typeface="Arial"/>
              <a:buNone/>
            </a:pPr>
            <a:r>
              <a:rPr lang="en-US">
                <a:solidFill>
                  <a:schemeClr val="dk1"/>
                </a:solidFill>
              </a:rPr>
              <a:t>Our focus for this sem will be on pilot testing the web-app inside a Piazza sandbox environment, extracting the relevant metrics from forums data using the models developed by the Data Science team, and deepening our analysis on social presence and metacognition which will be elaborated by Daniel. We will continue using the Agile approach and Trello board that we’ve been using for the past few semesters for Project Management. However, there is significant scope for improving the project documentation and to use trello and other tools more effectively, which will also be explored this semester. Over to the Data Science Team.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bea1223c9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15000"/>
              </a:lnSpc>
              <a:spcBef>
                <a:spcPts val="1100"/>
              </a:spcBef>
              <a:spcAft>
                <a:spcPts val="0"/>
              </a:spcAft>
              <a:buSzPts val="1100"/>
              <a:buNone/>
            </a:pPr>
            <a:r>
              <a:rPr lang="en-US"/>
              <a:t>cognitive presence / metacognition presence</a:t>
            </a:r>
            <a:endParaRPr/>
          </a:p>
          <a:p>
            <a:pPr indent="0" lvl="0" marL="0" rtl="0" algn="l">
              <a:lnSpc>
                <a:spcPct val="115000"/>
              </a:lnSpc>
              <a:spcBef>
                <a:spcPts val="1100"/>
              </a:spcBef>
              <a:spcAft>
                <a:spcPts val="0"/>
              </a:spcAft>
              <a:buClr>
                <a:schemeClr val="dk1"/>
              </a:buClr>
              <a:buSzPts val="1100"/>
              <a:buFont typeface="Arial"/>
              <a:buNone/>
            </a:pPr>
            <a:r>
              <a:rPr lang="en-US"/>
              <a:t>actionable insights: visualized graphics data</a:t>
            </a:r>
            <a:endParaRPr/>
          </a:p>
          <a:p>
            <a:pPr indent="0" lvl="0" marL="0" rtl="0" algn="l">
              <a:lnSpc>
                <a:spcPct val="115000"/>
              </a:lnSpc>
              <a:spcBef>
                <a:spcPts val="1100"/>
              </a:spcBef>
              <a:spcAft>
                <a:spcPts val="0"/>
              </a:spcAft>
              <a:buClr>
                <a:schemeClr val="dk1"/>
              </a:buClr>
              <a:buSzPts val="1100"/>
              <a:buFont typeface="Arial"/>
              <a:buNone/>
            </a:pPr>
            <a:r>
              <a:rPr lang="en-US"/>
              <a:t>eg. a distribution of question by topics and average sentiment score of students. </a:t>
            </a:r>
            <a:endParaRPr/>
          </a:p>
          <a:p>
            <a:pPr indent="0" lvl="0" marL="0" rtl="0" algn="l">
              <a:lnSpc>
                <a:spcPct val="100000"/>
              </a:lnSpc>
              <a:spcBef>
                <a:spcPts val="11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efbeba6a1c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US"/>
              <a:t>multiple projects in data science</a:t>
            </a:r>
            <a:endParaRPr/>
          </a:p>
          <a:p>
            <a:pPr indent="-298450" lvl="0" marL="457200" rtl="0" algn="l">
              <a:lnSpc>
                <a:spcPct val="100000"/>
              </a:lnSpc>
              <a:spcBef>
                <a:spcPts val="0"/>
              </a:spcBef>
              <a:spcAft>
                <a:spcPts val="0"/>
              </a:spcAft>
              <a:buSzPts val="1100"/>
              <a:buChar char="-"/>
            </a:pPr>
            <a:r>
              <a:rPr lang="en-US"/>
              <a:t>from last semesters, continuing work on cognitive presence and sentiment analysis</a:t>
            </a:r>
            <a:endParaRPr/>
          </a:p>
          <a:p>
            <a:pPr indent="-298450" lvl="0" marL="457200" rtl="0" algn="l">
              <a:lnSpc>
                <a:spcPct val="100000"/>
              </a:lnSpc>
              <a:spcBef>
                <a:spcPts val="0"/>
              </a:spcBef>
              <a:spcAft>
                <a:spcPts val="0"/>
              </a:spcAft>
              <a:buSzPts val="1100"/>
              <a:buChar char="-"/>
            </a:pPr>
            <a:r>
              <a:rPr lang="en-US"/>
              <a:t>new research topics are topic modeling and metacognition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4e7c68ac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4e7c68a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efbeba6a1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efbeba6a1c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3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efbeba6a1c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efbeba6a1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f4bb9c8d2f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f4bb9c8d2f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Daniel / Jisan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efbeba6a1c_0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efbeba6a1c_0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efbeba6a1c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efbeba6a1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Nidhi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efbeba6a1c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efbeba6a1c_0_4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Nidhi</a:t>
            </a:r>
            <a:endParaRPr/>
          </a:p>
          <a:p>
            <a:pPr indent="-298450" lvl="0" marL="457200" rtl="0" algn="l">
              <a:lnSpc>
                <a:spcPct val="100000"/>
              </a:lnSpc>
              <a:spcBef>
                <a:spcPts val="0"/>
              </a:spcBef>
              <a:spcAft>
                <a:spcPts val="0"/>
              </a:spcAft>
              <a:buSzPts val="1100"/>
              <a:buChar char="-"/>
            </a:pPr>
            <a:r>
              <a:rPr lang="en-US"/>
              <a:t>research topics like patterns over multiple semesters, social network analysis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efbeba6a1c_0_4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efbeba6a1c_0_4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Nidhi</a:t>
            </a:r>
            <a:endParaRPr/>
          </a:p>
          <a:p>
            <a:pPr indent="-298450" lvl="0" marL="457200" rtl="0" algn="l">
              <a:lnSpc>
                <a:spcPct val="100000"/>
              </a:lnSpc>
              <a:spcBef>
                <a:spcPts val="0"/>
              </a:spcBef>
              <a:spcAft>
                <a:spcPts val="0"/>
              </a:spcAft>
              <a:buSzPts val="1100"/>
              <a:buChar char="-"/>
            </a:pPr>
            <a:r>
              <a:rPr lang="en-US"/>
              <a:t>want to focus on feasability</a:t>
            </a:r>
            <a:endParaRPr/>
          </a:p>
          <a:p>
            <a:pPr indent="-298450" lvl="0" marL="457200" rtl="0" algn="l">
              <a:lnSpc>
                <a:spcPct val="100000"/>
              </a:lnSpc>
              <a:spcBef>
                <a:spcPts val="0"/>
              </a:spcBef>
              <a:spcAft>
                <a:spcPts val="0"/>
              </a:spcAft>
              <a:buSzPts val="1100"/>
              <a:buChar char="-"/>
            </a:pPr>
            <a:r>
              <a:rPr lang="en-US"/>
              <a:t>for example, summarizing posts or grouping posts that have the same question might be a little difficult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efbeba6a1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9d659091a8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9d659091a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536951924_3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11536951924_3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efb32003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efb32003e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Aanya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153fb2e3d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1153fb2e3d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To conclude, the next steps in the roadmap is getting the web-app deployed, use topic modeling approach to cluster similar posts which will help create an FAQ list in advance and help reduce overhead by reducing volume of repetitive questions, and get quick feedback from instructors. In education research, our focus will be on understanding metacognition and its manifestation in online discussion forums. Thank you for your time.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efbeba6a1c_0_5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efbeba6a1c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bee4de09ef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bee4de09e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bee4de09e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bee4de09e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ba764dde3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ba764dde3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ea1223c9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bea1223c9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jpg"/><Relationship Id="rId10" Type="http://schemas.openxmlformats.org/officeDocument/2006/relationships/image" Target="../media/image4.jpg"/><Relationship Id="rId9" Type="http://schemas.openxmlformats.org/officeDocument/2006/relationships/image" Target="../media/image12.jp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7.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doi.org/10.1016/j.asej.2014.04.01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1 - 2/16/2022</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txBox="1"/>
          <p:nvPr/>
        </p:nvSpPr>
        <p:spPr>
          <a:xfrm>
            <a:off x="851950" y="5385588"/>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Aanya Khandelwal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p2"/>
          <p:cNvSpPr txBox="1"/>
          <p:nvPr/>
        </p:nvSpPr>
        <p:spPr>
          <a:xfrm>
            <a:off x="3424375" y="53716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Gautam Sugasi</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5996800" y="53716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Jisan Park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6001763" y="2719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Nidhi Pai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7" name="Google Shape;87;p2"/>
          <p:cNvSpPr/>
          <p:nvPr/>
        </p:nvSpPr>
        <p:spPr>
          <a:xfrm>
            <a:off x="6315400" y="40465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8521625" y="53906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Agarwal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9" name="Google Shape;89;p2"/>
          <p:cNvSpPr/>
          <p:nvPr/>
        </p:nvSpPr>
        <p:spPr>
          <a:xfrm>
            <a:off x="3718900" y="41005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 name="Google Shape;90;p2"/>
          <p:cNvPicPr preferRelativeResize="0"/>
          <p:nvPr/>
        </p:nvPicPr>
        <p:blipFill rotWithShape="1">
          <a:blip r:embed="rId3">
            <a:alphaModFix/>
          </a:blip>
          <a:srcRect b="0" l="2552" r="2561" t="0"/>
          <a:stretch/>
        </p:blipFill>
        <p:spPr>
          <a:xfrm>
            <a:off x="6241788" y="1325700"/>
            <a:ext cx="1252800" cy="1320300"/>
          </a:xfrm>
          <a:prstGeom prst="ellipse">
            <a:avLst/>
          </a:prstGeom>
          <a:noFill/>
          <a:ln>
            <a:noFill/>
          </a:ln>
        </p:spPr>
      </p:pic>
      <p:pic>
        <p:nvPicPr>
          <p:cNvPr id="91" name="Google Shape;91;p2"/>
          <p:cNvPicPr preferRelativeResize="0"/>
          <p:nvPr/>
        </p:nvPicPr>
        <p:blipFill rotWithShape="1">
          <a:blip r:embed="rId4">
            <a:alphaModFix/>
          </a:blip>
          <a:srcRect b="0" l="0" r="0" t="0"/>
          <a:stretch/>
        </p:blipFill>
        <p:spPr>
          <a:xfrm>
            <a:off x="1180500" y="4100512"/>
            <a:ext cx="1252800" cy="1269000"/>
          </a:xfrm>
          <a:prstGeom prst="ellipse">
            <a:avLst/>
          </a:prstGeom>
          <a:noFill/>
          <a:ln>
            <a:noFill/>
          </a:ln>
          <a:effectLst>
            <a:outerShdw blurRad="57150" rotWithShape="0" algn="bl" dir="5400000" dist="19050">
              <a:srgbClr val="000000">
                <a:alpha val="49411"/>
              </a:srgbClr>
            </a:outerShdw>
          </a:effectLst>
        </p:spPr>
      </p:pic>
      <p:pic>
        <p:nvPicPr>
          <p:cNvPr id="92" name="Google Shape;92;p2"/>
          <p:cNvPicPr preferRelativeResize="0"/>
          <p:nvPr/>
        </p:nvPicPr>
        <p:blipFill rotWithShape="1">
          <a:blip r:embed="rId5">
            <a:alphaModFix/>
          </a:blip>
          <a:srcRect b="0" l="0" r="0" t="0"/>
          <a:stretch/>
        </p:blipFill>
        <p:spPr>
          <a:xfrm>
            <a:off x="8773025" y="4033200"/>
            <a:ext cx="1413775" cy="1413750"/>
          </a:xfrm>
          <a:prstGeom prst="rect">
            <a:avLst/>
          </a:prstGeom>
          <a:noFill/>
          <a:ln>
            <a:noFill/>
          </a:ln>
        </p:spPr>
      </p:pic>
      <p:sp>
        <p:nvSpPr>
          <p:cNvPr id="93" name="Google Shape;93;p2"/>
          <p:cNvSpPr txBox="1"/>
          <p:nvPr/>
        </p:nvSpPr>
        <p:spPr>
          <a:xfrm>
            <a:off x="851950" y="25968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Malav Patel</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94" name="Google Shape;94;p2"/>
          <p:cNvSpPr txBox="1"/>
          <p:nvPr/>
        </p:nvSpPr>
        <p:spPr>
          <a:xfrm>
            <a:off x="3424375" y="25968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Back-end</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Developer</a:t>
            </a:r>
            <a:endParaRPr>
              <a:latin typeface="Roboto"/>
              <a:ea typeface="Roboto"/>
              <a:cs typeface="Roboto"/>
              <a:sym typeface="Roboto"/>
            </a:endParaRPr>
          </a:p>
        </p:txBody>
      </p:sp>
      <p:pic>
        <p:nvPicPr>
          <p:cNvPr id="95" name="Google Shape;95;p2"/>
          <p:cNvPicPr preferRelativeResize="0"/>
          <p:nvPr/>
        </p:nvPicPr>
        <p:blipFill rotWithShape="1">
          <a:blip r:embed="rId6">
            <a:alphaModFix/>
          </a:blip>
          <a:srcRect b="15388" l="0" r="0" t="20468"/>
          <a:stretch/>
        </p:blipFill>
        <p:spPr>
          <a:xfrm>
            <a:off x="3670750" y="3985450"/>
            <a:ext cx="1249500" cy="1413600"/>
          </a:xfrm>
          <a:prstGeom prst="ellipse">
            <a:avLst/>
          </a:prstGeom>
          <a:noFill/>
          <a:ln>
            <a:noFill/>
          </a:ln>
        </p:spPr>
      </p:pic>
      <p:pic>
        <p:nvPicPr>
          <p:cNvPr id="96" name="Google Shape;96;p2"/>
          <p:cNvPicPr preferRelativeResize="0"/>
          <p:nvPr/>
        </p:nvPicPr>
        <p:blipFill rotWithShape="1">
          <a:blip r:embed="rId7">
            <a:alphaModFix/>
          </a:blip>
          <a:srcRect b="0" l="0" r="0" t="0"/>
          <a:stretch/>
        </p:blipFill>
        <p:spPr>
          <a:xfrm>
            <a:off x="1029899" y="1325700"/>
            <a:ext cx="1367439" cy="1320300"/>
          </a:xfrm>
          <a:prstGeom prst="rect">
            <a:avLst/>
          </a:prstGeom>
          <a:noFill/>
          <a:ln>
            <a:noFill/>
          </a:ln>
        </p:spPr>
      </p:pic>
      <p:sp>
        <p:nvSpPr>
          <p:cNvPr id="97" name="Google Shape;97;p2"/>
          <p:cNvSpPr txBox="1"/>
          <p:nvPr/>
        </p:nvSpPr>
        <p:spPr>
          <a:xfrm>
            <a:off x="8521625" y="2723650"/>
            <a:ext cx="2048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Daniel Schall</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Education Researcher</a:t>
            </a:r>
            <a:endParaRPr b="0" i="0" sz="1400" u="none" cap="none" strike="noStrike">
              <a:solidFill>
                <a:srgbClr val="000000"/>
              </a:solidFill>
              <a:latin typeface="Roboto"/>
              <a:ea typeface="Roboto"/>
              <a:cs typeface="Roboto"/>
              <a:sym typeface="Roboto"/>
            </a:endParaRPr>
          </a:p>
        </p:txBody>
      </p:sp>
      <p:pic>
        <p:nvPicPr>
          <p:cNvPr id="98" name="Google Shape;98;p2"/>
          <p:cNvPicPr preferRelativeResize="0"/>
          <p:nvPr/>
        </p:nvPicPr>
        <p:blipFill>
          <a:blip r:embed="rId8">
            <a:alphaModFix/>
          </a:blip>
          <a:stretch>
            <a:fillRect/>
          </a:stretch>
        </p:blipFill>
        <p:spPr>
          <a:xfrm>
            <a:off x="3693175" y="1300775"/>
            <a:ext cx="1301963" cy="1320300"/>
          </a:xfrm>
          <a:prstGeom prst="rect">
            <a:avLst/>
          </a:prstGeom>
          <a:noFill/>
          <a:ln>
            <a:noFill/>
          </a:ln>
        </p:spPr>
      </p:pic>
      <p:pic>
        <p:nvPicPr>
          <p:cNvPr id="99" name="Google Shape;99;p2"/>
          <p:cNvPicPr preferRelativeResize="0"/>
          <p:nvPr/>
        </p:nvPicPr>
        <p:blipFill>
          <a:blip r:embed="rId9">
            <a:alphaModFix/>
          </a:blip>
          <a:stretch>
            <a:fillRect/>
          </a:stretch>
        </p:blipFill>
        <p:spPr>
          <a:xfrm>
            <a:off x="6320375" y="3980500"/>
            <a:ext cx="1153200" cy="1423500"/>
          </a:xfrm>
          <a:prstGeom prst="ellipse">
            <a:avLst/>
          </a:prstGeom>
          <a:noFill/>
          <a:ln>
            <a:noFill/>
          </a:ln>
        </p:spPr>
      </p:pic>
      <p:pic>
        <p:nvPicPr>
          <p:cNvPr id="100" name="Google Shape;100;p2"/>
          <p:cNvPicPr preferRelativeResize="0"/>
          <p:nvPr/>
        </p:nvPicPr>
        <p:blipFill rotWithShape="1">
          <a:blip r:embed="rId10">
            <a:alphaModFix/>
          </a:blip>
          <a:srcRect b="47197" l="26786" r="26790" t="12356"/>
          <a:stretch/>
        </p:blipFill>
        <p:spPr>
          <a:xfrm>
            <a:off x="8838875" y="1274088"/>
            <a:ext cx="1413900" cy="14235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9d48565bb2_0_0"/>
          <p:cNvSpPr txBox="1"/>
          <p:nvPr>
            <p:ph idx="1" type="body"/>
          </p:nvPr>
        </p:nvSpPr>
        <p:spPr>
          <a:xfrm>
            <a:off x="381000" y="1215475"/>
            <a:ext cx="7187100" cy="45963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sz="2600"/>
          </a:p>
          <a:p>
            <a:pPr indent="-330200" lvl="1" marL="914400" rtl="0" algn="l">
              <a:lnSpc>
                <a:spcPct val="100000"/>
              </a:lnSpc>
              <a:spcBef>
                <a:spcPts val="1500"/>
              </a:spcBef>
              <a:spcAft>
                <a:spcPts val="0"/>
              </a:spcAft>
              <a:buSzPts val="1600"/>
              <a:buChar char="•"/>
            </a:pPr>
            <a:r>
              <a:rPr lang="en-US" sz="2200"/>
              <a:t>Online formats - primary source of interaction</a:t>
            </a:r>
            <a:endParaRPr sz="2200"/>
          </a:p>
          <a:p>
            <a:pPr indent="-330200" lvl="0" marL="457200" rtl="0" algn="l">
              <a:lnSpc>
                <a:spcPct val="100000"/>
              </a:lnSpc>
              <a:spcBef>
                <a:spcPts val="1500"/>
              </a:spcBef>
              <a:spcAft>
                <a:spcPts val="0"/>
              </a:spcAft>
              <a:buSzPts val="1600"/>
              <a:buChar char="●"/>
            </a:pPr>
            <a:r>
              <a:rPr lang="en-US" sz="2600"/>
              <a:t>Student interaction </a:t>
            </a:r>
            <a:endParaRPr sz="2600"/>
          </a:p>
          <a:p>
            <a:pPr indent="-330200" lvl="1" marL="914400" rtl="0" algn="l">
              <a:lnSpc>
                <a:spcPct val="100000"/>
              </a:lnSpc>
              <a:spcBef>
                <a:spcPts val="1500"/>
              </a:spcBef>
              <a:spcAft>
                <a:spcPts val="0"/>
              </a:spcAft>
              <a:buSzPts val="1600"/>
              <a:buChar char="•"/>
            </a:pPr>
            <a:r>
              <a:rPr lang="en-US" sz="2200"/>
              <a:t>Cognitive presence</a:t>
            </a:r>
            <a:endParaRPr sz="2200"/>
          </a:p>
          <a:p>
            <a:pPr indent="-330200" lvl="1" marL="914400" rtl="0" algn="l">
              <a:lnSpc>
                <a:spcPct val="100000"/>
              </a:lnSpc>
              <a:spcBef>
                <a:spcPts val="1500"/>
              </a:spcBef>
              <a:spcAft>
                <a:spcPts val="0"/>
              </a:spcAft>
              <a:buSzPts val="1600"/>
              <a:buChar char="•"/>
            </a:pPr>
            <a:r>
              <a:rPr lang="en-US" sz="2200"/>
              <a:t>Social presence</a:t>
            </a:r>
            <a:endParaRPr sz="2200"/>
          </a:p>
          <a:p>
            <a:pPr indent="-330200" lvl="0" marL="457200" rtl="0" algn="l">
              <a:lnSpc>
                <a:spcPct val="100000"/>
              </a:lnSpc>
              <a:spcBef>
                <a:spcPts val="1500"/>
              </a:spcBef>
              <a:spcAft>
                <a:spcPts val="0"/>
              </a:spcAft>
              <a:buSzPts val="1600"/>
              <a:buChar char="●"/>
            </a:pPr>
            <a:r>
              <a:rPr lang="en-US" sz="2600"/>
              <a:t>Activity on forums indicative of student engagement and interest</a:t>
            </a:r>
            <a:endParaRPr sz="2600"/>
          </a:p>
          <a:p>
            <a:pPr indent="-330200" lvl="0" marL="457200" rtl="0" algn="l">
              <a:lnSpc>
                <a:spcPct val="100000"/>
              </a:lnSpc>
              <a:spcBef>
                <a:spcPts val="1500"/>
              </a:spcBef>
              <a:spcAft>
                <a:spcPts val="1500"/>
              </a:spcAft>
              <a:buSzPts val="1600"/>
              <a:buChar char="●"/>
            </a:pPr>
            <a:r>
              <a:rPr b="1" lang="en-US" sz="2600"/>
              <a:t>Goal:</a:t>
            </a:r>
            <a:r>
              <a:rPr lang="en-US" sz="2600"/>
              <a:t> Creating a web application to help instructors save time on managing forums and increase cognitive engagement in their courses</a:t>
            </a:r>
            <a:endParaRPr sz="2600"/>
          </a:p>
        </p:txBody>
      </p:sp>
      <p:sp>
        <p:nvSpPr>
          <p:cNvPr id="106" name="Google Shape;106;g9d48565bb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pic>
        <p:nvPicPr>
          <p:cNvPr id="107" name="Google Shape;107;g9d48565bb2_0_0"/>
          <p:cNvPicPr preferRelativeResize="0"/>
          <p:nvPr/>
        </p:nvPicPr>
        <p:blipFill rotWithShape="1">
          <a:blip r:embed="rId3">
            <a:alphaModFix/>
          </a:blip>
          <a:srcRect b="0" l="0" r="0" t="0"/>
          <a:stretch/>
        </p:blipFill>
        <p:spPr>
          <a:xfrm>
            <a:off x="6123100" y="1018700"/>
            <a:ext cx="3108126" cy="802100"/>
          </a:xfrm>
          <a:prstGeom prst="rect">
            <a:avLst/>
          </a:prstGeom>
          <a:noFill/>
          <a:ln>
            <a:noFill/>
          </a:ln>
        </p:spPr>
      </p:pic>
      <p:pic>
        <p:nvPicPr>
          <p:cNvPr id="108" name="Google Shape;108;g9d48565bb2_0_0"/>
          <p:cNvPicPr preferRelativeResize="0"/>
          <p:nvPr/>
        </p:nvPicPr>
        <p:blipFill rotWithShape="1">
          <a:blip r:embed="rId4">
            <a:alphaModFix/>
          </a:blip>
          <a:srcRect b="0" l="0" r="0" t="0"/>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ba764dde3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Recap of Fall 2021</a:t>
            </a:r>
            <a:endParaRPr/>
          </a:p>
        </p:txBody>
      </p:sp>
      <p:graphicFrame>
        <p:nvGraphicFramePr>
          <p:cNvPr id="114" name="Google Shape;114;gba764dde3e_0_0"/>
          <p:cNvGraphicFramePr/>
          <p:nvPr/>
        </p:nvGraphicFramePr>
        <p:xfrm>
          <a:off x="620313" y="1215617"/>
          <a:ext cx="3000000" cy="3000000"/>
        </p:xfrm>
        <a:graphic>
          <a:graphicData uri="http://schemas.openxmlformats.org/drawingml/2006/table">
            <a:tbl>
              <a:tblPr>
                <a:noFill/>
                <a:tableStyleId>{FC0FD9CD-18F4-4D11-89C6-55702FCB5D6F}</a:tableStyleId>
              </a:tblPr>
              <a:tblGrid>
                <a:gridCol w="3564725"/>
                <a:gridCol w="3564725"/>
                <a:gridCol w="3564725"/>
              </a:tblGrid>
              <a:tr h="398225">
                <a:tc>
                  <a:txBody>
                    <a:bodyPr/>
                    <a:lstStyle/>
                    <a:p>
                      <a:pPr indent="0" lvl="0" marL="0" rtl="0" algn="ctr">
                        <a:spcBef>
                          <a:spcPts val="0"/>
                        </a:spcBef>
                        <a:spcAft>
                          <a:spcPts val="0"/>
                        </a:spcAft>
                        <a:buNone/>
                      </a:pPr>
                      <a:r>
                        <a:rPr b="1" lang="en-US" sz="2400">
                          <a:latin typeface="Roboto"/>
                          <a:ea typeface="Roboto"/>
                          <a:cs typeface="Roboto"/>
                          <a:sym typeface="Roboto"/>
                        </a:rPr>
                        <a:t>Category</a:t>
                      </a:r>
                      <a:endParaRPr b="1" sz="24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US" sz="2400">
                          <a:latin typeface="Roboto"/>
                          <a:ea typeface="Roboto"/>
                          <a:cs typeface="Roboto"/>
                          <a:sym typeface="Roboto"/>
                        </a:rPr>
                        <a:t>Accomplished</a:t>
                      </a:r>
                      <a:endParaRPr b="1" sz="24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US" sz="2400">
                          <a:latin typeface="Roboto"/>
                          <a:ea typeface="Roboto"/>
                          <a:cs typeface="Roboto"/>
                          <a:sym typeface="Roboto"/>
                        </a:rPr>
                        <a:t>Next Goals</a:t>
                      </a:r>
                      <a:endParaRPr b="1" sz="2400">
                        <a:latin typeface="Roboto"/>
                        <a:ea typeface="Roboto"/>
                        <a:cs typeface="Roboto"/>
                        <a:sym typeface="Roboto"/>
                      </a:endParaRPr>
                    </a:p>
                  </a:txBody>
                  <a:tcPr marT="91425" marB="91425" marR="91425" marL="91425"/>
                </a:tc>
              </a:tr>
              <a:tr h="488900">
                <a:tc>
                  <a:txBody>
                    <a:bodyPr/>
                    <a:lstStyle/>
                    <a:p>
                      <a:pPr indent="0" lvl="0" marL="0" rtl="0" algn="ctr">
                        <a:spcBef>
                          <a:spcPts val="0"/>
                        </a:spcBef>
                        <a:spcAft>
                          <a:spcPts val="0"/>
                        </a:spcAft>
                        <a:buNone/>
                      </a:pPr>
                      <a:r>
                        <a:rPr lang="en-US" sz="1600">
                          <a:latin typeface="Roboto"/>
                          <a:ea typeface="Roboto"/>
                          <a:cs typeface="Roboto"/>
                          <a:sym typeface="Roboto"/>
                        </a:rPr>
                        <a:t>Web Dev</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latin typeface="Roboto"/>
                          <a:ea typeface="Roboto"/>
                          <a:cs typeface="Roboto"/>
                          <a:sym typeface="Roboto"/>
                        </a:rPr>
                        <a:t>Working dashboard on real data (sentiment)</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latin typeface="Roboto"/>
                          <a:ea typeface="Roboto"/>
                          <a:cs typeface="Roboto"/>
                          <a:sym typeface="Roboto"/>
                        </a:rPr>
                        <a:t>Pilot testing with real users (instructors)</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latin typeface="Roboto"/>
                          <a:ea typeface="Roboto"/>
                          <a:cs typeface="Roboto"/>
                          <a:sym typeface="Roboto"/>
                        </a:rPr>
                        <a:t>Integration with Piazza/Ed</a:t>
                      </a:r>
                      <a:endParaRPr sz="1600">
                        <a:latin typeface="Roboto"/>
                        <a:ea typeface="Roboto"/>
                        <a:cs typeface="Roboto"/>
                        <a:sym typeface="Roboto"/>
                      </a:endParaRPr>
                    </a:p>
                  </a:txBody>
                  <a:tcPr marT="91425" marB="91425" marR="91425" marL="91425"/>
                </a:tc>
              </a:tr>
              <a:tr h="508400">
                <a:tc>
                  <a:txBody>
                    <a:bodyPr/>
                    <a:lstStyle/>
                    <a:p>
                      <a:pPr indent="0" lvl="0" marL="0" rtl="0" algn="ctr">
                        <a:spcBef>
                          <a:spcPts val="0"/>
                        </a:spcBef>
                        <a:spcAft>
                          <a:spcPts val="0"/>
                        </a:spcAft>
                        <a:buNone/>
                      </a:pPr>
                      <a:r>
                        <a:rPr lang="en-US" sz="1600">
                          <a:latin typeface="Roboto"/>
                          <a:ea typeface="Roboto"/>
                          <a:cs typeface="Roboto"/>
                          <a:sym typeface="Roboto"/>
                        </a:rPr>
                        <a:t>UX Research</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latin typeface="Roboto"/>
                          <a:ea typeface="Roboto"/>
                          <a:cs typeface="Roboto"/>
                          <a:sym typeface="Roboto"/>
                        </a:rPr>
                        <a:t>Identified few key features of importance to instructors</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latin typeface="Roboto"/>
                          <a:ea typeface="Roboto"/>
                          <a:cs typeface="Roboto"/>
                          <a:sym typeface="Roboto"/>
                        </a:rPr>
                        <a:t>Create relevant metrics from forums data</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latin typeface="Roboto"/>
                          <a:ea typeface="Roboto"/>
                          <a:cs typeface="Roboto"/>
                          <a:sym typeface="Roboto"/>
                        </a:rPr>
                        <a:t>Pilot study on a real course</a:t>
                      </a:r>
                      <a:endParaRPr sz="1600">
                        <a:latin typeface="Roboto"/>
                        <a:ea typeface="Roboto"/>
                        <a:cs typeface="Roboto"/>
                        <a:sym typeface="Roboto"/>
                      </a:endParaRPr>
                    </a:p>
                  </a:txBody>
                  <a:tcPr marT="91425" marB="91425" marR="91425" marL="91425"/>
                </a:tc>
              </a:tr>
              <a:tr h="508400">
                <a:tc>
                  <a:txBody>
                    <a:bodyPr/>
                    <a:lstStyle/>
                    <a:p>
                      <a:pPr indent="0" lvl="0" marL="0" rtl="0" algn="ctr">
                        <a:spcBef>
                          <a:spcPts val="0"/>
                        </a:spcBef>
                        <a:spcAft>
                          <a:spcPts val="0"/>
                        </a:spcAft>
                        <a:buNone/>
                      </a:pPr>
                      <a:r>
                        <a:rPr lang="en-US" sz="1600">
                          <a:latin typeface="Roboto"/>
                          <a:ea typeface="Roboto"/>
                          <a:cs typeface="Roboto"/>
                          <a:sym typeface="Roboto"/>
                        </a:rPr>
                        <a:t>Data Science</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latin typeface="Roboto"/>
                          <a:ea typeface="Roboto"/>
                          <a:cs typeface="Roboto"/>
                          <a:sym typeface="Roboto"/>
                        </a:rPr>
                        <a:t>Sentiment scoring and cognitive presence model on Piazza+EdX</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latin typeface="Roboto"/>
                          <a:ea typeface="Roboto"/>
                          <a:cs typeface="Roboto"/>
                          <a:sym typeface="Roboto"/>
                        </a:rPr>
                        <a:t>Analysis of top contributors and correlation with grades</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latin typeface="Roboto"/>
                          <a:ea typeface="Roboto"/>
                          <a:cs typeface="Roboto"/>
                          <a:sym typeface="Roboto"/>
                        </a:rPr>
                        <a:t>Use cognitive presence to inform metrics of relevance</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US" sz="1600">
                          <a:latin typeface="Roboto"/>
                          <a:ea typeface="Roboto"/>
                          <a:cs typeface="Roboto"/>
                          <a:sym typeface="Roboto"/>
                        </a:rPr>
                        <a:t>Identify highly connected and most contributing students</a:t>
                      </a:r>
                      <a:endParaRPr sz="1600">
                        <a:latin typeface="Roboto"/>
                        <a:ea typeface="Roboto"/>
                        <a:cs typeface="Roboto"/>
                        <a:sym typeface="Roboto"/>
                      </a:endParaRPr>
                    </a:p>
                  </a:txBody>
                  <a:tcPr marT="91425" marB="91425" marR="91425" marL="91425"/>
                </a:tc>
              </a:tr>
            </a:tbl>
          </a:graphicData>
        </a:graphic>
      </p:graphicFrame>
      <p:sp>
        <p:nvSpPr>
          <p:cNvPr id="115" name="Google Shape;115;gba764dde3e_0_0"/>
          <p:cNvSpPr txBox="1"/>
          <p:nvPr/>
        </p:nvSpPr>
        <p:spPr>
          <a:xfrm>
            <a:off x="386363" y="4867275"/>
            <a:ext cx="11162100" cy="1700700"/>
          </a:xfrm>
          <a:prstGeom prst="rect">
            <a:avLst/>
          </a:prstGeom>
          <a:noFill/>
          <a:ln>
            <a:noFill/>
          </a:ln>
        </p:spPr>
        <p:txBody>
          <a:bodyPr anchorCtr="0" anchor="t" bIns="91425" lIns="91425" spcFirstLastPara="1" rIns="91425" wrap="square" tIns="91425">
            <a:spAutoFit/>
          </a:bodyPr>
          <a:lstStyle/>
          <a:p>
            <a:pPr indent="0" lvl="0" marL="0" rtl="0" algn="l">
              <a:spcBef>
                <a:spcPts val="1500"/>
              </a:spcBef>
              <a:spcAft>
                <a:spcPts val="0"/>
              </a:spcAft>
              <a:buNone/>
            </a:pPr>
            <a:r>
              <a:rPr b="1" lang="en-US" sz="2600">
                <a:solidFill>
                  <a:schemeClr val="dk1"/>
                </a:solidFill>
                <a:latin typeface="Roboto"/>
                <a:ea typeface="Roboto"/>
                <a:cs typeface="Roboto"/>
                <a:sym typeface="Roboto"/>
              </a:rPr>
              <a:t>Learnings and Challenges as a Project Manager:</a:t>
            </a:r>
            <a:endParaRPr b="1" sz="2600">
              <a:solidFill>
                <a:schemeClr val="dk1"/>
              </a:solidFill>
              <a:latin typeface="Roboto"/>
              <a:ea typeface="Roboto"/>
              <a:cs typeface="Roboto"/>
              <a:sym typeface="Roboto"/>
            </a:endParaRPr>
          </a:p>
          <a:p>
            <a:pPr indent="-355600" lvl="0" marL="457200" rtl="0" algn="l">
              <a:spcBef>
                <a:spcPts val="1500"/>
              </a:spcBef>
              <a:spcAft>
                <a:spcPts val="0"/>
              </a:spcAft>
              <a:buClr>
                <a:schemeClr val="dk1"/>
              </a:buClr>
              <a:buSzPts val="2000"/>
              <a:buChar char="•"/>
            </a:pPr>
            <a:r>
              <a:rPr lang="en-US" sz="2000">
                <a:solidFill>
                  <a:schemeClr val="dk1"/>
                </a:solidFill>
                <a:latin typeface="Roboto"/>
                <a:ea typeface="Roboto"/>
                <a:cs typeface="Roboto"/>
                <a:sym typeface="Roboto"/>
              </a:rPr>
              <a:t>Important to coordinate the team as a whole, and scheduling of project tasks</a:t>
            </a:r>
            <a:endParaRPr sz="2000">
              <a:solidFill>
                <a:schemeClr val="dk1"/>
              </a:solidFill>
              <a:latin typeface="Roboto"/>
              <a:ea typeface="Roboto"/>
              <a:cs typeface="Roboto"/>
              <a:sym typeface="Roboto"/>
            </a:endParaRPr>
          </a:p>
          <a:p>
            <a:pPr indent="-355600" lvl="0" marL="457200" rtl="0" algn="l">
              <a:spcBef>
                <a:spcPts val="0"/>
              </a:spcBef>
              <a:spcAft>
                <a:spcPts val="0"/>
              </a:spcAft>
              <a:buClr>
                <a:schemeClr val="dk1"/>
              </a:buClr>
              <a:buSzPts val="2000"/>
              <a:buChar char="•"/>
            </a:pPr>
            <a:r>
              <a:rPr lang="en-US" sz="2000">
                <a:solidFill>
                  <a:schemeClr val="dk1"/>
                </a:solidFill>
                <a:latin typeface="Roboto"/>
                <a:ea typeface="Roboto"/>
                <a:cs typeface="Roboto"/>
                <a:sym typeface="Roboto"/>
              </a:rPr>
              <a:t>Set expectations clearly at the start of semester for the team and each individual</a:t>
            </a:r>
            <a:endParaRPr sz="2000">
              <a:solidFill>
                <a:schemeClr val="dk1"/>
              </a:solidFill>
              <a:latin typeface="Roboto"/>
              <a:ea typeface="Roboto"/>
              <a:cs typeface="Roboto"/>
              <a:sym typeface="Roboto"/>
            </a:endParaRPr>
          </a:p>
          <a:p>
            <a:pPr indent="-355600" lvl="0" marL="457200" rtl="0" algn="l">
              <a:spcBef>
                <a:spcPts val="0"/>
              </a:spcBef>
              <a:spcAft>
                <a:spcPts val="0"/>
              </a:spcAft>
              <a:buClr>
                <a:schemeClr val="dk1"/>
              </a:buClr>
              <a:buSzPts val="2000"/>
              <a:buChar char="•"/>
            </a:pPr>
            <a:r>
              <a:rPr lang="en-US" sz="2000">
                <a:solidFill>
                  <a:schemeClr val="dk1"/>
                </a:solidFill>
                <a:latin typeface="Roboto"/>
                <a:ea typeface="Roboto"/>
                <a:cs typeface="Roboto"/>
                <a:sym typeface="Roboto"/>
              </a:rPr>
              <a:t>Quicker iterations and faster feedback loops - focus on quick launch</a:t>
            </a:r>
            <a:endParaRPr sz="20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f4b38d8802_0_0"/>
          <p:cNvSpPr txBox="1"/>
          <p:nvPr/>
        </p:nvSpPr>
        <p:spPr>
          <a:xfrm>
            <a:off x="190850" y="1115050"/>
            <a:ext cx="10292400" cy="43731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90000"/>
              </a:lnSpc>
              <a:spcBef>
                <a:spcPts val="1000"/>
              </a:spcBef>
              <a:spcAft>
                <a:spcPts val="0"/>
              </a:spcAft>
              <a:buClr>
                <a:schemeClr val="dk1"/>
              </a:buClr>
              <a:buSzPts val="2500"/>
              <a:buFont typeface="Roboto"/>
              <a:buChar char="●"/>
            </a:pPr>
            <a:r>
              <a:rPr b="1" lang="en-US" sz="2500">
                <a:solidFill>
                  <a:schemeClr val="dk1"/>
                </a:solidFill>
                <a:latin typeface="Roboto"/>
                <a:ea typeface="Roboto"/>
                <a:cs typeface="Roboto"/>
                <a:sym typeface="Roboto"/>
              </a:rPr>
              <a:t>Development</a:t>
            </a:r>
            <a:endParaRPr b="1" sz="2500">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Deploy the web-app and test inside the Piazza sandbox environment</a:t>
            </a:r>
            <a:endParaRPr sz="1800">
              <a:solidFill>
                <a:schemeClr val="dk1"/>
              </a:solidFill>
              <a:latin typeface="Roboto"/>
              <a:ea typeface="Roboto"/>
              <a:cs typeface="Roboto"/>
              <a:sym typeface="Roboto"/>
            </a:endParaRPr>
          </a:p>
          <a:p>
            <a:pPr indent="-342900" lvl="1" marL="91440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Shorter feedback loops, try backtracking from goals to set individual deliverables and milestones</a:t>
            </a:r>
            <a:endParaRPr sz="1800">
              <a:solidFill>
                <a:schemeClr val="dk1"/>
              </a:solidFill>
              <a:latin typeface="Roboto"/>
              <a:ea typeface="Roboto"/>
              <a:cs typeface="Roboto"/>
              <a:sym typeface="Roboto"/>
            </a:endParaRPr>
          </a:p>
          <a:p>
            <a:pPr indent="0" lvl="0" marL="914400" rtl="0" algn="l">
              <a:lnSpc>
                <a:spcPct val="90000"/>
              </a:lnSpc>
              <a:spcBef>
                <a:spcPts val="1000"/>
              </a:spcBef>
              <a:spcAft>
                <a:spcPts val="0"/>
              </a:spcAft>
              <a:buNone/>
            </a:pPr>
            <a:r>
              <a:t/>
            </a:r>
            <a:endParaRPr sz="1800">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lang="en-US" sz="2500">
                <a:solidFill>
                  <a:schemeClr val="dk1"/>
                </a:solidFill>
                <a:latin typeface="Roboto"/>
                <a:ea typeface="Roboto"/>
                <a:cs typeface="Roboto"/>
                <a:sym typeface="Roboto"/>
              </a:rPr>
              <a:t>Research</a:t>
            </a:r>
            <a:endParaRPr b="1" sz="2500">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Metacognitive analysis on student posts in forums</a:t>
            </a:r>
            <a:endParaRPr sz="1800">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UX Research by connecting with instructor teams</a:t>
            </a:r>
            <a:endParaRPr sz="1800">
              <a:solidFill>
                <a:schemeClr val="dk1"/>
              </a:solidFill>
              <a:latin typeface="Roboto"/>
              <a:ea typeface="Roboto"/>
              <a:cs typeface="Roboto"/>
              <a:sym typeface="Roboto"/>
            </a:endParaRPr>
          </a:p>
          <a:p>
            <a:pPr indent="0" lvl="0" marL="0" marR="0" rtl="0" algn="l">
              <a:lnSpc>
                <a:spcPct val="90000"/>
              </a:lnSpc>
              <a:spcBef>
                <a:spcPts val="1000"/>
              </a:spcBef>
              <a:spcAft>
                <a:spcPts val="0"/>
              </a:spcAft>
              <a:buNone/>
            </a:pPr>
            <a:r>
              <a:t/>
            </a:r>
            <a:endParaRPr sz="1800">
              <a:solidFill>
                <a:schemeClr val="dk1"/>
              </a:solidFill>
              <a:latin typeface="Roboto"/>
              <a:ea typeface="Roboto"/>
              <a:cs typeface="Roboto"/>
              <a:sym typeface="Roboto"/>
            </a:endParaRPr>
          </a:p>
          <a:p>
            <a:pPr indent="-387350" lvl="0" marL="457200" rtl="0" algn="l">
              <a:lnSpc>
                <a:spcPct val="90000"/>
              </a:lnSpc>
              <a:spcBef>
                <a:spcPts val="1000"/>
              </a:spcBef>
              <a:spcAft>
                <a:spcPts val="0"/>
              </a:spcAft>
              <a:buClr>
                <a:schemeClr val="dk1"/>
              </a:buClr>
              <a:buSzPts val="2500"/>
              <a:buFont typeface="Roboto"/>
              <a:buChar char="●"/>
            </a:pPr>
            <a:r>
              <a:rPr b="1" lang="en-US" sz="2500">
                <a:solidFill>
                  <a:schemeClr val="dk1"/>
                </a:solidFill>
                <a:latin typeface="Roboto"/>
                <a:ea typeface="Roboto"/>
                <a:cs typeface="Roboto"/>
                <a:sym typeface="Roboto"/>
              </a:rPr>
              <a:t>Project Management</a:t>
            </a:r>
            <a:endParaRPr b="1" sz="2500">
              <a:solidFill>
                <a:schemeClr val="dk1"/>
              </a:solidFill>
              <a:latin typeface="Roboto"/>
              <a:ea typeface="Roboto"/>
              <a:cs typeface="Roboto"/>
              <a:sym typeface="Roboto"/>
            </a:endParaRPr>
          </a:p>
          <a:p>
            <a:pPr indent="-342900" lvl="1" marL="91440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Effective use of trello and other tools + improving documentation for the project</a:t>
            </a:r>
            <a:endParaRPr sz="1800">
              <a:solidFill>
                <a:schemeClr val="dk1"/>
              </a:solidFill>
              <a:latin typeface="Roboto"/>
              <a:ea typeface="Roboto"/>
              <a:cs typeface="Roboto"/>
              <a:sym typeface="Roboto"/>
            </a:endParaRPr>
          </a:p>
        </p:txBody>
      </p:sp>
      <p:sp>
        <p:nvSpPr>
          <p:cNvPr id="121" name="Google Shape;121;gf4b38d880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Focus for this semester</a:t>
            </a:r>
            <a:endParaRPr/>
          </a:p>
        </p:txBody>
      </p:sp>
      <p:pic>
        <p:nvPicPr>
          <p:cNvPr id="122" name="Google Shape;122;gf4b38d8802_0_0"/>
          <p:cNvPicPr preferRelativeResize="0"/>
          <p:nvPr/>
        </p:nvPicPr>
        <p:blipFill rotWithShape="1">
          <a:blip r:embed="rId3">
            <a:alphaModFix/>
          </a:blip>
          <a:srcRect b="0" l="0" r="0" t="0"/>
          <a:stretch/>
        </p:blipFill>
        <p:spPr>
          <a:xfrm>
            <a:off x="8466225" y="926100"/>
            <a:ext cx="3108126" cy="802100"/>
          </a:xfrm>
          <a:prstGeom prst="rect">
            <a:avLst/>
          </a:prstGeom>
          <a:noFill/>
          <a:ln>
            <a:noFill/>
          </a:ln>
        </p:spPr>
      </p:pic>
      <p:pic>
        <p:nvPicPr>
          <p:cNvPr id="123" name="Google Shape;123;gf4b38d8802_0_0"/>
          <p:cNvPicPr preferRelativeResize="0"/>
          <p:nvPr/>
        </p:nvPicPr>
        <p:blipFill>
          <a:blip r:embed="rId4">
            <a:alphaModFix/>
          </a:blip>
          <a:stretch>
            <a:fillRect/>
          </a:stretch>
        </p:blipFill>
        <p:spPr>
          <a:xfrm>
            <a:off x="7625875" y="3687725"/>
            <a:ext cx="4098525" cy="1254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bea1223c9f_0_11"/>
          <p:cNvSpPr txBox="1"/>
          <p:nvPr>
            <p:ph idx="1" type="body"/>
          </p:nvPr>
        </p:nvSpPr>
        <p:spPr>
          <a:xfrm>
            <a:off x="451725" y="1915350"/>
            <a:ext cx="11430000" cy="30273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1000"/>
              </a:spcBef>
              <a:spcAft>
                <a:spcPts val="0"/>
              </a:spcAft>
              <a:buSzPts val="1800"/>
              <a:buNone/>
            </a:pPr>
            <a:r>
              <a:rPr lang="en-US"/>
              <a:t>Based on the </a:t>
            </a:r>
            <a:r>
              <a:rPr b="1" lang="en-US"/>
              <a:t>community of inquiry framework</a:t>
            </a:r>
            <a:r>
              <a:rPr lang="en-US"/>
              <a:t>, what are some key factors in discussion forum activities influencing student </a:t>
            </a:r>
            <a:r>
              <a:rPr b="1" lang="en-US"/>
              <a:t>engagement</a:t>
            </a:r>
            <a:r>
              <a:rPr lang="en-US"/>
              <a:t> and </a:t>
            </a:r>
            <a:r>
              <a:rPr b="1" lang="en-US"/>
              <a:t>performance</a:t>
            </a:r>
            <a:r>
              <a:rPr lang="en-US"/>
              <a:t> in an asynchronous online classroom?</a:t>
            </a:r>
            <a:endParaRPr/>
          </a:p>
          <a:p>
            <a:pPr indent="0" lvl="0" marL="0" rtl="0" algn="just">
              <a:lnSpc>
                <a:spcPct val="90000"/>
              </a:lnSpc>
              <a:spcBef>
                <a:spcPts val="1000"/>
              </a:spcBef>
              <a:spcAft>
                <a:spcPts val="0"/>
              </a:spcAft>
              <a:buSzPts val="1800"/>
              <a:buNone/>
            </a:pPr>
            <a:r>
              <a:t/>
            </a:r>
            <a:endParaRPr/>
          </a:p>
          <a:p>
            <a:pPr indent="0" lvl="0" marL="0" rtl="0" algn="just">
              <a:lnSpc>
                <a:spcPct val="90000"/>
              </a:lnSpc>
              <a:spcBef>
                <a:spcPts val="1000"/>
              </a:spcBef>
              <a:spcAft>
                <a:spcPts val="0"/>
              </a:spcAft>
              <a:buSzPts val="1800"/>
              <a:buNone/>
            </a:pPr>
            <a:r>
              <a:rPr lang="en-US"/>
              <a:t>How can we design a </a:t>
            </a:r>
            <a:r>
              <a:rPr b="1" lang="en-US"/>
              <a:t>web app</a:t>
            </a:r>
            <a:r>
              <a:rPr lang="en-US"/>
              <a:t> that can provide actionable insights to the instructor in order to increase engagement and performance?</a:t>
            </a:r>
            <a:endParaRPr/>
          </a:p>
          <a:p>
            <a:pPr indent="0" lvl="0" marL="0" rtl="0" algn="just">
              <a:lnSpc>
                <a:spcPct val="90000"/>
              </a:lnSpc>
              <a:spcBef>
                <a:spcPts val="1000"/>
              </a:spcBef>
              <a:spcAft>
                <a:spcPts val="0"/>
              </a:spcAft>
              <a:buSzPts val="1800"/>
              <a:buNone/>
            </a:pPr>
            <a:r>
              <a:t/>
            </a:r>
            <a:endParaRPr/>
          </a:p>
        </p:txBody>
      </p:sp>
      <p:sp>
        <p:nvSpPr>
          <p:cNvPr id="134" name="Google Shape;134;gbea1223c9f_0_11"/>
          <p:cNvSpPr txBox="1"/>
          <p:nvPr>
            <p:ph type="title"/>
          </p:nvPr>
        </p:nvSpPr>
        <p:spPr>
          <a:xfrm>
            <a:off x="381000"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Research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efbeba6a1c_0_509"/>
          <p:cNvSpPr txBox="1"/>
          <p:nvPr>
            <p:ph idx="1" type="body"/>
          </p:nvPr>
        </p:nvSpPr>
        <p:spPr>
          <a:xfrm>
            <a:off x="381000" y="1215474"/>
            <a:ext cx="11430000" cy="1643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available</a:t>
            </a:r>
            <a:endParaRPr/>
          </a:p>
          <a:p>
            <a:pPr indent="-342900" lvl="1" marL="914400" rtl="0" algn="l">
              <a:lnSpc>
                <a:spcPct val="90000"/>
              </a:lnSpc>
              <a:spcBef>
                <a:spcPts val="0"/>
              </a:spcBef>
              <a:spcAft>
                <a:spcPts val="0"/>
              </a:spcAft>
              <a:buSzPts val="1800"/>
              <a:buChar char="•"/>
            </a:pPr>
            <a:r>
              <a:rPr lang="en-US"/>
              <a:t>Focusing on Piazza data from Dr. Thad Starner</a:t>
            </a:r>
            <a:endParaRPr/>
          </a:p>
          <a:p>
            <a:pPr indent="-342900" lvl="1" marL="914400" rtl="0" algn="l">
              <a:lnSpc>
                <a:spcPct val="90000"/>
              </a:lnSpc>
              <a:spcBef>
                <a:spcPts val="0"/>
              </a:spcBef>
              <a:spcAft>
                <a:spcPts val="0"/>
              </a:spcAft>
              <a:buSzPts val="1800"/>
              <a:buChar char="•"/>
            </a:pPr>
            <a:r>
              <a:rPr lang="en-US"/>
              <a:t>1493 posts, coded for cognitive presence and working on Topic Modeling</a:t>
            </a:r>
            <a:endParaRPr/>
          </a:p>
        </p:txBody>
      </p:sp>
      <p:sp>
        <p:nvSpPr>
          <p:cNvPr id="140" name="Google Shape;140;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Big Picture</a:t>
            </a:r>
            <a:endParaRPr/>
          </a:p>
        </p:txBody>
      </p:sp>
      <p:sp>
        <p:nvSpPr>
          <p:cNvPr id="141" name="Google Shape;141;gefbeba6a1c_0_509"/>
          <p:cNvSpPr/>
          <p:nvPr/>
        </p:nvSpPr>
        <p:spPr>
          <a:xfrm>
            <a:off x="5002788" y="411107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Data Science</a:t>
            </a:r>
            <a:endParaRPr b="0" i="0" sz="2300" u="none" cap="none" strike="noStrike">
              <a:solidFill>
                <a:schemeClr val="lt1"/>
              </a:solidFill>
              <a:latin typeface="Arial"/>
              <a:ea typeface="Arial"/>
              <a:cs typeface="Arial"/>
              <a:sym typeface="Arial"/>
            </a:endParaRPr>
          </a:p>
        </p:txBody>
      </p:sp>
      <p:sp>
        <p:nvSpPr>
          <p:cNvPr id="142" name="Google Shape;142;gefbeba6a1c_0_509"/>
          <p:cNvSpPr/>
          <p:nvPr/>
        </p:nvSpPr>
        <p:spPr>
          <a:xfrm>
            <a:off x="4611888" y="3028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Cognitive Presence </a:t>
            </a:r>
            <a:endParaRPr b="0" i="0" sz="2300" u="none" cap="none" strike="noStrike">
              <a:solidFill>
                <a:schemeClr val="lt1"/>
              </a:solidFill>
              <a:latin typeface="Arial"/>
              <a:ea typeface="Arial"/>
              <a:cs typeface="Arial"/>
              <a:sym typeface="Arial"/>
            </a:endParaRPr>
          </a:p>
        </p:txBody>
      </p:sp>
      <p:sp>
        <p:nvSpPr>
          <p:cNvPr id="143" name="Google Shape;143;gefbeba6a1c_0_509"/>
          <p:cNvSpPr/>
          <p:nvPr/>
        </p:nvSpPr>
        <p:spPr>
          <a:xfrm>
            <a:off x="4611888" y="4990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lang="en-US" sz="2300">
                <a:solidFill>
                  <a:schemeClr val="lt1"/>
                </a:solidFill>
              </a:rPr>
              <a:t>Metacognition</a:t>
            </a:r>
            <a:endParaRPr b="0" i="0" sz="2300" u="none" cap="none" strike="noStrike">
              <a:solidFill>
                <a:schemeClr val="lt1"/>
              </a:solidFill>
              <a:latin typeface="Arial"/>
              <a:ea typeface="Arial"/>
              <a:cs typeface="Arial"/>
              <a:sym typeface="Arial"/>
            </a:endParaRPr>
          </a:p>
        </p:txBody>
      </p:sp>
      <p:sp>
        <p:nvSpPr>
          <p:cNvPr id="144" name="Google Shape;144;gefbeba6a1c_0_509"/>
          <p:cNvSpPr/>
          <p:nvPr/>
        </p:nvSpPr>
        <p:spPr>
          <a:xfrm>
            <a:off x="799027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lang="en-US" sz="2300">
                <a:solidFill>
                  <a:schemeClr val="lt1"/>
                </a:solidFill>
              </a:rPr>
              <a:t>Topic Modeling</a:t>
            </a:r>
            <a:endParaRPr b="0" i="0" sz="2300" u="none" cap="none" strike="noStrike">
              <a:solidFill>
                <a:schemeClr val="lt1"/>
              </a:solidFill>
              <a:latin typeface="Arial"/>
              <a:ea typeface="Arial"/>
              <a:cs typeface="Arial"/>
              <a:sym typeface="Arial"/>
            </a:endParaRPr>
          </a:p>
        </p:txBody>
      </p:sp>
      <p:sp>
        <p:nvSpPr>
          <p:cNvPr id="145" name="Google Shape;145;gefbeba6a1c_0_509"/>
          <p:cNvSpPr/>
          <p:nvPr/>
        </p:nvSpPr>
        <p:spPr>
          <a:xfrm>
            <a:off x="123352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Sentiment Analysis</a:t>
            </a:r>
            <a:endParaRPr b="0" i="0" sz="2300" u="none" cap="none" strike="noStrike">
              <a:solidFill>
                <a:schemeClr val="lt1"/>
              </a:solidFill>
              <a:latin typeface="Arial"/>
              <a:ea typeface="Arial"/>
              <a:cs typeface="Arial"/>
              <a:sym typeface="Arial"/>
            </a:endParaRPr>
          </a:p>
        </p:txBody>
      </p:sp>
      <p:cxnSp>
        <p:nvCxnSpPr>
          <p:cNvPr id="146" name="Google Shape;146;gefbeba6a1c_0_509"/>
          <p:cNvCxnSpPr>
            <a:endCxn id="142" idx="2"/>
          </p:cNvCxnSpPr>
          <p:nvPr/>
        </p:nvCxnSpPr>
        <p:spPr>
          <a:xfrm rot="10800000">
            <a:off x="6095988" y="3941425"/>
            <a:ext cx="0" cy="169500"/>
          </a:xfrm>
          <a:prstGeom prst="straightConnector1">
            <a:avLst/>
          </a:prstGeom>
          <a:noFill/>
          <a:ln cap="flat" cmpd="sng" w="9525">
            <a:solidFill>
              <a:schemeClr val="dk2"/>
            </a:solidFill>
            <a:prstDash val="solid"/>
            <a:round/>
            <a:headEnd len="sm" w="sm" type="none"/>
            <a:tailEnd len="med" w="med" type="triangle"/>
          </a:ln>
        </p:spPr>
      </p:cxnSp>
      <p:cxnSp>
        <p:nvCxnSpPr>
          <p:cNvPr id="147" name="Google Shape;147;gefbeba6a1c_0_509"/>
          <p:cNvCxnSpPr>
            <a:stCxn id="141" idx="1"/>
            <a:endCxn id="145" idx="3"/>
          </p:cNvCxnSpPr>
          <p:nvPr/>
        </p:nvCxnSpPr>
        <p:spPr>
          <a:xfrm rot="10800000">
            <a:off x="42017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8" name="Google Shape;148;gefbeba6a1c_0_509"/>
          <p:cNvCxnSpPr>
            <a:stCxn id="141" idx="3"/>
            <a:endCxn id="144" idx="1"/>
          </p:cNvCxnSpPr>
          <p:nvPr/>
        </p:nvCxnSpPr>
        <p:spPr>
          <a:xfrm>
            <a:off x="71891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9" name="Google Shape;149;gefbeba6a1c_0_509"/>
          <p:cNvCxnSpPr>
            <a:stCxn id="141" idx="2"/>
            <a:endCxn id="143" idx="0"/>
          </p:cNvCxnSpPr>
          <p:nvPr/>
        </p:nvCxnSpPr>
        <p:spPr>
          <a:xfrm>
            <a:off x="6095988" y="4821175"/>
            <a:ext cx="0" cy="16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114e7c68aca_0_5"/>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Sentiment Analysis and Cognitive Presence</a:t>
            </a:r>
            <a:endParaRPr/>
          </a:p>
        </p:txBody>
      </p:sp>
      <p:pic>
        <p:nvPicPr>
          <p:cNvPr id="155" name="Google Shape;155;g114e7c68aca_0_5"/>
          <p:cNvPicPr preferRelativeResize="0"/>
          <p:nvPr/>
        </p:nvPicPr>
        <p:blipFill>
          <a:blip r:embed="rId3">
            <a:alphaModFix/>
          </a:blip>
          <a:stretch>
            <a:fillRect/>
          </a:stretch>
        </p:blipFill>
        <p:spPr>
          <a:xfrm>
            <a:off x="269550" y="1227150"/>
            <a:ext cx="10761252" cy="2285700"/>
          </a:xfrm>
          <a:prstGeom prst="rect">
            <a:avLst/>
          </a:prstGeom>
          <a:noFill/>
          <a:ln>
            <a:noFill/>
          </a:ln>
        </p:spPr>
      </p:pic>
      <p:pic>
        <p:nvPicPr>
          <p:cNvPr id="156" name="Google Shape;156;g114e7c68aca_0_5"/>
          <p:cNvPicPr preferRelativeResize="0"/>
          <p:nvPr/>
        </p:nvPicPr>
        <p:blipFill>
          <a:blip r:embed="rId4">
            <a:alphaModFix/>
          </a:blip>
          <a:stretch>
            <a:fillRect/>
          </a:stretch>
        </p:blipFill>
        <p:spPr>
          <a:xfrm>
            <a:off x="573763" y="3748150"/>
            <a:ext cx="10152824" cy="2589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efbeba6a1c_0_10"/>
          <p:cNvSpPr txBox="1"/>
          <p:nvPr>
            <p:ph idx="1" type="body"/>
          </p:nvPr>
        </p:nvSpPr>
        <p:spPr>
          <a:xfrm>
            <a:off x="291900" y="1504950"/>
            <a:ext cx="11608200" cy="51432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1000"/>
              </a:spcBef>
              <a:spcAft>
                <a:spcPts val="0"/>
              </a:spcAft>
              <a:buSzPts val="2200"/>
              <a:buChar char="•"/>
            </a:pPr>
            <a:r>
              <a:rPr lang="en-US"/>
              <a:t>It’s not quite useful to further analyze sentiments of the students in a well-established online course. </a:t>
            </a:r>
            <a:endParaRPr/>
          </a:p>
          <a:p>
            <a:pPr indent="-342900" lvl="0" marL="457200" rtl="0" algn="l">
              <a:lnSpc>
                <a:spcPct val="100000"/>
              </a:lnSpc>
              <a:spcBef>
                <a:spcPts val="1000"/>
              </a:spcBef>
              <a:spcAft>
                <a:spcPts val="0"/>
              </a:spcAft>
              <a:buSzPts val="1800"/>
              <a:buChar char="•"/>
            </a:pPr>
            <a:r>
              <a:rPr lang="en-US"/>
              <a:t>The study on cognitive presence analysis can be used to see if the questions need to be resolved or not after posting a follow-up. </a:t>
            </a:r>
            <a:endParaRPr/>
          </a:p>
          <a:p>
            <a:pPr indent="-342900" lvl="0" marL="457200" rtl="0" algn="l">
              <a:lnSpc>
                <a:spcPct val="100000"/>
              </a:lnSpc>
              <a:spcBef>
                <a:spcPts val="1000"/>
              </a:spcBef>
              <a:spcAft>
                <a:spcPts val="0"/>
              </a:spcAft>
              <a:buSzPts val="1800"/>
              <a:buChar char="•"/>
            </a:pPr>
            <a:r>
              <a:rPr lang="en-US"/>
              <a:t>Other Concerns:</a:t>
            </a:r>
            <a:endParaRPr/>
          </a:p>
          <a:p>
            <a:pPr indent="-342900" lvl="1" marL="914400" rtl="0" algn="l">
              <a:lnSpc>
                <a:spcPct val="100000"/>
              </a:lnSpc>
              <a:spcBef>
                <a:spcPts val="1000"/>
              </a:spcBef>
              <a:spcAft>
                <a:spcPts val="0"/>
              </a:spcAft>
              <a:buSzPts val="1800"/>
              <a:buChar char="•"/>
            </a:pPr>
            <a:r>
              <a:rPr lang="en-US"/>
              <a:t>If we could reply to unresolved posts using similar posts from prev. semester. </a:t>
            </a:r>
            <a:endParaRPr/>
          </a:p>
          <a:p>
            <a:pPr indent="-342900" lvl="1" marL="914400" rtl="0" algn="l">
              <a:lnSpc>
                <a:spcPct val="100000"/>
              </a:lnSpc>
              <a:spcBef>
                <a:spcPts val="1000"/>
              </a:spcBef>
              <a:spcAft>
                <a:spcPts val="0"/>
              </a:spcAft>
              <a:buSzPts val="1800"/>
              <a:buChar char="•"/>
            </a:pPr>
            <a:r>
              <a:rPr lang="en-US"/>
              <a:t>Duplicate posts: Good with smaller classes, but hard to scale up. </a:t>
            </a:r>
            <a:endParaRPr/>
          </a:p>
          <a:p>
            <a:pPr indent="-342900" lvl="1" marL="914400" rtl="0" algn="l">
              <a:lnSpc>
                <a:spcPct val="100000"/>
              </a:lnSpc>
              <a:spcBef>
                <a:spcPts val="1000"/>
              </a:spcBef>
              <a:spcAft>
                <a:spcPts val="0"/>
              </a:spcAft>
              <a:buSzPts val="1800"/>
              <a:buChar char="•"/>
            </a:pPr>
            <a:r>
              <a:rPr lang="en-US"/>
              <a:t>Need a functionality to assign TAs to unresolved posts. </a:t>
            </a:r>
            <a:endParaRPr/>
          </a:p>
          <a:p>
            <a:pPr indent="0" lvl="0" marL="0" rtl="0" algn="l">
              <a:lnSpc>
                <a:spcPct val="100000"/>
              </a:lnSpc>
              <a:spcBef>
                <a:spcPts val="1000"/>
              </a:spcBef>
              <a:spcAft>
                <a:spcPts val="0"/>
              </a:spcAft>
              <a:buNone/>
            </a:pPr>
            <a:r>
              <a:t/>
            </a:r>
            <a:endParaRPr/>
          </a:p>
        </p:txBody>
      </p:sp>
      <p:sp>
        <p:nvSpPr>
          <p:cNvPr id="162" name="Google Shape;162;gefbeba6a1c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Meeting with 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efbeba6a1c_0_2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Topic Modeling </a:t>
            </a:r>
            <a:endParaRPr/>
          </a:p>
        </p:txBody>
      </p:sp>
      <p:sp>
        <p:nvSpPr>
          <p:cNvPr id="168" name="Google Shape;168;gefbeba6a1c_0_20"/>
          <p:cNvSpPr txBox="1"/>
          <p:nvPr>
            <p:ph idx="1" type="body"/>
          </p:nvPr>
        </p:nvSpPr>
        <p:spPr>
          <a:xfrm>
            <a:off x="381000" y="1215474"/>
            <a:ext cx="11430000" cy="51432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1000"/>
              </a:spcBef>
              <a:spcAft>
                <a:spcPts val="0"/>
              </a:spcAft>
              <a:buSzPts val="2200"/>
              <a:buChar char="•"/>
            </a:pPr>
            <a:r>
              <a:rPr lang="en-US" sz="2200"/>
              <a:t>A type of statistics modeling to discover the abstract topics by text-mining and analyzing each documents.</a:t>
            </a:r>
            <a:endParaRPr sz="2200"/>
          </a:p>
          <a:p>
            <a:pPr indent="-368300" lvl="0" marL="457200" rtl="0" algn="l">
              <a:lnSpc>
                <a:spcPct val="100000"/>
              </a:lnSpc>
              <a:spcBef>
                <a:spcPts val="1000"/>
              </a:spcBef>
              <a:spcAft>
                <a:spcPts val="0"/>
              </a:spcAft>
              <a:buSzPts val="2200"/>
              <a:buChar char="•"/>
            </a:pPr>
            <a:r>
              <a:rPr lang="en-US" sz="2200"/>
              <a:t>Latent Dirichlet Allocation</a:t>
            </a:r>
            <a:endParaRPr sz="2200"/>
          </a:p>
          <a:p>
            <a:pPr indent="-368300" lvl="1" marL="914400" rtl="0" algn="l">
              <a:lnSpc>
                <a:spcPct val="100000"/>
              </a:lnSpc>
              <a:spcBef>
                <a:spcPts val="1000"/>
              </a:spcBef>
              <a:spcAft>
                <a:spcPts val="0"/>
              </a:spcAft>
              <a:buSzPts val="2200"/>
              <a:buChar char="•"/>
            </a:pPr>
            <a:r>
              <a:rPr lang="en-US" sz="2200"/>
              <a:t>Topic Distribution in docs </a:t>
            </a:r>
            <a:endParaRPr sz="2200"/>
          </a:p>
          <a:p>
            <a:pPr indent="-368300" lvl="1" marL="914400" rtl="0" algn="l">
              <a:lnSpc>
                <a:spcPct val="100000"/>
              </a:lnSpc>
              <a:spcBef>
                <a:spcPts val="1000"/>
              </a:spcBef>
              <a:spcAft>
                <a:spcPts val="0"/>
              </a:spcAft>
              <a:buSzPts val="2200"/>
              <a:buChar char="•"/>
            </a:pPr>
            <a:r>
              <a:rPr lang="en-US" sz="2200"/>
              <a:t>Weight of words in topics</a:t>
            </a:r>
            <a:endParaRPr sz="2200"/>
          </a:p>
          <a:p>
            <a:pPr indent="0" lvl="0" marL="0" rtl="0" algn="l">
              <a:lnSpc>
                <a:spcPct val="100000"/>
              </a:lnSpc>
              <a:spcBef>
                <a:spcPts val="1000"/>
              </a:spcBef>
              <a:spcAft>
                <a:spcPts val="0"/>
              </a:spcAft>
              <a:buNone/>
            </a:pPr>
            <a:r>
              <a:t/>
            </a:r>
            <a:endParaRPr sz="2200"/>
          </a:p>
          <a:p>
            <a:pPr indent="0" lvl="0" marL="0" rtl="0" algn="l">
              <a:lnSpc>
                <a:spcPct val="100000"/>
              </a:lnSpc>
              <a:spcBef>
                <a:spcPts val="1000"/>
              </a:spcBef>
              <a:spcAft>
                <a:spcPts val="0"/>
              </a:spcAft>
              <a:buNone/>
            </a:pPr>
            <a:r>
              <a:t/>
            </a:r>
            <a:endParaRPr sz="2200"/>
          </a:p>
          <a:p>
            <a:pPr indent="-368300" lvl="0" marL="457200" rtl="0" algn="l">
              <a:lnSpc>
                <a:spcPct val="100000"/>
              </a:lnSpc>
              <a:spcBef>
                <a:spcPts val="1000"/>
              </a:spcBef>
              <a:spcAft>
                <a:spcPts val="0"/>
              </a:spcAft>
              <a:buSzPts val="2200"/>
              <a:buChar char="•"/>
            </a:pPr>
            <a:r>
              <a:rPr lang="en-US" sz="2200"/>
              <a:t>Non-negative Matrix Factorization</a:t>
            </a:r>
            <a:endParaRPr sz="2200"/>
          </a:p>
          <a:p>
            <a:pPr indent="-368300" lvl="1" marL="914400" rtl="0" algn="l">
              <a:lnSpc>
                <a:spcPct val="100000"/>
              </a:lnSpc>
              <a:spcBef>
                <a:spcPts val="0"/>
              </a:spcBef>
              <a:spcAft>
                <a:spcPts val="0"/>
              </a:spcAft>
              <a:buSzPts val="2200"/>
              <a:buChar char="•"/>
            </a:pPr>
            <a:r>
              <a:rPr lang="en-US" sz="2200"/>
              <a:t>W doc by topic</a:t>
            </a:r>
            <a:endParaRPr sz="2200"/>
          </a:p>
          <a:p>
            <a:pPr indent="-368300" lvl="1" marL="914400" rtl="0" algn="l">
              <a:lnSpc>
                <a:spcPct val="100000"/>
              </a:lnSpc>
              <a:spcBef>
                <a:spcPts val="0"/>
              </a:spcBef>
              <a:spcAft>
                <a:spcPts val="0"/>
              </a:spcAft>
              <a:buSzPts val="2200"/>
              <a:buChar char="•"/>
            </a:pPr>
            <a:r>
              <a:rPr lang="en-US" sz="2200"/>
              <a:t>H topic by words</a:t>
            </a:r>
            <a:endParaRPr sz="2200"/>
          </a:p>
        </p:txBody>
      </p:sp>
      <p:pic>
        <p:nvPicPr>
          <p:cNvPr id="169" name="Google Shape;169;gefbeba6a1c_0_20"/>
          <p:cNvPicPr preferRelativeResize="0"/>
          <p:nvPr/>
        </p:nvPicPr>
        <p:blipFill>
          <a:blip r:embed="rId3">
            <a:alphaModFix/>
          </a:blip>
          <a:stretch>
            <a:fillRect/>
          </a:stretch>
        </p:blipFill>
        <p:spPr>
          <a:xfrm>
            <a:off x="5467100" y="4246500"/>
            <a:ext cx="6129350" cy="1814850"/>
          </a:xfrm>
          <a:prstGeom prst="rect">
            <a:avLst/>
          </a:prstGeom>
          <a:noFill/>
          <a:ln>
            <a:noFill/>
          </a:ln>
        </p:spPr>
      </p:pic>
      <p:pic>
        <p:nvPicPr>
          <p:cNvPr id="170" name="Google Shape;170;gefbeba6a1c_0_20"/>
          <p:cNvPicPr preferRelativeResize="0"/>
          <p:nvPr/>
        </p:nvPicPr>
        <p:blipFill rotWithShape="1">
          <a:blip r:embed="rId4">
            <a:alphaModFix/>
          </a:blip>
          <a:srcRect b="1634" l="3269" r="3325" t="1625"/>
          <a:stretch/>
        </p:blipFill>
        <p:spPr>
          <a:xfrm>
            <a:off x="4695400" y="1788050"/>
            <a:ext cx="7411725" cy="2347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f4bb9c8d2f_2_0"/>
          <p:cNvSpPr txBox="1"/>
          <p:nvPr/>
        </p:nvSpPr>
        <p:spPr>
          <a:xfrm>
            <a:off x="424650" y="1215625"/>
            <a:ext cx="11342700" cy="5017800"/>
          </a:xfrm>
          <a:prstGeom prst="rect">
            <a:avLst/>
          </a:prstGeom>
          <a:noFill/>
          <a:ln>
            <a:noFill/>
          </a:ln>
        </p:spPr>
        <p:txBody>
          <a:bodyPr anchorCtr="0" anchor="t" bIns="91425" lIns="91425" spcFirstLastPara="1" rIns="91425" wrap="square" tIns="91425">
            <a:spAutoFit/>
          </a:bodyPr>
          <a:lstStyle/>
          <a:p>
            <a:pPr indent="-368300" lvl="0" marL="457200" rtl="0" algn="l">
              <a:spcBef>
                <a:spcPts val="1000"/>
              </a:spcBef>
              <a:spcAft>
                <a:spcPts val="0"/>
              </a:spcAft>
              <a:buClr>
                <a:schemeClr val="dk1"/>
              </a:buClr>
              <a:buSzPts val="2200"/>
              <a:buChar char="•"/>
            </a:pPr>
            <a:r>
              <a:rPr lang="en-US" sz="2200">
                <a:solidFill>
                  <a:schemeClr val="dk1"/>
                </a:solidFill>
                <a:latin typeface="Roboto"/>
                <a:ea typeface="Roboto"/>
                <a:cs typeface="Roboto"/>
                <a:sym typeface="Roboto"/>
              </a:rPr>
              <a:t>Metacognition: awareness and understanding of one's own thought processes.</a:t>
            </a:r>
            <a:endParaRPr sz="2200">
              <a:solidFill>
                <a:schemeClr val="dk1"/>
              </a:solidFill>
              <a:latin typeface="Roboto"/>
              <a:ea typeface="Roboto"/>
              <a:cs typeface="Roboto"/>
              <a:sym typeface="Roboto"/>
            </a:endParaRPr>
          </a:p>
          <a:p>
            <a:pPr indent="-368300" lvl="1" marL="914400" rtl="0" algn="l">
              <a:spcBef>
                <a:spcPts val="1000"/>
              </a:spcBef>
              <a:spcAft>
                <a:spcPts val="0"/>
              </a:spcAft>
              <a:buClr>
                <a:schemeClr val="dk1"/>
              </a:buClr>
              <a:buSzPts val="2200"/>
              <a:buChar char="•"/>
            </a:pPr>
            <a:r>
              <a:rPr lang="en-US" sz="2200">
                <a:solidFill>
                  <a:schemeClr val="dk1"/>
                </a:solidFill>
                <a:latin typeface="Roboto"/>
                <a:ea typeface="Roboto"/>
                <a:cs typeface="Roboto"/>
                <a:sym typeface="Roboto"/>
              </a:rPr>
              <a:t>We hope to evaluate the possibility of integrating a metacognitive presence detection algorithm into our sentiment analysis software to determine which forms of types of discussion post assignments lead to higher-level metacognitive thinking. </a:t>
            </a:r>
            <a:endParaRPr sz="2200">
              <a:solidFill>
                <a:schemeClr val="dk1"/>
              </a:solidFill>
              <a:latin typeface="Roboto"/>
              <a:ea typeface="Roboto"/>
              <a:cs typeface="Roboto"/>
              <a:sym typeface="Roboto"/>
            </a:endParaRPr>
          </a:p>
          <a:p>
            <a:pPr indent="0" lvl="0" marL="914400" rtl="0" algn="l">
              <a:spcBef>
                <a:spcPts val="1000"/>
              </a:spcBef>
              <a:spcAft>
                <a:spcPts val="0"/>
              </a:spcAft>
              <a:buNone/>
            </a:pPr>
            <a:r>
              <a:t/>
            </a:r>
            <a:endParaRPr sz="2200">
              <a:solidFill>
                <a:schemeClr val="dk1"/>
              </a:solidFill>
              <a:latin typeface="Roboto"/>
              <a:ea typeface="Roboto"/>
              <a:cs typeface="Roboto"/>
              <a:sym typeface="Roboto"/>
            </a:endParaRPr>
          </a:p>
          <a:p>
            <a:pPr indent="-368300" lvl="0" marL="457200" rtl="0" algn="l">
              <a:spcBef>
                <a:spcPts val="1000"/>
              </a:spcBef>
              <a:spcAft>
                <a:spcPts val="0"/>
              </a:spcAft>
              <a:buClr>
                <a:schemeClr val="dk1"/>
              </a:buClr>
              <a:buSzPts val="2200"/>
              <a:buFont typeface="Roboto"/>
              <a:buChar char="•"/>
            </a:pPr>
            <a:r>
              <a:rPr lang="en-US" sz="2200">
                <a:solidFill>
                  <a:schemeClr val="dk1"/>
                </a:solidFill>
                <a:latin typeface="Roboto"/>
                <a:ea typeface="Roboto"/>
                <a:cs typeface="Roboto"/>
                <a:sym typeface="Roboto"/>
              </a:rPr>
              <a:t>Classifying EdX and Piazza data belonging to a particular topic.</a:t>
            </a:r>
            <a:endParaRPr sz="2200">
              <a:solidFill>
                <a:schemeClr val="dk1"/>
              </a:solidFill>
              <a:latin typeface="Roboto"/>
              <a:ea typeface="Roboto"/>
              <a:cs typeface="Roboto"/>
              <a:sym typeface="Roboto"/>
            </a:endParaRPr>
          </a:p>
          <a:p>
            <a:pPr indent="-368300" lvl="0" marL="457200" rtl="0" algn="l">
              <a:spcBef>
                <a:spcPts val="0"/>
              </a:spcBef>
              <a:spcAft>
                <a:spcPts val="0"/>
              </a:spcAft>
              <a:buClr>
                <a:schemeClr val="dk1"/>
              </a:buClr>
              <a:buSzPts val="2200"/>
              <a:buFont typeface="Roboto"/>
              <a:buChar char="•"/>
            </a:pPr>
            <a:r>
              <a:rPr lang="en-US" sz="2200">
                <a:solidFill>
                  <a:schemeClr val="dk1"/>
                </a:solidFill>
                <a:latin typeface="Roboto"/>
                <a:ea typeface="Roboto"/>
                <a:cs typeface="Roboto"/>
                <a:sym typeface="Roboto"/>
              </a:rPr>
              <a:t>Clustering repeated and similar questions from the cumulative semester to help to reduce the questions volume.</a:t>
            </a:r>
            <a:endParaRPr sz="2200">
              <a:solidFill>
                <a:schemeClr val="dk1"/>
              </a:solidFill>
              <a:latin typeface="Roboto"/>
              <a:ea typeface="Roboto"/>
              <a:cs typeface="Roboto"/>
              <a:sym typeface="Roboto"/>
            </a:endParaRPr>
          </a:p>
          <a:p>
            <a:pPr indent="0" lvl="0" marL="0" marR="0" rtl="0" algn="l">
              <a:lnSpc>
                <a:spcPct val="100000"/>
              </a:lnSpc>
              <a:spcBef>
                <a:spcPts val="1000"/>
              </a:spcBef>
              <a:spcAft>
                <a:spcPts val="0"/>
              </a:spcAft>
              <a:buNone/>
            </a:pPr>
            <a:r>
              <a:t/>
            </a:r>
            <a:endParaRPr sz="2200">
              <a:solidFill>
                <a:schemeClr val="dk1"/>
              </a:solidFill>
              <a:latin typeface="Roboto"/>
              <a:ea typeface="Roboto"/>
              <a:cs typeface="Roboto"/>
              <a:sym typeface="Roboto"/>
            </a:endParaRPr>
          </a:p>
          <a:p>
            <a:pPr indent="0" lvl="0" marL="0" marR="0" rtl="0" algn="l">
              <a:lnSpc>
                <a:spcPct val="100000"/>
              </a:lnSpc>
              <a:spcBef>
                <a:spcPts val="1000"/>
              </a:spcBef>
              <a:spcAft>
                <a:spcPts val="0"/>
              </a:spcAft>
              <a:buNone/>
            </a:pPr>
            <a:r>
              <a:t/>
            </a:r>
            <a:endParaRPr sz="2200">
              <a:solidFill>
                <a:schemeClr val="dk1"/>
              </a:solidFill>
              <a:latin typeface="Roboto"/>
              <a:ea typeface="Roboto"/>
              <a:cs typeface="Roboto"/>
              <a:sym typeface="Roboto"/>
            </a:endParaRPr>
          </a:p>
          <a:p>
            <a:pPr indent="0" lvl="0" marL="0" marR="0" rtl="0" algn="l">
              <a:lnSpc>
                <a:spcPct val="100000"/>
              </a:lnSpc>
              <a:spcBef>
                <a:spcPts val="1000"/>
              </a:spcBef>
              <a:spcAft>
                <a:spcPts val="0"/>
              </a:spcAft>
              <a:buNone/>
            </a:pPr>
            <a:r>
              <a:t/>
            </a:r>
            <a:endParaRPr sz="2200">
              <a:solidFill>
                <a:schemeClr val="dk1"/>
              </a:solidFill>
              <a:latin typeface="Roboto"/>
              <a:ea typeface="Roboto"/>
              <a:cs typeface="Roboto"/>
              <a:sym typeface="Roboto"/>
            </a:endParaRPr>
          </a:p>
        </p:txBody>
      </p:sp>
      <p:sp>
        <p:nvSpPr>
          <p:cNvPr id="176" name="Google Shape;176;gf4bb9c8d2f_2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Goals for this semester (Metacognition)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efbeba6a1c_0_51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UX Research</a:t>
            </a:r>
            <a:endParaRPr sz="7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efbeba6a1c_0_15"/>
          <p:cNvSpPr txBox="1"/>
          <p:nvPr>
            <p:ph idx="1" type="body"/>
          </p:nvPr>
        </p:nvSpPr>
        <p:spPr>
          <a:xfrm>
            <a:off x="381000" y="1532300"/>
            <a:ext cx="11430000" cy="4036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1800"/>
              <a:buNone/>
            </a:pPr>
            <a:r>
              <a:rPr b="1" lang="en-US"/>
              <a:t>Research Question:</a:t>
            </a:r>
            <a:r>
              <a:rPr lang="en-US"/>
              <a:t> What metrics on a dashboard are useful to instructors in order to improve student engagement &amp; performance and/or reduce workload for instructors?</a:t>
            </a:r>
            <a:endParaRPr/>
          </a:p>
          <a:p>
            <a:pPr indent="0" lvl="0" marL="0" rtl="0" algn="l">
              <a:lnSpc>
                <a:spcPct val="100000"/>
              </a:lnSpc>
              <a:spcBef>
                <a:spcPts val="1000"/>
              </a:spcBef>
              <a:spcAft>
                <a:spcPts val="0"/>
              </a:spcAft>
              <a:buSzPts val="1800"/>
              <a:buNone/>
            </a:pPr>
            <a:r>
              <a:t/>
            </a:r>
            <a:endParaRPr/>
          </a:p>
          <a:p>
            <a:pPr indent="0" lvl="0" marL="0" rtl="0" algn="l">
              <a:lnSpc>
                <a:spcPct val="100000"/>
              </a:lnSpc>
              <a:spcBef>
                <a:spcPts val="1000"/>
              </a:spcBef>
              <a:spcAft>
                <a:spcPts val="0"/>
              </a:spcAft>
              <a:buSzPts val="1800"/>
              <a:buNone/>
            </a:pPr>
            <a:r>
              <a:rPr b="1" lang="en-US"/>
              <a:t>Goals</a:t>
            </a:r>
            <a:r>
              <a:rPr lang="en-US"/>
              <a:t>:</a:t>
            </a:r>
            <a:endParaRPr/>
          </a:p>
          <a:p>
            <a:pPr indent="-342900" lvl="0" marL="457200" rtl="0" algn="l">
              <a:lnSpc>
                <a:spcPct val="100000"/>
              </a:lnSpc>
              <a:spcBef>
                <a:spcPts val="1000"/>
              </a:spcBef>
              <a:spcAft>
                <a:spcPts val="0"/>
              </a:spcAft>
              <a:buSzPts val="1800"/>
              <a:buChar char="•"/>
            </a:pPr>
            <a:r>
              <a:rPr lang="en-US"/>
              <a:t>Collect ideas &amp; insights from users on utility of metrics.</a:t>
            </a:r>
            <a:endParaRPr/>
          </a:p>
          <a:p>
            <a:pPr indent="-342900" lvl="0" marL="457200" rtl="0" algn="l">
              <a:lnSpc>
                <a:spcPct val="100000"/>
              </a:lnSpc>
              <a:spcBef>
                <a:spcPts val="0"/>
              </a:spcBef>
              <a:spcAft>
                <a:spcPts val="0"/>
              </a:spcAft>
              <a:buSzPts val="1800"/>
              <a:buChar char="•"/>
            </a:pPr>
            <a:r>
              <a:rPr lang="en-US"/>
              <a:t>Find the intersection between valuable metrics and feasible metrics.</a:t>
            </a:r>
            <a:endParaRPr/>
          </a:p>
          <a:p>
            <a:pPr indent="-342900" lvl="0" marL="457200" rtl="0" algn="l">
              <a:lnSpc>
                <a:spcPct val="100000"/>
              </a:lnSpc>
              <a:spcBef>
                <a:spcPts val="0"/>
              </a:spcBef>
              <a:spcAft>
                <a:spcPts val="0"/>
              </a:spcAft>
              <a:buSzPts val="1800"/>
              <a:buChar char="•"/>
            </a:pPr>
            <a:r>
              <a:rPr lang="en-US"/>
              <a:t>Pilot test prototypes with users.</a:t>
            </a:r>
            <a:endParaRPr/>
          </a:p>
        </p:txBody>
      </p:sp>
      <p:sp>
        <p:nvSpPr>
          <p:cNvPr id="187" name="Google Shape;187;gefbeba6a1c_0_15"/>
          <p:cNvSpPr txBox="1"/>
          <p:nvPr>
            <p:ph type="title"/>
          </p:nvPr>
        </p:nvSpPr>
        <p:spPr>
          <a:xfrm>
            <a:off x="381000" y="33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User Surveys &amp; Interviews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efbeba6a1c_0_430"/>
          <p:cNvSpPr txBox="1"/>
          <p:nvPr>
            <p:ph idx="1" type="body"/>
          </p:nvPr>
        </p:nvSpPr>
        <p:spPr>
          <a:xfrm>
            <a:off x="381000" y="1532301"/>
            <a:ext cx="11430000" cy="42795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1000"/>
              </a:spcBef>
              <a:spcAft>
                <a:spcPts val="0"/>
              </a:spcAft>
              <a:buSzPts val="1800"/>
              <a:buChar char="•"/>
            </a:pPr>
            <a:r>
              <a:rPr lang="en-US"/>
              <a:t>Conducted interviews with TAs &amp; instructors from OMS classes</a:t>
            </a:r>
            <a:endParaRPr/>
          </a:p>
          <a:p>
            <a:pPr indent="-342900" lvl="1" marL="914400" rtl="0" algn="l">
              <a:lnSpc>
                <a:spcPct val="100000"/>
              </a:lnSpc>
              <a:spcBef>
                <a:spcPts val="0"/>
              </a:spcBef>
              <a:spcAft>
                <a:spcPts val="0"/>
              </a:spcAft>
              <a:buSzPts val="1800"/>
              <a:buChar char="•"/>
            </a:pPr>
            <a:r>
              <a:rPr lang="en-US"/>
              <a:t>Dr. Joyner, James Lohse, Vaibhav Bhosale</a:t>
            </a:r>
            <a:endParaRPr/>
          </a:p>
          <a:p>
            <a:pPr indent="-342900" lvl="0" marL="457200" rtl="0" algn="l">
              <a:lnSpc>
                <a:spcPct val="100000"/>
              </a:lnSpc>
              <a:spcBef>
                <a:spcPts val="1000"/>
              </a:spcBef>
              <a:spcAft>
                <a:spcPts val="0"/>
              </a:spcAft>
              <a:buSzPts val="1800"/>
              <a:buChar char="•"/>
            </a:pPr>
            <a:r>
              <a:rPr lang="en-US"/>
              <a:t>Gave out survey for feedback on metrics</a:t>
            </a:r>
            <a:endParaRPr/>
          </a:p>
          <a:p>
            <a:pPr indent="-342900" lvl="0" marL="457200" rtl="0" algn="l">
              <a:lnSpc>
                <a:spcPct val="100000"/>
              </a:lnSpc>
              <a:spcBef>
                <a:spcPts val="1000"/>
              </a:spcBef>
              <a:spcAft>
                <a:spcPts val="0"/>
              </a:spcAft>
              <a:buSzPts val="1800"/>
              <a:buChar char="•"/>
            </a:pPr>
            <a:r>
              <a:rPr lang="en-US"/>
              <a:t>Reported on:</a:t>
            </a:r>
            <a:endParaRPr/>
          </a:p>
          <a:p>
            <a:pPr indent="-342900" lvl="1" marL="914400" rtl="0" algn="l">
              <a:lnSpc>
                <a:spcPct val="100000"/>
              </a:lnSpc>
              <a:spcBef>
                <a:spcPts val="1000"/>
              </a:spcBef>
              <a:spcAft>
                <a:spcPts val="0"/>
              </a:spcAft>
              <a:buSzPts val="1800"/>
              <a:buChar char="•"/>
            </a:pPr>
            <a:r>
              <a:rPr lang="en-US"/>
              <a:t>Metrics to include on dashboard</a:t>
            </a:r>
            <a:endParaRPr/>
          </a:p>
          <a:p>
            <a:pPr indent="-342900" lvl="1" marL="914400" rtl="0" algn="l">
              <a:lnSpc>
                <a:spcPct val="100000"/>
              </a:lnSpc>
              <a:spcBef>
                <a:spcPts val="1000"/>
              </a:spcBef>
              <a:spcAft>
                <a:spcPts val="0"/>
              </a:spcAft>
              <a:buSzPts val="1800"/>
              <a:buChar char="•"/>
            </a:pPr>
            <a:r>
              <a:rPr lang="en-US"/>
              <a:t>Problems with using discussion forums</a:t>
            </a:r>
            <a:endParaRPr/>
          </a:p>
          <a:p>
            <a:pPr indent="-342900" lvl="1" marL="914400" rtl="0" algn="l">
              <a:lnSpc>
                <a:spcPct val="100000"/>
              </a:lnSpc>
              <a:spcBef>
                <a:spcPts val="1000"/>
              </a:spcBef>
              <a:spcAft>
                <a:spcPts val="0"/>
              </a:spcAft>
              <a:buSzPts val="1800"/>
              <a:buChar char="•"/>
            </a:pPr>
            <a:r>
              <a:rPr lang="en-US"/>
              <a:t>Research topics for further investigation</a:t>
            </a:r>
            <a:endParaRPr/>
          </a:p>
        </p:txBody>
      </p:sp>
      <p:sp>
        <p:nvSpPr>
          <p:cNvPr id="193" name="Google Shape;193;gefbeba6a1c_0_43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Font typeface="Arial"/>
              <a:buNone/>
            </a:pPr>
            <a:r>
              <a:rPr lang="en-US"/>
              <a:t>User Surveys &amp; Interviews - Previous Work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efbeba6a1c_0_498"/>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None/>
            </a:pPr>
            <a:r>
              <a:t/>
            </a:r>
            <a:endParaRPr sz="3000"/>
          </a:p>
          <a:p>
            <a:pPr indent="-419100" lvl="1" marL="914400" rtl="0" algn="l">
              <a:lnSpc>
                <a:spcPct val="115000"/>
              </a:lnSpc>
              <a:spcBef>
                <a:spcPts val="1000"/>
              </a:spcBef>
              <a:spcAft>
                <a:spcPts val="0"/>
              </a:spcAft>
              <a:buSzPts val="3000"/>
              <a:buChar char="•"/>
            </a:pPr>
            <a:r>
              <a:rPr lang="en-US" sz="3000"/>
              <a:t>Focus on feasible + useful metrics</a:t>
            </a:r>
            <a:endParaRPr sz="3000"/>
          </a:p>
          <a:p>
            <a:pPr indent="-419100" lvl="1" marL="914400" rtl="0" algn="l">
              <a:lnSpc>
                <a:spcPct val="115000"/>
              </a:lnSpc>
              <a:spcBef>
                <a:spcPts val="1000"/>
              </a:spcBef>
              <a:spcAft>
                <a:spcPts val="0"/>
              </a:spcAft>
              <a:buSzPts val="3000"/>
              <a:buChar char="•"/>
            </a:pPr>
            <a:r>
              <a:rPr lang="en-US" sz="3000"/>
              <a:t>Work with web dev team and data science team</a:t>
            </a:r>
            <a:endParaRPr sz="3000"/>
          </a:p>
          <a:p>
            <a:pPr indent="-419100" lvl="1" marL="914400" rtl="0" algn="l">
              <a:lnSpc>
                <a:spcPct val="115000"/>
              </a:lnSpc>
              <a:spcBef>
                <a:spcPts val="1000"/>
              </a:spcBef>
              <a:spcAft>
                <a:spcPts val="0"/>
              </a:spcAft>
              <a:buSzPts val="3000"/>
              <a:buChar char="•"/>
            </a:pPr>
            <a:r>
              <a:rPr lang="en-US" sz="3000"/>
              <a:t>Iteratively request feedback on metrics developed</a:t>
            </a:r>
            <a:endParaRPr sz="3000"/>
          </a:p>
          <a:p>
            <a:pPr indent="-419100" lvl="1" marL="914400" rtl="0" algn="l">
              <a:lnSpc>
                <a:spcPct val="115000"/>
              </a:lnSpc>
              <a:spcBef>
                <a:spcPts val="1000"/>
              </a:spcBef>
              <a:spcAft>
                <a:spcPts val="0"/>
              </a:spcAft>
              <a:buSzPts val="3000"/>
              <a:buChar char="•"/>
            </a:pPr>
            <a:r>
              <a:rPr lang="en-US" sz="3000"/>
              <a:t>Interview TA’s with prototypes of the </a:t>
            </a:r>
            <a:r>
              <a:rPr lang="en-US" sz="3000"/>
              <a:t>dashboard</a:t>
            </a:r>
            <a:r>
              <a:rPr lang="en-US" sz="3000"/>
              <a:t> as we go</a:t>
            </a:r>
            <a:endParaRPr sz="3000"/>
          </a:p>
        </p:txBody>
      </p:sp>
      <p:sp>
        <p:nvSpPr>
          <p:cNvPr id="199" name="Google Shape;199;gefbeba6a1c_0_49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User Surveys &amp; Interviews - Semester Goals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9d659091a8_1_1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1000"/>
              </a:spcBef>
              <a:spcAft>
                <a:spcPts val="0"/>
              </a:spcAft>
              <a:buSzPts val="2200"/>
              <a:buChar char="•"/>
            </a:pPr>
            <a:r>
              <a:rPr lang="en-US"/>
              <a:t>Current Progress:</a:t>
            </a:r>
            <a:endParaRPr/>
          </a:p>
          <a:p>
            <a:pPr indent="-381000" lvl="1" marL="914400" rtl="0" algn="l">
              <a:lnSpc>
                <a:spcPct val="100000"/>
              </a:lnSpc>
              <a:spcBef>
                <a:spcPts val="500"/>
              </a:spcBef>
              <a:spcAft>
                <a:spcPts val="0"/>
              </a:spcAft>
              <a:buSzPts val="2400"/>
              <a:buChar char="•"/>
            </a:pPr>
            <a:r>
              <a:rPr lang="en-US"/>
              <a:t>High-fidelity mockups using Figma (design software)</a:t>
            </a:r>
            <a:endParaRPr/>
          </a:p>
          <a:p>
            <a:pPr indent="-381000" lvl="2" marL="1371600" rtl="0" algn="l">
              <a:lnSpc>
                <a:spcPct val="100000"/>
              </a:lnSpc>
              <a:spcBef>
                <a:spcPts val="1000"/>
              </a:spcBef>
              <a:spcAft>
                <a:spcPts val="0"/>
              </a:spcAft>
              <a:buSzPts val="2400"/>
              <a:buChar char="•"/>
            </a:pPr>
            <a:r>
              <a:rPr lang="en-US" sz="2400"/>
              <a:t>Allows us to test different information layouts and experiment with different ideas before deciding on a final one to code </a:t>
            </a:r>
            <a:endParaRPr sz="2400"/>
          </a:p>
          <a:p>
            <a:pPr indent="-381000" lvl="1" marL="914400" rtl="0" algn="l">
              <a:lnSpc>
                <a:spcPct val="100000"/>
              </a:lnSpc>
              <a:spcBef>
                <a:spcPts val="1000"/>
              </a:spcBef>
              <a:spcAft>
                <a:spcPts val="0"/>
              </a:spcAft>
              <a:buSzPts val="2400"/>
              <a:buChar char="•"/>
            </a:pPr>
            <a:r>
              <a:rPr lang="en-US"/>
              <a:t>Flask model</a:t>
            </a:r>
            <a:endParaRPr/>
          </a:p>
          <a:p>
            <a:pPr indent="-381000" lvl="2" marL="1371600" rtl="0" algn="l">
              <a:lnSpc>
                <a:spcPct val="100000"/>
              </a:lnSpc>
              <a:spcBef>
                <a:spcPts val="1000"/>
              </a:spcBef>
              <a:spcAft>
                <a:spcPts val="0"/>
              </a:spcAft>
              <a:buSzPts val="2400"/>
              <a:buChar char="•"/>
            </a:pPr>
            <a:r>
              <a:rPr lang="en-US" sz="2400"/>
              <a:t>Has many libraries that handle data storage and manipulation, serving content to the web-app, and connects well with the SQLite3 database</a:t>
            </a:r>
            <a:endParaRPr sz="2400"/>
          </a:p>
          <a:p>
            <a:pPr indent="-342900" lvl="0" marL="457200" rtl="0" algn="l">
              <a:lnSpc>
                <a:spcPct val="100000"/>
              </a:lnSpc>
              <a:spcBef>
                <a:spcPts val="1000"/>
              </a:spcBef>
              <a:spcAft>
                <a:spcPts val="0"/>
              </a:spcAft>
              <a:buSzPts val="1800"/>
              <a:buChar char="•"/>
            </a:pPr>
            <a:r>
              <a:rPr lang="en-US"/>
              <a:t>Next Steps:</a:t>
            </a:r>
            <a:endParaRPr/>
          </a:p>
          <a:p>
            <a:pPr indent="-342900" lvl="1" marL="914400" rtl="0" algn="l">
              <a:lnSpc>
                <a:spcPct val="100000"/>
              </a:lnSpc>
              <a:spcBef>
                <a:spcPts val="1000"/>
              </a:spcBef>
              <a:spcAft>
                <a:spcPts val="0"/>
              </a:spcAft>
              <a:buSzPts val="1800"/>
              <a:buChar char="•"/>
            </a:pPr>
            <a:r>
              <a:rPr lang="en-US"/>
              <a:t>Help backend team with connecting Piazza to database</a:t>
            </a:r>
            <a:endParaRPr/>
          </a:p>
          <a:p>
            <a:pPr indent="-342900" lvl="1" marL="914400" rtl="0" algn="l">
              <a:lnSpc>
                <a:spcPct val="100000"/>
              </a:lnSpc>
              <a:spcBef>
                <a:spcPts val="1000"/>
              </a:spcBef>
              <a:spcAft>
                <a:spcPts val="0"/>
              </a:spcAft>
              <a:buSzPts val="1800"/>
              <a:buChar char="•"/>
            </a:pPr>
            <a:r>
              <a:rPr lang="en-US"/>
              <a:t>Possibly use React on the front end instead of Flask</a:t>
            </a:r>
            <a:endParaRPr/>
          </a:p>
          <a:p>
            <a:pPr indent="0" lvl="0" marL="914400" rtl="0" algn="l">
              <a:lnSpc>
                <a:spcPct val="100000"/>
              </a:lnSpc>
              <a:spcBef>
                <a:spcPts val="1000"/>
              </a:spcBef>
              <a:spcAft>
                <a:spcPts val="0"/>
              </a:spcAft>
              <a:buNone/>
            </a:pPr>
            <a:r>
              <a:t/>
            </a:r>
            <a:endParaRPr sz="2000"/>
          </a:p>
        </p:txBody>
      </p:sp>
      <p:sp>
        <p:nvSpPr>
          <p:cNvPr id="210" name="Google Shape;210;g9d659091a8_1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Front-End Web Development</a:t>
            </a:r>
            <a:endParaRPr/>
          </a:p>
        </p:txBody>
      </p:sp>
      <p:sp>
        <p:nvSpPr>
          <p:cNvPr id="211" name="Google Shape;211;g9d659091a8_1_15"/>
          <p:cNvSpPr txBox="1"/>
          <p:nvPr/>
        </p:nvSpPr>
        <p:spPr>
          <a:xfrm>
            <a:off x="9399938" y="5882125"/>
            <a:ext cx="136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11536951924_3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Web-App Flow</a:t>
            </a:r>
            <a:endParaRPr/>
          </a:p>
        </p:txBody>
      </p:sp>
      <p:pic>
        <p:nvPicPr>
          <p:cNvPr id="217" name="Google Shape;217;g11536951924_30_1"/>
          <p:cNvPicPr preferRelativeResize="0"/>
          <p:nvPr/>
        </p:nvPicPr>
        <p:blipFill>
          <a:blip r:embed="rId3">
            <a:alphaModFix/>
          </a:blip>
          <a:stretch>
            <a:fillRect/>
          </a:stretch>
        </p:blipFill>
        <p:spPr>
          <a:xfrm>
            <a:off x="849755" y="1902624"/>
            <a:ext cx="1641382" cy="1641385"/>
          </a:xfrm>
          <a:prstGeom prst="rect">
            <a:avLst/>
          </a:prstGeom>
          <a:noFill/>
          <a:ln>
            <a:noFill/>
          </a:ln>
        </p:spPr>
      </p:pic>
      <p:pic>
        <p:nvPicPr>
          <p:cNvPr id="218" name="Google Shape;218;g11536951924_30_1"/>
          <p:cNvPicPr preferRelativeResize="0"/>
          <p:nvPr/>
        </p:nvPicPr>
        <p:blipFill>
          <a:blip r:embed="rId4">
            <a:alphaModFix/>
          </a:blip>
          <a:stretch>
            <a:fillRect/>
          </a:stretch>
        </p:blipFill>
        <p:spPr>
          <a:xfrm>
            <a:off x="3814354" y="1902600"/>
            <a:ext cx="1641382" cy="1641408"/>
          </a:xfrm>
          <a:prstGeom prst="rect">
            <a:avLst/>
          </a:prstGeom>
          <a:noFill/>
          <a:ln>
            <a:noFill/>
          </a:ln>
        </p:spPr>
      </p:pic>
      <p:pic>
        <p:nvPicPr>
          <p:cNvPr id="219" name="Google Shape;219;g11536951924_30_1"/>
          <p:cNvPicPr preferRelativeResize="0"/>
          <p:nvPr/>
        </p:nvPicPr>
        <p:blipFill>
          <a:blip r:embed="rId5">
            <a:alphaModFix/>
          </a:blip>
          <a:stretch>
            <a:fillRect/>
          </a:stretch>
        </p:blipFill>
        <p:spPr>
          <a:xfrm>
            <a:off x="6778953" y="1902624"/>
            <a:ext cx="1641382" cy="1641385"/>
          </a:xfrm>
          <a:prstGeom prst="rect">
            <a:avLst/>
          </a:prstGeom>
          <a:noFill/>
          <a:ln>
            <a:noFill/>
          </a:ln>
        </p:spPr>
      </p:pic>
      <p:pic>
        <p:nvPicPr>
          <p:cNvPr id="220" name="Google Shape;220;g11536951924_30_1"/>
          <p:cNvPicPr preferRelativeResize="0"/>
          <p:nvPr/>
        </p:nvPicPr>
        <p:blipFill>
          <a:blip r:embed="rId6">
            <a:alphaModFix/>
          </a:blip>
          <a:stretch>
            <a:fillRect/>
          </a:stretch>
        </p:blipFill>
        <p:spPr>
          <a:xfrm>
            <a:off x="9743551" y="1902611"/>
            <a:ext cx="1641382" cy="1641385"/>
          </a:xfrm>
          <a:prstGeom prst="rect">
            <a:avLst/>
          </a:prstGeom>
          <a:noFill/>
          <a:ln>
            <a:noFill/>
          </a:ln>
        </p:spPr>
      </p:pic>
      <p:sp>
        <p:nvSpPr>
          <p:cNvPr id="221" name="Google Shape;221;g11536951924_30_1"/>
          <p:cNvSpPr txBox="1"/>
          <p:nvPr/>
        </p:nvSpPr>
        <p:spPr>
          <a:xfrm>
            <a:off x="346202" y="3638654"/>
            <a:ext cx="3071400" cy="123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700">
                <a:latin typeface="Roboto"/>
                <a:ea typeface="Roboto"/>
                <a:cs typeface="Roboto"/>
                <a:sym typeface="Roboto"/>
              </a:rPr>
              <a:t>SQLite3</a:t>
            </a:r>
            <a:r>
              <a:rPr lang="en-US" sz="1700">
                <a:latin typeface="Roboto"/>
                <a:ea typeface="Roboto"/>
                <a:cs typeface="Roboto"/>
                <a:sym typeface="Roboto"/>
              </a:rPr>
              <a:t> database of student discussion posts, as well as the sentiment, polarity, subjectivity of the posts</a:t>
            </a:r>
            <a:endParaRPr sz="1700">
              <a:latin typeface="Roboto"/>
              <a:ea typeface="Roboto"/>
              <a:cs typeface="Roboto"/>
              <a:sym typeface="Roboto"/>
            </a:endParaRPr>
          </a:p>
        </p:txBody>
      </p:sp>
      <p:cxnSp>
        <p:nvCxnSpPr>
          <p:cNvPr id="222" name="Google Shape;222;g11536951924_30_1"/>
          <p:cNvCxnSpPr/>
          <p:nvPr/>
        </p:nvCxnSpPr>
        <p:spPr>
          <a:xfrm flipH="1" rot="10800000">
            <a:off x="2818584" y="2699432"/>
            <a:ext cx="668400" cy="9300"/>
          </a:xfrm>
          <a:prstGeom prst="straightConnector1">
            <a:avLst/>
          </a:prstGeom>
          <a:noFill/>
          <a:ln cap="flat" cmpd="sng" w="28575">
            <a:solidFill>
              <a:schemeClr val="dk2"/>
            </a:solidFill>
            <a:prstDash val="solid"/>
            <a:round/>
            <a:headEnd len="med" w="med" type="none"/>
            <a:tailEnd len="med" w="med" type="triangle"/>
          </a:ln>
        </p:spPr>
      </p:cxnSp>
      <p:cxnSp>
        <p:nvCxnSpPr>
          <p:cNvPr id="223" name="Google Shape;223;g11536951924_30_1"/>
          <p:cNvCxnSpPr/>
          <p:nvPr/>
        </p:nvCxnSpPr>
        <p:spPr>
          <a:xfrm flipH="1" rot="10800000">
            <a:off x="5783183" y="2718638"/>
            <a:ext cx="668400" cy="9300"/>
          </a:xfrm>
          <a:prstGeom prst="straightConnector1">
            <a:avLst/>
          </a:prstGeom>
          <a:noFill/>
          <a:ln cap="flat" cmpd="sng" w="28575">
            <a:solidFill>
              <a:schemeClr val="dk2"/>
            </a:solidFill>
            <a:prstDash val="solid"/>
            <a:round/>
            <a:headEnd len="med" w="med" type="none"/>
            <a:tailEnd len="med" w="med" type="triangle"/>
          </a:ln>
        </p:spPr>
      </p:cxnSp>
      <p:cxnSp>
        <p:nvCxnSpPr>
          <p:cNvPr id="224" name="Google Shape;224;g11536951924_30_1"/>
          <p:cNvCxnSpPr/>
          <p:nvPr/>
        </p:nvCxnSpPr>
        <p:spPr>
          <a:xfrm flipH="1" rot="10800000">
            <a:off x="8747781" y="2699432"/>
            <a:ext cx="668400" cy="9300"/>
          </a:xfrm>
          <a:prstGeom prst="straightConnector1">
            <a:avLst/>
          </a:prstGeom>
          <a:noFill/>
          <a:ln cap="flat" cmpd="sng" w="28575">
            <a:solidFill>
              <a:schemeClr val="dk2"/>
            </a:solidFill>
            <a:prstDash val="solid"/>
            <a:round/>
            <a:headEnd len="med" w="med" type="none"/>
            <a:tailEnd len="med" w="med" type="triangle"/>
          </a:ln>
        </p:spPr>
      </p:cxnSp>
      <p:sp>
        <p:nvSpPr>
          <p:cNvPr id="225" name="Google Shape;225;g11536951924_30_1"/>
          <p:cNvSpPr txBox="1"/>
          <p:nvPr/>
        </p:nvSpPr>
        <p:spPr>
          <a:xfrm>
            <a:off x="3417900" y="3638654"/>
            <a:ext cx="25629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latin typeface="Roboto"/>
                <a:ea typeface="Roboto"/>
                <a:cs typeface="Roboto"/>
                <a:sym typeface="Roboto"/>
              </a:rPr>
              <a:t>Fetching and processing data from database (</a:t>
            </a:r>
            <a:r>
              <a:rPr b="1" lang="en-US" sz="1700">
                <a:latin typeface="Roboto"/>
                <a:ea typeface="Roboto"/>
                <a:cs typeface="Roboto"/>
                <a:sym typeface="Roboto"/>
              </a:rPr>
              <a:t>forum_database.py</a:t>
            </a:r>
            <a:r>
              <a:rPr lang="en-US" sz="1700">
                <a:latin typeface="Roboto"/>
                <a:ea typeface="Roboto"/>
                <a:cs typeface="Roboto"/>
                <a:sym typeface="Roboto"/>
              </a:rPr>
              <a:t>)</a:t>
            </a:r>
            <a:endParaRPr sz="1700">
              <a:latin typeface="Roboto"/>
              <a:ea typeface="Roboto"/>
              <a:cs typeface="Roboto"/>
              <a:sym typeface="Roboto"/>
            </a:endParaRPr>
          </a:p>
        </p:txBody>
      </p:sp>
      <p:sp>
        <p:nvSpPr>
          <p:cNvPr id="226" name="Google Shape;226;g11536951924_30_1"/>
          <p:cNvSpPr txBox="1"/>
          <p:nvPr/>
        </p:nvSpPr>
        <p:spPr>
          <a:xfrm>
            <a:off x="6318306" y="3638654"/>
            <a:ext cx="25629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latin typeface="Roboto"/>
                <a:ea typeface="Roboto"/>
                <a:cs typeface="Roboto"/>
                <a:sym typeface="Roboto"/>
              </a:rPr>
              <a:t>Creating graphs using </a:t>
            </a:r>
            <a:r>
              <a:rPr b="1" lang="en-US" sz="1700">
                <a:latin typeface="Roboto"/>
                <a:ea typeface="Roboto"/>
                <a:cs typeface="Roboto"/>
                <a:sym typeface="Roboto"/>
              </a:rPr>
              <a:t>matplotlib</a:t>
            </a:r>
            <a:r>
              <a:rPr lang="en-US" sz="1700">
                <a:latin typeface="Roboto"/>
                <a:ea typeface="Roboto"/>
                <a:cs typeface="Roboto"/>
                <a:sym typeface="Roboto"/>
              </a:rPr>
              <a:t> and saving them as images</a:t>
            </a:r>
            <a:endParaRPr sz="1700">
              <a:latin typeface="Roboto"/>
              <a:ea typeface="Roboto"/>
              <a:cs typeface="Roboto"/>
              <a:sym typeface="Roboto"/>
            </a:endParaRPr>
          </a:p>
        </p:txBody>
      </p:sp>
      <p:sp>
        <p:nvSpPr>
          <p:cNvPr id="227" name="Google Shape;227;g11536951924_30_1"/>
          <p:cNvSpPr txBox="1"/>
          <p:nvPr/>
        </p:nvSpPr>
        <p:spPr>
          <a:xfrm>
            <a:off x="9282905" y="3638654"/>
            <a:ext cx="25629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700">
                <a:latin typeface="Roboto"/>
                <a:ea typeface="Roboto"/>
                <a:cs typeface="Roboto"/>
                <a:sym typeface="Roboto"/>
              </a:rPr>
              <a:t>Serving images and other webpage elements on web-app using </a:t>
            </a:r>
            <a:r>
              <a:rPr b="1" lang="en-US" sz="1700">
                <a:latin typeface="Roboto"/>
                <a:ea typeface="Roboto"/>
                <a:cs typeface="Roboto"/>
                <a:sym typeface="Roboto"/>
              </a:rPr>
              <a:t>Flask</a:t>
            </a:r>
            <a:endParaRPr b="1" sz="17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efb32003ea_0_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74650" lvl="0" marL="457200" rtl="0" algn="l">
              <a:lnSpc>
                <a:spcPct val="90000"/>
              </a:lnSpc>
              <a:spcBef>
                <a:spcPts val="1000"/>
              </a:spcBef>
              <a:spcAft>
                <a:spcPts val="0"/>
              </a:spcAft>
              <a:buSzPts val="2300"/>
              <a:buChar char="•"/>
            </a:pPr>
            <a:r>
              <a:rPr b="1" lang="en-US" sz="2300"/>
              <a:t>Research Question/Goal: To integrate real-time Piazza data into the pipeline</a:t>
            </a:r>
            <a:endParaRPr b="1" sz="2300"/>
          </a:p>
          <a:p>
            <a:pPr indent="-374650" lvl="0" marL="457200" rtl="0" algn="l">
              <a:lnSpc>
                <a:spcPct val="90000"/>
              </a:lnSpc>
              <a:spcBef>
                <a:spcPts val="1000"/>
              </a:spcBef>
              <a:spcAft>
                <a:spcPts val="0"/>
              </a:spcAft>
              <a:buSzPts val="2300"/>
              <a:buChar char="•"/>
            </a:pPr>
            <a:r>
              <a:rPr b="1" lang="en-US" sz="2300"/>
              <a:t>Set up a Sandbox Piazza</a:t>
            </a:r>
            <a:endParaRPr b="1" sz="2300"/>
          </a:p>
          <a:p>
            <a:pPr indent="-374650" lvl="1" marL="914400" rtl="0" algn="l">
              <a:lnSpc>
                <a:spcPct val="90000"/>
              </a:lnSpc>
              <a:spcBef>
                <a:spcPts val="0"/>
              </a:spcBef>
              <a:spcAft>
                <a:spcPts val="0"/>
              </a:spcAft>
              <a:buSzPts val="2300"/>
              <a:buChar char="•"/>
            </a:pPr>
            <a:r>
              <a:rPr lang="en-US" sz="2300"/>
              <a:t>Access to Piazza student statistics</a:t>
            </a:r>
            <a:endParaRPr sz="2300"/>
          </a:p>
          <a:p>
            <a:pPr indent="-374650" lvl="1" marL="914400" rtl="0" algn="l">
              <a:lnSpc>
                <a:spcPct val="90000"/>
              </a:lnSpc>
              <a:spcBef>
                <a:spcPts val="0"/>
              </a:spcBef>
              <a:spcAft>
                <a:spcPts val="0"/>
              </a:spcAft>
              <a:buSzPts val="2300"/>
              <a:buChar char="•"/>
            </a:pPr>
            <a:r>
              <a:rPr lang="en-US" sz="2300"/>
              <a:t>Available in .csv format</a:t>
            </a:r>
            <a:endParaRPr sz="2700"/>
          </a:p>
          <a:p>
            <a:pPr indent="-374650" lvl="0" marL="457200" rtl="0" algn="l">
              <a:lnSpc>
                <a:spcPct val="90000"/>
              </a:lnSpc>
              <a:spcBef>
                <a:spcPts val="1000"/>
              </a:spcBef>
              <a:spcAft>
                <a:spcPts val="0"/>
              </a:spcAft>
              <a:buSzPts val="2300"/>
              <a:buChar char="•"/>
            </a:pPr>
            <a:r>
              <a:rPr b="1" lang="en-US" sz="2300"/>
              <a:t>Setting up Piazza API to access</a:t>
            </a:r>
            <a:endParaRPr b="1" sz="2300"/>
          </a:p>
          <a:p>
            <a:pPr indent="-374650" lvl="1" marL="914400" rtl="0" algn="l">
              <a:lnSpc>
                <a:spcPct val="90000"/>
              </a:lnSpc>
              <a:spcBef>
                <a:spcPts val="0"/>
              </a:spcBef>
              <a:spcAft>
                <a:spcPts val="0"/>
              </a:spcAft>
              <a:buSzPts val="2300"/>
              <a:buChar char="•"/>
            </a:pPr>
            <a:r>
              <a:rPr lang="en-US" sz="2300"/>
              <a:t>Access to data through Python</a:t>
            </a:r>
            <a:endParaRPr sz="2300"/>
          </a:p>
          <a:p>
            <a:pPr indent="-374650" lvl="1" marL="914400" rtl="0" algn="l">
              <a:lnSpc>
                <a:spcPct val="90000"/>
              </a:lnSpc>
              <a:spcBef>
                <a:spcPts val="0"/>
              </a:spcBef>
              <a:spcAft>
                <a:spcPts val="0"/>
              </a:spcAft>
              <a:buSzPts val="2300"/>
              <a:buChar char="•"/>
            </a:pPr>
            <a:r>
              <a:rPr lang="en-US" sz="2300"/>
              <a:t>Integrate into database</a:t>
            </a:r>
            <a:endParaRPr sz="2700"/>
          </a:p>
          <a:p>
            <a:pPr indent="-374650" lvl="0" marL="457200" rtl="0" algn="l">
              <a:lnSpc>
                <a:spcPct val="90000"/>
              </a:lnSpc>
              <a:spcBef>
                <a:spcPts val="1000"/>
              </a:spcBef>
              <a:spcAft>
                <a:spcPts val="0"/>
              </a:spcAft>
              <a:buSzPts val="2300"/>
              <a:buChar char="•"/>
            </a:pPr>
            <a:r>
              <a:rPr b="1" lang="en-US" sz="2300"/>
              <a:t>Coordinating with Data Science team to understand metrics</a:t>
            </a:r>
            <a:endParaRPr b="1" sz="2300"/>
          </a:p>
          <a:p>
            <a:pPr indent="-374650" lvl="1" marL="914400" rtl="0" algn="l">
              <a:lnSpc>
                <a:spcPct val="90000"/>
              </a:lnSpc>
              <a:spcBef>
                <a:spcPts val="0"/>
              </a:spcBef>
              <a:spcAft>
                <a:spcPts val="0"/>
              </a:spcAft>
              <a:buSzPts val="2300"/>
              <a:buChar char="•"/>
            </a:pPr>
            <a:r>
              <a:rPr lang="en-US" sz="2300"/>
              <a:t>Look through Piazza API for metrics that are readily available</a:t>
            </a:r>
            <a:endParaRPr sz="2300"/>
          </a:p>
          <a:p>
            <a:pPr indent="-374650" lvl="1" marL="914400" rtl="0" algn="l">
              <a:lnSpc>
                <a:spcPct val="90000"/>
              </a:lnSpc>
              <a:spcBef>
                <a:spcPts val="0"/>
              </a:spcBef>
              <a:spcAft>
                <a:spcPts val="0"/>
              </a:spcAft>
              <a:buSzPts val="2300"/>
              <a:buChar char="•"/>
            </a:pPr>
            <a:r>
              <a:rPr lang="en-US" sz="2300"/>
              <a:t>Isolate those not available</a:t>
            </a:r>
            <a:endParaRPr sz="2700"/>
          </a:p>
          <a:p>
            <a:pPr indent="-374650" lvl="0" marL="457200" rtl="0" algn="l">
              <a:lnSpc>
                <a:spcPct val="90000"/>
              </a:lnSpc>
              <a:spcBef>
                <a:spcPts val="1000"/>
              </a:spcBef>
              <a:spcAft>
                <a:spcPts val="0"/>
              </a:spcAft>
              <a:buSzPts val="2300"/>
              <a:buChar char="•"/>
            </a:pPr>
            <a:r>
              <a:rPr b="1" lang="en-US" sz="2300"/>
              <a:t>Setting up meeting with PARQR team to learn about student comment extraction</a:t>
            </a:r>
            <a:endParaRPr b="1" sz="2300"/>
          </a:p>
        </p:txBody>
      </p:sp>
      <p:sp>
        <p:nvSpPr>
          <p:cNvPr id="233" name="Google Shape;233;gefb32003ea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Back-End Web Development</a:t>
            </a:r>
            <a:endParaRPr/>
          </a:p>
        </p:txBody>
      </p:sp>
      <p:pic>
        <p:nvPicPr>
          <p:cNvPr id="234" name="Google Shape;234;gefb32003ea_0_0"/>
          <p:cNvPicPr preferRelativeResize="0"/>
          <p:nvPr/>
        </p:nvPicPr>
        <p:blipFill rotWithShape="1">
          <a:blip r:embed="rId3">
            <a:alphaModFix/>
          </a:blip>
          <a:srcRect b="0" l="0" r="0" t="0"/>
          <a:stretch/>
        </p:blipFill>
        <p:spPr>
          <a:xfrm>
            <a:off x="8098325" y="2172250"/>
            <a:ext cx="3108126" cy="802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1153fb2e3d8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Workflow Diagram</a:t>
            </a:r>
            <a:endParaRPr/>
          </a:p>
        </p:txBody>
      </p:sp>
      <p:sp>
        <p:nvSpPr>
          <p:cNvPr id="240" name="Google Shape;240;g1153fb2e3d8_1_0"/>
          <p:cNvSpPr/>
          <p:nvPr/>
        </p:nvSpPr>
        <p:spPr>
          <a:xfrm>
            <a:off x="1006250" y="19241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Built pipeline from database to front-end</a:t>
            </a:r>
            <a:endParaRPr b="0" i="0" sz="1400" u="none" cap="none" strike="noStrike">
              <a:solidFill>
                <a:srgbClr val="000000"/>
              </a:solidFill>
              <a:latin typeface="Arial"/>
              <a:ea typeface="Arial"/>
              <a:cs typeface="Arial"/>
              <a:sym typeface="Arial"/>
            </a:endParaRPr>
          </a:p>
        </p:txBody>
      </p:sp>
      <p:sp>
        <p:nvSpPr>
          <p:cNvPr id="241" name="Google Shape;241;g1153fb2e3d8_1_0"/>
          <p:cNvSpPr/>
          <p:nvPr/>
        </p:nvSpPr>
        <p:spPr>
          <a:xfrm>
            <a:off x="3702125" y="38237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Analysis from Data Science </a:t>
            </a:r>
            <a:r>
              <a:rPr lang="en-US"/>
              <a:t>t</a:t>
            </a:r>
            <a:r>
              <a:rPr b="0" i="0" lang="en-US" sz="1400" u="none" cap="none" strike="noStrike">
                <a:solidFill>
                  <a:srgbClr val="000000"/>
                </a:solidFill>
                <a:latin typeface="Arial"/>
                <a:ea typeface="Arial"/>
                <a:cs typeface="Arial"/>
                <a:sym typeface="Arial"/>
              </a:rPr>
              <a:t>eam</a:t>
            </a:r>
            <a:endParaRPr b="0" i="0" sz="1400" u="none" cap="none" strike="noStrike">
              <a:solidFill>
                <a:srgbClr val="000000"/>
              </a:solidFill>
              <a:latin typeface="Arial"/>
              <a:ea typeface="Arial"/>
              <a:cs typeface="Arial"/>
              <a:sym typeface="Arial"/>
            </a:endParaRPr>
          </a:p>
        </p:txBody>
      </p:sp>
      <p:sp>
        <p:nvSpPr>
          <p:cNvPr id="242" name="Google Shape;242;g1153fb2e3d8_1_0"/>
          <p:cNvSpPr/>
          <p:nvPr/>
        </p:nvSpPr>
        <p:spPr>
          <a:xfrm>
            <a:off x="6505000" y="19241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Integrat</a:t>
            </a:r>
            <a:r>
              <a:rPr lang="en-US"/>
              <a:t>e into a real time prototype</a:t>
            </a:r>
            <a:endParaRPr b="0" i="0" sz="1400" u="none" cap="none" strike="noStrike">
              <a:solidFill>
                <a:srgbClr val="000000"/>
              </a:solidFill>
              <a:latin typeface="Arial"/>
              <a:ea typeface="Arial"/>
              <a:cs typeface="Arial"/>
              <a:sym typeface="Arial"/>
            </a:endParaRPr>
          </a:p>
        </p:txBody>
      </p:sp>
      <p:cxnSp>
        <p:nvCxnSpPr>
          <p:cNvPr id="243" name="Google Shape;243;g1153fb2e3d8_1_0"/>
          <p:cNvCxnSpPr/>
          <p:nvPr/>
        </p:nvCxnSpPr>
        <p:spPr>
          <a:xfrm>
            <a:off x="2717775" y="2970075"/>
            <a:ext cx="831900" cy="796200"/>
          </a:xfrm>
          <a:prstGeom prst="straightConnector1">
            <a:avLst/>
          </a:prstGeom>
          <a:noFill/>
          <a:ln cap="flat" cmpd="sng" w="9525">
            <a:solidFill>
              <a:schemeClr val="dk2"/>
            </a:solidFill>
            <a:prstDash val="solid"/>
            <a:round/>
            <a:headEnd len="sm" w="sm" type="none"/>
            <a:tailEnd len="med" w="med" type="triangle"/>
          </a:ln>
        </p:spPr>
      </p:cxnSp>
      <p:cxnSp>
        <p:nvCxnSpPr>
          <p:cNvPr id="244" name="Google Shape;244;g1153fb2e3d8_1_0"/>
          <p:cNvCxnSpPr/>
          <p:nvPr/>
        </p:nvCxnSpPr>
        <p:spPr>
          <a:xfrm flipH="1" rot="10800000">
            <a:off x="5522775" y="2851225"/>
            <a:ext cx="701400" cy="903300"/>
          </a:xfrm>
          <a:prstGeom prst="straightConnector1">
            <a:avLst/>
          </a:prstGeom>
          <a:noFill/>
          <a:ln cap="flat" cmpd="sng" w="9525">
            <a:solidFill>
              <a:schemeClr val="dk2"/>
            </a:solidFill>
            <a:prstDash val="solid"/>
            <a:round/>
            <a:headEnd len="sm" w="sm" type="none"/>
            <a:tailEnd len="med" w="med" type="triangle"/>
          </a:ln>
        </p:spPr>
      </p:cxnSp>
      <p:cxnSp>
        <p:nvCxnSpPr>
          <p:cNvPr id="245" name="Google Shape;245;g1153fb2e3d8_1_0"/>
          <p:cNvCxnSpPr/>
          <p:nvPr/>
        </p:nvCxnSpPr>
        <p:spPr>
          <a:xfrm>
            <a:off x="8387200" y="2827450"/>
            <a:ext cx="974700" cy="891300"/>
          </a:xfrm>
          <a:prstGeom prst="straightConnector1">
            <a:avLst/>
          </a:prstGeom>
          <a:noFill/>
          <a:ln cap="flat" cmpd="sng" w="9525">
            <a:solidFill>
              <a:schemeClr val="dk2"/>
            </a:solidFill>
            <a:prstDash val="solid"/>
            <a:round/>
            <a:headEnd len="sm" w="sm" type="none"/>
            <a:tailEnd len="med" w="med" type="triangle"/>
          </a:ln>
        </p:spPr>
      </p:cxnSp>
      <p:sp>
        <p:nvSpPr>
          <p:cNvPr id="246" name="Google Shape;246;g1153fb2e3d8_1_0"/>
          <p:cNvSpPr txBox="1"/>
          <p:nvPr/>
        </p:nvSpPr>
        <p:spPr>
          <a:xfrm>
            <a:off x="3837075" y="4715025"/>
            <a:ext cx="168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Roboto"/>
                <a:ea typeface="Roboto"/>
                <a:cs typeface="Roboto"/>
                <a:sym typeface="Roboto"/>
              </a:rPr>
              <a:t>Here right now</a:t>
            </a:r>
            <a:endParaRPr b="0" i="1" sz="1400" u="none" cap="none" strike="noStrike">
              <a:solidFill>
                <a:srgbClr val="000000"/>
              </a:solidFill>
              <a:latin typeface="Roboto"/>
              <a:ea typeface="Roboto"/>
              <a:cs typeface="Roboto"/>
              <a:sym typeface="Roboto"/>
            </a:endParaRPr>
          </a:p>
        </p:txBody>
      </p:sp>
      <p:sp>
        <p:nvSpPr>
          <p:cNvPr id="247" name="Google Shape;247;g1153fb2e3d8_1_0"/>
          <p:cNvSpPr txBox="1"/>
          <p:nvPr/>
        </p:nvSpPr>
        <p:spPr>
          <a:xfrm>
            <a:off x="1162425" y="2862375"/>
            <a:ext cx="168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Roboto"/>
                <a:ea typeface="Roboto"/>
                <a:cs typeface="Roboto"/>
                <a:sym typeface="Roboto"/>
              </a:rPr>
              <a:t>Last semester</a:t>
            </a:r>
            <a:endParaRPr b="0" i="1" sz="1400" u="none" cap="none" strike="noStrike">
              <a:solidFill>
                <a:srgbClr val="000000"/>
              </a:solidFill>
              <a:latin typeface="Roboto"/>
              <a:ea typeface="Roboto"/>
              <a:cs typeface="Roboto"/>
              <a:sym typeface="Roboto"/>
            </a:endParaRPr>
          </a:p>
        </p:txBody>
      </p:sp>
      <p:sp>
        <p:nvSpPr>
          <p:cNvPr id="248" name="Google Shape;248;g1153fb2e3d8_1_0"/>
          <p:cNvSpPr txBox="1"/>
          <p:nvPr/>
        </p:nvSpPr>
        <p:spPr>
          <a:xfrm>
            <a:off x="6554500" y="2862375"/>
            <a:ext cx="1685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Roboto"/>
                <a:ea typeface="Roboto"/>
                <a:cs typeface="Roboto"/>
                <a:sym typeface="Roboto"/>
              </a:rPr>
              <a:t>End goal for this semester</a:t>
            </a:r>
            <a:endParaRPr b="0" i="1" sz="1400" u="none" cap="none" strike="noStrike">
              <a:solidFill>
                <a:srgbClr val="000000"/>
              </a:solidFill>
              <a:latin typeface="Roboto"/>
              <a:ea typeface="Roboto"/>
              <a:cs typeface="Roboto"/>
              <a:sym typeface="Roboto"/>
            </a:endParaRPr>
          </a:p>
        </p:txBody>
      </p:sp>
      <p:sp>
        <p:nvSpPr>
          <p:cNvPr id="249" name="Google Shape;249;g1153fb2e3d8_1_0"/>
          <p:cNvSpPr txBox="1"/>
          <p:nvPr/>
        </p:nvSpPr>
        <p:spPr>
          <a:xfrm>
            <a:off x="9500050" y="4715025"/>
            <a:ext cx="1685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i="1" lang="en-US">
                <a:latin typeface="Roboto"/>
                <a:ea typeface="Roboto"/>
                <a:cs typeface="Roboto"/>
                <a:sym typeface="Roboto"/>
              </a:rPr>
              <a:t>Future goal</a:t>
            </a:r>
            <a:endParaRPr b="0" i="1" sz="1400" u="none" cap="none" strike="noStrike">
              <a:solidFill>
                <a:srgbClr val="000000"/>
              </a:solidFill>
              <a:latin typeface="Roboto"/>
              <a:ea typeface="Roboto"/>
              <a:cs typeface="Roboto"/>
              <a:sym typeface="Roboto"/>
            </a:endParaRPr>
          </a:p>
        </p:txBody>
      </p:sp>
      <p:sp>
        <p:nvSpPr>
          <p:cNvPr id="250" name="Google Shape;250;g1153fb2e3d8_1_0"/>
          <p:cNvSpPr/>
          <p:nvPr/>
        </p:nvSpPr>
        <p:spPr>
          <a:xfrm>
            <a:off x="9450550" y="38237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Use our pilot app to support professors</a:t>
            </a:r>
            <a:endParaRPr b="0" i="0" sz="1400" u="none" cap="none" strike="noStrike">
              <a:solidFill>
                <a:srgbClr val="000000"/>
              </a:solidFill>
              <a:latin typeface="Arial"/>
              <a:ea typeface="Arial"/>
              <a:cs typeface="Arial"/>
              <a:sym typeface="Arial"/>
            </a:endParaRPr>
          </a:p>
        </p:txBody>
      </p:sp>
      <p:pic>
        <p:nvPicPr>
          <p:cNvPr id="251" name="Google Shape;251;g1153fb2e3d8_1_0"/>
          <p:cNvPicPr preferRelativeResize="0"/>
          <p:nvPr/>
        </p:nvPicPr>
        <p:blipFill rotWithShape="1">
          <a:blip r:embed="rId3">
            <a:alphaModFix/>
          </a:blip>
          <a:srcRect b="14958" l="0" r="0" t="0"/>
          <a:stretch/>
        </p:blipFill>
        <p:spPr>
          <a:xfrm>
            <a:off x="5978525" y="3782025"/>
            <a:ext cx="974700" cy="891300"/>
          </a:xfrm>
          <a:prstGeom prst="rect">
            <a:avLst/>
          </a:prstGeom>
          <a:noFill/>
          <a:ln>
            <a:noFill/>
          </a:ln>
        </p:spPr>
      </p:pic>
      <p:pic>
        <p:nvPicPr>
          <p:cNvPr id="252" name="Google Shape;252;g1153fb2e3d8_1_0"/>
          <p:cNvPicPr preferRelativeResize="0"/>
          <p:nvPr/>
        </p:nvPicPr>
        <p:blipFill rotWithShape="1">
          <a:blip r:embed="rId4">
            <a:alphaModFix/>
          </a:blip>
          <a:srcRect b="16340" l="28913" r="27132" t="11452"/>
          <a:stretch/>
        </p:blipFill>
        <p:spPr>
          <a:xfrm>
            <a:off x="7095462" y="3845450"/>
            <a:ext cx="831901" cy="847826"/>
          </a:xfrm>
          <a:prstGeom prst="rect">
            <a:avLst/>
          </a:prstGeom>
          <a:noFill/>
          <a:ln>
            <a:noFill/>
          </a:ln>
        </p:spPr>
      </p:pic>
      <p:pic>
        <p:nvPicPr>
          <p:cNvPr id="253" name="Google Shape;253;g1153fb2e3d8_1_0"/>
          <p:cNvPicPr preferRelativeResize="0"/>
          <p:nvPr/>
        </p:nvPicPr>
        <p:blipFill rotWithShape="1">
          <a:blip r:embed="rId5">
            <a:alphaModFix/>
          </a:blip>
          <a:srcRect b="16437" l="8895" r="8432" t="14325"/>
          <a:stretch/>
        </p:blipFill>
        <p:spPr>
          <a:xfrm>
            <a:off x="8069601" y="4063101"/>
            <a:ext cx="974700" cy="5390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Project Roadmap</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Deployment of web-app and testing in Piazza sandbox environment and user feedback from instructor team</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Model Development</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Topic Modeling to cluster similar posts/questions together</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Education Research</a:t>
            </a:r>
            <a:endParaRPr b="1">
              <a:solidFill>
                <a:srgbClr val="000000"/>
              </a:solidFill>
            </a:endParaRPr>
          </a:p>
          <a:p>
            <a:pPr indent="-342900" lvl="1" marL="914400" rtl="0" algn="l">
              <a:lnSpc>
                <a:spcPct val="115000"/>
              </a:lnSpc>
              <a:spcBef>
                <a:spcPts val="1000"/>
              </a:spcBef>
              <a:spcAft>
                <a:spcPts val="1000"/>
              </a:spcAft>
              <a:buClr>
                <a:srgbClr val="000000"/>
              </a:buClr>
              <a:buSzPts val="1800"/>
              <a:buChar char="•"/>
            </a:pPr>
            <a:r>
              <a:rPr lang="en-US">
                <a:solidFill>
                  <a:srgbClr val="000000"/>
                </a:solidFill>
              </a:rPr>
              <a:t>Metacognition in online discussion forums (EdX, Piazza etc) and effect on learning outcomes</a:t>
            </a:r>
            <a:endParaRPr>
              <a:solidFill>
                <a:srgbClr val="000000"/>
              </a:solidFill>
            </a:endParaRPr>
          </a:p>
        </p:txBody>
      </p:sp>
      <p:sp>
        <p:nvSpPr>
          <p:cNvPr id="259" name="Google Shape;259;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i="1" lang="en-US" sz="1900"/>
              <a:t>The Internet and Higher Education</a:t>
            </a:r>
            <a:r>
              <a:rPr lang="en-US" sz="1900"/>
              <a:t>, 2(2–3), 87–105. https://doi.org/10.1016/S1096-7516(00)00016-6</a:t>
            </a:r>
            <a:endParaRPr sz="1900"/>
          </a:p>
          <a:p>
            <a:pPr indent="-349250" lvl="0" marL="457200" rtl="0" algn="l">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i="1" lang="en-US" sz="1900"/>
              <a:t>American Journal of Distance Education</a:t>
            </a:r>
            <a:r>
              <a:rPr lang="en-US" sz="1900"/>
              <a:t>, 15(1), 7–23. https://doi.org/10.1080/08923640109527071</a:t>
            </a:r>
            <a:endParaRPr sz="1900"/>
          </a:p>
          <a:p>
            <a:pPr indent="-349250" lvl="0" marL="457200" rtl="0" algn="l">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indent="-349250" lvl="0" marL="457200" rtl="0" algn="l">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i="1" lang="en-US" sz="1900"/>
              <a:t>Ain Sham Engineering Journals.</a:t>
            </a:r>
            <a:r>
              <a:rPr lang="en-US" sz="1900"/>
              <a:t> </a:t>
            </a:r>
            <a:r>
              <a:rPr lang="en-US" sz="1900">
                <a:solidFill>
                  <a:schemeClr val="hlink"/>
                </a:solidFill>
                <a:uFill>
                  <a:noFill/>
                </a:uFill>
                <a:hlinkClick r:id="rId3"/>
              </a:rPr>
              <a:t>https://doi.org/10.1016/j.asej.2014.04.011</a:t>
            </a:r>
            <a:endParaRPr sz="1900"/>
          </a:p>
          <a:p>
            <a:pPr indent="-349250" lvl="0" marL="457200" rtl="0" algn="l">
              <a:lnSpc>
                <a:spcPct val="115000"/>
              </a:lnSpc>
              <a:spcBef>
                <a:spcPts val="0"/>
              </a:spcBef>
              <a:spcAft>
                <a:spcPts val="0"/>
              </a:spcAft>
              <a:buSzPts val="1900"/>
              <a:buFont typeface="Roboto"/>
              <a:buAutoNum type="arabicPeriod"/>
            </a:pPr>
            <a:r>
              <a:rPr lang="en-US" sz="1900"/>
              <a:t>MacMillan, Kelsey, and James D. Wilson. </a:t>
            </a:r>
            <a:r>
              <a:rPr i="1" lang="en-US" sz="1900"/>
              <a:t>Topic Supervised Non-Negative Matrix Factorization</a:t>
            </a:r>
            <a:r>
              <a:rPr lang="en-US" sz="1900"/>
              <a:t>, Arxiv, 4 July 2017, https://arxiv.org/pdf/1706.05084.pdf. </a:t>
            </a:r>
            <a:endParaRPr sz="1900"/>
          </a:p>
          <a:p>
            <a:pPr indent="-349250" lvl="0" marL="457200" rtl="0" algn="l">
              <a:lnSpc>
                <a:spcPct val="115000"/>
              </a:lnSpc>
              <a:spcBef>
                <a:spcPts val="0"/>
              </a:spcBef>
              <a:spcAft>
                <a:spcPts val="0"/>
              </a:spcAft>
              <a:buSzPts val="1900"/>
              <a:buFont typeface="Roboto"/>
              <a:buAutoNum type="arabicPeriod"/>
            </a:pPr>
            <a:r>
              <a:rPr lang="en-US" sz="1900"/>
              <a:t>Beri, Aditya. “Latent Dirichlet Allocation.” </a:t>
            </a:r>
            <a:r>
              <a:rPr i="1" lang="en-US" sz="1900"/>
              <a:t>Latent Dirichlet Allocation</a:t>
            </a:r>
            <a:r>
              <a:rPr lang="en-US" sz="1900"/>
              <a:t>, CodeChef-VIT, 27 Jan. 2021, https://medium.com/codechef-vit/latent-dirichlet-allocation-812bb8099518. </a:t>
            </a:r>
            <a:endParaRPr sz="1900"/>
          </a:p>
          <a:p>
            <a:pPr indent="-349250" lvl="0" marL="457200" rtl="0" algn="l">
              <a:lnSpc>
                <a:spcPct val="90000"/>
              </a:lnSpc>
              <a:spcBef>
                <a:spcPts val="0"/>
              </a:spcBef>
              <a:spcAft>
                <a:spcPts val="0"/>
              </a:spcAft>
              <a:buSzPts val="1900"/>
              <a:buAutoNum type="arabicPeriod"/>
            </a:pPr>
            <a:r>
              <a:t/>
            </a:r>
            <a:endParaRPr sz="1900"/>
          </a:p>
        </p:txBody>
      </p:sp>
      <p:sp>
        <p:nvSpPr>
          <p:cNvPr id="265" name="Google Shape;265;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gefbeba6a1c_0_518"/>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First, focus on </a:t>
            </a:r>
            <a:endParaRPr/>
          </a:p>
          <a:p>
            <a:pPr indent="-342900" lvl="0" marL="457200" rtl="0" algn="l">
              <a:lnSpc>
                <a:spcPct val="100000"/>
              </a:lnSpc>
              <a:spcBef>
                <a:spcPts val="1000"/>
              </a:spcBef>
              <a:spcAft>
                <a:spcPts val="0"/>
              </a:spcAft>
              <a:buSzPts val="1800"/>
              <a:buChar char="•"/>
            </a:pPr>
            <a:r>
              <a:rPr lang="en-US"/>
              <a:t>Timeframe</a:t>
            </a:r>
            <a:endParaRPr/>
          </a:p>
        </p:txBody>
      </p:sp>
      <p:sp>
        <p:nvSpPr>
          <p:cNvPr id="276" name="Google Shape;276;gefbeba6a1c_0_51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Goals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gbee4de09ef_0_2"/>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1000"/>
              </a:spcBef>
              <a:spcAft>
                <a:spcPts val="0"/>
              </a:spcAft>
              <a:buSzPts val="1800"/>
              <a:buChar char="•"/>
            </a:pPr>
            <a:r>
              <a:t/>
            </a:r>
            <a:endParaRPr/>
          </a:p>
        </p:txBody>
      </p:sp>
      <p:sp>
        <p:nvSpPr>
          <p:cNvPr id="282" name="Google Shape;282;gbee4de09ef_0_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Approach used in previous semester</a:t>
            </a:r>
            <a:endParaRPr/>
          </a:p>
        </p:txBody>
      </p:sp>
      <p:sp>
        <p:nvSpPr>
          <p:cNvPr id="283" name="Google Shape;283;gbee4de09ef_0_2"/>
          <p:cNvSpPr txBox="1"/>
          <p:nvPr/>
        </p:nvSpPr>
        <p:spPr>
          <a:xfrm>
            <a:off x="7872950" y="5852550"/>
            <a:ext cx="3395700" cy="49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The classic WMD example from [5]</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gbee4de09ef_0_7"/>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04800" lvl="0" marL="457200" rtl="0" algn="l">
              <a:lnSpc>
                <a:spcPct val="200000"/>
              </a:lnSpc>
              <a:spcBef>
                <a:spcPts val="1000"/>
              </a:spcBef>
              <a:spcAft>
                <a:spcPts val="1000"/>
              </a:spcAft>
              <a:buSzPts val="1200"/>
              <a:buChar char="•"/>
            </a:pPr>
            <a:r>
              <a:t/>
            </a:r>
            <a:endParaRPr sz="2200"/>
          </a:p>
        </p:txBody>
      </p:sp>
      <p:sp>
        <p:nvSpPr>
          <p:cNvPr id="289" name="Google Shape;289;gbee4de09ef_0_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 encountered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
        <p:nvSpPr>
          <p:cNvPr id="294" name="Google Shape;294;gba764dde3e_0_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9250" lvl="0" marL="457200" rtl="0" algn="l">
              <a:lnSpc>
                <a:spcPct val="100000"/>
              </a:lnSpc>
              <a:spcBef>
                <a:spcPts val="1000"/>
              </a:spcBef>
              <a:spcAft>
                <a:spcPts val="1000"/>
              </a:spcAft>
              <a:buSzPts val="1900"/>
              <a:buChar char="•"/>
            </a:pPr>
            <a:r>
              <a:rPr b="1" i="1" lang="en-US" sz="1900"/>
              <a:t>Sentiment Analysis of Piazza Data</a:t>
            </a:r>
            <a:endParaRPr b="1" i="1" sz="1900"/>
          </a:p>
        </p:txBody>
      </p:sp>
      <p:sp>
        <p:nvSpPr>
          <p:cNvPr id="295" name="Google Shape;295;gba764dde3e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Goals for this semester (Data Science)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9" name="Shape 299"/>
        <p:cNvGrpSpPr/>
        <p:nvPr/>
      </p:nvGrpSpPr>
      <p:grpSpPr>
        <a:xfrm>
          <a:off x="0" y="0"/>
          <a:ext cx="0" cy="0"/>
          <a:chOff x="0" y="0"/>
          <a:chExt cx="0" cy="0"/>
        </a:xfrm>
      </p:grpSpPr>
      <p:sp>
        <p:nvSpPr>
          <p:cNvPr id="300" name="Google Shape;300;gbea1223c9f_0_1"/>
          <p:cNvSpPr txBox="1"/>
          <p:nvPr>
            <p:ph idx="1" type="body"/>
          </p:nvPr>
        </p:nvSpPr>
        <p:spPr>
          <a:xfrm>
            <a:off x="6091850" y="1215475"/>
            <a:ext cx="5718900" cy="45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group of individuals who collaboratively engage in purposeful critical discourse and reflection to construct personal meaning and confirm mutual understanding”</a:t>
            </a:r>
            <a:endParaRPr/>
          </a:p>
        </p:txBody>
      </p:sp>
      <p:sp>
        <p:nvSpPr>
          <p:cNvPr id="301" name="Google Shape;301;gbea1223c9f_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Community of Inquiry</a:t>
            </a:r>
            <a:endParaRPr/>
          </a:p>
        </p:txBody>
      </p:sp>
      <p:pic>
        <p:nvPicPr>
          <p:cNvPr id="302" name="Google Shape;302;gbea1223c9f_0_1"/>
          <p:cNvPicPr preferRelativeResize="0"/>
          <p:nvPr/>
        </p:nvPicPr>
        <p:blipFill rotWithShape="1">
          <a:blip r:embed="rId3">
            <a:alphaModFix/>
          </a:blip>
          <a:srcRect b="11793" l="0" r="0" t="0"/>
          <a:stretch/>
        </p:blipFill>
        <p:spPr>
          <a:xfrm>
            <a:off x="488775" y="1215475"/>
            <a:ext cx="5117075" cy="4054150"/>
          </a:xfrm>
          <a:prstGeom prst="rect">
            <a:avLst/>
          </a:prstGeom>
          <a:noFill/>
          <a:ln>
            <a:noFill/>
          </a:ln>
        </p:spPr>
      </p:pic>
      <p:sp>
        <p:nvSpPr>
          <p:cNvPr id="303" name="Google Shape;303;gbea1223c9f_0_1"/>
          <p:cNvSpPr txBox="1"/>
          <p:nvPr/>
        </p:nvSpPr>
        <p:spPr>
          <a:xfrm>
            <a:off x="488763" y="5411575"/>
            <a:ext cx="511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Elements of an Educational Experience (Garrison et al., 1999)</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