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50"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y="6858000" cx="12192000"/>
  <p:notesSz cx="6858000" cy="9144000"/>
  <p:embeddedFontLst>
    <p:embeddedFont>
      <p:font typeface="Roboto"/>
      <p:regular r:id="rId41"/>
      <p:bold r:id="rId42"/>
      <p:italic r:id="rId43"/>
      <p:boldItalic r:id="rId44"/>
    </p:embeddedFont>
    <p:embeddedFont>
      <p:font typeface="Roboto Condensed Light"/>
      <p:regular r:id="rId45"/>
      <p:bold r:id="rId46"/>
      <p:italic r:id="rId47"/>
      <p:boldItalic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773">
          <p15:clr>
            <a:srgbClr val="000000"/>
          </p15:clr>
        </p15:guide>
        <p15:guide id="2" pos="244">
          <p15:clr>
            <a:srgbClr val="000000"/>
          </p15:clr>
        </p15:guide>
      </p15:sldGuideLst>
    </p:ext>
    <p:ext uri="http://customooxmlschemas.google.com/">
      <go:slidesCustomData xmlns:go="http://customooxmlschemas.google.com/" r:id="rId49" roundtripDataSignature="AMtx7mgngynGaVOxTTs1S30z3b8IbUKup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9E5B07B-C539-4926-B1C7-FDB806D9F156}">
  <a:tblStyle styleId="{49E5B07B-C539-4926-B1C7-FDB806D9F156}"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773" orient="horz"/>
        <p:guide pos="244"/>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font" Target="fonts/Roboto-bold.fntdata"/><Relationship Id="rId41" Type="http://schemas.openxmlformats.org/officeDocument/2006/relationships/font" Target="fonts/Roboto-regular.fntdata"/><Relationship Id="rId44" Type="http://schemas.openxmlformats.org/officeDocument/2006/relationships/font" Target="fonts/Roboto-boldItalic.fntdata"/><Relationship Id="rId43" Type="http://schemas.openxmlformats.org/officeDocument/2006/relationships/font" Target="fonts/Roboto-italic.fntdata"/><Relationship Id="rId46" Type="http://schemas.openxmlformats.org/officeDocument/2006/relationships/font" Target="fonts/RobotoCondensedLight-bold.fntdata"/><Relationship Id="rId45" Type="http://schemas.openxmlformats.org/officeDocument/2006/relationships/font" Target="fonts/RobotoCondensedLight-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font" Target="fonts/RobotoCondensedLight-boldItalic.fntdata"/><Relationship Id="rId47" Type="http://schemas.openxmlformats.org/officeDocument/2006/relationships/font" Target="fonts/RobotoCondensedLight-italic.fntdata"/><Relationship Id="rId49" Type="http://customschemas.google.com/relationships/presentationmetadata" Target="meta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Pratik</a:t>
            </a:r>
            <a:endParaRPr/>
          </a:p>
        </p:txBody>
      </p:sp>
      <p:sp>
        <p:nvSpPr>
          <p:cNvPr id="74" name="Google Shape;74;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All</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9d48565bb2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3" name="Google Shape;103;g9d48565bb2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Pratik</a:t>
            </a:r>
            <a:endParaRPr/>
          </a:p>
          <a:p>
            <a:pPr indent="0" lvl="0" marL="0" rtl="0" algn="l">
              <a:lnSpc>
                <a:spcPct val="115000"/>
              </a:lnSpc>
              <a:spcBef>
                <a:spcPts val="0"/>
              </a:spcBef>
              <a:spcAft>
                <a:spcPts val="0"/>
              </a:spcAft>
              <a:buClr>
                <a:schemeClr val="dk1"/>
              </a:buClr>
              <a:buSzPts val="1100"/>
              <a:buFont typeface="Arial"/>
              <a:buNone/>
            </a:pPr>
            <a:r>
              <a:rPr lang="en-US"/>
              <a:t>Let’s set the basic context first. W</a:t>
            </a:r>
            <a:r>
              <a:rPr lang="en-US"/>
              <a:t>e’re working with Discussion forums data on Piazza from Dr. Thad Starner’s CS 6601 course. This might change in the future since a lot of courses are moving to Ed, however, we intend to find insights that would generalize well across platforms. We’ve been mostly working with the Community of Inquiry framework, and recently started looking into Metacognition as well. On the applied side, our goal is to create a web-app that can act as a decision support system to help instructors increase engagement in their courses.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ba764dde3e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1" name="Google Shape;111;gba764dde3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Pratik</a:t>
            </a:r>
            <a:endParaRPr/>
          </a:p>
          <a:p>
            <a:pPr indent="0" lvl="0" marL="0" rtl="0" algn="l">
              <a:lnSpc>
                <a:spcPct val="100000"/>
              </a:lnSpc>
              <a:spcBef>
                <a:spcPts val="0"/>
              </a:spcBef>
              <a:spcAft>
                <a:spcPts val="0"/>
              </a:spcAft>
              <a:buSzPts val="1100"/>
              <a:buNone/>
            </a:pPr>
            <a:r>
              <a:rPr lang="en-US"/>
              <a:t>Talking of key outcomes/deliverables, our web-dev team was able to setup an integration with Piazza so that the data can be pulled directly from Piazza to our database. This will allow our application to potentially operate and derive insights in real-time once our front-end user dashboard is also setup, which we’ll work on developing more next semester. So far, the UX team has come up with high-fidelity mockups for our dashboard which will show outputs from the models developed by the data-science team. We intend these outputs to be actionable insights, hence we need to test out these high-fidelity designs with instructors more. On education research side, we’re still in the exploratory phase of metacognition, a more structured experiment will be designed at the start of next semester. Personal learnings include: Should co-ordinate more frequently with teammates and track how the team’s understanding of the project is changing over time. Also, we need to emphasize test-driven development more.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f4b38d8802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8" name="Google Shape;118;gf4b38d8802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Pratik</a:t>
            </a:r>
            <a:endParaRPr/>
          </a:p>
          <a:p>
            <a:pPr indent="0" lvl="0" marL="0" rtl="0" algn="l">
              <a:lnSpc>
                <a:spcPct val="100000"/>
              </a:lnSpc>
              <a:spcBef>
                <a:spcPts val="0"/>
              </a:spcBef>
              <a:spcAft>
                <a:spcPts val="0"/>
              </a:spcAft>
              <a:buClr>
                <a:schemeClr val="dk1"/>
              </a:buClr>
              <a:buSzPts val="1100"/>
              <a:buFont typeface="Arial"/>
              <a:buNone/>
            </a:pPr>
            <a:r>
              <a:rPr lang="en-US">
                <a:solidFill>
                  <a:schemeClr val="dk1"/>
                </a:solidFill>
              </a:rPr>
              <a:t>Coming to targets for next sem, we want to come up with a responsive web-app tested inside the Piazza sandbox environment, which was originally the goal for this sem. We’re close though. On research side, we’ll focus on getting our topic model working to a satisfactory level to perform clustering on posts as well as get a preliminary model of metacognition on our data. In addition we’d work on creating documentation for both users and developers of this web-app. Now each subteam will talk in detail about their work and learnings.</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efbeba6a1c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gefbeba6a1c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bea1223c9f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1" name="Google Shape;131;gbea1223c9f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100"/>
              </a:spcBef>
              <a:spcAft>
                <a:spcPts val="0"/>
              </a:spcAft>
              <a:buSzPts val="1100"/>
              <a:buNone/>
            </a:pPr>
            <a:r>
              <a:rPr lang="en-US"/>
              <a:t>Our goal is to analyze student </a:t>
            </a:r>
            <a:r>
              <a:rPr lang="en-US"/>
              <a:t>interaction</a:t>
            </a:r>
            <a:r>
              <a:rPr lang="en-US"/>
              <a:t> with their peers and understand their engagement and performance in a classroom. To fulfill that our team has worked and  is working on multiple projects like cognitive presence modeling, topic modeling etc. We want to provide valuable insights to the professor by integrating the results of these </a:t>
            </a:r>
            <a:r>
              <a:rPr lang="en-US"/>
              <a:t>models on incoming Piazza data</a:t>
            </a:r>
            <a:r>
              <a:rPr lang="en-US"/>
              <a:t> through a webapp in a real-time environment.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f3ec180ede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7" name="Google Shape;137;gf3ec180ed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In the last semester, our team completed Sentiment Analysis and cognitive presence. Our team is focusing on topic modeling for this semester, Topic modeling as a new branch is to help instructors get an insight in Piazza discussion. Metacognition project is also underway.</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11a29825126_1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11a29825126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We have Topic modeling combining BERT and LDA. A table in the middle shows each docs by topic. We see the number of output docs is 1212, but the number of original data is 1493. Because of the BERT algorithm, it cut off 281 posts which are mostly gratitude expression, greetings, or short reply, such as just Thank you, something like that. Also, the right graph shows that the highest coherence score is in the case with 6 topics.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1251a07fc2e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1251a07fc2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f4bb9c8d2f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2" name="Google Shape;172;gf4bb9c8d2f_2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Daniel</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1251a07fc2e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1251a07fc2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We ran the CNN model to </a:t>
            </a:r>
            <a:r>
              <a:rPr lang="en-US"/>
              <a:t>classify</a:t>
            </a:r>
            <a:r>
              <a:rPr lang="en-US"/>
              <a:t> posts in the Piazza data in five different categories. Since the pre-trained model was trained on random comments, we could not get specific outputs pertaining our needs. We will training the model on our data and then use it to </a:t>
            </a:r>
            <a:r>
              <a:rPr lang="en-US"/>
              <a:t>separate</a:t>
            </a:r>
            <a:r>
              <a:rPr lang="en-US"/>
              <a:t> questions from TA responses. The second thing we worked on was the pipelining of data. That is the database file coming from the Web dev team was converted to .csv with the specific </a:t>
            </a:r>
            <a:r>
              <a:rPr lang="en-US"/>
              <a:t>columns</a:t>
            </a:r>
            <a:r>
              <a:rPr lang="en-US"/>
              <a:t> and was run on our topic model. The results of this were provided to the UX/UI team for mockups of the dashboard. This semester our team mainly focussed on understanding and testing the model and applying it to the data that we received. Next semester, our main goal would be to write python scripts to perform this conversion so we can deploy this in the real-time environment.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1251a07fc2e_0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1251a07fc2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For the next semester our main goal would be to write python scripts to automate the pipeline described in the previous slide. The </a:t>
            </a:r>
            <a:r>
              <a:rPr lang="en-US"/>
              <a:t>second goal for the next semester would be to work on providing an in-depth analysis of real-time piazza data to the professors.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efbeba6a1c_0_5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6" name="Google Shape;206;gefbeba6a1c_0_5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efbeba6a1c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1" name="Google Shape;211;gefbeba6a1c_0_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Gautam</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1252325779d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1252325779d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1252325779d_1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1252325779d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1252325779d_1_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1252325779d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1252325779d_1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1252325779d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11dc627c558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2" name="Google Shape;242;g11dc627c558_0_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Nidhi</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efbeba6a1c_0_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gefbeba6a1c_0_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9d659091a8_1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3" name="Google Shape;253;g9d659091a8_1_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Gautam</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122083f6e03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122083f6e0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Gautam</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efb32003ea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5" name="Google Shape;265;gefb32003ea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Aanya</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53fb2e3d8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6" name="Google Shape;276;g1153fb2e3d8_1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Harriet</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7" name="Google Shape;297;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Pratik</a:t>
            </a:r>
            <a:endParaRPr/>
          </a:p>
          <a:p>
            <a:pPr indent="0" lvl="0" marL="0" rtl="0" algn="l">
              <a:lnSpc>
                <a:spcPct val="100000"/>
              </a:lnSpc>
              <a:spcBef>
                <a:spcPts val="0"/>
              </a:spcBef>
              <a:spcAft>
                <a:spcPts val="0"/>
              </a:spcAft>
              <a:buSzPts val="1100"/>
              <a:buNone/>
            </a:pPr>
            <a:r>
              <a:rPr lang="en-US"/>
              <a:t>In conclusion, we are close to get a working dashboard ready once the front-end is functional, which we can then test out </a:t>
            </a:r>
            <a:r>
              <a:rPr lang="en-US"/>
              <a:t>with</a:t>
            </a:r>
            <a:r>
              <a:rPr lang="en-US"/>
              <a:t> instructors. Next steps will include integrating insights from the work we’ve done in different semesters - cognitive presence modeling, topic modeling and sentiment analysis, and finally combining this with metacognition to get a holistic understanding of engagement, and class dynamics in an online classroom.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9d48565bb2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3" name="Google Shape;303;g9d48565bb2_0_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9" name="Google Shape;309;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efbeba6a1c_0_5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4" name="Google Shape;314;gefbeba6a1c_0_5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US"/>
              <a:t>Malav</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bee4de09ef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0" name="Google Shape;320;gbee4de09ef_0_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bee4de09ef_0_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7" name="Google Shape;327;gbee4de09ef_0_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ba764dde3e_0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3" name="Google Shape;333;gba764dde3e_0_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bea1223c9f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9" name="Google Shape;339;gbea1223c9f_0_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6" name="Shape 6"/>
        <p:cNvGrpSpPr/>
        <p:nvPr/>
      </p:nvGrpSpPr>
      <p:grpSpPr>
        <a:xfrm>
          <a:off x="0" y="0"/>
          <a:ext cx="0" cy="0"/>
          <a:chOff x="0" y="0"/>
          <a:chExt cx="0" cy="0"/>
        </a:xfrm>
      </p:grpSpPr>
      <p:sp>
        <p:nvSpPr>
          <p:cNvPr id="7" name="Google Shape;7;p14"/>
          <p:cNvSpPr txBox="1"/>
          <p:nvPr>
            <p:ph idx="1" type="subTitle"/>
          </p:nvPr>
        </p:nvSpPr>
        <p:spPr>
          <a:xfrm>
            <a:off x="4024461" y="3793068"/>
            <a:ext cx="6795913" cy="1684868"/>
          </a:xfrm>
          <a:prstGeom prst="rect">
            <a:avLst/>
          </a:prstGeom>
          <a:noFill/>
          <a:ln>
            <a:noFill/>
          </a:ln>
        </p:spPr>
        <p:txBody>
          <a:bodyPr anchorCtr="0" anchor="t" bIns="45700" lIns="91425" spcFirstLastPara="1" rIns="91425" wrap="square" tIns="45700">
            <a:noAutofit/>
          </a:bodyPr>
          <a:lstStyle>
            <a:lvl1pPr lvl="0" marR="0" rtl="0" algn="l">
              <a:lnSpc>
                <a:spcPct val="120000"/>
              </a:lnSpc>
              <a:spcBef>
                <a:spcPts val="600"/>
              </a:spcBef>
              <a:spcAft>
                <a:spcPts val="0"/>
              </a:spcAft>
              <a:buClr>
                <a:srgbClr val="7F7F7F"/>
              </a:buClr>
              <a:buSzPts val="3000"/>
              <a:buFont typeface="Arial"/>
              <a:buNone/>
              <a:defRPr b="0" i="0" sz="3000" u="none" cap="none" strike="noStrike">
                <a:solidFill>
                  <a:srgbClr val="7F7F7F"/>
                </a:solidFill>
                <a:latin typeface="Roboto Condensed Light"/>
                <a:ea typeface="Roboto Condensed Light"/>
                <a:cs typeface="Roboto Condensed Light"/>
                <a:sym typeface="Roboto Condensed Light"/>
              </a:defRPr>
            </a:lvl1pPr>
            <a:lvl2pPr lvl="1" marR="0" rtl="0" algn="ctr">
              <a:lnSpc>
                <a:spcPct val="100000"/>
              </a:lnSpc>
              <a:spcBef>
                <a:spcPts val="420"/>
              </a:spcBef>
              <a:spcAft>
                <a:spcPts val="0"/>
              </a:spcAft>
              <a:buClr>
                <a:srgbClr val="888888"/>
              </a:buClr>
              <a:buSzPts val="2100"/>
              <a:buFont typeface="Arial"/>
              <a:buNone/>
              <a:defRPr b="0" i="0" sz="2100" u="none" cap="none" strike="noStrike">
                <a:solidFill>
                  <a:srgbClr val="888888"/>
                </a:solidFill>
                <a:latin typeface="Arial"/>
                <a:ea typeface="Arial"/>
                <a:cs typeface="Arial"/>
                <a:sym typeface="Arial"/>
              </a:defRPr>
            </a:lvl2pPr>
            <a:lvl3pPr lvl="2" marR="0" rtl="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Arial"/>
                <a:ea typeface="Arial"/>
                <a:cs typeface="Arial"/>
                <a:sym typeface="Arial"/>
              </a:defRPr>
            </a:lvl3pPr>
            <a:lvl4pPr lvl="3" marR="0" rtl="0" algn="ctr">
              <a:lnSpc>
                <a:spcPct val="100000"/>
              </a:lnSpc>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4pPr>
            <a:lvl5pPr lvl="4" marR="0" rtl="0" algn="ctr">
              <a:lnSpc>
                <a:spcPct val="100000"/>
              </a:lnSpc>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5pPr>
            <a:lvl6pPr lvl="5" marR="0" rtl="0" algn="ctr">
              <a:lnSpc>
                <a:spcPct val="100000"/>
              </a:lnSpc>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6pPr>
            <a:lvl7pPr lvl="6" marR="0" rtl="0" algn="ctr">
              <a:lnSpc>
                <a:spcPct val="100000"/>
              </a:lnSpc>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7pPr>
            <a:lvl8pPr lvl="7" marR="0" rtl="0" algn="ctr">
              <a:lnSpc>
                <a:spcPct val="100000"/>
              </a:lnSpc>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8pPr>
            <a:lvl9pPr lvl="8" marR="0" rtl="0" algn="ctr">
              <a:lnSpc>
                <a:spcPct val="100000"/>
              </a:lnSpc>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9pPr>
          </a:lstStyle>
          <a:p/>
        </p:txBody>
      </p:sp>
      <p:sp>
        <p:nvSpPr>
          <p:cNvPr id="8" name="Google Shape;8;p14"/>
          <p:cNvSpPr txBox="1"/>
          <p:nvPr>
            <p:ph type="ctrTitle"/>
          </p:nvPr>
        </p:nvSpPr>
        <p:spPr>
          <a:xfrm>
            <a:off x="4024462" y="333633"/>
            <a:ext cx="6795913" cy="3459435"/>
          </a:xfrm>
          <a:prstGeom prst="rect">
            <a:avLst/>
          </a:prstGeom>
          <a:noFill/>
          <a:ln>
            <a:noFill/>
          </a:ln>
        </p:spPr>
        <p:txBody>
          <a:bodyPr anchorCtr="0" anchor="b" bIns="45700" lIns="91425" spcFirstLastPara="1" rIns="91425" wrap="square" tIns="45700">
            <a:normAutofit/>
          </a:bodyPr>
          <a:lstStyle>
            <a:lvl1pPr lvl="0" marR="0" rtl="0" algn="l">
              <a:lnSpc>
                <a:spcPct val="114285"/>
              </a:lnSpc>
              <a:spcBef>
                <a:spcPts val="0"/>
              </a:spcBef>
              <a:spcAft>
                <a:spcPts val="0"/>
              </a:spcAft>
              <a:buClr>
                <a:srgbClr val="A7934B"/>
              </a:buClr>
              <a:buSzPts val="4200"/>
              <a:buFont typeface="Roboto"/>
              <a:buNone/>
              <a:defRPr b="1" i="0" sz="4200" u="none" cap="none" strike="noStrike">
                <a:solidFill>
                  <a:srgbClr val="A7934B"/>
                </a:solidFill>
                <a:latin typeface="Roboto"/>
                <a:ea typeface="Roboto"/>
                <a:cs typeface="Roboto"/>
                <a:sym typeface="Roboto"/>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5" name="Shape 15"/>
        <p:cNvGrpSpPr/>
        <p:nvPr/>
      </p:nvGrpSpPr>
      <p:grpSpPr>
        <a:xfrm>
          <a:off x="0" y="0"/>
          <a:ext cx="0" cy="0"/>
          <a:chOff x="0" y="0"/>
          <a:chExt cx="0" cy="0"/>
        </a:xfrm>
      </p:grpSpPr>
      <p:sp>
        <p:nvSpPr>
          <p:cNvPr id="16" name="Google Shape;16;p16"/>
          <p:cNvSpPr txBox="1"/>
          <p:nvPr>
            <p:ph idx="1" type="body"/>
          </p:nvPr>
        </p:nvSpPr>
        <p:spPr>
          <a:xfrm>
            <a:off x="381000" y="1215484"/>
            <a:ext cx="11430000" cy="459635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7" name="Google Shape;17;p16"/>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16"/>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16"/>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0" name="Google Shape;20;p16"/>
          <p:cNvSpPr txBox="1"/>
          <p:nvPr>
            <p:ph type="title"/>
          </p:nvPr>
        </p:nvSpPr>
        <p:spPr>
          <a:xfrm>
            <a:off x="381000" y="200722"/>
            <a:ext cx="11430000" cy="101476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A7934B"/>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ONLY" type="titleOnly">
  <p:cSld name="TITLE_ONLY">
    <p:spTree>
      <p:nvGrpSpPr>
        <p:cNvPr id="21" name="Shape 21"/>
        <p:cNvGrpSpPr/>
        <p:nvPr/>
      </p:nvGrpSpPr>
      <p:grpSpPr>
        <a:xfrm>
          <a:off x="0" y="0"/>
          <a:ext cx="0" cy="0"/>
          <a:chOff x="0" y="0"/>
          <a:chExt cx="0" cy="0"/>
        </a:xfrm>
      </p:grpSpPr>
      <p:sp>
        <p:nvSpPr>
          <p:cNvPr id="22" name="Google Shape;22;p20"/>
          <p:cNvSpPr txBox="1"/>
          <p:nvPr>
            <p:ph type="title"/>
          </p:nvPr>
        </p:nvSpPr>
        <p:spPr>
          <a:xfrm>
            <a:off x="381000" y="200722"/>
            <a:ext cx="11430000" cy="101476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A7934B"/>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0"/>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20"/>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0"/>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6" name="Shape 26"/>
        <p:cNvGrpSpPr/>
        <p:nvPr/>
      </p:nvGrpSpPr>
      <p:grpSpPr>
        <a:xfrm>
          <a:off x="0" y="0"/>
          <a:ext cx="0" cy="0"/>
          <a:chOff x="0" y="0"/>
          <a:chExt cx="0" cy="0"/>
        </a:xfrm>
      </p:grpSpPr>
      <p:sp>
        <p:nvSpPr>
          <p:cNvPr id="27" name="Google Shape;27;p17"/>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17"/>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17"/>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_OBJECTS" type="twoObj">
  <p:cSld name="TWO_OBJECTS">
    <p:spTree>
      <p:nvGrpSpPr>
        <p:cNvPr id="30" name="Shape 30"/>
        <p:cNvGrpSpPr/>
        <p:nvPr/>
      </p:nvGrpSpPr>
      <p:grpSpPr>
        <a:xfrm>
          <a:off x="0" y="0"/>
          <a:ext cx="0" cy="0"/>
          <a:chOff x="0" y="0"/>
          <a:chExt cx="0" cy="0"/>
        </a:xfrm>
      </p:grpSpPr>
      <p:sp>
        <p:nvSpPr>
          <p:cNvPr id="31" name="Google Shape;31;p18"/>
          <p:cNvSpPr txBox="1"/>
          <p:nvPr>
            <p:ph type="title"/>
          </p:nvPr>
        </p:nvSpPr>
        <p:spPr>
          <a:xfrm>
            <a:off x="381000" y="200722"/>
            <a:ext cx="11430000" cy="101476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A7934B"/>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18"/>
          <p:cNvSpPr txBox="1"/>
          <p:nvPr>
            <p:ph idx="1" type="body"/>
          </p:nvPr>
        </p:nvSpPr>
        <p:spPr>
          <a:xfrm>
            <a:off x="379048" y="1215483"/>
            <a:ext cx="5615353" cy="496148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18"/>
          <p:cNvSpPr txBox="1"/>
          <p:nvPr>
            <p:ph idx="2" type="body"/>
          </p:nvPr>
        </p:nvSpPr>
        <p:spPr>
          <a:xfrm>
            <a:off x="6197600" y="1215483"/>
            <a:ext cx="5613400" cy="496148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4" name="Google Shape;34;p18"/>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18"/>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18"/>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p:cSld name="Comparison">
    <p:spTree>
      <p:nvGrpSpPr>
        <p:cNvPr id="37" name="Shape 37"/>
        <p:cNvGrpSpPr/>
        <p:nvPr/>
      </p:nvGrpSpPr>
      <p:grpSpPr>
        <a:xfrm>
          <a:off x="0" y="0"/>
          <a:ext cx="0" cy="0"/>
          <a:chOff x="0" y="0"/>
          <a:chExt cx="0" cy="0"/>
        </a:xfrm>
      </p:grpSpPr>
      <p:sp>
        <p:nvSpPr>
          <p:cNvPr id="38" name="Google Shape;38;p19"/>
          <p:cNvSpPr txBox="1"/>
          <p:nvPr>
            <p:ph idx="1" type="body"/>
          </p:nvPr>
        </p:nvSpPr>
        <p:spPr>
          <a:xfrm>
            <a:off x="381001" y="1235113"/>
            <a:ext cx="5617633"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19"/>
          <p:cNvSpPr txBox="1"/>
          <p:nvPr>
            <p:ph idx="2" type="body"/>
          </p:nvPr>
        </p:nvSpPr>
        <p:spPr>
          <a:xfrm>
            <a:off x="381001" y="2078657"/>
            <a:ext cx="5617633" cy="4111007"/>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19"/>
          <p:cNvSpPr txBox="1"/>
          <p:nvPr>
            <p:ph idx="3" type="body"/>
          </p:nvPr>
        </p:nvSpPr>
        <p:spPr>
          <a:xfrm>
            <a:off x="6172200" y="1235113"/>
            <a:ext cx="5638800"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19"/>
          <p:cNvSpPr txBox="1"/>
          <p:nvPr>
            <p:ph idx="4" type="body"/>
          </p:nvPr>
        </p:nvSpPr>
        <p:spPr>
          <a:xfrm>
            <a:off x="6172200" y="2078657"/>
            <a:ext cx="5638800" cy="4111007"/>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19"/>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19"/>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19"/>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45" name="Google Shape;45;p19"/>
          <p:cNvSpPr txBox="1"/>
          <p:nvPr>
            <p:ph type="title"/>
          </p:nvPr>
        </p:nvSpPr>
        <p:spPr>
          <a:xfrm>
            <a:off x="381000" y="200722"/>
            <a:ext cx="11430000" cy="101476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A7934B"/>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BJECT_WITH_CAPTION_TEXT" type="objTx">
  <p:cSld name="OBJECT_WITH_CAPTION_TEXT">
    <p:spTree>
      <p:nvGrpSpPr>
        <p:cNvPr id="46" name="Shape 46"/>
        <p:cNvGrpSpPr/>
        <p:nvPr/>
      </p:nvGrpSpPr>
      <p:grpSpPr>
        <a:xfrm>
          <a:off x="0" y="0"/>
          <a:ext cx="0" cy="0"/>
          <a:chOff x="0" y="0"/>
          <a:chExt cx="0" cy="0"/>
        </a:xfrm>
      </p:grpSpPr>
      <p:sp>
        <p:nvSpPr>
          <p:cNvPr id="47" name="Google Shape;47;p21"/>
          <p:cNvSpPr txBox="1"/>
          <p:nvPr>
            <p:ph type="title"/>
          </p:nvPr>
        </p:nvSpPr>
        <p:spPr>
          <a:xfrm>
            <a:off x="381001" y="457200"/>
            <a:ext cx="393276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A7934B"/>
              </a:buClr>
              <a:buSzPts val="3200"/>
              <a:buFont typeface="Roboto"/>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1"/>
          <p:cNvSpPr txBox="1"/>
          <p:nvPr>
            <p:ph idx="1" type="body"/>
          </p:nvPr>
        </p:nvSpPr>
        <p:spPr>
          <a:xfrm>
            <a:off x="4313768" y="457201"/>
            <a:ext cx="7497233" cy="5403850"/>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49" name="Google Shape;49;p21"/>
          <p:cNvSpPr txBox="1"/>
          <p:nvPr>
            <p:ph idx="2" type="body"/>
          </p:nvPr>
        </p:nvSpPr>
        <p:spPr>
          <a:xfrm>
            <a:off x="381001" y="2274849"/>
            <a:ext cx="3932767" cy="3594139"/>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0" name="Google Shape;50;p21"/>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1"/>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1"/>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_WITH_CAPTION_TEXT" type="picTx">
  <p:cSld name="PICTURE_WITH_CAPTION_TEXT">
    <p:spTree>
      <p:nvGrpSpPr>
        <p:cNvPr id="53" name="Shape 53"/>
        <p:cNvGrpSpPr/>
        <p:nvPr/>
      </p:nvGrpSpPr>
      <p:grpSpPr>
        <a:xfrm>
          <a:off x="0" y="0"/>
          <a:ext cx="0" cy="0"/>
          <a:chOff x="0" y="0"/>
          <a:chExt cx="0" cy="0"/>
        </a:xfrm>
      </p:grpSpPr>
      <p:sp>
        <p:nvSpPr>
          <p:cNvPr id="54" name="Google Shape;54;p22"/>
          <p:cNvSpPr txBox="1"/>
          <p:nvPr>
            <p:ph type="title"/>
          </p:nvPr>
        </p:nvSpPr>
        <p:spPr>
          <a:xfrm>
            <a:off x="381001" y="457200"/>
            <a:ext cx="393276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rgbClr val="A7934B"/>
              </a:buClr>
              <a:buSzPts val="3200"/>
              <a:buFont typeface="Roboto"/>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22"/>
          <p:cNvSpPr/>
          <p:nvPr>
            <p:ph idx="2" type="pic"/>
          </p:nvPr>
        </p:nvSpPr>
        <p:spPr>
          <a:xfrm>
            <a:off x="4313768" y="457201"/>
            <a:ext cx="7497233" cy="5403850"/>
          </a:xfrm>
          <a:prstGeom prst="rect">
            <a:avLst/>
          </a:prstGeom>
          <a:noFill/>
          <a:ln>
            <a:noFill/>
          </a:ln>
        </p:spPr>
      </p:sp>
      <p:sp>
        <p:nvSpPr>
          <p:cNvPr id="56" name="Google Shape;56;p22"/>
          <p:cNvSpPr txBox="1"/>
          <p:nvPr>
            <p:ph idx="1" type="body"/>
          </p:nvPr>
        </p:nvSpPr>
        <p:spPr>
          <a:xfrm>
            <a:off x="381001" y="2274849"/>
            <a:ext cx="3932767" cy="3594139"/>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7" name="Google Shape;57;p22"/>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22"/>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22"/>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_TEXT" type="vertTx">
  <p:cSld name="VERTICAL_TEXT">
    <p:spTree>
      <p:nvGrpSpPr>
        <p:cNvPr id="60" name="Shape 60"/>
        <p:cNvGrpSpPr/>
        <p:nvPr/>
      </p:nvGrpSpPr>
      <p:grpSpPr>
        <a:xfrm>
          <a:off x="0" y="0"/>
          <a:ext cx="0" cy="0"/>
          <a:chOff x="0" y="0"/>
          <a:chExt cx="0" cy="0"/>
        </a:xfrm>
      </p:grpSpPr>
      <p:sp>
        <p:nvSpPr>
          <p:cNvPr id="61" name="Google Shape;61;p23"/>
          <p:cNvSpPr txBox="1"/>
          <p:nvPr>
            <p:ph type="title"/>
          </p:nvPr>
        </p:nvSpPr>
        <p:spPr>
          <a:xfrm>
            <a:off x="381000" y="200722"/>
            <a:ext cx="11430000" cy="101476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A7934B"/>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23"/>
          <p:cNvSpPr txBox="1"/>
          <p:nvPr>
            <p:ph idx="1" type="body"/>
          </p:nvPr>
        </p:nvSpPr>
        <p:spPr>
          <a:xfrm rot="5400000">
            <a:off x="3797823" y="-2201338"/>
            <a:ext cx="4596355" cy="114300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3" name="Google Shape;63;p23"/>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3"/>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23"/>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_TITLE_AND_VERTICAL_TEXT" type="vertTitleAndTx">
  <p:cSld name="VERTICAL_TITLE_AND_VERTICAL_TEXT">
    <p:spTree>
      <p:nvGrpSpPr>
        <p:cNvPr id="66" name="Shape 66"/>
        <p:cNvGrpSpPr/>
        <p:nvPr/>
      </p:nvGrpSpPr>
      <p:grpSpPr>
        <a:xfrm>
          <a:off x="0" y="0"/>
          <a:ext cx="0" cy="0"/>
          <a:chOff x="0" y="0"/>
          <a:chExt cx="0" cy="0"/>
        </a:xfrm>
      </p:grpSpPr>
      <p:sp>
        <p:nvSpPr>
          <p:cNvPr id="67" name="Google Shape;67;p24"/>
          <p:cNvSpPr txBox="1"/>
          <p:nvPr>
            <p:ph type="title"/>
          </p:nvPr>
        </p:nvSpPr>
        <p:spPr>
          <a:xfrm rot="5400000">
            <a:off x="7590632"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A7934B"/>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24"/>
          <p:cNvSpPr txBox="1"/>
          <p:nvPr>
            <p:ph idx="1" type="body"/>
          </p:nvPr>
        </p:nvSpPr>
        <p:spPr>
          <a:xfrm rot="5400000">
            <a:off x="1875632" y="-1129506"/>
            <a:ext cx="5811838" cy="88011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9" name="Google Shape;69;p24"/>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4"/>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4"/>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2.jpg"/><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theme" Target="../theme/theme3.xml"/><Relationship Id="rId10" Type="http://schemas.openxmlformats.org/officeDocument/2006/relationships/slideLayout" Target="../slideLayouts/slideLayout10.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9" name="Shape 9"/>
        <p:cNvGrpSpPr/>
        <p:nvPr/>
      </p:nvGrpSpPr>
      <p:grpSpPr>
        <a:xfrm>
          <a:off x="0" y="0"/>
          <a:ext cx="0" cy="0"/>
          <a:chOff x="0" y="0"/>
          <a:chExt cx="0" cy="0"/>
        </a:xfrm>
      </p:grpSpPr>
      <p:sp>
        <p:nvSpPr>
          <p:cNvPr id="10" name="Google Shape;10;p15"/>
          <p:cNvSpPr txBox="1"/>
          <p:nvPr>
            <p:ph type="title"/>
          </p:nvPr>
        </p:nvSpPr>
        <p:spPr>
          <a:xfrm>
            <a:off x="381000" y="200722"/>
            <a:ext cx="11430000" cy="1014761"/>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rgbClr val="A7934B"/>
              </a:buClr>
              <a:buSzPts val="3600"/>
              <a:buFont typeface="Roboto"/>
              <a:buNone/>
              <a:defRPr b="1" i="0" sz="3600" u="none" cap="none" strike="noStrike">
                <a:solidFill>
                  <a:srgbClr val="A7934B"/>
                </a:solidFill>
                <a:latin typeface="Roboto"/>
                <a:ea typeface="Roboto"/>
                <a:cs typeface="Roboto"/>
                <a:sym typeface="Roboto"/>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5"/>
          <p:cNvSpPr txBox="1"/>
          <p:nvPr>
            <p:ph idx="1" type="body"/>
          </p:nvPr>
        </p:nvSpPr>
        <p:spPr>
          <a:xfrm>
            <a:off x="381000" y="1215484"/>
            <a:ext cx="11430000" cy="4596355"/>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Roboto"/>
                <a:ea typeface="Roboto"/>
                <a:cs typeface="Roboto"/>
                <a:sym typeface="Roboto"/>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Roboto"/>
                <a:ea typeface="Roboto"/>
                <a:cs typeface="Roboto"/>
                <a:sym typeface="Roboto"/>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Roboto"/>
                <a:ea typeface="Roboto"/>
                <a:cs typeface="Roboto"/>
                <a:sym typeface="Roboto"/>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Roboto"/>
                <a:ea typeface="Roboto"/>
                <a:cs typeface="Roboto"/>
                <a:sym typeface="Roboto"/>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Roboto"/>
                <a:ea typeface="Roboto"/>
                <a:cs typeface="Roboto"/>
                <a:sym typeface="Roboto"/>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 name="Google Shape;12;p15"/>
          <p:cNvSpPr txBox="1"/>
          <p:nvPr>
            <p:ph idx="10" type="dt"/>
          </p:nvPr>
        </p:nvSpPr>
        <p:spPr>
          <a:xfrm>
            <a:off x="381000" y="5811839"/>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15"/>
          <p:cNvSpPr txBox="1"/>
          <p:nvPr>
            <p:ph idx="11" type="ftr"/>
          </p:nvPr>
        </p:nvSpPr>
        <p:spPr>
          <a:xfrm>
            <a:off x="3126154" y="5811839"/>
            <a:ext cx="5941647"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15"/>
          <p:cNvSpPr txBox="1"/>
          <p:nvPr>
            <p:ph idx="12" type="sldNum"/>
          </p:nvPr>
        </p:nvSpPr>
        <p:spPr>
          <a:xfrm>
            <a:off x="9067800" y="5811839"/>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8.png"/><Relationship Id="rId4" Type="http://schemas.openxmlformats.org/officeDocument/2006/relationships/image" Target="../media/image3.jpg"/><Relationship Id="rId10" Type="http://schemas.openxmlformats.org/officeDocument/2006/relationships/image" Target="../media/image11.jpg"/><Relationship Id="rId9" Type="http://schemas.openxmlformats.org/officeDocument/2006/relationships/image" Target="../media/image9.jp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1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docs.google.com/document/d/1TCuuu-8Mm14oxsOnlk8DqfZAA1cvtYu9WGv67Yj_sSk/pub"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5.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37.png"/><Relationship Id="rId6" Type="http://schemas.openxmlformats.org/officeDocument/2006/relationships/image" Target="../media/image3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18.png"/><Relationship Id="rId4" Type="http://schemas.openxmlformats.org/officeDocument/2006/relationships/image" Target="../media/image29.png"/><Relationship Id="rId5"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29.png"/><Relationship Id="rId5"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3.png"/><Relationship Id="rId4" Type="http://schemas.openxmlformats.org/officeDocument/2006/relationships/image" Target="../media/image32.png"/><Relationship Id="rId5"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8.png"/><Relationship Id="rId4" Type="http://schemas.openxmlformats.org/officeDocument/2006/relationships/image" Target="../media/image28.png"/><Relationship Id="rId5" Type="http://schemas.openxmlformats.org/officeDocument/2006/relationships/image" Target="../media/image25.png"/><Relationship Id="rId6" Type="http://schemas.openxmlformats.org/officeDocument/2006/relationships/image" Target="../media/image30.png"/><Relationship Id="rId7"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doi.org/10.1016/j.asej.2014.04.011" TargetMode="External"/><Relationship Id="rId4" Type="http://schemas.openxmlformats.org/officeDocument/2006/relationships/hyperlink" Target="https://docs.google.com/document/d/1TCuuu-8Mm14oxsOnlk8DqfZAA1cvtYu9WGv67Yj_sSk/pub"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5" name="Shape 75"/>
        <p:cNvGrpSpPr/>
        <p:nvPr/>
      </p:nvGrpSpPr>
      <p:grpSpPr>
        <a:xfrm>
          <a:off x="0" y="0"/>
          <a:ext cx="0" cy="0"/>
          <a:chOff x="0" y="0"/>
          <a:chExt cx="0" cy="0"/>
        </a:xfrm>
      </p:grpSpPr>
      <p:sp>
        <p:nvSpPr>
          <p:cNvPr id="76" name="Google Shape;76;p1"/>
          <p:cNvSpPr txBox="1"/>
          <p:nvPr>
            <p:ph idx="1" type="subTitle"/>
          </p:nvPr>
        </p:nvSpPr>
        <p:spPr>
          <a:xfrm>
            <a:off x="4024461" y="3793068"/>
            <a:ext cx="6795913" cy="1684868"/>
          </a:xfrm>
          <a:prstGeom prst="rect">
            <a:avLst/>
          </a:prstGeom>
          <a:noFill/>
          <a:ln>
            <a:noFill/>
          </a:ln>
        </p:spPr>
        <p:txBody>
          <a:bodyPr anchorCtr="0" anchor="t" bIns="45700" lIns="91425" spcFirstLastPara="1" rIns="91425" wrap="square" tIns="45700">
            <a:noAutofit/>
          </a:bodyPr>
          <a:lstStyle/>
          <a:p>
            <a:pPr indent="0" lvl="0" marL="0" rtl="0" algn="l">
              <a:lnSpc>
                <a:spcPct val="120000"/>
              </a:lnSpc>
              <a:spcBef>
                <a:spcPts val="0"/>
              </a:spcBef>
              <a:spcAft>
                <a:spcPts val="0"/>
              </a:spcAft>
              <a:buClr>
                <a:srgbClr val="7F7F7F"/>
              </a:buClr>
              <a:buSzPts val="3000"/>
              <a:buNone/>
            </a:pPr>
            <a:r>
              <a:rPr lang="en-US"/>
              <a:t>Discussion Forum Subteam</a:t>
            </a:r>
            <a:endParaRPr/>
          </a:p>
          <a:p>
            <a:pPr indent="0" lvl="0" marL="0" rtl="0" algn="l">
              <a:lnSpc>
                <a:spcPct val="120000"/>
              </a:lnSpc>
              <a:spcBef>
                <a:spcPts val="600"/>
              </a:spcBef>
              <a:spcAft>
                <a:spcPts val="0"/>
              </a:spcAft>
              <a:buClr>
                <a:srgbClr val="7F7F7F"/>
              </a:buClr>
              <a:buSzPts val="3000"/>
              <a:buNone/>
            </a:pPr>
            <a:r>
              <a:rPr lang="en-US"/>
              <a:t>Presentation 3 - 4/20/2022</a:t>
            </a:r>
            <a:endParaRPr/>
          </a:p>
        </p:txBody>
      </p:sp>
      <p:sp>
        <p:nvSpPr>
          <p:cNvPr id="77" name="Google Shape;77;p1"/>
          <p:cNvSpPr txBox="1"/>
          <p:nvPr>
            <p:ph type="ctrTitle"/>
          </p:nvPr>
        </p:nvSpPr>
        <p:spPr>
          <a:xfrm>
            <a:off x="4024462" y="333633"/>
            <a:ext cx="6795913" cy="3459435"/>
          </a:xfrm>
          <a:prstGeom prst="rect">
            <a:avLst/>
          </a:prstGeom>
          <a:noFill/>
          <a:ln>
            <a:noFill/>
          </a:ln>
        </p:spPr>
        <p:txBody>
          <a:bodyPr anchorCtr="0" anchor="b" bIns="45700" lIns="91425" spcFirstLastPara="1" rIns="91425" wrap="square" tIns="45700">
            <a:normAutofit/>
          </a:bodyPr>
          <a:lstStyle/>
          <a:p>
            <a:pPr indent="0" lvl="0" marL="0" rtl="0" algn="l">
              <a:lnSpc>
                <a:spcPct val="114285"/>
              </a:lnSpc>
              <a:spcBef>
                <a:spcPts val="0"/>
              </a:spcBef>
              <a:spcAft>
                <a:spcPts val="0"/>
              </a:spcAft>
              <a:buClr>
                <a:srgbClr val="A7934B"/>
              </a:buClr>
              <a:buSzPts val="4200"/>
              <a:buFont typeface="Roboto"/>
              <a:buNone/>
            </a:pPr>
            <a:r>
              <a:rPr lang="en-US"/>
              <a:t>Data Driven Education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2"/>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SzPts val="1800"/>
              <a:buNone/>
            </a:pPr>
            <a:r>
              <a:rPr lang="en-US"/>
              <a:t>Team Members</a:t>
            </a:r>
            <a:endParaRPr/>
          </a:p>
        </p:txBody>
      </p:sp>
      <p:sp>
        <p:nvSpPr>
          <p:cNvPr id="83" name="Google Shape;83;p2"/>
          <p:cNvSpPr txBox="1"/>
          <p:nvPr/>
        </p:nvSpPr>
        <p:spPr>
          <a:xfrm>
            <a:off x="851950" y="5385588"/>
            <a:ext cx="1790400" cy="64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Aanya Khandelwal</a:t>
            </a:r>
            <a:endParaRPr b="0" i="0" sz="1400" u="none" cap="none" strike="noStrike">
              <a:solidFill>
                <a:srgbClr val="000000"/>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Back-end</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Developer</a:t>
            </a:r>
            <a:endParaRPr b="0" i="0" sz="1400" u="none" cap="none" strike="noStrike">
              <a:solidFill>
                <a:srgbClr val="000000"/>
              </a:solidFill>
              <a:latin typeface="Roboto"/>
              <a:ea typeface="Roboto"/>
              <a:cs typeface="Roboto"/>
              <a:sym typeface="Roboto"/>
            </a:endParaRPr>
          </a:p>
        </p:txBody>
      </p:sp>
      <p:sp>
        <p:nvSpPr>
          <p:cNvPr id="84" name="Google Shape;84;p2"/>
          <p:cNvSpPr txBox="1"/>
          <p:nvPr/>
        </p:nvSpPr>
        <p:spPr>
          <a:xfrm>
            <a:off x="3424375" y="5371600"/>
            <a:ext cx="1790400" cy="64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Gautam Sugasi</a:t>
            </a:r>
            <a:endParaRPr b="0" i="0" sz="1400" u="none" cap="none" strike="noStrike">
              <a:solidFill>
                <a:srgbClr val="000000"/>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Back-end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Developer</a:t>
            </a:r>
            <a:endParaRPr b="0" i="0" sz="1400" u="none" cap="none" strike="noStrike">
              <a:solidFill>
                <a:srgbClr val="000000"/>
              </a:solidFill>
              <a:latin typeface="Roboto"/>
              <a:ea typeface="Roboto"/>
              <a:cs typeface="Roboto"/>
              <a:sym typeface="Roboto"/>
            </a:endParaRPr>
          </a:p>
        </p:txBody>
      </p:sp>
      <p:sp>
        <p:nvSpPr>
          <p:cNvPr id="85" name="Google Shape;85;p2"/>
          <p:cNvSpPr txBox="1"/>
          <p:nvPr/>
        </p:nvSpPr>
        <p:spPr>
          <a:xfrm>
            <a:off x="5996800" y="5371600"/>
            <a:ext cx="1790400" cy="64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Jisan Park</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Data Scientist</a:t>
            </a:r>
            <a:endParaRPr b="0" i="0" sz="1400" u="none" cap="none" strike="noStrike">
              <a:solidFill>
                <a:srgbClr val="000000"/>
              </a:solidFill>
              <a:latin typeface="Roboto"/>
              <a:ea typeface="Roboto"/>
              <a:cs typeface="Roboto"/>
              <a:sym typeface="Roboto"/>
            </a:endParaRPr>
          </a:p>
        </p:txBody>
      </p:sp>
      <p:sp>
        <p:nvSpPr>
          <p:cNvPr id="86" name="Google Shape;86;p2"/>
          <p:cNvSpPr txBox="1"/>
          <p:nvPr/>
        </p:nvSpPr>
        <p:spPr>
          <a:xfrm>
            <a:off x="6001763" y="2719200"/>
            <a:ext cx="1790400" cy="64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Nidhi Pai</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Data Scientist</a:t>
            </a:r>
            <a:endParaRPr b="0" i="0" sz="1400" u="none" cap="none" strike="noStrike">
              <a:solidFill>
                <a:srgbClr val="000000"/>
              </a:solidFill>
              <a:latin typeface="Roboto"/>
              <a:ea typeface="Roboto"/>
              <a:cs typeface="Roboto"/>
              <a:sym typeface="Roboto"/>
            </a:endParaRPr>
          </a:p>
        </p:txBody>
      </p:sp>
      <p:sp>
        <p:nvSpPr>
          <p:cNvPr id="87" name="Google Shape;87;p2"/>
          <p:cNvSpPr/>
          <p:nvPr/>
        </p:nvSpPr>
        <p:spPr>
          <a:xfrm>
            <a:off x="6315400" y="4046500"/>
            <a:ext cx="1153200" cy="1183500"/>
          </a:xfrm>
          <a:prstGeom prst="smileyFace">
            <a:avLst>
              <a:gd fmla="val 4653"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2"/>
          <p:cNvSpPr txBox="1"/>
          <p:nvPr/>
        </p:nvSpPr>
        <p:spPr>
          <a:xfrm>
            <a:off x="8521625" y="5390650"/>
            <a:ext cx="1790400" cy="64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Pratik Agarwal</a:t>
            </a:r>
            <a:endParaRPr b="0" i="0" sz="1400" u="none" cap="none" strike="noStrike">
              <a:solidFill>
                <a:srgbClr val="000000"/>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Project Manager</a:t>
            </a:r>
            <a:endParaRPr b="0" i="0" sz="1400" u="none" cap="none" strike="noStrike">
              <a:solidFill>
                <a:srgbClr val="000000"/>
              </a:solidFill>
              <a:latin typeface="Roboto"/>
              <a:ea typeface="Roboto"/>
              <a:cs typeface="Roboto"/>
              <a:sym typeface="Roboto"/>
            </a:endParaRPr>
          </a:p>
        </p:txBody>
      </p:sp>
      <p:sp>
        <p:nvSpPr>
          <p:cNvPr id="89" name="Google Shape;89;p2"/>
          <p:cNvSpPr/>
          <p:nvPr/>
        </p:nvSpPr>
        <p:spPr>
          <a:xfrm>
            <a:off x="3718900" y="4100500"/>
            <a:ext cx="1153200" cy="1183500"/>
          </a:xfrm>
          <a:prstGeom prst="smileyFace">
            <a:avLst>
              <a:gd fmla="val 4653"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90" name="Google Shape;90;p2"/>
          <p:cNvPicPr preferRelativeResize="0"/>
          <p:nvPr/>
        </p:nvPicPr>
        <p:blipFill rotWithShape="1">
          <a:blip r:embed="rId3">
            <a:alphaModFix/>
          </a:blip>
          <a:srcRect b="0" l="2552" r="2561" t="0"/>
          <a:stretch/>
        </p:blipFill>
        <p:spPr>
          <a:xfrm>
            <a:off x="6241788" y="1325700"/>
            <a:ext cx="1252800" cy="1320300"/>
          </a:xfrm>
          <a:prstGeom prst="ellipse">
            <a:avLst/>
          </a:prstGeom>
          <a:noFill/>
          <a:ln>
            <a:noFill/>
          </a:ln>
        </p:spPr>
      </p:pic>
      <p:pic>
        <p:nvPicPr>
          <p:cNvPr id="91" name="Google Shape;91;p2"/>
          <p:cNvPicPr preferRelativeResize="0"/>
          <p:nvPr/>
        </p:nvPicPr>
        <p:blipFill rotWithShape="1">
          <a:blip r:embed="rId4">
            <a:alphaModFix/>
          </a:blip>
          <a:srcRect b="0" l="0" r="0" t="0"/>
          <a:stretch/>
        </p:blipFill>
        <p:spPr>
          <a:xfrm>
            <a:off x="1180500" y="4100512"/>
            <a:ext cx="1252800" cy="1269000"/>
          </a:xfrm>
          <a:prstGeom prst="ellipse">
            <a:avLst/>
          </a:prstGeom>
          <a:noFill/>
          <a:ln>
            <a:noFill/>
          </a:ln>
          <a:effectLst>
            <a:outerShdw blurRad="57150" rotWithShape="0" algn="bl" dir="5400000" dist="19050">
              <a:srgbClr val="000000">
                <a:alpha val="49019"/>
              </a:srgbClr>
            </a:outerShdw>
          </a:effectLst>
        </p:spPr>
      </p:pic>
      <p:pic>
        <p:nvPicPr>
          <p:cNvPr id="92" name="Google Shape;92;p2"/>
          <p:cNvPicPr preferRelativeResize="0"/>
          <p:nvPr/>
        </p:nvPicPr>
        <p:blipFill rotWithShape="1">
          <a:blip r:embed="rId5">
            <a:alphaModFix/>
          </a:blip>
          <a:srcRect b="0" l="0" r="0" t="0"/>
          <a:stretch/>
        </p:blipFill>
        <p:spPr>
          <a:xfrm>
            <a:off x="8773025" y="4033200"/>
            <a:ext cx="1413775" cy="1413750"/>
          </a:xfrm>
          <a:prstGeom prst="rect">
            <a:avLst/>
          </a:prstGeom>
          <a:noFill/>
          <a:ln>
            <a:noFill/>
          </a:ln>
        </p:spPr>
      </p:pic>
      <p:sp>
        <p:nvSpPr>
          <p:cNvPr id="93" name="Google Shape;93;p2"/>
          <p:cNvSpPr txBox="1"/>
          <p:nvPr/>
        </p:nvSpPr>
        <p:spPr>
          <a:xfrm>
            <a:off x="851950" y="2596800"/>
            <a:ext cx="1790400" cy="64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Malav Patel</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Data Scientist</a:t>
            </a:r>
            <a:endParaRPr b="0" i="0" sz="1400" u="none" cap="none" strike="noStrike">
              <a:solidFill>
                <a:srgbClr val="000000"/>
              </a:solidFill>
              <a:latin typeface="Roboto"/>
              <a:ea typeface="Roboto"/>
              <a:cs typeface="Roboto"/>
              <a:sym typeface="Roboto"/>
            </a:endParaRPr>
          </a:p>
        </p:txBody>
      </p:sp>
      <p:sp>
        <p:nvSpPr>
          <p:cNvPr id="94" name="Google Shape;94;p2"/>
          <p:cNvSpPr txBox="1"/>
          <p:nvPr/>
        </p:nvSpPr>
        <p:spPr>
          <a:xfrm>
            <a:off x="3424375" y="2596800"/>
            <a:ext cx="1790400" cy="64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Hyun Soo Kim</a:t>
            </a:r>
            <a:endParaRPr b="0" i="0" sz="1400" u="none" cap="none" strike="noStrike">
              <a:solidFill>
                <a:srgbClr val="000000"/>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Back-end</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Developer</a:t>
            </a:r>
            <a:endParaRPr b="0" i="0" sz="1400" u="none" cap="none" strike="noStrike">
              <a:solidFill>
                <a:srgbClr val="000000"/>
              </a:solidFill>
              <a:latin typeface="Roboto"/>
              <a:ea typeface="Roboto"/>
              <a:cs typeface="Roboto"/>
              <a:sym typeface="Roboto"/>
            </a:endParaRPr>
          </a:p>
        </p:txBody>
      </p:sp>
      <p:pic>
        <p:nvPicPr>
          <p:cNvPr id="95" name="Google Shape;95;p2"/>
          <p:cNvPicPr preferRelativeResize="0"/>
          <p:nvPr/>
        </p:nvPicPr>
        <p:blipFill rotWithShape="1">
          <a:blip r:embed="rId6">
            <a:alphaModFix/>
          </a:blip>
          <a:srcRect b="15388" l="0" r="0" t="20468"/>
          <a:stretch/>
        </p:blipFill>
        <p:spPr>
          <a:xfrm>
            <a:off x="3670750" y="3985450"/>
            <a:ext cx="1249500" cy="1413600"/>
          </a:xfrm>
          <a:prstGeom prst="ellipse">
            <a:avLst/>
          </a:prstGeom>
          <a:noFill/>
          <a:ln>
            <a:noFill/>
          </a:ln>
        </p:spPr>
      </p:pic>
      <p:pic>
        <p:nvPicPr>
          <p:cNvPr id="96" name="Google Shape;96;p2"/>
          <p:cNvPicPr preferRelativeResize="0"/>
          <p:nvPr/>
        </p:nvPicPr>
        <p:blipFill rotWithShape="1">
          <a:blip r:embed="rId7">
            <a:alphaModFix/>
          </a:blip>
          <a:srcRect b="0" l="0" r="0" t="0"/>
          <a:stretch/>
        </p:blipFill>
        <p:spPr>
          <a:xfrm>
            <a:off x="1029899" y="1325700"/>
            <a:ext cx="1367439" cy="1320300"/>
          </a:xfrm>
          <a:prstGeom prst="rect">
            <a:avLst/>
          </a:prstGeom>
          <a:noFill/>
          <a:ln>
            <a:noFill/>
          </a:ln>
        </p:spPr>
      </p:pic>
      <p:sp>
        <p:nvSpPr>
          <p:cNvPr id="97" name="Google Shape;97;p2"/>
          <p:cNvSpPr txBox="1"/>
          <p:nvPr/>
        </p:nvSpPr>
        <p:spPr>
          <a:xfrm>
            <a:off x="8521625" y="2723650"/>
            <a:ext cx="2048400" cy="64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Daniel Schall</a:t>
            </a:r>
            <a:endParaRPr b="0" i="0" sz="1400" u="none" cap="none" strike="noStrike">
              <a:solidFill>
                <a:srgbClr val="000000"/>
              </a:solidFill>
              <a:latin typeface="Roboto"/>
              <a:ea typeface="Roboto"/>
              <a:cs typeface="Roboto"/>
              <a:sym typeface="Roboto"/>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Education Researcher</a:t>
            </a:r>
            <a:endParaRPr b="0" i="0" sz="1400" u="none" cap="none" strike="noStrike">
              <a:solidFill>
                <a:srgbClr val="000000"/>
              </a:solidFill>
              <a:latin typeface="Roboto"/>
              <a:ea typeface="Roboto"/>
              <a:cs typeface="Roboto"/>
              <a:sym typeface="Roboto"/>
            </a:endParaRPr>
          </a:p>
        </p:txBody>
      </p:sp>
      <p:pic>
        <p:nvPicPr>
          <p:cNvPr id="98" name="Google Shape;98;p2"/>
          <p:cNvPicPr preferRelativeResize="0"/>
          <p:nvPr/>
        </p:nvPicPr>
        <p:blipFill rotWithShape="1">
          <a:blip r:embed="rId8">
            <a:alphaModFix/>
          </a:blip>
          <a:srcRect b="0" l="0" r="0" t="0"/>
          <a:stretch/>
        </p:blipFill>
        <p:spPr>
          <a:xfrm>
            <a:off x="3693175" y="1300775"/>
            <a:ext cx="1301963" cy="1320300"/>
          </a:xfrm>
          <a:prstGeom prst="rect">
            <a:avLst/>
          </a:prstGeom>
          <a:noFill/>
          <a:ln>
            <a:noFill/>
          </a:ln>
        </p:spPr>
      </p:pic>
      <p:pic>
        <p:nvPicPr>
          <p:cNvPr id="99" name="Google Shape;99;p2"/>
          <p:cNvPicPr preferRelativeResize="0"/>
          <p:nvPr/>
        </p:nvPicPr>
        <p:blipFill rotWithShape="1">
          <a:blip r:embed="rId9">
            <a:alphaModFix/>
          </a:blip>
          <a:srcRect b="0" l="0" r="0" t="0"/>
          <a:stretch/>
        </p:blipFill>
        <p:spPr>
          <a:xfrm>
            <a:off x="6320375" y="3980500"/>
            <a:ext cx="1153200" cy="1423500"/>
          </a:xfrm>
          <a:prstGeom prst="ellipse">
            <a:avLst/>
          </a:prstGeom>
          <a:noFill/>
          <a:ln>
            <a:noFill/>
          </a:ln>
        </p:spPr>
      </p:pic>
      <p:pic>
        <p:nvPicPr>
          <p:cNvPr id="100" name="Google Shape;100;p2"/>
          <p:cNvPicPr preferRelativeResize="0"/>
          <p:nvPr/>
        </p:nvPicPr>
        <p:blipFill rotWithShape="1">
          <a:blip r:embed="rId10">
            <a:alphaModFix/>
          </a:blip>
          <a:srcRect b="47196" l="26786" r="26789" t="12356"/>
          <a:stretch/>
        </p:blipFill>
        <p:spPr>
          <a:xfrm>
            <a:off x="8838875" y="1274088"/>
            <a:ext cx="1413900" cy="1423500"/>
          </a:xfrm>
          <a:prstGeom prst="ellipse">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g9d48565bb2_0_0"/>
          <p:cNvSpPr txBox="1"/>
          <p:nvPr>
            <p:ph idx="1" type="body"/>
          </p:nvPr>
        </p:nvSpPr>
        <p:spPr>
          <a:xfrm>
            <a:off x="381000" y="1215475"/>
            <a:ext cx="7187100" cy="4596300"/>
          </a:xfrm>
          <a:prstGeom prst="rect">
            <a:avLst/>
          </a:prstGeom>
          <a:noFill/>
          <a:ln>
            <a:noFill/>
          </a:ln>
        </p:spPr>
        <p:txBody>
          <a:bodyPr anchorCtr="0" anchor="t" bIns="45700" lIns="91425" spcFirstLastPara="1" rIns="91425" wrap="square" tIns="45700">
            <a:noAutofit/>
          </a:bodyPr>
          <a:lstStyle/>
          <a:p>
            <a:pPr indent="-330200" lvl="0" marL="457200" rtl="0" algn="l">
              <a:lnSpc>
                <a:spcPct val="100000"/>
              </a:lnSpc>
              <a:spcBef>
                <a:spcPts val="1500"/>
              </a:spcBef>
              <a:spcAft>
                <a:spcPts val="0"/>
              </a:spcAft>
              <a:buSzPts val="1600"/>
              <a:buChar char="●"/>
            </a:pPr>
            <a:r>
              <a:rPr lang="en-US" sz="2600"/>
              <a:t>Discussion forums</a:t>
            </a:r>
            <a:endParaRPr sz="2600"/>
          </a:p>
          <a:p>
            <a:pPr indent="-330200" lvl="1" marL="914400" rtl="0" algn="l">
              <a:lnSpc>
                <a:spcPct val="100000"/>
              </a:lnSpc>
              <a:spcBef>
                <a:spcPts val="1500"/>
              </a:spcBef>
              <a:spcAft>
                <a:spcPts val="0"/>
              </a:spcAft>
              <a:buSzPts val="1600"/>
              <a:buChar char="•"/>
            </a:pPr>
            <a:r>
              <a:rPr lang="en-US" sz="2200"/>
              <a:t>Online formats - primary source of interaction</a:t>
            </a:r>
            <a:endParaRPr sz="2200"/>
          </a:p>
          <a:p>
            <a:pPr indent="-330200" lvl="0" marL="457200" rtl="0" algn="l">
              <a:lnSpc>
                <a:spcPct val="100000"/>
              </a:lnSpc>
              <a:spcBef>
                <a:spcPts val="1500"/>
              </a:spcBef>
              <a:spcAft>
                <a:spcPts val="0"/>
              </a:spcAft>
              <a:buSzPts val="1600"/>
              <a:buChar char="●"/>
            </a:pPr>
            <a:r>
              <a:rPr lang="en-US" sz="2600"/>
              <a:t>Student interaction </a:t>
            </a:r>
            <a:endParaRPr sz="2600"/>
          </a:p>
          <a:p>
            <a:pPr indent="-330200" lvl="1" marL="914400" rtl="0" algn="l">
              <a:lnSpc>
                <a:spcPct val="100000"/>
              </a:lnSpc>
              <a:spcBef>
                <a:spcPts val="1500"/>
              </a:spcBef>
              <a:spcAft>
                <a:spcPts val="0"/>
              </a:spcAft>
              <a:buSzPts val="1600"/>
              <a:buChar char="•"/>
            </a:pPr>
            <a:r>
              <a:rPr lang="en-US" sz="2200"/>
              <a:t>Cognitive presence</a:t>
            </a:r>
            <a:endParaRPr sz="2200"/>
          </a:p>
          <a:p>
            <a:pPr indent="-330200" lvl="1" marL="914400" rtl="0" algn="l">
              <a:lnSpc>
                <a:spcPct val="100000"/>
              </a:lnSpc>
              <a:spcBef>
                <a:spcPts val="1500"/>
              </a:spcBef>
              <a:spcAft>
                <a:spcPts val="0"/>
              </a:spcAft>
              <a:buSzPts val="1600"/>
              <a:buChar char="•"/>
            </a:pPr>
            <a:r>
              <a:rPr lang="en-US" sz="2200"/>
              <a:t>Social presence</a:t>
            </a:r>
            <a:endParaRPr sz="2200"/>
          </a:p>
          <a:p>
            <a:pPr indent="-330200" lvl="0" marL="457200" rtl="0" algn="l">
              <a:lnSpc>
                <a:spcPct val="100000"/>
              </a:lnSpc>
              <a:spcBef>
                <a:spcPts val="1500"/>
              </a:spcBef>
              <a:spcAft>
                <a:spcPts val="0"/>
              </a:spcAft>
              <a:buSzPts val="1600"/>
              <a:buChar char="●"/>
            </a:pPr>
            <a:r>
              <a:rPr lang="en-US" sz="2600"/>
              <a:t>Activity on forums indicative of student engagement and interest</a:t>
            </a:r>
            <a:endParaRPr sz="2600"/>
          </a:p>
          <a:p>
            <a:pPr indent="-330200" lvl="0" marL="457200" rtl="0" algn="l">
              <a:lnSpc>
                <a:spcPct val="100000"/>
              </a:lnSpc>
              <a:spcBef>
                <a:spcPts val="1500"/>
              </a:spcBef>
              <a:spcAft>
                <a:spcPts val="1500"/>
              </a:spcAft>
              <a:buSzPts val="1600"/>
              <a:buChar char="●"/>
            </a:pPr>
            <a:r>
              <a:rPr b="1" lang="en-US" sz="2600"/>
              <a:t>Goal:</a:t>
            </a:r>
            <a:r>
              <a:rPr lang="en-US" sz="2600"/>
              <a:t> Creating a web application to help instructors save time on managing forums and increase cognitive engagement in their courses</a:t>
            </a:r>
            <a:endParaRPr sz="2600"/>
          </a:p>
        </p:txBody>
      </p:sp>
      <p:sp>
        <p:nvSpPr>
          <p:cNvPr id="106" name="Google Shape;106;g9d48565bb2_0_0"/>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Introduction</a:t>
            </a:r>
            <a:endParaRPr/>
          </a:p>
        </p:txBody>
      </p:sp>
      <p:pic>
        <p:nvPicPr>
          <p:cNvPr id="107" name="Google Shape;107;g9d48565bb2_0_0"/>
          <p:cNvPicPr preferRelativeResize="0"/>
          <p:nvPr/>
        </p:nvPicPr>
        <p:blipFill rotWithShape="1">
          <a:blip r:embed="rId3">
            <a:alphaModFix/>
          </a:blip>
          <a:srcRect b="0" l="0" r="0" t="0"/>
          <a:stretch/>
        </p:blipFill>
        <p:spPr>
          <a:xfrm>
            <a:off x="6123100" y="1018700"/>
            <a:ext cx="3108126" cy="802100"/>
          </a:xfrm>
          <a:prstGeom prst="rect">
            <a:avLst/>
          </a:prstGeom>
          <a:noFill/>
          <a:ln>
            <a:noFill/>
          </a:ln>
        </p:spPr>
      </p:pic>
      <p:pic>
        <p:nvPicPr>
          <p:cNvPr id="108" name="Google Shape;108;g9d48565bb2_0_0"/>
          <p:cNvPicPr preferRelativeResize="0"/>
          <p:nvPr/>
        </p:nvPicPr>
        <p:blipFill rotWithShape="1">
          <a:blip r:embed="rId4">
            <a:alphaModFix/>
          </a:blip>
          <a:srcRect b="0" l="0" r="0" t="0"/>
          <a:stretch/>
        </p:blipFill>
        <p:spPr>
          <a:xfrm>
            <a:off x="7568100" y="1950800"/>
            <a:ext cx="4442200" cy="39915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gba764dde3e_0_0"/>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Outcomes this semester</a:t>
            </a:r>
            <a:endParaRPr/>
          </a:p>
        </p:txBody>
      </p:sp>
      <p:graphicFrame>
        <p:nvGraphicFramePr>
          <p:cNvPr id="114" name="Google Shape;114;gba764dde3e_0_0"/>
          <p:cNvGraphicFramePr/>
          <p:nvPr/>
        </p:nvGraphicFramePr>
        <p:xfrm>
          <a:off x="620313" y="1215617"/>
          <a:ext cx="3000000" cy="3000000"/>
        </p:xfrm>
        <a:graphic>
          <a:graphicData uri="http://schemas.openxmlformats.org/drawingml/2006/table">
            <a:tbl>
              <a:tblPr>
                <a:noFill/>
                <a:tableStyleId>{49E5B07B-C539-4926-B1C7-FDB806D9F156}</a:tableStyleId>
              </a:tblPr>
              <a:tblGrid>
                <a:gridCol w="3564725"/>
                <a:gridCol w="3564725"/>
                <a:gridCol w="3564725"/>
              </a:tblGrid>
              <a:tr h="398225">
                <a:tc>
                  <a:txBody>
                    <a:bodyPr/>
                    <a:lstStyle/>
                    <a:p>
                      <a:pPr indent="0" lvl="0" marL="0" marR="0" rtl="0" algn="ctr">
                        <a:lnSpc>
                          <a:spcPct val="100000"/>
                        </a:lnSpc>
                        <a:spcBef>
                          <a:spcPts val="0"/>
                        </a:spcBef>
                        <a:spcAft>
                          <a:spcPts val="0"/>
                        </a:spcAft>
                        <a:buClr>
                          <a:srgbClr val="000000"/>
                        </a:buClr>
                        <a:buSzPts val="2400"/>
                        <a:buFont typeface="Arial"/>
                        <a:buNone/>
                      </a:pPr>
                      <a:r>
                        <a:rPr b="1" lang="en-US" sz="2400" u="none" cap="none" strike="noStrike">
                          <a:latin typeface="Roboto"/>
                          <a:ea typeface="Roboto"/>
                          <a:cs typeface="Roboto"/>
                          <a:sym typeface="Roboto"/>
                        </a:rPr>
                        <a:t>Category</a:t>
                      </a:r>
                      <a:endParaRPr b="1" sz="2400" u="none" cap="none" strike="noStrike">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Clr>
                          <a:srgbClr val="000000"/>
                        </a:buClr>
                        <a:buSzPts val="2400"/>
                        <a:buFont typeface="Arial"/>
                        <a:buNone/>
                      </a:pPr>
                      <a:r>
                        <a:rPr b="1" lang="en-US" sz="2400" u="none" cap="none" strike="noStrike">
                          <a:latin typeface="Roboto"/>
                          <a:ea typeface="Roboto"/>
                          <a:cs typeface="Roboto"/>
                          <a:sym typeface="Roboto"/>
                        </a:rPr>
                        <a:t>Accomplished</a:t>
                      </a:r>
                      <a:endParaRPr b="1" sz="2400" u="none" cap="none" strike="noStrike">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Clr>
                          <a:srgbClr val="000000"/>
                        </a:buClr>
                        <a:buSzPts val="2400"/>
                        <a:buFont typeface="Arial"/>
                        <a:buNone/>
                      </a:pPr>
                      <a:r>
                        <a:rPr b="1" lang="en-US" sz="2400" u="none" cap="none" strike="noStrike">
                          <a:latin typeface="Roboto"/>
                          <a:ea typeface="Roboto"/>
                          <a:cs typeface="Roboto"/>
                          <a:sym typeface="Roboto"/>
                        </a:rPr>
                        <a:t>Next </a:t>
                      </a:r>
                      <a:r>
                        <a:rPr b="1" lang="en-US" sz="2400">
                          <a:latin typeface="Roboto"/>
                          <a:ea typeface="Roboto"/>
                          <a:cs typeface="Roboto"/>
                          <a:sym typeface="Roboto"/>
                        </a:rPr>
                        <a:t>Goals</a:t>
                      </a:r>
                      <a:endParaRPr b="1" sz="2400" u="none" cap="none" strike="noStrike">
                        <a:latin typeface="Roboto"/>
                        <a:ea typeface="Roboto"/>
                        <a:cs typeface="Roboto"/>
                        <a:sym typeface="Roboto"/>
                      </a:endParaRPr>
                    </a:p>
                  </a:txBody>
                  <a:tcPr marT="91425" marB="91425" marR="91425" marL="91425"/>
                </a:tc>
              </a:tr>
              <a:tr h="488900">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latin typeface="Roboto"/>
                          <a:ea typeface="Roboto"/>
                          <a:cs typeface="Roboto"/>
                          <a:sym typeface="Roboto"/>
                        </a:rPr>
                        <a:t>Web Dev</a:t>
                      </a:r>
                      <a:endParaRPr sz="1600" u="none" cap="none" strike="noStrike">
                        <a:latin typeface="Roboto"/>
                        <a:ea typeface="Roboto"/>
                        <a:cs typeface="Roboto"/>
                        <a:sym typeface="Roboto"/>
                      </a:endParaRPr>
                    </a:p>
                  </a:txBody>
                  <a:tcPr marT="91425" marB="91425" marR="91425" marL="91425"/>
                </a:tc>
                <a:tc>
                  <a:txBody>
                    <a:bodyPr/>
                    <a:lstStyle/>
                    <a:p>
                      <a:pPr indent="-330200" lvl="0" marL="457200" marR="0" rtl="0" algn="l">
                        <a:lnSpc>
                          <a:spcPct val="100000"/>
                        </a:lnSpc>
                        <a:spcBef>
                          <a:spcPts val="0"/>
                        </a:spcBef>
                        <a:spcAft>
                          <a:spcPts val="0"/>
                        </a:spcAft>
                        <a:buClr>
                          <a:srgbClr val="000000"/>
                        </a:buClr>
                        <a:buSzPts val="1600"/>
                        <a:buFont typeface="Roboto"/>
                        <a:buChar char="●"/>
                      </a:pPr>
                      <a:r>
                        <a:rPr lang="en-US" sz="1600">
                          <a:latin typeface="Roboto"/>
                          <a:ea typeface="Roboto"/>
                          <a:cs typeface="Roboto"/>
                          <a:sym typeface="Roboto"/>
                        </a:rPr>
                        <a:t>Backend integration with model</a:t>
                      </a:r>
                      <a:endParaRPr sz="1600">
                        <a:latin typeface="Roboto"/>
                        <a:ea typeface="Roboto"/>
                        <a:cs typeface="Roboto"/>
                        <a:sym typeface="Roboto"/>
                      </a:endParaRPr>
                    </a:p>
                    <a:p>
                      <a:pPr indent="-330200" lvl="0" marL="457200" marR="0" rtl="0" algn="l">
                        <a:lnSpc>
                          <a:spcPct val="100000"/>
                        </a:lnSpc>
                        <a:spcBef>
                          <a:spcPts val="0"/>
                        </a:spcBef>
                        <a:spcAft>
                          <a:spcPts val="0"/>
                        </a:spcAft>
                        <a:buSzPts val="1600"/>
                        <a:buFont typeface="Roboto"/>
                        <a:buChar char="●"/>
                      </a:pPr>
                      <a:r>
                        <a:rPr lang="en-US" sz="1600">
                          <a:latin typeface="Roboto"/>
                          <a:ea typeface="Roboto"/>
                          <a:cs typeface="Roboto"/>
                          <a:sym typeface="Roboto"/>
                        </a:rPr>
                        <a:t>Connecting Piazza with DB</a:t>
                      </a:r>
                      <a:endParaRPr sz="1600">
                        <a:latin typeface="Roboto"/>
                        <a:ea typeface="Roboto"/>
                        <a:cs typeface="Roboto"/>
                        <a:sym typeface="Roboto"/>
                      </a:endParaRPr>
                    </a:p>
                  </a:txBody>
                  <a:tcPr marT="91425" marB="91425" marR="91425" marL="91425"/>
                </a:tc>
                <a:tc>
                  <a:txBody>
                    <a:bodyPr/>
                    <a:lstStyle/>
                    <a:p>
                      <a:pPr indent="-330200" lvl="0" marL="457200" marR="0" rtl="0" algn="l">
                        <a:lnSpc>
                          <a:spcPct val="100000"/>
                        </a:lnSpc>
                        <a:spcBef>
                          <a:spcPts val="0"/>
                        </a:spcBef>
                        <a:spcAft>
                          <a:spcPts val="0"/>
                        </a:spcAft>
                        <a:buClr>
                          <a:srgbClr val="000000"/>
                        </a:buClr>
                        <a:buSzPts val="1600"/>
                        <a:buFont typeface="Roboto"/>
                        <a:buChar char="●"/>
                      </a:pPr>
                      <a:r>
                        <a:rPr lang="en-US" sz="1600">
                          <a:latin typeface="Roboto"/>
                          <a:ea typeface="Roboto"/>
                          <a:cs typeface="Roboto"/>
                          <a:sym typeface="Roboto"/>
                        </a:rPr>
                        <a:t>Develop the front-end</a:t>
                      </a:r>
                      <a:endParaRPr sz="1600">
                        <a:latin typeface="Roboto"/>
                        <a:ea typeface="Roboto"/>
                        <a:cs typeface="Roboto"/>
                        <a:sym typeface="Roboto"/>
                      </a:endParaRPr>
                    </a:p>
                    <a:p>
                      <a:pPr indent="-330200" lvl="0" marL="457200" marR="0" rtl="0" algn="l">
                        <a:lnSpc>
                          <a:spcPct val="100000"/>
                        </a:lnSpc>
                        <a:spcBef>
                          <a:spcPts val="0"/>
                        </a:spcBef>
                        <a:spcAft>
                          <a:spcPts val="0"/>
                        </a:spcAft>
                        <a:buSzPts val="1600"/>
                        <a:buFont typeface="Roboto"/>
                        <a:buChar char="●"/>
                      </a:pPr>
                      <a:r>
                        <a:rPr lang="en-US" sz="1600">
                          <a:latin typeface="Roboto"/>
                          <a:ea typeface="Roboto"/>
                          <a:cs typeface="Roboto"/>
                          <a:sym typeface="Roboto"/>
                        </a:rPr>
                        <a:t>Unit+Integration testing</a:t>
                      </a:r>
                      <a:endParaRPr sz="1600">
                        <a:latin typeface="Roboto"/>
                        <a:ea typeface="Roboto"/>
                        <a:cs typeface="Roboto"/>
                        <a:sym typeface="Roboto"/>
                      </a:endParaRPr>
                    </a:p>
                  </a:txBody>
                  <a:tcPr marT="91425" marB="91425" marR="91425" marL="91425"/>
                </a:tc>
              </a:tr>
              <a:tr h="508400">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latin typeface="Roboto"/>
                          <a:ea typeface="Roboto"/>
                          <a:cs typeface="Roboto"/>
                          <a:sym typeface="Roboto"/>
                        </a:rPr>
                        <a:t>UX Research</a:t>
                      </a:r>
                      <a:endParaRPr sz="1600" u="none" cap="none" strike="noStrike">
                        <a:latin typeface="Roboto"/>
                        <a:ea typeface="Roboto"/>
                        <a:cs typeface="Roboto"/>
                        <a:sym typeface="Roboto"/>
                      </a:endParaRPr>
                    </a:p>
                  </a:txBody>
                  <a:tcPr marT="91425" marB="91425" marR="91425" marL="91425"/>
                </a:tc>
                <a:tc>
                  <a:txBody>
                    <a:bodyPr/>
                    <a:lstStyle/>
                    <a:p>
                      <a:pPr indent="-330200" lvl="0" marL="457200" rtl="0" algn="l">
                        <a:spcBef>
                          <a:spcPts val="0"/>
                        </a:spcBef>
                        <a:spcAft>
                          <a:spcPts val="0"/>
                        </a:spcAft>
                        <a:buSzPts val="1600"/>
                        <a:buFont typeface="Roboto"/>
                        <a:buChar char="●"/>
                      </a:pPr>
                      <a:r>
                        <a:rPr lang="en-US" sz="1600">
                          <a:latin typeface="Roboto"/>
                          <a:ea typeface="Roboto"/>
                          <a:cs typeface="Roboto"/>
                          <a:sym typeface="Roboto"/>
                        </a:rPr>
                        <a:t>Interviews, high-fidelity mockup</a:t>
                      </a:r>
                      <a:endParaRPr sz="1600" u="none" cap="none" strike="noStrike">
                        <a:latin typeface="Roboto"/>
                        <a:ea typeface="Roboto"/>
                        <a:cs typeface="Roboto"/>
                        <a:sym typeface="Roboto"/>
                      </a:endParaRPr>
                    </a:p>
                  </a:txBody>
                  <a:tcPr marT="91425" marB="91425" marR="91425" marL="91425"/>
                </a:tc>
                <a:tc>
                  <a:txBody>
                    <a:bodyPr/>
                    <a:lstStyle/>
                    <a:p>
                      <a:pPr indent="-330200" lvl="0" marL="457200" marR="0" rtl="0" algn="l">
                        <a:lnSpc>
                          <a:spcPct val="100000"/>
                        </a:lnSpc>
                        <a:spcBef>
                          <a:spcPts val="0"/>
                        </a:spcBef>
                        <a:spcAft>
                          <a:spcPts val="0"/>
                        </a:spcAft>
                        <a:buClr>
                          <a:srgbClr val="000000"/>
                        </a:buClr>
                        <a:buSzPts val="1600"/>
                        <a:buFont typeface="Roboto"/>
                        <a:buChar char="●"/>
                      </a:pPr>
                      <a:r>
                        <a:rPr lang="en-US" sz="1600">
                          <a:latin typeface="Roboto"/>
                          <a:ea typeface="Roboto"/>
                          <a:cs typeface="Roboto"/>
                          <a:sym typeface="Roboto"/>
                        </a:rPr>
                        <a:t>High-fidelity evaluation</a:t>
                      </a:r>
                      <a:endParaRPr sz="1600" u="none" cap="none" strike="noStrike">
                        <a:latin typeface="Roboto"/>
                        <a:ea typeface="Roboto"/>
                        <a:cs typeface="Roboto"/>
                        <a:sym typeface="Roboto"/>
                      </a:endParaRPr>
                    </a:p>
                  </a:txBody>
                  <a:tcPr marT="91425" marB="91425" marR="91425" marL="91425"/>
                </a:tc>
              </a:tr>
              <a:tr h="508400">
                <a:tc>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latin typeface="Roboto"/>
                          <a:ea typeface="Roboto"/>
                          <a:cs typeface="Roboto"/>
                          <a:sym typeface="Roboto"/>
                        </a:rPr>
                        <a:t>Data Science</a:t>
                      </a:r>
                      <a:endParaRPr sz="1600" u="none" cap="none" strike="noStrike">
                        <a:latin typeface="Roboto"/>
                        <a:ea typeface="Roboto"/>
                        <a:cs typeface="Roboto"/>
                        <a:sym typeface="Roboto"/>
                      </a:endParaRPr>
                    </a:p>
                  </a:txBody>
                  <a:tcPr marT="91425" marB="91425" marR="91425" marL="91425"/>
                </a:tc>
                <a:tc>
                  <a:txBody>
                    <a:bodyPr/>
                    <a:lstStyle/>
                    <a:p>
                      <a:pPr indent="-330200" lvl="0" marL="457200" marR="0" rtl="0" algn="l">
                        <a:lnSpc>
                          <a:spcPct val="100000"/>
                        </a:lnSpc>
                        <a:spcBef>
                          <a:spcPts val="0"/>
                        </a:spcBef>
                        <a:spcAft>
                          <a:spcPts val="0"/>
                        </a:spcAft>
                        <a:buClr>
                          <a:srgbClr val="000000"/>
                        </a:buClr>
                        <a:buSzPts val="1600"/>
                        <a:buFont typeface="Roboto"/>
                        <a:buChar char="●"/>
                      </a:pPr>
                      <a:r>
                        <a:rPr lang="en-US" sz="1600">
                          <a:latin typeface="Roboto"/>
                          <a:ea typeface="Roboto"/>
                          <a:cs typeface="Roboto"/>
                          <a:sym typeface="Roboto"/>
                        </a:rPr>
                        <a:t>LDA+BERT Topic Models to cluster posts and comments</a:t>
                      </a:r>
                      <a:endParaRPr sz="1600" u="none" cap="none" strike="noStrike">
                        <a:latin typeface="Roboto"/>
                        <a:ea typeface="Roboto"/>
                        <a:cs typeface="Roboto"/>
                        <a:sym typeface="Roboto"/>
                      </a:endParaRPr>
                    </a:p>
                  </a:txBody>
                  <a:tcPr marT="91425" marB="91425" marR="91425" marL="91425"/>
                </a:tc>
                <a:tc>
                  <a:txBody>
                    <a:bodyPr/>
                    <a:lstStyle/>
                    <a:p>
                      <a:pPr indent="-330200" lvl="0" marL="457200" marR="0" rtl="0" algn="l">
                        <a:lnSpc>
                          <a:spcPct val="100000"/>
                        </a:lnSpc>
                        <a:spcBef>
                          <a:spcPts val="0"/>
                        </a:spcBef>
                        <a:spcAft>
                          <a:spcPts val="0"/>
                        </a:spcAft>
                        <a:buClr>
                          <a:srgbClr val="000000"/>
                        </a:buClr>
                        <a:buSzPts val="1600"/>
                        <a:buFont typeface="Roboto"/>
                        <a:buChar char="●"/>
                      </a:pPr>
                      <a:r>
                        <a:rPr lang="en-US" sz="1600">
                          <a:latin typeface="Roboto"/>
                          <a:ea typeface="Roboto"/>
                          <a:cs typeface="Roboto"/>
                          <a:sym typeface="Roboto"/>
                        </a:rPr>
                        <a:t>Aspect-based sentiment analysis + integrate </a:t>
                      </a:r>
                      <a:r>
                        <a:rPr lang="en-US" sz="1600">
                          <a:latin typeface="Roboto"/>
                          <a:ea typeface="Roboto"/>
                          <a:cs typeface="Roboto"/>
                          <a:sym typeface="Roboto"/>
                        </a:rPr>
                        <a:t>with cognitive presence</a:t>
                      </a:r>
                      <a:endParaRPr sz="1600" u="none" cap="none" strike="noStrike">
                        <a:latin typeface="Roboto"/>
                        <a:ea typeface="Roboto"/>
                        <a:cs typeface="Roboto"/>
                        <a:sym typeface="Roboto"/>
                      </a:endParaRPr>
                    </a:p>
                  </a:txBody>
                  <a:tcPr marT="91425" marB="91425" marR="91425" marL="91425"/>
                </a:tc>
              </a:tr>
              <a:tr h="508400">
                <a:tc>
                  <a:txBody>
                    <a:bodyPr/>
                    <a:lstStyle/>
                    <a:p>
                      <a:pPr indent="0" lvl="0" marL="0" marR="0" rtl="0" algn="ctr">
                        <a:lnSpc>
                          <a:spcPct val="100000"/>
                        </a:lnSpc>
                        <a:spcBef>
                          <a:spcPts val="0"/>
                        </a:spcBef>
                        <a:spcAft>
                          <a:spcPts val="0"/>
                        </a:spcAft>
                        <a:buNone/>
                      </a:pPr>
                      <a:r>
                        <a:rPr lang="en-US" sz="1600">
                          <a:latin typeface="Roboto"/>
                          <a:ea typeface="Roboto"/>
                          <a:cs typeface="Roboto"/>
                          <a:sym typeface="Roboto"/>
                        </a:rPr>
                        <a:t>Education Research</a:t>
                      </a:r>
                      <a:endParaRPr sz="1600" u="none" cap="none" strike="noStrike">
                        <a:latin typeface="Roboto"/>
                        <a:ea typeface="Roboto"/>
                        <a:cs typeface="Roboto"/>
                        <a:sym typeface="Roboto"/>
                      </a:endParaRPr>
                    </a:p>
                  </a:txBody>
                  <a:tcPr marT="91425" marB="91425" marR="91425" marL="91425"/>
                </a:tc>
                <a:tc>
                  <a:txBody>
                    <a:bodyPr/>
                    <a:lstStyle/>
                    <a:p>
                      <a:pPr indent="-330200" lvl="0" marL="457200" marR="0" rtl="0" algn="l">
                        <a:lnSpc>
                          <a:spcPct val="100000"/>
                        </a:lnSpc>
                        <a:spcBef>
                          <a:spcPts val="0"/>
                        </a:spcBef>
                        <a:spcAft>
                          <a:spcPts val="0"/>
                        </a:spcAft>
                        <a:buSzPts val="1600"/>
                        <a:buFont typeface="Roboto"/>
                        <a:buChar char="●"/>
                      </a:pPr>
                      <a:r>
                        <a:t/>
                      </a:r>
                      <a:endParaRPr sz="1600">
                        <a:latin typeface="Roboto"/>
                        <a:ea typeface="Roboto"/>
                        <a:cs typeface="Roboto"/>
                        <a:sym typeface="Roboto"/>
                      </a:endParaRPr>
                    </a:p>
                  </a:txBody>
                  <a:tcPr marT="91425" marB="91425" marR="91425" marL="91425"/>
                </a:tc>
                <a:tc>
                  <a:txBody>
                    <a:bodyPr/>
                    <a:lstStyle/>
                    <a:p>
                      <a:pPr indent="-330200" lvl="0" marL="457200" marR="0" rtl="0" algn="l">
                        <a:lnSpc>
                          <a:spcPct val="100000"/>
                        </a:lnSpc>
                        <a:spcBef>
                          <a:spcPts val="0"/>
                        </a:spcBef>
                        <a:spcAft>
                          <a:spcPts val="0"/>
                        </a:spcAft>
                        <a:buSzPts val="1600"/>
                        <a:buFont typeface="Roboto"/>
                        <a:buChar char="●"/>
                      </a:pPr>
                      <a:r>
                        <a:t/>
                      </a:r>
                      <a:endParaRPr sz="1600" u="none" cap="none" strike="noStrike">
                        <a:latin typeface="Roboto"/>
                        <a:ea typeface="Roboto"/>
                        <a:cs typeface="Roboto"/>
                        <a:sym typeface="Roboto"/>
                      </a:endParaRPr>
                    </a:p>
                  </a:txBody>
                  <a:tcPr marT="91425" marB="91425" marR="91425" marL="91425"/>
                </a:tc>
              </a:tr>
            </a:tbl>
          </a:graphicData>
        </a:graphic>
      </p:graphicFrame>
      <p:sp>
        <p:nvSpPr>
          <p:cNvPr id="115" name="Google Shape;115;gba764dde3e_0_0"/>
          <p:cNvSpPr txBox="1"/>
          <p:nvPr/>
        </p:nvSpPr>
        <p:spPr>
          <a:xfrm>
            <a:off x="386363" y="4867275"/>
            <a:ext cx="11162100" cy="18933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1500"/>
              </a:spcBef>
              <a:spcAft>
                <a:spcPts val="0"/>
              </a:spcAft>
              <a:buClr>
                <a:srgbClr val="000000"/>
              </a:buClr>
              <a:buSzPts val="2600"/>
              <a:buFont typeface="Arial"/>
              <a:buNone/>
            </a:pPr>
            <a:r>
              <a:rPr b="1" i="0" lang="en-US" sz="2600" u="none" cap="none" strike="noStrike">
                <a:solidFill>
                  <a:schemeClr val="dk1"/>
                </a:solidFill>
                <a:latin typeface="Roboto"/>
                <a:ea typeface="Roboto"/>
                <a:cs typeface="Roboto"/>
                <a:sym typeface="Roboto"/>
              </a:rPr>
              <a:t>Learnings and Challenges as a Project Manager:</a:t>
            </a:r>
            <a:endParaRPr b="1" i="0" sz="2600" u="none" cap="none" strike="noStrike">
              <a:solidFill>
                <a:schemeClr val="dk1"/>
              </a:solidFill>
              <a:latin typeface="Roboto"/>
              <a:ea typeface="Roboto"/>
              <a:cs typeface="Roboto"/>
              <a:sym typeface="Roboto"/>
            </a:endParaRPr>
          </a:p>
          <a:p>
            <a:pPr indent="-355600" lvl="0" marL="457200" marR="0" rtl="0" algn="l">
              <a:lnSpc>
                <a:spcPct val="100000"/>
              </a:lnSpc>
              <a:spcBef>
                <a:spcPts val="1500"/>
              </a:spcBef>
              <a:spcAft>
                <a:spcPts val="0"/>
              </a:spcAft>
              <a:buClr>
                <a:schemeClr val="dk1"/>
              </a:buClr>
              <a:buSzPts val="2000"/>
              <a:buFont typeface="Arial"/>
              <a:buChar char="•"/>
            </a:pPr>
            <a:r>
              <a:rPr lang="en-US" sz="2000">
                <a:solidFill>
                  <a:schemeClr val="dk1"/>
                </a:solidFill>
                <a:latin typeface="Roboto"/>
                <a:ea typeface="Roboto"/>
                <a:cs typeface="Roboto"/>
                <a:sym typeface="Roboto"/>
              </a:rPr>
              <a:t>Should be more frequent in coordinating with teammates. </a:t>
            </a:r>
            <a:endParaRPr sz="2000">
              <a:solidFill>
                <a:schemeClr val="dk1"/>
              </a:solidFill>
              <a:latin typeface="Roboto"/>
              <a:ea typeface="Roboto"/>
              <a:cs typeface="Roboto"/>
              <a:sym typeface="Roboto"/>
            </a:endParaRPr>
          </a:p>
          <a:p>
            <a:pPr indent="-355600" lvl="0" marL="457200" marR="0" rtl="0" algn="l">
              <a:lnSpc>
                <a:spcPct val="100000"/>
              </a:lnSpc>
              <a:spcBef>
                <a:spcPts val="1500"/>
              </a:spcBef>
              <a:spcAft>
                <a:spcPts val="0"/>
              </a:spcAft>
              <a:buClr>
                <a:schemeClr val="dk1"/>
              </a:buClr>
              <a:buSzPts val="2000"/>
              <a:buFont typeface="Roboto"/>
              <a:buChar char="•"/>
            </a:pPr>
            <a:r>
              <a:rPr lang="en-US" sz="2000">
                <a:solidFill>
                  <a:schemeClr val="dk1"/>
                </a:solidFill>
                <a:latin typeface="Roboto"/>
                <a:ea typeface="Roboto"/>
                <a:cs typeface="Roboto"/>
                <a:sym typeface="Roboto"/>
              </a:rPr>
              <a:t>Experiment with an extreme version of Agile (</a:t>
            </a:r>
            <a:r>
              <a:rPr lang="en-US" sz="2000" u="sng">
                <a:solidFill>
                  <a:schemeClr val="hlink"/>
                </a:solidFill>
                <a:latin typeface="Roboto"/>
                <a:ea typeface="Roboto"/>
                <a:cs typeface="Roboto"/>
                <a:sym typeface="Roboto"/>
                <a:hlinkClick r:id="rId3"/>
              </a:rPr>
              <a:t>Elephant Carpaccio</a:t>
            </a:r>
            <a:r>
              <a:rPr lang="en-US" sz="2000">
                <a:solidFill>
                  <a:schemeClr val="dk1"/>
                </a:solidFill>
                <a:latin typeface="Roboto"/>
                <a:ea typeface="Roboto"/>
                <a:cs typeface="Roboto"/>
                <a:sym typeface="Roboto"/>
              </a:rPr>
              <a:t>). More test driven development and research.</a:t>
            </a:r>
            <a:endParaRPr sz="2000">
              <a:solidFill>
                <a:schemeClr val="dk1"/>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gf4b38d8802_0_0"/>
          <p:cNvSpPr txBox="1"/>
          <p:nvPr/>
        </p:nvSpPr>
        <p:spPr>
          <a:xfrm>
            <a:off x="190850" y="1115050"/>
            <a:ext cx="10292400" cy="3617700"/>
          </a:xfrm>
          <a:prstGeom prst="rect">
            <a:avLst/>
          </a:prstGeom>
          <a:noFill/>
          <a:ln>
            <a:noFill/>
          </a:ln>
        </p:spPr>
        <p:txBody>
          <a:bodyPr anchorCtr="0" anchor="t" bIns="91425" lIns="91425" spcFirstLastPara="1" rIns="91425" wrap="square" tIns="91425">
            <a:spAutoFit/>
          </a:bodyPr>
          <a:lstStyle/>
          <a:p>
            <a:pPr indent="-387350" lvl="0" marL="457200" marR="0" rtl="0" algn="l">
              <a:lnSpc>
                <a:spcPct val="90000"/>
              </a:lnSpc>
              <a:spcBef>
                <a:spcPts val="1000"/>
              </a:spcBef>
              <a:spcAft>
                <a:spcPts val="0"/>
              </a:spcAft>
              <a:buClr>
                <a:schemeClr val="dk1"/>
              </a:buClr>
              <a:buSzPts val="2500"/>
              <a:buFont typeface="Roboto"/>
              <a:buChar char="●"/>
            </a:pPr>
            <a:r>
              <a:rPr b="1" i="0" lang="en-US" sz="2500" u="none" cap="none" strike="noStrike">
                <a:solidFill>
                  <a:schemeClr val="dk1"/>
                </a:solidFill>
                <a:latin typeface="Roboto"/>
                <a:ea typeface="Roboto"/>
                <a:cs typeface="Roboto"/>
                <a:sym typeface="Roboto"/>
              </a:rPr>
              <a:t>Development</a:t>
            </a:r>
            <a:endParaRPr b="1" i="0" sz="2500" u="none" cap="none" strike="noStrike">
              <a:solidFill>
                <a:schemeClr val="dk1"/>
              </a:solidFill>
              <a:latin typeface="Roboto"/>
              <a:ea typeface="Roboto"/>
              <a:cs typeface="Roboto"/>
              <a:sym typeface="Roboto"/>
            </a:endParaRPr>
          </a:p>
          <a:p>
            <a:pPr indent="-342900" lvl="1" marL="914400" marR="0" rtl="0" algn="l">
              <a:lnSpc>
                <a:spcPct val="90000"/>
              </a:lnSpc>
              <a:spcBef>
                <a:spcPts val="1000"/>
              </a:spcBef>
              <a:spcAft>
                <a:spcPts val="0"/>
              </a:spcAft>
              <a:buClr>
                <a:schemeClr val="dk1"/>
              </a:buClr>
              <a:buSzPts val="1800"/>
              <a:buFont typeface="Roboto"/>
              <a:buChar char="○"/>
            </a:pPr>
            <a:r>
              <a:rPr lang="en-US" sz="1800">
                <a:solidFill>
                  <a:schemeClr val="dk1"/>
                </a:solidFill>
                <a:latin typeface="Roboto"/>
                <a:ea typeface="Roboto"/>
                <a:cs typeface="Roboto"/>
                <a:sym typeface="Roboto"/>
              </a:rPr>
              <a:t>A responsive web-app tested inside the Piazza sandbox environment</a:t>
            </a:r>
            <a:endParaRPr b="0" i="0" sz="1800" u="none" cap="none" strike="noStrike">
              <a:solidFill>
                <a:schemeClr val="dk1"/>
              </a:solidFill>
              <a:latin typeface="Roboto"/>
              <a:ea typeface="Roboto"/>
              <a:cs typeface="Roboto"/>
              <a:sym typeface="Roboto"/>
            </a:endParaRPr>
          </a:p>
          <a:p>
            <a:pPr indent="0" lvl="0" marL="914400" marR="0" rtl="0" algn="l">
              <a:lnSpc>
                <a:spcPct val="90000"/>
              </a:lnSpc>
              <a:spcBef>
                <a:spcPts val="1000"/>
              </a:spcBef>
              <a:spcAft>
                <a:spcPts val="0"/>
              </a:spcAft>
              <a:buClr>
                <a:srgbClr val="000000"/>
              </a:buClr>
              <a:buSzPts val="1800"/>
              <a:buFont typeface="Arial"/>
              <a:buNone/>
            </a:pPr>
            <a:r>
              <a:t/>
            </a:r>
            <a:endParaRPr b="0" i="0" sz="1800" u="none" cap="none" strike="noStrike">
              <a:solidFill>
                <a:schemeClr val="dk1"/>
              </a:solidFill>
              <a:latin typeface="Roboto"/>
              <a:ea typeface="Roboto"/>
              <a:cs typeface="Roboto"/>
              <a:sym typeface="Roboto"/>
            </a:endParaRPr>
          </a:p>
          <a:p>
            <a:pPr indent="-387350" lvl="0" marL="457200" marR="0" rtl="0" algn="l">
              <a:lnSpc>
                <a:spcPct val="90000"/>
              </a:lnSpc>
              <a:spcBef>
                <a:spcPts val="1000"/>
              </a:spcBef>
              <a:spcAft>
                <a:spcPts val="0"/>
              </a:spcAft>
              <a:buClr>
                <a:schemeClr val="dk1"/>
              </a:buClr>
              <a:buSzPts val="2500"/>
              <a:buFont typeface="Roboto"/>
              <a:buChar char="●"/>
            </a:pPr>
            <a:r>
              <a:rPr b="1" i="0" lang="en-US" sz="2500" u="none" cap="none" strike="noStrike">
                <a:solidFill>
                  <a:schemeClr val="dk1"/>
                </a:solidFill>
                <a:latin typeface="Roboto"/>
                <a:ea typeface="Roboto"/>
                <a:cs typeface="Roboto"/>
                <a:sym typeface="Roboto"/>
              </a:rPr>
              <a:t>Research</a:t>
            </a:r>
            <a:endParaRPr b="1" i="0" sz="2500" u="none" cap="none" strike="noStrike">
              <a:solidFill>
                <a:schemeClr val="dk1"/>
              </a:solidFill>
              <a:latin typeface="Roboto"/>
              <a:ea typeface="Roboto"/>
              <a:cs typeface="Roboto"/>
              <a:sym typeface="Roboto"/>
            </a:endParaRPr>
          </a:p>
          <a:p>
            <a:pPr indent="-342900" lvl="1" marL="914400" marR="0" rtl="0" algn="l">
              <a:lnSpc>
                <a:spcPct val="90000"/>
              </a:lnSpc>
              <a:spcBef>
                <a:spcPts val="1000"/>
              </a:spcBef>
              <a:spcAft>
                <a:spcPts val="0"/>
              </a:spcAft>
              <a:buClr>
                <a:schemeClr val="dk1"/>
              </a:buClr>
              <a:buSzPts val="1800"/>
              <a:buFont typeface="Roboto"/>
              <a:buChar char="○"/>
            </a:pPr>
            <a:r>
              <a:rPr lang="en-US" sz="1800">
                <a:solidFill>
                  <a:schemeClr val="dk1"/>
                </a:solidFill>
                <a:latin typeface="Roboto"/>
                <a:ea typeface="Roboto"/>
                <a:cs typeface="Roboto"/>
                <a:sym typeface="Roboto"/>
              </a:rPr>
              <a:t>Combining insights from Cognitive presence modeling, topic-modeling, aspect-based sentiment analysis and metacognition to understand online class dynamics over time</a:t>
            </a:r>
            <a:endParaRPr b="0" i="0" sz="1800" u="none" cap="none" strike="noStrike">
              <a:solidFill>
                <a:schemeClr val="dk1"/>
              </a:solidFill>
              <a:latin typeface="Roboto"/>
              <a:ea typeface="Roboto"/>
              <a:cs typeface="Roboto"/>
              <a:sym typeface="Roboto"/>
            </a:endParaRPr>
          </a:p>
          <a:p>
            <a:pPr indent="0" lvl="0" marL="0" marR="0" rtl="0" algn="l">
              <a:lnSpc>
                <a:spcPct val="90000"/>
              </a:lnSpc>
              <a:spcBef>
                <a:spcPts val="1000"/>
              </a:spcBef>
              <a:spcAft>
                <a:spcPts val="0"/>
              </a:spcAft>
              <a:buClr>
                <a:srgbClr val="000000"/>
              </a:buClr>
              <a:buSzPts val="1800"/>
              <a:buFont typeface="Arial"/>
              <a:buNone/>
            </a:pPr>
            <a:r>
              <a:t/>
            </a:r>
            <a:endParaRPr b="0" i="0" sz="1800" u="none" cap="none" strike="noStrike">
              <a:solidFill>
                <a:schemeClr val="dk1"/>
              </a:solidFill>
              <a:latin typeface="Roboto"/>
              <a:ea typeface="Roboto"/>
              <a:cs typeface="Roboto"/>
              <a:sym typeface="Roboto"/>
            </a:endParaRPr>
          </a:p>
          <a:p>
            <a:pPr indent="-387350" lvl="0" marL="457200" marR="0" rtl="0" algn="l">
              <a:lnSpc>
                <a:spcPct val="90000"/>
              </a:lnSpc>
              <a:spcBef>
                <a:spcPts val="1000"/>
              </a:spcBef>
              <a:spcAft>
                <a:spcPts val="0"/>
              </a:spcAft>
              <a:buClr>
                <a:schemeClr val="dk1"/>
              </a:buClr>
              <a:buSzPts val="2500"/>
              <a:buFont typeface="Roboto"/>
              <a:buChar char="●"/>
            </a:pPr>
            <a:r>
              <a:rPr b="1" i="0" lang="en-US" sz="2500" u="none" cap="none" strike="noStrike">
                <a:solidFill>
                  <a:schemeClr val="dk1"/>
                </a:solidFill>
                <a:latin typeface="Roboto"/>
                <a:ea typeface="Roboto"/>
                <a:cs typeface="Roboto"/>
                <a:sym typeface="Roboto"/>
              </a:rPr>
              <a:t>Project Management</a:t>
            </a:r>
            <a:endParaRPr b="1" i="0" sz="2500" u="none" cap="none" strike="noStrike">
              <a:solidFill>
                <a:schemeClr val="dk1"/>
              </a:solidFill>
              <a:latin typeface="Roboto"/>
              <a:ea typeface="Roboto"/>
              <a:cs typeface="Roboto"/>
              <a:sym typeface="Roboto"/>
            </a:endParaRPr>
          </a:p>
          <a:p>
            <a:pPr indent="-342900" lvl="1" marL="914400" marR="0" rtl="0" algn="l">
              <a:lnSpc>
                <a:spcPct val="90000"/>
              </a:lnSpc>
              <a:spcBef>
                <a:spcPts val="1000"/>
              </a:spcBef>
              <a:spcAft>
                <a:spcPts val="0"/>
              </a:spcAft>
              <a:buClr>
                <a:schemeClr val="dk1"/>
              </a:buClr>
              <a:buSzPts val="1800"/>
              <a:buFont typeface="Roboto"/>
              <a:buChar char="○"/>
            </a:pPr>
            <a:r>
              <a:rPr lang="en-US" sz="1800">
                <a:solidFill>
                  <a:schemeClr val="dk1"/>
                </a:solidFill>
                <a:latin typeface="Roboto"/>
                <a:ea typeface="Roboto"/>
                <a:cs typeface="Roboto"/>
                <a:sym typeface="Roboto"/>
              </a:rPr>
              <a:t>Documentation/User Guide + Proposal for testing in a real class</a:t>
            </a:r>
            <a:endParaRPr b="0" i="0" sz="1800" u="none" cap="none" strike="noStrike">
              <a:solidFill>
                <a:schemeClr val="dk1"/>
              </a:solidFill>
              <a:latin typeface="Roboto"/>
              <a:ea typeface="Roboto"/>
              <a:cs typeface="Roboto"/>
              <a:sym typeface="Roboto"/>
            </a:endParaRPr>
          </a:p>
        </p:txBody>
      </p:sp>
      <p:sp>
        <p:nvSpPr>
          <p:cNvPr id="121" name="Google Shape;121;gf4b38d8802_0_0"/>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SzPts val="1800"/>
              <a:buNone/>
            </a:pPr>
            <a:r>
              <a:rPr lang="en-US"/>
              <a:t>Targets for next semester</a:t>
            </a:r>
            <a:endParaRPr/>
          </a:p>
        </p:txBody>
      </p:sp>
      <p:pic>
        <p:nvPicPr>
          <p:cNvPr id="122" name="Google Shape;122;gf4b38d8802_0_0"/>
          <p:cNvPicPr preferRelativeResize="0"/>
          <p:nvPr/>
        </p:nvPicPr>
        <p:blipFill rotWithShape="1">
          <a:blip r:embed="rId3">
            <a:alphaModFix/>
          </a:blip>
          <a:srcRect b="0" l="0" r="0" t="0"/>
          <a:stretch/>
        </p:blipFill>
        <p:spPr>
          <a:xfrm>
            <a:off x="8466225" y="926100"/>
            <a:ext cx="3108126" cy="802100"/>
          </a:xfrm>
          <a:prstGeom prst="rect">
            <a:avLst/>
          </a:prstGeom>
          <a:noFill/>
          <a:ln>
            <a:noFill/>
          </a:ln>
        </p:spPr>
      </p:pic>
      <p:pic>
        <p:nvPicPr>
          <p:cNvPr id="123" name="Google Shape;123;gf4b38d8802_0_0"/>
          <p:cNvPicPr preferRelativeResize="0"/>
          <p:nvPr/>
        </p:nvPicPr>
        <p:blipFill rotWithShape="1">
          <a:blip r:embed="rId4">
            <a:alphaModFix/>
          </a:blip>
          <a:srcRect b="0" l="0" r="0" t="0"/>
          <a:stretch/>
        </p:blipFill>
        <p:spPr>
          <a:xfrm>
            <a:off x="7915275" y="3776300"/>
            <a:ext cx="3809125" cy="11658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gefbeba6a1c_0_0"/>
          <p:cNvSpPr txBox="1"/>
          <p:nvPr>
            <p:ph idx="4294967295" type="title"/>
          </p:nvPr>
        </p:nvSpPr>
        <p:spPr>
          <a:xfrm>
            <a:off x="381000" y="2921547"/>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sz="7000"/>
              <a:t>Data Science</a:t>
            </a:r>
            <a:endParaRPr sz="70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gbea1223c9f_0_11"/>
          <p:cNvSpPr txBox="1"/>
          <p:nvPr>
            <p:ph idx="1" type="body"/>
          </p:nvPr>
        </p:nvSpPr>
        <p:spPr>
          <a:xfrm>
            <a:off x="451725" y="1915350"/>
            <a:ext cx="11430000" cy="3027300"/>
          </a:xfrm>
          <a:prstGeom prst="rect">
            <a:avLst/>
          </a:prstGeom>
          <a:noFill/>
          <a:ln>
            <a:noFill/>
          </a:ln>
        </p:spPr>
        <p:txBody>
          <a:bodyPr anchorCtr="0" anchor="t" bIns="45700" lIns="91425" spcFirstLastPara="1" rIns="91425" wrap="square" tIns="45700">
            <a:normAutofit lnSpcReduction="10000"/>
          </a:bodyPr>
          <a:lstStyle/>
          <a:p>
            <a:pPr indent="0" lvl="0" marL="0" rtl="0" algn="just">
              <a:lnSpc>
                <a:spcPct val="90000"/>
              </a:lnSpc>
              <a:spcBef>
                <a:spcPts val="1000"/>
              </a:spcBef>
              <a:spcAft>
                <a:spcPts val="0"/>
              </a:spcAft>
              <a:buSzPts val="1800"/>
              <a:buNone/>
            </a:pPr>
            <a:r>
              <a:rPr lang="en-US"/>
              <a:t>Based on the </a:t>
            </a:r>
            <a:r>
              <a:rPr b="1" lang="en-US"/>
              <a:t>community of inquiry framework</a:t>
            </a:r>
            <a:r>
              <a:rPr lang="en-US"/>
              <a:t>, what are some key factors in discussion forum activities influencing student </a:t>
            </a:r>
            <a:r>
              <a:rPr b="1" lang="en-US"/>
              <a:t>engagement</a:t>
            </a:r>
            <a:r>
              <a:rPr lang="en-US"/>
              <a:t> and </a:t>
            </a:r>
            <a:r>
              <a:rPr b="1" lang="en-US"/>
              <a:t>performance</a:t>
            </a:r>
            <a:r>
              <a:rPr lang="en-US"/>
              <a:t> in an asynchronous online classroom?</a:t>
            </a:r>
            <a:endParaRPr/>
          </a:p>
          <a:p>
            <a:pPr indent="0" lvl="0" marL="0" rtl="0" algn="just">
              <a:lnSpc>
                <a:spcPct val="90000"/>
              </a:lnSpc>
              <a:spcBef>
                <a:spcPts val="1000"/>
              </a:spcBef>
              <a:spcAft>
                <a:spcPts val="0"/>
              </a:spcAft>
              <a:buSzPts val="1800"/>
              <a:buNone/>
            </a:pPr>
            <a:r>
              <a:t/>
            </a:r>
            <a:endParaRPr/>
          </a:p>
          <a:p>
            <a:pPr indent="0" lvl="0" marL="0" rtl="0" algn="just">
              <a:lnSpc>
                <a:spcPct val="90000"/>
              </a:lnSpc>
              <a:spcBef>
                <a:spcPts val="1000"/>
              </a:spcBef>
              <a:spcAft>
                <a:spcPts val="0"/>
              </a:spcAft>
              <a:buSzPts val="1800"/>
              <a:buNone/>
            </a:pPr>
            <a:r>
              <a:rPr lang="en-US"/>
              <a:t>How can we design a </a:t>
            </a:r>
            <a:r>
              <a:rPr b="1" lang="en-US"/>
              <a:t>web app</a:t>
            </a:r>
            <a:r>
              <a:rPr lang="en-US"/>
              <a:t> that can provide actionable insights to the instructor in order to increase engagement and performance?</a:t>
            </a:r>
            <a:endParaRPr/>
          </a:p>
          <a:p>
            <a:pPr indent="0" lvl="0" marL="0" rtl="0" algn="just">
              <a:lnSpc>
                <a:spcPct val="90000"/>
              </a:lnSpc>
              <a:spcBef>
                <a:spcPts val="1000"/>
              </a:spcBef>
              <a:spcAft>
                <a:spcPts val="0"/>
              </a:spcAft>
              <a:buSzPts val="1800"/>
              <a:buNone/>
            </a:pPr>
            <a:r>
              <a:t/>
            </a:r>
            <a:endParaRPr/>
          </a:p>
        </p:txBody>
      </p:sp>
      <p:sp>
        <p:nvSpPr>
          <p:cNvPr id="134" name="Google Shape;134;gbea1223c9f_0_11"/>
          <p:cNvSpPr txBox="1"/>
          <p:nvPr>
            <p:ph type="title"/>
          </p:nvPr>
        </p:nvSpPr>
        <p:spPr>
          <a:xfrm>
            <a:off x="381000" y="212247"/>
            <a:ext cx="11430000" cy="1014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SzPts val="1800"/>
              <a:buNone/>
            </a:pPr>
            <a:r>
              <a:rPr lang="en-US"/>
              <a:t>Research Goal</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gf3ec180ede_0_0"/>
          <p:cNvSpPr txBox="1"/>
          <p:nvPr>
            <p:ph idx="1" type="body"/>
          </p:nvPr>
        </p:nvSpPr>
        <p:spPr>
          <a:xfrm>
            <a:off x="381000" y="1215474"/>
            <a:ext cx="11430000" cy="1643700"/>
          </a:xfrm>
          <a:prstGeom prst="rect">
            <a:avLst/>
          </a:prstGeom>
          <a:noFill/>
          <a:ln>
            <a:noFill/>
          </a:ln>
        </p:spPr>
        <p:txBody>
          <a:bodyPr anchorCtr="0" anchor="t" bIns="45700" lIns="91425" spcFirstLastPara="1" rIns="91425" wrap="square" tIns="45700">
            <a:noAutofit/>
          </a:bodyPr>
          <a:lstStyle/>
          <a:p>
            <a:pPr indent="-342900" lvl="0" marL="457200" rtl="0" algn="l">
              <a:lnSpc>
                <a:spcPct val="100000"/>
              </a:lnSpc>
              <a:spcBef>
                <a:spcPts val="1000"/>
              </a:spcBef>
              <a:spcAft>
                <a:spcPts val="0"/>
              </a:spcAft>
              <a:buSzPts val="1800"/>
              <a:buChar char="•"/>
            </a:pPr>
            <a:r>
              <a:rPr lang="en-US"/>
              <a:t>Data available</a:t>
            </a:r>
            <a:endParaRPr/>
          </a:p>
          <a:p>
            <a:pPr indent="-342900" lvl="1" marL="914400" rtl="0" algn="l">
              <a:lnSpc>
                <a:spcPct val="90000"/>
              </a:lnSpc>
              <a:spcBef>
                <a:spcPts val="0"/>
              </a:spcBef>
              <a:spcAft>
                <a:spcPts val="0"/>
              </a:spcAft>
              <a:buSzPts val="1800"/>
              <a:buChar char="•"/>
            </a:pPr>
            <a:r>
              <a:rPr lang="en-US"/>
              <a:t>Focusing on Piazza data from Dr. Thad Starner</a:t>
            </a:r>
            <a:endParaRPr/>
          </a:p>
          <a:p>
            <a:pPr indent="-342900" lvl="1" marL="914400" rtl="0" algn="l">
              <a:lnSpc>
                <a:spcPct val="90000"/>
              </a:lnSpc>
              <a:spcBef>
                <a:spcPts val="0"/>
              </a:spcBef>
              <a:spcAft>
                <a:spcPts val="0"/>
              </a:spcAft>
              <a:buSzPts val="1800"/>
              <a:buChar char="•"/>
            </a:pPr>
            <a:r>
              <a:rPr lang="en-US"/>
              <a:t>1493 posts, coded for cognitive presence and working on Topic Modeling</a:t>
            </a:r>
            <a:endParaRPr/>
          </a:p>
        </p:txBody>
      </p:sp>
      <p:sp>
        <p:nvSpPr>
          <p:cNvPr id="140" name="Google Shape;140;gf3ec180ede_0_0"/>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Data Science Big Picture</a:t>
            </a:r>
            <a:endParaRPr/>
          </a:p>
        </p:txBody>
      </p:sp>
      <p:sp>
        <p:nvSpPr>
          <p:cNvPr id="141" name="Google Shape;141;gf3ec180ede_0_0"/>
          <p:cNvSpPr/>
          <p:nvPr/>
        </p:nvSpPr>
        <p:spPr>
          <a:xfrm>
            <a:off x="5002788" y="4111075"/>
            <a:ext cx="2186400" cy="710100"/>
          </a:xfrm>
          <a:prstGeom prst="roundRect">
            <a:avLst>
              <a:gd fmla="val 16667" name="adj"/>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chemeClr val="lt1"/>
                </a:solidFill>
                <a:latin typeface="Arial"/>
                <a:ea typeface="Arial"/>
                <a:cs typeface="Arial"/>
                <a:sym typeface="Arial"/>
              </a:rPr>
              <a:t>Data Science</a:t>
            </a:r>
            <a:endParaRPr b="0" i="0" sz="2300" u="none" cap="none" strike="noStrike">
              <a:solidFill>
                <a:schemeClr val="lt1"/>
              </a:solidFill>
              <a:latin typeface="Arial"/>
              <a:ea typeface="Arial"/>
              <a:cs typeface="Arial"/>
              <a:sym typeface="Arial"/>
            </a:endParaRPr>
          </a:p>
        </p:txBody>
      </p:sp>
      <p:sp>
        <p:nvSpPr>
          <p:cNvPr id="142" name="Google Shape;142;gf3ec180ede_0_0"/>
          <p:cNvSpPr/>
          <p:nvPr/>
        </p:nvSpPr>
        <p:spPr>
          <a:xfrm>
            <a:off x="4611888" y="3028825"/>
            <a:ext cx="2968200" cy="912600"/>
          </a:xfrm>
          <a:prstGeom prst="roundRect">
            <a:avLst>
              <a:gd fmla="val 16667" name="adj"/>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chemeClr val="lt1"/>
                </a:solidFill>
                <a:latin typeface="Arial"/>
                <a:ea typeface="Arial"/>
                <a:cs typeface="Arial"/>
                <a:sym typeface="Arial"/>
              </a:rPr>
              <a:t>Cognitive Presence </a:t>
            </a:r>
            <a:endParaRPr b="0" i="0" sz="2300" u="none" cap="none" strike="noStrike">
              <a:solidFill>
                <a:schemeClr val="lt1"/>
              </a:solidFill>
              <a:latin typeface="Arial"/>
              <a:ea typeface="Arial"/>
              <a:cs typeface="Arial"/>
              <a:sym typeface="Arial"/>
            </a:endParaRPr>
          </a:p>
        </p:txBody>
      </p:sp>
      <p:sp>
        <p:nvSpPr>
          <p:cNvPr id="143" name="Google Shape;143;gf3ec180ede_0_0"/>
          <p:cNvSpPr/>
          <p:nvPr/>
        </p:nvSpPr>
        <p:spPr>
          <a:xfrm>
            <a:off x="4611888" y="4990825"/>
            <a:ext cx="2968200" cy="912600"/>
          </a:xfrm>
          <a:prstGeom prst="roundRect">
            <a:avLst>
              <a:gd fmla="val 16667" name="adj"/>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chemeClr val="lt1"/>
                </a:solidFill>
                <a:latin typeface="Arial"/>
                <a:ea typeface="Arial"/>
                <a:cs typeface="Arial"/>
                <a:sym typeface="Arial"/>
              </a:rPr>
              <a:t>Metacognition</a:t>
            </a:r>
            <a:endParaRPr b="0" i="0" sz="2300" u="none" cap="none" strike="noStrike">
              <a:solidFill>
                <a:schemeClr val="lt1"/>
              </a:solidFill>
              <a:latin typeface="Arial"/>
              <a:ea typeface="Arial"/>
              <a:cs typeface="Arial"/>
              <a:sym typeface="Arial"/>
            </a:endParaRPr>
          </a:p>
        </p:txBody>
      </p:sp>
      <p:sp>
        <p:nvSpPr>
          <p:cNvPr id="144" name="Google Shape;144;gf3ec180ede_0_0"/>
          <p:cNvSpPr/>
          <p:nvPr/>
        </p:nvSpPr>
        <p:spPr>
          <a:xfrm>
            <a:off x="7990275" y="4009825"/>
            <a:ext cx="2968200" cy="912600"/>
          </a:xfrm>
          <a:prstGeom prst="roundRect">
            <a:avLst>
              <a:gd fmla="val 16667" name="adj"/>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chemeClr val="lt1"/>
                </a:solidFill>
                <a:latin typeface="Arial"/>
                <a:ea typeface="Arial"/>
                <a:cs typeface="Arial"/>
                <a:sym typeface="Arial"/>
              </a:rPr>
              <a:t>Topic Modeling</a:t>
            </a:r>
            <a:endParaRPr b="0" i="0" sz="2300" u="none" cap="none" strike="noStrike">
              <a:solidFill>
                <a:schemeClr val="lt1"/>
              </a:solidFill>
              <a:latin typeface="Arial"/>
              <a:ea typeface="Arial"/>
              <a:cs typeface="Arial"/>
              <a:sym typeface="Arial"/>
            </a:endParaRPr>
          </a:p>
        </p:txBody>
      </p:sp>
      <p:sp>
        <p:nvSpPr>
          <p:cNvPr id="145" name="Google Shape;145;gf3ec180ede_0_0"/>
          <p:cNvSpPr/>
          <p:nvPr/>
        </p:nvSpPr>
        <p:spPr>
          <a:xfrm>
            <a:off x="1233525" y="4009825"/>
            <a:ext cx="2968200" cy="912600"/>
          </a:xfrm>
          <a:prstGeom prst="roundRect">
            <a:avLst>
              <a:gd fmla="val 16667" name="adj"/>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300"/>
              <a:buFont typeface="Arial"/>
              <a:buNone/>
            </a:pPr>
            <a:r>
              <a:rPr b="0" i="0" lang="en-US" sz="2300" u="none" cap="none" strike="noStrike">
                <a:solidFill>
                  <a:schemeClr val="lt1"/>
                </a:solidFill>
                <a:latin typeface="Arial"/>
                <a:ea typeface="Arial"/>
                <a:cs typeface="Arial"/>
                <a:sym typeface="Arial"/>
              </a:rPr>
              <a:t>Sentiment Analysis</a:t>
            </a:r>
            <a:endParaRPr b="0" i="0" sz="2300" u="none" cap="none" strike="noStrike">
              <a:solidFill>
                <a:schemeClr val="lt1"/>
              </a:solidFill>
              <a:latin typeface="Arial"/>
              <a:ea typeface="Arial"/>
              <a:cs typeface="Arial"/>
              <a:sym typeface="Arial"/>
            </a:endParaRPr>
          </a:p>
        </p:txBody>
      </p:sp>
      <p:cxnSp>
        <p:nvCxnSpPr>
          <p:cNvPr id="146" name="Google Shape;146;gf3ec180ede_0_0"/>
          <p:cNvCxnSpPr>
            <a:endCxn id="142" idx="2"/>
          </p:cNvCxnSpPr>
          <p:nvPr/>
        </p:nvCxnSpPr>
        <p:spPr>
          <a:xfrm rot="10800000">
            <a:off x="6095988" y="3941425"/>
            <a:ext cx="0" cy="169500"/>
          </a:xfrm>
          <a:prstGeom prst="straightConnector1">
            <a:avLst/>
          </a:prstGeom>
          <a:noFill/>
          <a:ln cap="flat" cmpd="sng" w="9525">
            <a:solidFill>
              <a:schemeClr val="dk2"/>
            </a:solidFill>
            <a:prstDash val="solid"/>
            <a:round/>
            <a:headEnd len="sm" w="sm" type="none"/>
            <a:tailEnd len="med" w="med" type="triangle"/>
          </a:ln>
        </p:spPr>
      </p:cxnSp>
      <p:cxnSp>
        <p:nvCxnSpPr>
          <p:cNvPr id="147" name="Google Shape;147;gf3ec180ede_0_0"/>
          <p:cNvCxnSpPr>
            <a:stCxn id="141" idx="1"/>
            <a:endCxn id="145" idx="3"/>
          </p:cNvCxnSpPr>
          <p:nvPr/>
        </p:nvCxnSpPr>
        <p:spPr>
          <a:xfrm rot="10800000">
            <a:off x="4201788" y="4466125"/>
            <a:ext cx="801000" cy="0"/>
          </a:xfrm>
          <a:prstGeom prst="straightConnector1">
            <a:avLst/>
          </a:prstGeom>
          <a:noFill/>
          <a:ln cap="flat" cmpd="sng" w="9525">
            <a:solidFill>
              <a:schemeClr val="dk2"/>
            </a:solidFill>
            <a:prstDash val="solid"/>
            <a:round/>
            <a:headEnd len="sm" w="sm" type="none"/>
            <a:tailEnd len="med" w="med" type="triangle"/>
          </a:ln>
        </p:spPr>
      </p:cxnSp>
      <p:cxnSp>
        <p:nvCxnSpPr>
          <p:cNvPr id="148" name="Google Shape;148;gf3ec180ede_0_0"/>
          <p:cNvCxnSpPr>
            <a:stCxn id="141" idx="3"/>
            <a:endCxn id="144" idx="1"/>
          </p:cNvCxnSpPr>
          <p:nvPr/>
        </p:nvCxnSpPr>
        <p:spPr>
          <a:xfrm>
            <a:off x="7189188" y="4466125"/>
            <a:ext cx="801000" cy="0"/>
          </a:xfrm>
          <a:prstGeom prst="straightConnector1">
            <a:avLst/>
          </a:prstGeom>
          <a:noFill/>
          <a:ln cap="flat" cmpd="sng" w="9525">
            <a:solidFill>
              <a:schemeClr val="dk2"/>
            </a:solidFill>
            <a:prstDash val="solid"/>
            <a:round/>
            <a:headEnd len="sm" w="sm" type="none"/>
            <a:tailEnd len="med" w="med" type="triangle"/>
          </a:ln>
        </p:spPr>
      </p:cxnSp>
      <p:cxnSp>
        <p:nvCxnSpPr>
          <p:cNvPr id="149" name="Google Shape;149;gf3ec180ede_0_0"/>
          <p:cNvCxnSpPr>
            <a:stCxn id="141" idx="2"/>
            <a:endCxn id="143" idx="0"/>
          </p:cNvCxnSpPr>
          <p:nvPr/>
        </p:nvCxnSpPr>
        <p:spPr>
          <a:xfrm>
            <a:off x="6095988" y="4821175"/>
            <a:ext cx="0" cy="169800"/>
          </a:xfrm>
          <a:prstGeom prst="straightConnector1">
            <a:avLst/>
          </a:prstGeom>
          <a:noFill/>
          <a:ln cap="flat" cmpd="sng" w="9525">
            <a:solidFill>
              <a:schemeClr val="dk2"/>
            </a:solidFill>
            <a:prstDash val="solid"/>
            <a:round/>
            <a:headEnd len="sm" w="sm" type="none"/>
            <a:tailEnd len="med" w="med" type="triangl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g11a29825126_1_20"/>
          <p:cNvSpPr txBox="1"/>
          <p:nvPr>
            <p:ph idx="1" type="body"/>
          </p:nvPr>
        </p:nvSpPr>
        <p:spPr>
          <a:xfrm>
            <a:off x="381000" y="1215625"/>
            <a:ext cx="5370300" cy="5124000"/>
          </a:xfrm>
          <a:prstGeom prst="rect">
            <a:avLst/>
          </a:prstGeom>
        </p:spPr>
        <p:txBody>
          <a:bodyPr anchorCtr="0" anchor="t" bIns="45700" lIns="91425" spcFirstLastPara="1" rIns="91425" wrap="square" tIns="45700">
            <a:normAutofit/>
          </a:bodyPr>
          <a:lstStyle/>
          <a:p>
            <a:pPr indent="-361950" lvl="0" marL="457200" rtl="0" algn="l">
              <a:lnSpc>
                <a:spcPct val="115000"/>
              </a:lnSpc>
              <a:spcBef>
                <a:spcPts val="1200"/>
              </a:spcBef>
              <a:spcAft>
                <a:spcPts val="0"/>
              </a:spcAft>
              <a:buSzPts val="2100"/>
              <a:buFont typeface="Roboto"/>
              <a:buChar char="●"/>
            </a:pPr>
            <a:r>
              <a:rPr lang="en-US" sz="2100"/>
              <a:t>Bert for sentence embedding vector</a:t>
            </a:r>
            <a:endParaRPr sz="2100"/>
          </a:p>
          <a:p>
            <a:pPr indent="-361950" lvl="0" marL="457200" rtl="0" algn="l">
              <a:lnSpc>
                <a:spcPct val="115000"/>
              </a:lnSpc>
              <a:spcBef>
                <a:spcPts val="0"/>
              </a:spcBef>
              <a:spcAft>
                <a:spcPts val="0"/>
              </a:spcAft>
              <a:buSzPts val="2100"/>
              <a:buFont typeface="Roboto"/>
              <a:buChar char="●"/>
            </a:pPr>
            <a:r>
              <a:rPr lang="en-US" sz="2100"/>
              <a:t>LDA for probabilistic topic assignment vector</a:t>
            </a:r>
            <a:endParaRPr sz="2100"/>
          </a:p>
          <a:p>
            <a:pPr indent="-361950" lvl="0" marL="457200" rtl="0" algn="l">
              <a:lnSpc>
                <a:spcPct val="115000"/>
              </a:lnSpc>
              <a:spcBef>
                <a:spcPts val="0"/>
              </a:spcBef>
              <a:spcAft>
                <a:spcPts val="0"/>
              </a:spcAft>
              <a:buSzPts val="2100"/>
              <a:buFont typeface="Roboto"/>
              <a:buChar char="●"/>
            </a:pPr>
            <a:r>
              <a:rPr lang="en-US" sz="2100"/>
              <a:t>original data 1493 - output data 1212 = 281 posts cut off</a:t>
            </a:r>
            <a:endParaRPr sz="2100"/>
          </a:p>
          <a:p>
            <a:pPr indent="-361950" lvl="0" marL="457200" rtl="0" algn="l">
              <a:lnSpc>
                <a:spcPct val="115000"/>
              </a:lnSpc>
              <a:spcBef>
                <a:spcPts val="0"/>
              </a:spcBef>
              <a:spcAft>
                <a:spcPts val="0"/>
              </a:spcAft>
              <a:buSzPts val="2100"/>
              <a:buFont typeface="Roboto"/>
              <a:buChar char="●"/>
            </a:pPr>
            <a:r>
              <a:rPr lang="en-US" sz="2100"/>
              <a:t>Highest Coherence Score with 6 topics</a:t>
            </a:r>
            <a:endParaRPr sz="2100"/>
          </a:p>
          <a:p>
            <a:pPr indent="0" lvl="0" marL="0" rtl="0" algn="l">
              <a:lnSpc>
                <a:spcPct val="115000"/>
              </a:lnSpc>
              <a:spcBef>
                <a:spcPts val="0"/>
              </a:spcBef>
              <a:spcAft>
                <a:spcPts val="0"/>
              </a:spcAft>
              <a:buNone/>
            </a:pPr>
            <a:r>
              <a:t/>
            </a:r>
            <a:endParaRPr sz="2000"/>
          </a:p>
          <a:p>
            <a:pPr indent="0" lvl="0" marL="457200" rtl="0" algn="l">
              <a:lnSpc>
                <a:spcPct val="115000"/>
              </a:lnSpc>
              <a:spcBef>
                <a:spcPts val="0"/>
              </a:spcBef>
              <a:spcAft>
                <a:spcPts val="0"/>
              </a:spcAft>
              <a:buNone/>
            </a:pPr>
            <a:r>
              <a:t/>
            </a:r>
            <a:endParaRPr/>
          </a:p>
        </p:txBody>
      </p:sp>
      <p:sp>
        <p:nvSpPr>
          <p:cNvPr id="155" name="Google Shape;155;g11a29825126_1_20"/>
          <p:cNvSpPr txBox="1"/>
          <p:nvPr>
            <p:ph type="title"/>
          </p:nvPr>
        </p:nvSpPr>
        <p:spPr>
          <a:xfrm>
            <a:off x="381000" y="200722"/>
            <a:ext cx="11430000" cy="10149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US"/>
              <a:t>Topic Modeling with BERT+LDA</a:t>
            </a:r>
            <a:endParaRPr/>
          </a:p>
        </p:txBody>
      </p:sp>
      <p:pic>
        <p:nvPicPr>
          <p:cNvPr id="156" name="Google Shape;156;g11a29825126_1_20"/>
          <p:cNvPicPr preferRelativeResize="0"/>
          <p:nvPr/>
        </p:nvPicPr>
        <p:blipFill>
          <a:blip r:embed="rId3">
            <a:alphaModFix/>
          </a:blip>
          <a:stretch>
            <a:fillRect/>
          </a:stretch>
        </p:blipFill>
        <p:spPr>
          <a:xfrm>
            <a:off x="5402375" y="4310175"/>
            <a:ext cx="6484823" cy="2450125"/>
          </a:xfrm>
          <a:prstGeom prst="rect">
            <a:avLst/>
          </a:prstGeom>
          <a:noFill/>
          <a:ln>
            <a:noFill/>
          </a:ln>
        </p:spPr>
      </p:pic>
      <p:pic>
        <p:nvPicPr>
          <p:cNvPr id="157" name="Google Shape;157;g11a29825126_1_20"/>
          <p:cNvPicPr preferRelativeResize="0"/>
          <p:nvPr/>
        </p:nvPicPr>
        <p:blipFill rotWithShape="1">
          <a:blip r:embed="rId4">
            <a:alphaModFix/>
          </a:blip>
          <a:srcRect b="0" l="0" r="0" t="0"/>
          <a:stretch/>
        </p:blipFill>
        <p:spPr>
          <a:xfrm>
            <a:off x="5543250" y="1106025"/>
            <a:ext cx="6711649" cy="3090000"/>
          </a:xfrm>
          <a:prstGeom prst="rect">
            <a:avLst/>
          </a:prstGeom>
          <a:noFill/>
          <a:ln>
            <a:noFill/>
          </a:ln>
        </p:spPr>
      </p:pic>
      <p:pic>
        <p:nvPicPr>
          <p:cNvPr id="158" name="Google Shape;158;g11a29825126_1_20"/>
          <p:cNvPicPr preferRelativeResize="0"/>
          <p:nvPr/>
        </p:nvPicPr>
        <p:blipFill>
          <a:blip r:embed="rId5">
            <a:alphaModFix/>
          </a:blip>
          <a:stretch>
            <a:fillRect/>
          </a:stretch>
        </p:blipFill>
        <p:spPr>
          <a:xfrm>
            <a:off x="3124925" y="3852450"/>
            <a:ext cx="1918800" cy="2864675"/>
          </a:xfrm>
          <a:prstGeom prst="rect">
            <a:avLst/>
          </a:prstGeom>
          <a:noFill/>
          <a:ln>
            <a:noFill/>
          </a:ln>
        </p:spPr>
      </p:pic>
      <p:pic>
        <p:nvPicPr>
          <p:cNvPr id="159" name="Google Shape;159;g11a29825126_1_20"/>
          <p:cNvPicPr preferRelativeResize="0"/>
          <p:nvPr/>
        </p:nvPicPr>
        <p:blipFill>
          <a:blip r:embed="rId6">
            <a:alphaModFix/>
          </a:blip>
          <a:stretch>
            <a:fillRect/>
          </a:stretch>
        </p:blipFill>
        <p:spPr>
          <a:xfrm>
            <a:off x="192700" y="4497225"/>
            <a:ext cx="2757600" cy="9077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g1251a07fc2e_0_10"/>
          <p:cNvSpPr txBox="1"/>
          <p:nvPr>
            <p:ph idx="1" type="body"/>
          </p:nvPr>
        </p:nvSpPr>
        <p:spPr>
          <a:xfrm>
            <a:off x="381000" y="1215625"/>
            <a:ext cx="5370300" cy="5124000"/>
          </a:xfrm>
          <a:prstGeom prst="rect">
            <a:avLst/>
          </a:prstGeom>
        </p:spPr>
        <p:txBody>
          <a:bodyPr anchorCtr="0" anchor="t" bIns="45700" lIns="91425" spcFirstLastPara="1" rIns="91425" wrap="square" tIns="45700">
            <a:normAutofit/>
          </a:bodyPr>
          <a:lstStyle/>
          <a:p>
            <a:pPr indent="-342900" lvl="0" marL="457200" rtl="0" algn="l">
              <a:lnSpc>
                <a:spcPct val="115000"/>
              </a:lnSpc>
              <a:spcBef>
                <a:spcPts val="0"/>
              </a:spcBef>
              <a:spcAft>
                <a:spcPts val="0"/>
              </a:spcAft>
              <a:buSzPts val="1800"/>
              <a:buChar char="•"/>
            </a:pPr>
            <a:r>
              <a:rPr lang="en-US"/>
              <a:t>Topic Distribution</a:t>
            </a:r>
            <a:endParaRPr/>
          </a:p>
          <a:p>
            <a:pPr indent="-342900" lvl="1" marL="914400" rtl="0" algn="l">
              <a:lnSpc>
                <a:spcPct val="115000"/>
              </a:lnSpc>
              <a:spcBef>
                <a:spcPts val="0"/>
              </a:spcBef>
              <a:spcAft>
                <a:spcPts val="0"/>
              </a:spcAft>
              <a:buSzPts val="1800"/>
              <a:buChar char="•"/>
            </a:pPr>
            <a:r>
              <a:rPr lang="en-US"/>
              <a:t>Bubble chart</a:t>
            </a:r>
            <a:endParaRPr/>
          </a:p>
          <a:p>
            <a:pPr indent="-342900" lvl="1" marL="914400" rtl="0" algn="l">
              <a:lnSpc>
                <a:spcPct val="115000"/>
              </a:lnSpc>
              <a:spcBef>
                <a:spcPts val="0"/>
              </a:spcBef>
              <a:spcAft>
                <a:spcPts val="0"/>
              </a:spcAft>
              <a:buSzPts val="1800"/>
              <a:buChar char="•"/>
            </a:pPr>
            <a:r>
              <a:rPr lang="en-US"/>
              <a:t>Bar graph</a:t>
            </a:r>
            <a:endParaRPr/>
          </a:p>
          <a:p>
            <a:pPr indent="-342900" lvl="0" marL="457200" rtl="0" algn="l">
              <a:lnSpc>
                <a:spcPct val="115000"/>
              </a:lnSpc>
              <a:spcBef>
                <a:spcPts val="0"/>
              </a:spcBef>
              <a:spcAft>
                <a:spcPts val="0"/>
              </a:spcAft>
              <a:buSzPts val="1800"/>
              <a:buChar char="•"/>
            </a:pPr>
            <a:r>
              <a:rPr lang="en-US"/>
              <a:t>Word Clouds</a:t>
            </a:r>
            <a:endParaRPr/>
          </a:p>
          <a:p>
            <a:pPr indent="0" lvl="0" marL="0" rtl="0" algn="l">
              <a:lnSpc>
                <a:spcPct val="115000"/>
              </a:lnSpc>
              <a:spcBef>
                <a:spcPts val="0"/>
              </a:spcBef>
              <a:spcAft>
                <a:spcPts val="0"/>
              </a:spcAft>
              <a:buNone/>
            </a:pPr>
            <a:r>
              <a:rPr lang="en-US" sz="2400"/>
              <a:t>	</a:t>
            </a:r>
            <a:endParaRPr/>
          </a:p>
        </p:txBody>
      </p:sp>
      <p:sp>
        <p:nvSpPr>
          <p:cNvPr id="165" name="Google Shape;165;g1251a07fc2e_0_10"/>
          <p:cNvSpPr txBox="1"/>
          <p:nvPr>
            <p:ph type="title"/>
          </p:nvPr>
        </p:nvSpPr>
        <p:spPr>
          <a:xfrm>
            <a:off x="381000" y="200722"/>
            <a:ext cx="11430000" cy="10149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US"/>
              <a:t>Visualization with </a:t>
            </a:r>
            <a:r>
              <a:rPr lang="en-US"/>
              <a:t>Topic Modeling</a:t>
            </a:r>
            <a:endParaRPr/>
          </a:p>
        </p:txBody>
      </p:sp>
      <p:pic>
        <p:nvPicPr>
          <p:cNvPr id="166" name="Google Shape;166;g1251a07fc2e_0_10"/>
          <p:cNvPicPr preferRelativeResize="0"/>
          <p:nvPr/>
        </p:nvPicPr>
        <p:blipFill>
          <a:blip r:embed="rId3">
            <a:alphaModFix/>
          </a:blip>
          <a:stretch>
            <a:fillRect/>
          </a:stretch>
        </p:blipFill>
        <p:spPr>
          <a:xfrm>
            <a:off x="693800" y="3740075"/>
            <a:ext cx="3268950" cy="2333600"/>
          </a:xfrm>
          <a:prstGeom prst="rect">
            <a:avLst/>
          </a:prstGeom>
          <a:noFill/>
          <a:ln>
            <a:noFill/>
          </a:ln>
        </p:spPr>
      </p:pic>
      <p:pic>
        <p:nvPicPr>
          <p:cNvPr id="167" name="Google Shape;167;g1251a07fc2e_0_10"/>
          <p:cNvPicPr preferRelativeResize="0"/>
          <p:nvPr/>
        </p:nvPicPr>
        <p:blipFill>
          <a:blip r:embed="rId4">
            <a:alphaModFix/>
          </a:blip>
          <a:stretch>
            <a:fillRect/>
          </a:stretch>
        </p:blipFill>
        <p:spPr>
          <a:xfrm>
            <a:off x="5751300" y="1227150"/>
            <a:ext cx="6135900" cy="2151160"/>
          </a:xfrm>
          <a:prstGeom prst="rect">
            <a:avLst/>
          </a:prstGeom>
          <a:noFill/>
          <a:ln>
            <a:noFill/>
          </a:ln>
        </p:spPr>
      </p:pic>
      <p:pic>
        <p:nvPicPr>
          <p:cNvPr id="168" name="Google Shape;168;g1251a07fc2e_0_10"/>
          <p:cNvPicPr preferRelativeResize="0"/>
          <p:nvPr/>
        </p:nvPicPr>
        <p:blipFill>
          <a:blip r:embed="rId5">
            <a:alphaModFix/>
          </a:blip>
          <a:stretch>
            <a:fillRect/>
          </a:stretch>
        </p:blipFill>
        <p:spPr>
          <a:xfrm>
            <a:off x="4938758" y="3677525"/>
            <a:ext cx="3455118" cy="2458701"/>
          </a:xfrm>
          <a:prstGeom prst="rect">
            <a:avLst/>
          </a:prstGeom>
          <a:noFill/>
          <a:ln>
            <a:noFill/>
          </a:ln>
        </p:spPr>
      </p:pic>
      <p:pic>
        <p:nvPicPr>
          <p:cNvPr id="169" name="Google Shape;169;g1251a07fc2e_0_10"/>
          <p:cNvPicPr preferRelativeResize="0"/>
          <p:nvPr/>
        </p:nvPicPr>
        <p:blipFill>
          <a:blip r:embed="rId6">
            <a:alphaModFix/>
          </a:blip>
          <a:stretch>
            <a:fillRect/>
          </a:stretch>
        </p:blipFill>
        <p:spPr>
          <a:xfrm>
            <a:off x="8567243" y="3604110"/>
            <a:ext cx="3493331" cy="24587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gf4bb9c8d2f_2_0"/>
          <p:cNvSpPr txBox="1"/>
          <p:nvPr/>
        </p:nvSpPr>
        <p:spPr>
          <a:xfrm>
            <a:off x="424650" y="1215625"/>
            <a:ext cx="11342700" cy="523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1000"/>
              </a:spcBef>
              <a:spcAft>
                <a:spcPts val="0"/>
              </a:spcAft>
              <a:buNone/>
            </a:pPr>
            <a:r>
              <a:t/>
            </a:r>
            <a:endParaRPr b="0" i="0" sz="2200" u="none" cap="none" strike="noStrike">
              <a:solidFill>
                <a:schemeClr val="dk1"/>
              </a:solidFill>
              <a:latin typeface="Roboto"/>
              <a:ea typeface="Roboto"/>
              <a:cs typeface="Roboto"/>
              <a:sym typeface="Roboto"/>
            </a:endParaRPr>
          </a:p>
        </p:txBody>
      </p:sp>
      <p:sp>
        <p:nvSpPr>
          <p:cNvPr id="175" name="Google Shape;175;gf4bb9c8d2f_2_0"/>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SzPts val="1800"/>
              <a:buNone/>
            </a:pPr>
            <a:r>
              <a:rPr lang="en-US"/>
              <a:t>Metacognition</a:t>
            </a:r>
            <a:endParaRPr/>
          </a:p>
        </p:txBody>
      </p:sp>
      <p:sp>
        <p:nvSpPr>
          <p:cNvPr id="176" name="Google Shape;176;gf4bb9c8d2f_2_0"/>
          <p:cNvSpPr txBox="1"/>
          <p:nvPr/>
        </p:nvSpPr>
        <p:spPr>
          <a:xfrm>
            <a:off x="828675" y="1285875"/>
            <a:ext cx="10386900" cy="4976700"/>
          </a:xfrm>
          <a:prstGeom prst="rect">
            <a:avLst/>
          </a:prstGeom>
          <a:noFill/>
          <a:ln>
            <a:noFill/>
          </a:ln>
        </p:spPr>
        <p:txBody>
          <a:bodyPr anchorCtr="0" anchor="t" bIns="91425" lIns="91425" spcFirstLastPara="1" rIns="91425" wrap="square" tIns="91425">
            <a:spAutoFit/>
          </a:bodyPr>
          <a:lstStyle/>
          <a:p>
            <a:pPr indent="-368300" lvl="0" marL="457200" rtl="0" algn="l">
              <a:spcBef>
                <a:spcPts val="1000"/>
              </a:spcBef>
              <a:spcAft>
                <a:spcPts val="0"/>
              </a:spcAft>
              <a:buClr>
                <a:schemeClr val="dk1"/>
              </a:buClr>
              <a:buSzPts val="2200"/>
              <a:buFont typeface="Roboto"/>
              <a:buChar char="●"/>
            </a:pPr>
            <a:r>
              <a:rPr lang="en-US" sz="2200">
                <a:solidFill>
                  <a:schemeClr val="dk1"/>
                </a:solidFill>
                <a:latin typeface="Roboto"/>
                <a:ea typeface="Roboto"/>
                <a:cs typeface="Roboto"/>
                <a:sym typeface="Roboto"/>
              </a:rPr>
              <a:t>Boosts students ability to set goals, apply learning strategies, and assess their own progress / readiness to take a test on the subject. </a:t>
            </a:r>
            <a:endParaRPr sz="2200">
              <a:solidFill>
                <a:schemeClr val="dk1"/>
              </a:solidFill>
              <a:latin typeface="Roboto"/>
              <a:ea typeface="Roboto"/>
              <a:cs typeface="Roboto"/>
              <a:sym typeface="Roboto"/>
            </a:endParaRPr>
          </a:p>
          <a:p>
            <a:pPr indent="-368300" lvl="0" marL="457200" rtl="0" algn="l">
              <a:spcBef>
                <a:spcPts val="0"/>
              </a:spcBef>
              <a:spcAft>
                <a:spcPts val="0"/>
              </a:spcAft>
              <a:buClr>
                <a:schemeClr val="dk1"/>
              </a:buClr>
              <a:buSzPts val="2200"/>
              <a:buFont typeface="Roboto"/>
              <a:buChar char="●"/>
            </a:pPr>
            <a:r>
              <a:rPr lang="en-US" sz="2200">
                <a:solidFill>
                  <a:schemeClr val="dk1"/>
                </a:solidFill>
                <a:latin typeface="Roboto"/>
                <a:ea typeface="Roboto"/>
                <a:cs typeface="Roboto"/>
                <a:sym typeface="Roboto"/>
              </a:rPr>
              <a:t>Essentially, instilling metacognitive thinking partially negates the downside of not having a physical professor guiding instruction. </a:t>
            </a:r>
            <a:endParaRPr sz="2200">
              <a:solidFill>
                <a:schemeClr val="dk1"/>
              </a:solidFill>
              <a:latin typeface="Roboto"/>
              <a:ea typeface="Roboto"/>
              <a:cs typeface="Roboto"/>
              <a:sym typeface="Roboto"/>
            </a:endParaRPr>
          </a:p>
          <a:p>
            <a:pPr indent="0" lvl="0" marL="457200" rtl="0" algn="l">
              <a:spcBef>
                <a:spcPts val="1000"/>
              </a:spcBef>
              <a:spcAft>
                <a:spcPts val="0"/>
              </a:spcAft>
              <a:buNone/>
            </a:pPr>
            <a:r>
              <a:t/>
            </a:r>
            <a:endParaRPr sz="2200">
              <a:solidFill>
                <a:schemeClr val="dk1"/>
              </a:solidFill>
              <a:latin typeface="Roboto"/>
              <a:ea typeface="Roboto"/>
              <a:cs typeface="Roboto"/>
              <a:sym typeface="Roboto"/>
            </a:endParaRPr>
          </a:p>
          <a:p>
            <a:pPr indent="-368300" lvl="0" marL="457200" rtl="0" algn="l">
              <a:spcBef>
                <a:spcPts val="1000"/>
              </a:spcBef>
              <a:spcAft>
                <a:spcPts val="0"/>
              </a:spcAft>
              <a:buClr>
                <a:schemeClr val="dk1"/>
              </a:buClr>
              <a:buSzPts val="2200"/>
              <a:buFont typeface="Roboto"/>
              <a:buChar char="●"/>
            </a:pPr>
            <a:r>
              <a:rPr lang="en-US" sz="2200">
                <a:solidFill>
                  <a:schemeClr val="dk1"/>
                </a:solidFill>
                <a:latin typeface="Roboto"/>
                <a:ea typeface="Roboto"/>
                <a:cs typeface="Roboto"/>
                <a:sym typeface="Roboto"/>
              </a:rPr>
              <a:t>Metacognitive Presence detection algorithm developed by another study, possibly to be integrated into current text evaluation process. (7) </a:t>
            </a:r>
            <a:endParaRPr sz="2200">
              <a:solidFill>
                <a:schemeClr val="dk1"/>
              </a:solidFill>
              <a:latin typeface="Roboto"/>
              <a:ea typeface="Roboto"/>
              <a:cs typeface="Roboto"/>
              <a:sym typeface="Roboto"/>
            </a:endParaRPr>
          </a:p>
          <a:p>
            <a:pPr indent="-368300" lvl="0" marL="457200" rtl="0" algn="l">
              <a:spcBef>
                <a:spcPts val="0"/>
              </a:spcBef>
              <a:spcAft>
                <a:spcPts val="0"/>
              </a:spcAft>
              <a:buClr>
                <a:schemeClr val="dk1"/>
              </a:buClr>
              <a:buSzPts val="2200"/>
              <a:buFont typeface="Roboto"/>
              <a:buChar char="●"/>
            </a:pPr>
            <a:r>
              <a:rPr lang="en-US" sz="2200">
                <a:solidFill>
                  <a:schemeClr val="dk1"/>
                </a:solidFill>
                <a:latin typeface="Roboto"/>
                <a:ea typeface="Roboto"/>
                <a:cs typeface="Roboto"/>
                <a:sym typeface="Roboto"/>
              </a:rPr>
              <a:t>This algorithm has identified keywords and phrases that indicate whether or not the students are using metacognition, and whether said metacognition indicates confidence or unconfidence. </a:t>
            </a:r>
            <a:endParaRPr sz="2200">
              <a:solidFill>
                <a:schemeClr val="dk1"/>
              </a:solidFill>
              <a:latin typeface="Roboto"/>
              <a:ea typeface="Roboto"/>
              <a:cs typeface="Roboto"/>
              <a:sym typeface="Roboto"/>
            </a:endParaRPr>
          </a:p>
          <a:p>
            <a:pPr indent="0" lvl="0" marL="0" rtl="0" algn="l">
              <a:spcBef>
                <a:spcPts val="1000"/>
              </a:spcBef>
              <a:spcAft>
                <a:spcPts val="0"/>
              </a:spcAft>
              <a:buNone/>
            </a:pPr>
            <a:r>
              <a:rPr lang="en-US" sz="2200">
                <a:solidFill>
                  <a:schemeClr val="dk1"/>
                </a:solidFill>
                <a:latin typeface="Roboto"/>
                <a:ea typeface="Roboto"/>
                <a:cs typeface="Roboto"/>
                <a:sym typeface="Roboto"/>
              </a:rPr>
              <a:t>Next Steps:</a:t>
            </a:r>
            <a:endParaRPr sz="2200">
              <a:solidFill>
                <a:schemeClr val="dk1"/>
              </a:solidFill>
              <a:latin typeface="Roboto"/>
              <a:ea typeface="Roboto"/>
              <a:cs typeface="Roboto"/>
              <a:sym typeface="Roboto"/>
            </a:endParaRPr>
          </a:p>
          <a:p>
            <a:pPr indent="-368300" lvl="0" marL="457200" rtl="0" algn="l">
              <a:spcBef>
                <a:spcPts val="1000"/>
              </a:spcBef>
              <a:spcAft>
                <a:spcPts val="0"/>
              </a:spcAft>
              <a:buClr>
                <a:schemeClr val="dk1"/>
              </a:buClr>
              <a:buSzPts val="2200"/>
              <a:buFont typeface="Roboto"/>
              <a:buChar char="●"/>
            </a:pPr>
            <a:r>
              <a:rPr lang="en-US" sz="2200">
                <a:solidFill>
                  <a:schemeClr val="dk1"/>
                </a:solidFill>
                <a:latin typeface="Roboto"/>
                <a:ea typeface="Roboto"/>
                <a:cs typeface="Roboto"/>
                <a:sym typeface="Roboto"/>
              </a:rPr>
              <a:t>Test out the pre-existing algorithm on our data</a:t>
            </a:r>
            <a:endParaRPr sz="2200">
              <a:solidFill>
                <a:schemeClr val="dk1"/>
              </a:solidFill>
              <a:latin typeface="Roboto"/>
              <a:ea typeface="Roboto"/>
              <a:cs typeface="Roboto"/>
              <a:sym typeface="Roboto"/>
            </a:endParaRPr>
          </a:p>
          <a:p>
            <a:pPr indent="0" lvl="0" marL="0" rtl="0" algn="l">
              <a:spcBef>
                <a:spcPts val="0"/>
              </a:spcBef>
              <a:spcAft>
                <a:spcPts val="0"/>
              </a:spcAft>
              <a:buNone/>
            </a:pPr>
            <a:r>
              <a:t/>
            </a:r>
            <a:endParaRPr>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g1251a07fc2e_0_0"/>
          <p:cNvSpPr txBox="1"/>
          <p:nvPr>
            <p:ph idx="1" type="body"/>
          </p:nvPr>
        </p:nvSpPr>
        <p:spPr>
          <a:xfrm>
            <a:off x="381000" y="1215473"/>
            <a:ext cx="11430000" cy="4864200"/>
          </a:xfrm>
          <a:prstGeom prst="rect">
            <a:avLst/>
          </a:prstGeom>
        </p:spPr>
        <p:txBody>
          <a:bodyPr anchorCtr="0" anchor="t" bIns="45700" lIns="91425" spcFirstLastPara="1" rIns="91425" wrap="square" tIns="45700">
            <a:normAutofit lnSpcReduction="10000"/>
          </a:bodyPr>
          <a:lstStyle/>
          <a:p>
            <a:pPr indent="-342900" lvl="0" marL="457200" rtl="0" algn="l">
              <a:spcBef>
                <a:spcPts val="1000"/>
              </a:spcBef>
              <a:spcAft>
                <a:spcPts val="0"/>
              </a:spcAft>
              <a:buSzPts val="1800"/>
              <a:buChar char="●"/>
            </a:pPr>
            <a:r>
              <a:rPr lang="en-US"/>
              <a:t>Questions and answers separated in the Piazza data we received. </a:t>
            </a:r>
            <a:endParaRPr/>
          </a:p>
          <a:p>
            <a:pPr indent="-342900" lvl="1" marL="914400" rtl="0" algn="l">
              <a:spcBef>
                <a:spcPts val="0"/>
              </a:spcBef>
              <a:spcAft>
                <a:spcPts val="0"/>
              </a:spcAft>
              <a:buSzPts val="1800"/>
              <a:buChar char="○"/>
            </a:pPr>
            <a:r>
              <a:rPr lang="en-US"/>
              <a:t>sentence-classification modeling using CNN (Convolutional Neural Network)</a:t>
            </a:r>
            <a:endParaRPr/>
          </a:p>
          <a:p>
            <a:pPr indent="-342900" lvl="1" marL="914400" rtl="0" algn="l">
              <a:spcBef>
                <a:spcPts val="0"/>
              </a:spcBef>
              <a:spcAft>
                <a:spcPts val="0"/>
              </a:spcAft>
              <a:buSzPts val="1800"/>
              <a:buChar char="○"/>
            </a:pPr>
            <a:r>
              <a:rPr lang="en-US"/>
              <a:t>pre-trained model</a:t>
            </a:r>
            <a:endParaRPr/>
          </a:p>
          <a:p>
            <a:pPr indent="-342900" lvl="1" marL="914400" rtl="0" algn="l">
              <a:spcBef>
                <a:spcPts val="0"/>
              </a:spcBef>
              <a:spcAft>
                <a:spcPts val="0"/>
              </a:spcAft>
              <a:buSzPts val="1800"/>
              <a:buChar char="○"/>
            </a:pPr>
            <a:r>
              <a:rPr lang="en-US"/>
              <a:t>This model classifies a sentence in one of the common sentence types: Question, Statement, Command, Exclamation</a:t>
            </a:r>
            <a:endParaRPr/>
          </a:p>
          <a:p>
            <a:pPr indent="0" lvl="0" marL="914400" rtl="0" algn="l">
              <a:spcBef>
                <a:spcPts val="0"/>
              </a:spcBef>
              <a:spcAft>
                <a:spcPts val="0"/>
              </a:spcAft>
              <a:buNone/>
            </a:pPr>
            <a:r>
              <a:t/>
            </a:r>
            <a:endParaRPr/>
          </a:p>
          <a:p>
            <a:pPr indent="-342900" lvl="0" marL="457200" rtl="0" algn="l">
              <a:spcBef>
                <a:spcPts val="0"/>
              </a:spcBef>
              <a:spcAft>
                <a:spcPts val="0"/>
              </a:spcAft>
              <a:buSzPts val="1800"/>
              <a:buChar char="●"/>
            </a:pPr>
            <a:r>
              <a:rPr lang="en-US"/>
              <a:t>Data was pipelined </a:t>
            </a:r>
            <a:endParaRPr/>
          </a:p>
          <a:p>
            <a:pPr indent="0" lvl="0" marL="457200" rtl="0" algn="l">
              <a:spcBef>
                <a:spcPts val="0"/>
              </a:spcBef>
              <a:spcAft>
                <a:spcPts val="0"/>
              </a:spcAft>
              <a:buNone/>
            </a:pPr>
            <a:r>
              <a:rPr lang="en-US"/>
              <a:t>manually </a:t>
            </a:r>
            <a:endParaRPr/>
          </a:p>
          <a:p>
            <a:pPr indent="0" lvl="0" marL="0" rtl="0" algn="l">
              <a:spcBef>
                <a:spcPts val="0"/>
              </a:spcBef>
              <a:spcAft>
                <a:spcPts val="0"/>
              </a:spcAft>
              <a:buNone/>
            </a:pPr>
            <a:r>
              <a:t/>
            </a:r>
            <a:endParaRPr/>
          </a:p>
          <a:p>
            <a:pPr indent="-342900" lvl="0" marL="457200" rtl="0" algn="l">
              <a:spcBef>
                <a:spcPts val="0"/>
              </a:spcBef>
              <a:spcAft>
                <a:spcPts val="0"/>
              </a:spcAft>
              <a:buSzPts val="1800"/>
              <a:buChar char="●"/>
            </a:pPr>
            <a:r>
              <a:rPr lang="en-US"/>
              <a:t>Aiming to automate the</a:t>
            </a:r>
            <a:endParaRPr/>
          </a:p>
          <a:p>
            <a:pPr indent="0" lvl="0" marL="457200" rtl="0" algn="l">
              <a:spcBef>
                <a:spcPts val="0"/>
              </a:spcBef>
              <a:spcAft>
                <a:spcPts val="0"/>
              </a:spcAft>
              <a:buNone/>
            </a:pPr>
            <a:r>
              <a:rPr lang="en-US"/>
              <a:t>pipeline and provide </a:t>
            </a:r>
            <a:endParaRPr/>
          </a:p>
          <a:p>
            <a:pPr indent="0" lvl="0" marL="457200" rtl="0" algn="l">
              <a:spcBef>
                <a:spcPts val="0"/>
              </a:spcBef>
              <a:spcAft>
                <a:spcPts val="0"/>
              </a:spcAft>
              <a:buNone/>
            </a:pPr>
            <a:r>
              <a:rPr lang="en-US"/>
              <a:t>results to the web dev team</a:t>
            </a:r>
            <a:endParaRPr/>
          </a:p>
          <a:p>
            <a:pPr indent="0" lvl="0" marL="457200" rtl="0" algn="l">
              <a:spcBef>
                <a:spcPts val="0"/>
              </a:spcBef>
              <a:spcAft>
                <a:spcPts val="0"/>
              </a:spcAft>
              <a:buNone/>
            </a:pPr>
            <a:r>
              <a:rPr lang="en-US"/>
              <a:t>on real-time data.  </a:t>
            </a:r>
            <a:endParaRPr/>
          </a:p>
        </p:txBody>
      </p:sp>
      <p:sp>
        <p:nvSpPr>
          <p:cNvPr id="182" name="Google Shape;182;g1251a07fc2e_0_0"/>
          <p:cNvSpPr txBox="1"/>
          <p:nvPr>
            <p:ph type="title"/>
          </p:nvPr>
        </p:nvSpPr>
        <p:spPr>
          <a:xfrm>
            <a:off x="381000" y="200722"/>
            <a:ext cx="11430000" cy="10149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US"/>
              <a:t>Data Pipelining</a:t>
            </a:r>
            <a:endParaRPr/>
          </a:p>
        </p:txBody>
      </p:sp>
      <p:cxnSp>
        <p:nvCxnSpPr>
          <p:cNvPr id="183" name="Google Shape;183;g1251a07fc2e_0_0"/>
          <p:cNvCxnSpPr>
            <a:stCxn id="184" idx="2"/>
          </p:cNvCxnSpPr>
          <p:nvPr/>
        </p:nvCxnSpPr>
        <p:spPr>
          <a:xfrm>
            <a:off x="6096000" y="4548950"/>
            <a:ext cx="752100" cy="514800"/>
          </a:xfrm>
          <a:prstGeom prst="straightConnector1">
            <a:avLst/>
          </a:prstGeom>
          <a:noFill/>
          <a:ln cap="flat" cmpd="sng" w="9525">
            <a:solidFill>
              <a:schemeClr val="dk2"/>
            </a:solidFill>
            <a:prstDash val="solid"/>
            <a:round/>
            <a:headEnd len="sm" w="sm" type="none"/>
            <a:tailEnd len="med" w="med" type="triangle"/>
          </a:ln>
        </p:spPr>
      </p:cxnSp>
      <p:sp>
        <p:nvSpPr>
          <p:cNvPr id="185" name="Google Shape;185;g1251a07fc2e_0_0"/>
          <p:cNvSpPr/>
          <p:nvPr/>
        </p:nvSpPr>
        <p:spPr>
          <a:xfrm>
            <a:off x="6848050" y="4728625"/>
            <a:ext cx="1407600" cy="774300"/>
          </a:xfrm>
          <a:prstGeom prst="rect">
            <a:avLst/>
          </a:prstGeom>
          <a:solidFill>
            <a:srgbClr val="E7E6E6"/>
          </a:solidFill>
          <a:ln cap="flat" cmpd="sng" w="9525">
            <a:solidFill>
              <a:srgbClr val="4454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US"/>
              <a:t>Python</a:t>
            </a:r>
            <a:r>
              <a:rPr lang="en-US"/>
              <a:t> script to retrieve data from database</a:t>
            </a:r>
            <a:endParaRPr b="0" i="0" sz="1400" u="none" cap="none" strike="noStrike">
              <a:solidFill>
                <a:srgbClr val="000000"/>
              </a:solidFill>
              <a:latin typeface="Arial"/>
              <a:ea typeface="Arial"/>
              <a:cs typeface="Arial"/>
              <a:sym typeface="Arial"/>
            </a:endParaRPr>
          </a:p>
        </p:txBody>
      </p:sp>
      <p:cxnSp>
        <p:nvCxnSpPr>
          <p:cNvPr id="186" name="Google Shape;186;g1251a07fc2e_0_0"/>
          <p:cNvCxnSpPr>
            <a:stCxn id="185" idx="3"/>
          </p:cNvCxnSpPr>
          <p:nvPr/>
        </p:nvCxnSpPr>
        <p:spPr>
          <a:xfrm flipH="1" rot="10800000">
            <a:off x="8255650" y="5113675"/>
            <a:ext cx="728700" cy="2100"/>
          </a:xfrm>
          <a:prstGeom prst="straightConnector1">
            <a:avLst/>
          </a:prstGeom>
          <a:noFill/>
          <a:ln cap="flat" cmpd="sng" w="9525">
            <a:solidFill>
              <a:schemeClr val="dk2"/>
            </a:solidFill>
            <a:prstDash val="solid"/>
            <a:round/>
            <a:headEnd len="med" w="med" type="none"/>
            <a:tailEnd len="med" w="med" type="triangle"/>
          </a:ln>
        </p:spPr>
      </p:cxnSp>
      <p:sp>
        <p:nvSpPr>
          <p:cNvPr id="187" name="Google Shape;187;g1251a07fc2e_0_0"/>
          <p:cNvSpPr/>
          <p:nvPr/>
        </p:nvSpPr>
        <p:spPr>
          <a:xfrm>
            <a:off x="8984350" y="4728625"/>
            <a:ext cx="1407600" cy="774300"/>
          </a:xfrm>
          <a:prstGeom prst="rect">
            <a:avLst/>
          </a:prstGeom>
          <a:solidFill>
            <a:srgbClr val="E7E6E6"/>
          </a:solidFill>
          <a:ln cap="flat" cmpd="sng" w="9525">
            <a:solidFill>
              <a:srgbClr val="4454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US"/>
              <a:t>Test the data on our trained Topic model</a:t>
            </a:r>
            <a:endParaRPr b="0" i="0" sz="1400" u="none" cap="none" strike="noStrike">
              <a:solidFill>
                <a:srgbClr val="000000"/>
              </a:solidFill>
              <a:latin typeface="Arial"/>
              <a:ea typeface="Arial"/>
              <a:cs typeface="Arial"/>
              <a:sym typeface="Arial"/>
            </a:endParaRPr>
          </a:p>
        </p:txBody>
      </p:sp>
      <p:sp>
        <p:nvSpPr>
          <p:cNvPr id="188" name="Google Shape;188;g1251a07fc2e_0_0"/>
          <p:cNvSpPr/>
          <p:nvPr/>
        </p:nvSpPr>
        <p:spPr>
          <a:xfrm>
            <a:off x="10391950" y="3774650"/>
            <a:ext cx="1407600" cy="774300"/>
          </a:xfrm>
          <a:prstGeom prst="rect">
            <a:avLst/>
          </a:prstGeom>
          <a:solidFill>
            <a:srgbClr val="E7E6E6"/>
          </a:solidFill>
          <a:ln cap="flat" cmpd="sng" w="9525">
            <a:solidFill>
              <a:srgbClr val="4454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US"/>
              <a:t>Provide</a:t>
            </a:r>
            <a:r>
              <a:rPr lang="en-US"/>
              <a:t> visuals to the web dev team </a:t>
            </a:r>
            <a:endParaRPr b="0" i="0" sz="1400" u="none" cap="none" strike="noStrike">
              <a:solidFill>
                <a:srgbClr val="000000"/>
              </a:solidFill>
              <a:latin typeface="Arial"/>
              <a:ea typeface="Arial"/>
              <a:cs typeface="Arial"/>
              <a:sym typeface="Arial"/>
            </a:endParaRPr>
          </a:p>
        </p:txBody>
      </p:sp>
      <p:cxnSp>
        <p:nvCxnSpPr>
          <p:cNvPr id="189" name="Google Shape;189;g1251a07fc2e_0_0"/>
          <p:cNvCxnSpPr/>
          <p:nvPr/>
        </p:nvCxnSpPr>
        <p:spPr>
          <a:xfrm flipH="1" rot="10800000">
            <a:off x="10391950" y="4577150"/>
            <a:ext cx="381900" cy="371100"/>
          </a:xfrm>
          <a:prstGeom prst="straightConnector1">
            <a:avLst/>
          </a:prstGeom>
          <a:noFill/>
          <a:ln cap="flat" cmpd="sng" w="9525">
            <a:solidFill>
              <a:schemeClr val="dk1"/>
            </a:solidFill>
            <a:prstDash val="solid"/>
            <a:round/>
            <a:headEnd len="med" w="med" type="none"/>
            <a:tailEnd len="med" w="med" type="triangle"/>
          </a:ln>
        </p:spPr>
      </p:cxnSp>
      <p:sp>
        <p:nvSpPr>
          <p:cNvPr id="190" name="Google Shape;190;g1251a07fc2e_0_0"/>
          <p:cNvSpPr/>
          <p:nvPr/>
        </p:nvSpPr>
        <p:spPr>
          <a:xfrm>
            <a:off x="8784775" y="3226875"/>
            <a:ext cx="469200" cy="4893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g1251a07fc2e_0_0"/>
          <p:cNvSpPr/>
          <p:nvPr/>
        </p:nvSpPr>
        <p:spPr>
          <a:xfrm rot="5400000">
            <a:off x="9159075" y="3695975"/>
            <a:ext cx="219600" cy="42825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g1251a07fc2e_0_0"/>
          <p:cNvSpPr txBox="1"/>
          <p:nvPr/>
        </p:nvSpPr>
        <p:spPr>
          <a:xfrm>
            <a:off x="8724850" y="6079675"/>
            <a:ext cx="1926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latin typeface="Roboto"/>
                <a:ea typeface="Roboto"/>
                <a:cs typeface="Roboto"/>
                <a:sym typeface="Roboto"/>
              </a:rPr>
              <a:t>Python</a:t>
            </a:r>
            <a:r>
              <a:rPr lang="en-US">
                <a:latin typeface="Roboto"/>
                <a:ea typeface="Roboto"/>
                <a:cs typeface="Roboto"/>
                <a:sym typeface="Roboto"/>
              </a:rPr>
              <a:t> script</a:t>
            </a:r>
            <a:endParaRPr>
              <a:latin typeface="Roboto"/>
              <a:ea typeface="Roboto"/>
              <a:cs typeface="Roboto"/>
              <a:sym typeface="Roboto"/>
            </a:endParaRPr>
          </a:p>
        </p:txBody>
      </p:sp>
      <p:sp>
        <p:nvSpPr>
          <p:cNvPr id="193" name="Google Shape;193;g1251a07fc2e_0_0"/>
          <p:cNvSpPr txBox="1"/>
          <p:nvPr/>
        </p:nvSpPr>
        <p:spPr>
          <a:xfrm>
            <a:off x="8984350" y="4389925"/>
            <a:ext cx="19266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Roboto"/>
                <a:ea typeface="Roboto"/>
                <a:cs typeface="Roboto"/>
                <a:sym typeface="Roboto"/>
              </a:rPr>
              <a:t>We’re here.</a:t>
            </a:r>
            <a:endParaRPr i="1" sz="1000">
              <a:latin typeface="Roboto"/>
              <a:ea typeface="Roboto"/>
              <a:cs typeface="Roboto"/>
              <a:sym typeface="Roboto"/>
            </a:endParaRPr>
          </a:p>
        </p:txBody>
      </p:sp>
      <p:sp>
        <p:nvSpPr>
          <p:cNvPr id="184" name="Google Shape;184;g1251a07fc2e_0_0"/>
          <p:cNvSpPr/>
          <p:nvPr/>
        </p:nvSpPr>
        <p:spPr>
          <a:xfrm>
            <a:off x="5392200" y="3774650"/>
            <a:ext cx="1407600" cy="774300"/>
          </a:xfrm>
          <a:prstGeom prst="rect">
            <a:avLst/>
          </a:prstGeom>
          <a:solidFill>
            <a:srgbClr val="E7E6E6"/>
          </a:solidFill>
          <a:ln cap="flat" cmpd="sng" w="9525">
            <a:solidFill>
              <a:srgbClr val="4454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US"/>
              <a:t>Topic modeling using LDA+Bert</a:t>
            </a:r>
            <a:endParaRPr b="0" i="0" sz="1400" u="none" cap="none" strike="noStrike">
              <a:solidFill>
                <a:srgbClr val="000000"/>
              </a:solidFill>
              <a:latin typeface="Arial"/>
              <a:ea typeface="Arial"/>
              <a:cs typeface="Arial"/>
              <a:sym typeface="Arial"/>
            </a:endParaRPr>
          </a:p>
        </p:txBody>
      </p:sp>
      <p:sp>
        <p:nvSpPr>
          <p:cNvPr id="194" name="Google Shape;194;g1251a07fc2e_0_0"/>
          <p:cNvSpPr/>
          <p:nvPr/>
        </p:nvSpPr>
        <p:spPr>
          <a:xfrm>
            <a:off x="8477900" y="2941875"/>
            <a:ext cx="1407600" cy="774300"/>
          </a:xfrm>
          <a:prstGeom prst="rect">
            <a:avLst/>
          </a:prstGeom>
          <a:solidFill>
            <a:srgbClr val="E7E6E6"/>
          </a:solidFill>
          <a:ln cap="flat" cmpd="sng" w="9525">
            <a:solidFill>
              <a:srgbClr val="4454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US"/>
              <a:t>Metacognitive modeling on Piazza data</a:t>
            </a:r>
            <a:endParaRPr b="0" i="0" sz="1400" u="none" cap="none" strike="noStrike">
              <a:solidFill>
                <a:srgbClr val="000000"/>
              </a:solidFill>
              <a:latin typeface="Arial"/>
              <a:ea typeface="Arial"/>
              <a:cs typeface="Arial"/>
              <a:sym typeface="Arial"/>
            </a:endParaRPr>
          </a:p>
        </p:txBody>
      </p:sp>
      <p:cxnSp>
        <p:nvCxnSpPr>
          <p:cNvPr id="195" name="Google Shape;195;g1251a07fc2e_0_0"/>
          <p:cNvCxnSpPr/>
          <p:nvPr/>
        </p:nvCxnSpPr>
        <p:spPr>
          <a:xfrm>
            <a:off x="9885500" y="3214125"/>
            <a:ext cx="726000" cy="559800"/>
          </a:xfrm>
          <a:prstGeom prst="straightConnector1">
            <a:avLst/>
          </a:prstGeom>
          <a:noFill/>
          <a:ln cap="flat" cmpd="sng" w="9525">
            <a:solidFill>
              <a:schemeClr val="dk2"/>
            </a:solidFill>
            <a:prstDash val="solid"/>
            <a:round/>
            <a:headEnd len="sm" w="sm" type="none"/>
            <a:tailEnd len="med" w="med" type="triangle"/>
          </a:ln>
        </p:spPr>
      </p:cxnSp>
      <p:cxnSp>
        <p:nvCxnSpPr>
          <p:cNvPr id="196" name="Google Shape;196;g1251a07fc2e_0_0"/>
          <p:cNvCxnSpPr>
            <a:stCxn id="185" idx="0"/>
            <a:endCxn id="194" idx="1"/>
          </p:cNvCxnSpPr>
          <p:nvPr/>
        </p:nvCxnSpPr>
        <p:spPr>
          <a:xfrm flipH="1" rot="10800000">
            <a:off x="7551850" y="3329125"/>
            <a:ext cx="926100" cy="13995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g1251a07fc2e_0_5"/>
          <p:cNvSpPr txBox="1"/>
          <p:nvPr>
            <p:ph idx="1" type="body"/>
          </p:nvPr>
        </p:nvSpPr>
        <p:spPr>
          <a:xfrm>
            <a:off x="381000" y="1215475"/>
            <a:ext cx="11328600" cy="5124000"/>
          </a:xfrm>
          <a:prstGeom prst="rect">
            <a:avLst/>
          </a:prstGeom>
        </p:spPr>
        <p:txBody>
          <a:bodyPr anchorCtr="0" anchor="t" bIns="45700" lIns="91425" spcFirstLastPara="1" rIns="91425" wrap="square" tIns="45700">
            <a:normAutofit lnSpcReduction="10000"/>
          </a:bodyPr>
          <a:lstStyle/>
          <a:p>
            <a:pPr indent="-330200" lvl="0" marL="457200" rtl="0" algn="l">
              <a:spcBef>
                <a:spcPts val="1000"/>
              </a:spcBef>
              <a:spcAft>
                <a:spcPts val="0"/>
              </a:spcAft>
              <a:buSzPts val="1600"/>
              <a:buChar char="●"/>
            </a:pPr>
            <a:r>
              <a:rPr lang="en-US" sz="2600"/>
              <a:t>Write python scripts to automate the pipeline. </a:t>
            </a:r>
            <a:endParaRPr sz="2600"/>
          </a:p>
          <a:p>
            <a:pPr indent="-330200" lvl="0" marL="457200" rtl="0" algn="l">
              <a:spcBef>
                <a:spcPts val="1000"/>
              </a:spcBef>
              <a:spcAft>
                <a:spcPts val="0"/>
              </a:spcAft>
              <a:buSzPts val="1600"/>
              <a:buChar char="●"/>
            </a:pPr>
            <a:r>
              <a:rPr lang="en-US" sz="2600"/>
              <a:t>Work on building a robust platform for the professors which includes an in-depth analysis of real-time piazza data using NLP. </a:t>
            </a:r>
            <a:endParaRPr sz="2600"/>
          </a:p>
          <a:p>
            <a:pPr indent="-330200" lvl="1" marL="914400" rtl="0" algn="l">
              <a:spcBef>
                <a:spcPts val="1000"/>
              </a:spcBef>
              <a:spcAft>
                <a:spcPts val="0"/>
              </a:spcAft>
              <a:buSzPts val="1600"/>
              <a:buChar char="○"/>
            </a:pPr>
            <a:r>
              <a:rPr lang="en-US" sz="2200"/>
              <a:t>Try not to include the same visuals that Piazza is providing</a:t>
            </a:r>
            <a:endParaRPr sz="2200"/>
          </a:p>
          <a:p>
            <a:pPr indent="-330200" lvl="0" marL="457200" rtl="0" algn="l">
              <a:spcBef>
                <a:spcPts val="1000"/>
              </a:spcBef>
              <a:spcAft>
                <a:spcPts val="0"/>
              </a:spcAft>
              <a:buSzPts val="1600"/>
              <a:buChar char="●"/>
            </a:pPr>
            <a:r>
              <a:rPr lang="en-US" sz="2600"/>
              <a:t>Integrate Cognitive Presence, Sentiment analysis and Metacognitive modeling results on the dashboard.</a:t>
            </a:r>
            <a:endParaRPr sz="2600"/>
          </a:p>
          <a:p>
            <a:pPr indent="-330200" lvl="0" marL="457200" rtl="0" algn="l">
              <a:spcBef>
                <a:spcPts val="1000"/>
              </a:spcBef>
              <a:spcAft>
                <a:spcPts val="0"/>
              </a:spcAft>
              <a:buSzPts val="1600"/>
              <a:buChar char="●"/>
            </a:pPr>
            <a:r>
              <a:rPr lang="en-US" sz="2600"/>
              <a:t>Help deploy an </a:t>
            </a:r>
            <a:r>
              <a:rPr lang="en-US" sz="2600"/>
              <a:t>application</a:t>
            </a:r>
            <a:r>
              <a:rPr lang="en-US" sz="2600"/>
              <a:t> for the </a:t>
            </a:r>
            <a:endParaRPr sz="2600"/>
          </a:p>
          <a:p>
            <a:pPr indent="0" lvl="0" marL="457200" rtl="0" algn="l">
              <a:spcBef>
                <a:spcPts val="0"/>
              </a:spcBef>
              <a:spcAft>
                <a:spcPts val="0"/>
              </a:spcAft>
              <a:buNone/>
            </a:pPr>
            <a:r>
              <a:rPr lang="en-US" sz="2600"/>
              <a:t>professors</a:t>
            </a:r>
            <a:r>
              <a:rPr lang="en-US" sz="2600"/>
              <a:t> as soon as possible.   </a:t>
            </a:r>
            <a:endParaRPr sz="2600"/>
          </a:p>
          <a:p>
            <a:pPr indent="0" lvl="0" marL="457200" rtl="0" algn="l">
              <a:spcBef>
                <a:spcPts val="1000"/>
              </a:spcBef>
              <a:spcAft>
                <a:spcPts val="0"/>
              </a:spcAft>
              <a:buNone/>
            </a:pPr>
            <a:r>
              <a:t/>
            </a:r>
            <a:endParaRPr sz="2600"/>
          </a:p>
          <a:p>
            <a:pPr indent="-330200" lvl="0" marL="457200" rtl="0" algn="l">
              <a:spcBef>
                <a:spcPts val="1000"/>
              </a:spcBef>
              <a:spcAft>
                <a:spcPts val="0"/>
              </a:spcAft>
              <a:buSzPts val="1600"/>
              <a:buChar char="●"/>
            </a:pPr>
            <a:r>
              <a:rPr lang="en-US" sz="2600"/>
              <a:t>Once the above steps are completed:</a:t>
            </a:r>
            <a:endParaRPr sz="2600"/>
          </a:p>
          <a:p>
            <a:pPr indent="-330200" lvl="1" marL="914400" rtl="0" algn="l">
              <a:spcBef>
                <a:spcPts val="0"/>
              </a:spcBef>
              <a:spcAft>
                <a:spcPts val="0"/>
              </a:spcAft>
              <a:buSzPts val="1600"/>
              <a:buChar char="○"/>
            </a:pPr>
            <a:r>
              <a:rPr lang="en-US" sz="2200"/>
              <a:t>Look into other topic models </a:t>
            </a:r>
            <a:endParaRPr sz="2200"/>
          </a:p>
          <a:p>
            <a:pPr indent="-330200" lvl="1" marL="914400" rtl="0" algn="l">
              <a:spcBef>
                <a:spcPts val="0"/>
              </a:spcBef>
              <a:spcAft>
                <a:spcPts val="0"/>
              </a:spcAft>
              <a:buSzPts val="1600"/>
              <a:buChar char="○"/>
            </a:pPr>
            <a:r>
              <a:rPr lang="en-US" sz="2200"/>
              <a:t>Or other techniques from prof’s feedback</a:t>
            </a:r>
            <a:endParaRPr sz="2200"/>
          </a:p>
          <a:p>
            <a:pPr indent="0" lvl="0" marL="914400" rtl="0" algn="l">
              <a:spcBef>
                <a:spcPts val="1000"/>
              </a:spcBef>
              <a:spcAft>
                <a:spcPts val="0"/>
              </a:spcAft>
              <a:buNone/>
            </a:pPr>
            <a:r>
              <a:t/>
            </a:r>
            <a:endParaRPr/>
          </a:p>
        </p:txBody>
      </p:sp>
      <p:sp>
        <p:nvSpPr>
          <p:cNvPr id="202" name="Google Shape;202;g1251a07fc2e_0_5"/>
          <p:cNvSpPr txBox="1"/>
          <p:nvPr>
            <p:ph type="title"/>
          </p:nvPr>
        </p:nvSpPr>
        <p:spPr>
          <a:xfrm>
            <a:off x="381000" y="200722"/>
            <a:ext cx="11430000" cy="10149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US"/>
              <a:t>Next Steps</a:t>
            </a:r>
            <a:endParaRPr/>
          </a:p>
        </p:txBody>
      </p:sp>
      <p:pic>
        <p:nvPicPr>
          <p:cNvPr id="203" name="Google Shape;203;g1251a07fc2e_0_5"/>
          <p:cNvPicPr preferRelativeResize="0"/>
          <p:nvPr/>
        </p:nvPicPr>
        <p:blipFill>
          <a:blip r:embed="rId3">
            <a:alphaModFix/>
          </a:blip>
          <a:stretch>
            <a:fillRect/>
          </a:stretch>
        </p:blipFill>
        <p:spPr>
          <a:xfrm>
            <a:off x="7089750" y="3903350"/>
            <a:ext cx="4721251" cy="22180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gefbeba6a1c_0_514"/>
          <p:cNvSpPr txBox="1"/>
          <p:nvPr>
            <p:ph idx="4294967295" type="title"/>
          </p:nvPr>
        </p:nvSpPr>
        <p:spPr>
          <a:xfrm>
            <a:off x="381000" y="2921547"/>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sz="7000"/>
              <a:t>UX Research</a:t>
            </a:r>
            <a:endParaRPr sz="70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gefbeba6a1c_0_15"/>
          <p:cNvSpPr txBox="1"/>
          <p:nvPr>
            <p:ph idx="1" type="body"/>
          </p:nvPr>
        </p:nvSpPr>
        <p:spPr>
          <a:xfrm>
            <a:off x="381000" y="1532300"/>
            <a:ext cx="11430000" cy="4989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1000"/>
              </a:spcBef>
              <a:spcAft>
                <a:spcPts val="0"/>
              </a:spcAft>
              <a:buSzPts val="1800"/>
              <a:buNone/>
            </a:pPr>
            <a:r>
              <a:rPr b="1" lang="en-US"/>
              <a:t>Research Question:</a:t>
            </a:r>
            <a:r>
              <a:rPr lang="en-US"/>
              <a:t> What metrics on a dashboard are useful to instructors in order to improve student engagement &amp; performance and/or reduce workload for instructors?</a:t>
            </a:r>
            <a:endParaRPr/>
          </a:p>
          <a:p>
            <a:pPr indent="0" lvl="0" marL="0" rtl="0" algn="l">
              <a:lnSpc>
                <a:spcPct val="100000"/>
              </a:lnSpc>
              <a:spcBef>
                <a:spcPts val="1000"/>
              </a:spcBef>
              <a:spcAft>
                <a:spcPts val="0"/>
              </a:spcAft>
              <a:buSzPts val="1800"/>
              <a:buNone/>
            </a:pPr>
            <a:r>
              <a:rPr b="1" lang="en-US"/>
              <a:t>Goals</a:t>
            </a:r>
            <a:r>
              <a:rPr lang="en-US"/>
              <a:t>:</a:t>
            </a:r>
            <a:endParaRPr/>
          </a:p>
          <a:p>
            <a:pPr indent="-342900" lvl="0" marL="457200" rtl="0" algn="l">
              <a:lnSpc>
                <a:spcPct val="100000"/>
              </a:lnSpc>
              <a:spcBef>
                <a:spcPts val="1000"/>
              </a:spcBef>
              <a:spcAft>
                <a:spcPts val="0"/>
              </a:spcAft>
              <a:buSzPts val="1800"/>
              <a:buChar char="•"/>
            </a:pPr>
            <a:r>
              <a:rPr lang="en-US"/>
              <a:t>Collect ideas &amp; insights from users on utility of feasible metrics.</a:t>
            </a:r>
            <a:endParaRPr/>
          </a:p>
          <a:p>
            <a:pPr indent="-342900" lvl="0" marL="457200" rtl="0" algn="l">
              <a:lnSpc>
                <a:spcPct val="100000"/>
              </a:lnSpc>
              <a:spcBef>
                <a:spcPts val="0"/>
              </a:spcBef>
              <a:spcAft>
                <a:spcPts val="0"/>
              </a:spcAft>
              <a:buSzPts val="1800"/>
              <a:buChar char="•"/>
            </a:pPr>
            <a:r>
              <a:rPr lang="en-US"/>
              <a:t>Pilot test prototypes with users.</a:t>
            </a:r>
            <a:endParaRPr/>
          </a:p>
          <a:p>
            <a:pPr indent="0" lvl="0" marL="0" rtl="0" algn="l">
              <a:lnSpc>
                <a:spcPct val="100000"/>
              </a:lnSpc>
              <a:spcBef>
                <a:spcPts val="1000"/>
              </a:spcBef>
              <a:spcAft>
                <a:spcPts val="0"/>
              </a:spcAft>
              <a:buNone/>
            </a:pPr>
            <a:r>
              <a:rPr b="1" lang="en-US"/>
              <a:t>Updates</a:t>
            </a:r>
            <a:r>
              <a:rPr lang="en-US"/>
              <a:t>:</a:t>
            </a:r>
            <a:endParaRPr/>
          </a:p>
          <a:p>
            <a:pPr indent="-342900" lvl="0" marL="457200" rtl="0" algn="l">
              <a:lnSpc>
                <a:spcPct val="100000"/>
              </a:lnSpc>
              <a:spcBef>
                <a:spcPts val="1000"/>
              </a:spcBef>
              <a:spcAft>
                <a:spcPts val="0"/>
              </a:spcAft>
              <a:buSzPts val="1800"/>
              <a:buChar char="•"/>
            </a:pPr>
            <a:r>
              <a:rPr lang="en-US"/>
              <a:t>Interviewed Jack, CS 4510 HTA.</a:t>
            </a:r>
            <a:endParaRPr/>
          </a:p>
          <a:p>
            <a:pPr indent="-342900" lvl="0" marL="457200" rtl="0" algn="l">
              <a:lnSpc>
                <a:spcPct val="100000"/>
              </a:lnSpc>
              <a:spcBef>
                <a:spcPts val="0"/>
              </a:spcBef>
              <a:spcAft>
                <a:spcPts val="0"/>
              </a:spcAft>
              <a:buSzPts val="1800"/>
              <a:buChar char="•"/>
            </a:pPr>
            <a:r>
              <a:rPr lang="en-US"/>
              <a:t>Created mockups for the dashboard.</a:t>
            </a:r>
            <a:endParaRPr/>
          </a:p>
        </p:txBody>
      </p:sp>
      <p:sp>
        <p:nvSpPr>
          <p:cNvPr id="214" name="Google Shape;214;gefbeba6a1c_0_15"/>
          <p:cNvSpPr txBox="1"/>
          <p:nvPr>
            <p:ph type="title"/>
          </p:nvPr>
        </p:nvSpPr>
        <p:spPr>
          <a:xfrm>
            <a:off x="381000" y="331547"/>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User Surveys &amp; Interviews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pic>
        <p:nvPicPr>
          <p:cNvPr id="219" name="Google Shape;219;g1252325779d_1_0"/>
          <p:cNvPicPr preferRelativeResize="0"/>
          <p:nvPr/>
        </p:nvPicPr>
        <p:blipFill>
          <a:blip r:embed="rId3">
            <a:alphaModFix/>
          </a:blip>
          <a:stretch>
            <a:fillRect/>
          </a:stretch>
        </p:blipFill>
        <p:spPr>
          <a:xfrm>
            <a:off x="816325" y="0"/>
            <a:ext cx="10559354" cy="685800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pic>
        <p:nvPicPr>
          <p:cNvPr id="224" name="Google Shape;224;g1252325779d_1_9"/>
          <p:cNvPicPr preferRelativeResize="0"/>
          <p:nvPr/>
        </p:nvPicPr>
        <p:blipFill>
          <a:blip r:embed="rId3">
            <a:alphaModFix/>
          </a:blip>
          <a:stretch>
            <a:fillRect/>
          </a:stretch>
        </p:blipFill>
        <p:spPr>
          <a:xfrm>
            <a:off x="816325" y="0"/>
            <a:ext cx="10559354" cy="6858001"/>
          </a:xfrm>
          <a:prstGeom prst="rect">
            <a:avLst/>
          </a:prstGeom>
          <a:noFill/>
          <a:ln>
            <a:noFill/>
          </a:ln>
        </p:spPr>
      </p:pic>
      <p:pic>
        <p:nvPicPr>
          <p:cNvPr id="225" name="Google Shape;225;g1252325779d_1_9"/>
          <p:cNvPicPr preferRelativeResize="0"/>
          <p:nvPr/>
        </p:nvPicPr>
        <p:blipFill>
          <a:blip r:embed="rId4">
            <a:alphaModFix/>
          </a:blip>
          <a:stretch>
            <a:fillRect/>
          </a:stretch>
        </p:blipFill>
        <p:spPr>
          <a:xfrm>
            <a:off x="816318" y="0"/>
            <a:ext cx="10559366" cy="6858001"/>
          </a:xfrm>
          <a:prstGeom prst="rect">
            <a:avLst/>
          </a:prstGeom>
          <a:noFill/>
          <a:ln>
            <a:noFill/>
          </a:ln>
        </p:spPr>
      </p:pic>
      <p:pic>
        <p:nvPicPr>
          <p:cNvPr id="226" name="Google Shape;226;g1252325779d_1_9"/>
          <p:cNvPicPr preferRelativeResize="0"/>
          <p:nvPr/>
        </p:nvPicPr>
        <p:blipFill>
          <a:blip r:embed="rId5">
            <a:alphaModFix/>
          </a:blip>
          <a:stretch>
            <a:fillRect/>
          </a:stretch>
        </p:blipFill>
        <p:spPr>
          <a:xfrm>
            <a:off x="816318" y="0"/>
            <a:ext cx="10559366" cy="68580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pic>
        <p:nvPicPr>
          <p:cNvPr id="231" name="Google Shape;231;g1252325779d_1_4"/>
          <p:cNvPicPr preferRelativeResize="0"/>
          <p:nvPr/>
        </p:nvPicPr>
        <p:blipFill>
          <a:blip r:embed="rId3">
            <a:alphaModFix/>
          </a:blip>
          <a:stretch>
            <a:fillRect/>
          </a:stretch>
        </p:blipFill>
        <p:spPr>
          <a:xfrm>
            <a:off x="816325" y="0"/>
            <a:ext cx="10559354" cy="6858001"/>
          </a:xfrm>
          <a:prstGeom prst="rect">
            <a:avLst/>
          </a:prstGeom>
          <a:noFill/>
          <a:ln>
            <a:noFill/>
          </a:ln>
        </p:spPr>
      </p:pic>
      <p:pic>
        <p:nvPicPr>
          <p:cNvPr id="232" name="Google Shape;232;g1252325779d_1_4"/>
          <p:cNvPicPr preferRelativeResize="0"/>
          <p:nvPr/>
        </p:nvPicPr>
        <p:blipFill>
          <a:blip r:embed="rId4">
            <a:alphaModFix/>
          </a:blip>
          <a:stretch>
            <a:fillRect/>
          </a:stretch>
        </p:blipFill>
        <p:spPr>
          <a:xfrm>
            <a:off x="816318" y="0"/>
            <a:ext cx="10559366" cy="6858001"/>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pic>
        <p:nvPicPr>
          <p:cNvPr id="237" name="Google Shape;237;g1252325779d_1_15"/>
          <p:cNvPicPr preferRelativeResize="0"/>
          <p:nvPr/>
        </p:nvPicPr>
        <p:blipFill>
          <a:blip r:embed="rId3">
            <a:alphaModFix/>
          </a:blip>
          <a:stretch>
            <a:fillRect/>
          </a:stretch>
        </p:blipFill>
        <p:spPr>
          <a:xfrm>
            <a:off x="816325" y="0"/>
            <a:ext cx="10559354" cy="6858001"/>
          </a:xfrm>
          <a:prstGeom prst="rect">
            <a:avLst/>
          </a:prstGeom>
          <a:noFill/>
          <a:ln>
            <a:noFill/>
          </a:ln>
        </p:spPr>
      </p:pic>
      <p:pic>
        <p:nvPicPr>
          <p:cNvPr id="238" name="Google Shape;238;g1252325779d_1_15"/>
          <p:cNvPicPr preferRelativeResize="0"/>
          <p:nvPr/>
        </p:nvPicPr>
        <p:blipFill>
          <a:blip r:embed="rId4">
            <a:alphaModFix/>
          </a:blip>
          <a:stretch>
            <a:fillRect/>
          </a:stretch>
        </p:blipFill>
        <p:spPr>
          <a:xfrm>
            <a:off x="816318" y="0"/>
            <a:ext cx="10559366" cy="6858001"/>
          </a:xfrm>
          <a:prstGeom prst="rect">
            <a:avLst/>
          </a:prstGeom>
          <a:noFill/>
          <a:ln>
            <a:noFill/>
          </a:ln>
        </p:spPr>
      </p:pic>
      <p:pic>
        <p:nvPicPr>
          <p:cNvPr id="239" name="Google Shape;239;g1252325779d_1_15"/>
          <p:cNvPicPr preferRelativeResize="0"/>
          <p:nvPr/>
        </p:nvPicPr>
        <p:blipFill>
          <a:blip r:embed="rId5">
            <a:alphaModFix/>
          </a:blip>
          <a:stretch>
            <a:fillRect/>
          </a:stretch>
        </p:blipFill>
        <p:spPr>
          <a:xfrm>
            <a:off x="816318" y="0"/>
            <a:ext cx="10559366" cy="6858001"/>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g11dc627c558_0_22"/>
          <p:cNvSpPr txBox="1"/>
          <p:nvPr>
            <p:ph idx="1" type="body"/>
          </p:nvPr>
        </p:nvSpPr>
        <p:spPr>
          <a:xfrm>
            <a:off x="381000" y="1532300"/>
            <a:ext cx="11430000" cy="4671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1000"/>
              </a:spcBef>
              <a:spcAft>
                <a:spcPts val="0"/>
              </a:spcAft>
              <a:buClr>
                <a:schemeClr val="dk1"/>
              </a:buClr>
              <a:buSzPts val="1800"/>
              <a:buFont typeface="Arial"/>
              <a:buNone/>
            </a:pPr>
            <a:r>
              <a:rPr b="1" lang="en-US"/>
              <a:t>Conclusions</a:t>
            </a:r>
            <a:r>
              <a:rPr lang="en-US"/>
              <a:t>:</a:t>
            </a:r>
            <a:endParaRPr/>
          </a:p>
          <a:p>
            <a:pPr indent="-342900" lvl="0" marL="457200" rtl="0" algn="l">
              <a:lnSpc>
                <a:spcPct val="100000"/>
              </a:lnSpc>
              <a:spcBef>
                <a:spcPts val="0"/>
              </a:spcBef>
              <a:spcAft>
                <a:spcPts val="0"/>
              </a:spcAft>
              <a:buSzPts val="1800"/>
              <a:buChar char="•"/>
            </a:pPr>
            <a:r>
              <a:rPr lang="en-US"/>
              <a:t>Made progress in designing the front-end</a:t>
            </a:r>
            <a:endParaRPr/>
          </a:p>
          <a:p>
            <a:pPr indent="-342900" lvl="0" marL="457200" rtl="0" algn="l">
              <a:lnSpc>
                <a:spcPct val="100000"/>
              </a:lnSpc>
              <a:spcBef>
                <a:spcPts val="0"/>
              </a:spcBef>
              <a:spcAft>
                <a:spcPts val="0"/>
              </a:spcAft>
              <a:buSzPts val="1800"/>
              <a:buChar char="•"/>
            </a:pPr>
            <a:r>
              <a:rPr lang="en-US"/>
              <a:t>Different instructors and class sizes have different needs.</a:t>
            </a:r>
            <a:endParaRPr/>
          </a:p>
          <a:p>
            <a:pPr indent="-342900" lvl="0" marL="457200" rtl="0" algn="l">
              <a:lnSpc>
                <a:spcPct val="100000"/>
              </a:lnSpc>
              <a:spcBef>
                <a:spcPts val="0"/>
              </a:spcBef>
              <a:spcAft>
                <a:spcPts val="0"/>
              </a:spcAft>
              <a:buSzPts val="1800"/>
              <a:buChar char="•"/>
            </a:pPr>
            <a:r>
              <a:rPr lang="en-US"/>
              <a:t>Consider what we can actually implement.</a:t>
            </a:r>
            <a:endParaRPr/>
          </a:p>
          <a:p>
            <a:pPr indent="0" lvl="0" marL="0" rtl="0" algn="l">
              <a:lnSpc>
                <a:spcPct val="100000"/>
              </a:lnSpc>
              <a:spcBef>
                <a:spcPts val="1000"/>
              </a:spcBef>
              <a:spcAft>
                <a:spcPts val="0"/>
              </a:spcAft>
              <a:buSzPts val="1800"/>
              <a:buNone/>
            </a:pPr>
            <a:r>
              <a:rPr b="1" lang="en-US"/>
              <a:t>Next steps</a:t>
            </a:r>
            <a:r>
              <a:rPr lang="en-US"/>
              <a:t>:</a:t>
            </a:r>
            <a:endParaRPr/>
          </a:p>
          <a:p>
            <a:pPr indent="-342900" lvl="0" marL="457200" rtl="0" algn="l">
              <a:lnSpc>
                <a:spcPct val="100000"/>
              </a:lnSpc>
              <a:spcBef>
                <a:spcPts val="0"/>
              </a:spcBef>
              <a:spcAft>
                <a:spcPts val="0"/>
              </a:spcAft>
              <a:buSzPts val="1800"/>
              <a:buChar char="•"/>
            </a:pPr>
            <a:r>
              <a:rPr lang="en-US"/>
              <a:t>Continue to refine mockups and ideas for metrics on the dashboard by taking the mockups to instructors.</a:t>
            </a:r>
            <a:endParaRPr/>
          </a:p>
          <a:p>
            <a:pPr indent="-342900" lvl="0" marL="457200" rtl="0" algn="l">
              <a:lnSpc>
                <a:spcPct val="100000"/>
              </a:lnSpc>
              <a:spcBef>
                <a:spcPts val="0"/>
              </a:spcBef>
              <a:spcAft>
                <a:spcPts val="0"/>
              </a:spcAft>
              <a:buSzPts val="1800"/>
              <a:buChar char="•"/>
            </a:pPr>
            <a:r>
              <a:rPr lang="en-US"/>
              <a:t>Work with front-end web development to implement ideas.</a:t>
            </a:r>
            <a:endParaRPr/>
          </a:p>
          <a:p>
            <a:pPr indent="-342900" lvl="0" marL="457200" rtl="0" algn="l">
              <a:lnSpc>
                <a:spcPct val="100000"/>
              </a:lnSpc>
              <a:spcBef>
                <a:spcPts val="0"/>
              </a:spcBef>
              <a:spcAft>
                <a:spcPts val="0"/>
              </a:spcAft>
              <a:buSzPts val="1800"/>
              <a:buChar char="•"/>
            </a:pPr>
            <a:r>
              <a:rPr lang="en-US"/>
              <a:t>Begin testing prototypes with instructors.</a:t>
            </a:r>
            <a:endParaRPr/>
          </a:p>
        </p:txBody>
      </p:sp>
      <p:sp>
        <p:nvSpPr>
          <p:cNvPr id="245" name="Google Shape;245;g11dc627c558_0_22"/>
          <p:cNvSpPr txBox="1"/>
          <p:nvPr>
            <p:ph type="title"/>
          </p:nvPr>
        </p:nvSpPr>
        <p:spPr>
          <a:xfrm>
            <a:off x="381000" y="331547"/>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Conclusions &amp; Future Work for UX</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gefbeba6a1c_0_34"/>
          <p:cNvSpPr txBox="1"/>
          <p:nvPr>
            <p:ph idx="4294967295" type="title"/>
          </p:nvPr>
        </p:nvSpPr>
        <p:spPr>
          <a:xfrm>
            <a:off x="381000" y="2921547"/>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sz="7000"/>
              <a:t>Web Development</a:t>
            </a:r>
            <a:endParaRPr sz="70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g9d659091a8_1_15"/>
          <p:cNvSpPr txBox="1"/>
          <p:nvPr>
            <p:ph idx="1" type="body"/>
          </p:nvPr>
        </p:nvSpPr>
        <p:spPr>
          <a:xfrm>
            <a:off x="381000" y="1058809"/>
            <a:ext cx="11430000" cy="4596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1000"/>
              </a:spcBef>
              <a:spcAft>
                <a:spcPts val="0"/>
              </a:spcAft>
              <a:buNone/>
            </a:pPr>
            <a:r>
              <a:t/>
            </a:r>
            <a:endParaRPr/>
          </a:p>
          <a:p>
            <a:pPr indent="-342900" lvl="0" marL="457200" rtl="0" algn="l">
              <a:lnSpc>
                <a:spcPct val="100000"/>
              </a:lnSpc>
              <a:spcBef>
                <a:spcPts val="1000"/>
              </a:spcBef>
              <a:spcAft>
                <a:spcPts val="0"/>
              </a:spcAft>
              <a:buSzPts val="1800"/>
              <a:buChar char="-"/>
            </a:pPr>
            <a:r>
              <a:rPr lang="en-US"/>
              <a:t>Worked </a:t>
            </a:r>
            <a:r>
              <a:rPr lang="en-US"/>
              <a:t>closely with the UX Team on developing prototypes for how the dashboard should look like</a:t>
            </a:r>
            <a:endParaRPr/>
          </a:p>
          <a:p>
            <a:pPr indent="0" lvl="0" marL="0" rtl="0" algn="l">
              <a:lnSpc>
                <a:spcPct val="100000"/>
              </a:lnSpc>
              <a:spcBef>
                <a:spcPts val="1000"/>
              </a:spcBef>
              <a:spcAft>
                <a:spcPts val="0"/>
              </a:spcAft>
              <a:buNone/>
            </a:pPr>
            <a:r>
              <a:t/>
            </a:r>
            <a:endParaRPr/>
          </a:p>
          <a:p>
            <a:pPr indent="-342900" lvl="0" marL="457200" rtl="0" algn="l">
              <a:lnSpc>
                <a:spcPct val="100000"/>
              </a:lnSpc>
              <a:spcBef>
                <a:spcPts val="1000"/>
              </a:spcBef>
              <a:spcAft>
                <a:spcPts val="0"/>
              </a:spcAft>
              <a:buSzPts val="1800"/>
              <a:buChar char="-"/>
            </a:pPr>
            <a:r>
              <a:rPr lang="en-US"/>
              <a:t>After getting the mockups, created a React web application for the dashboard based off of the current mockups</a:t>
            </a:r>
            <a:endParaRPr/>
          </a:p>
          <a:p>
            <a:pPr indent="0" lvl="0" marL="0" rtl="0" algn="l">
              <a:lnSpc>
                <a:spcPct val="100000"/>
              </a:lnSpc>
              <a:spcBef>
                <a:spcPts val="1000"/>
              </a:spcBef>
              <a:spcAft>
                <a:spcPts val="0"/>
              </a:spcAft>
              <a:buNone/>
            </a:pPr>
            <a:r>
              <a:t/>
            </a:r>
            <a:endParaRPr/>
          </a:p>
          <a:p>
            <a:pPr indent="-342900" lvl="0" marL="457200" rtl="0" algn="l">
              <a:lnSpc>
                <a:spcPct val="100000"/>
              </a:lnSpc>
              <a:spcBef>
                <a:spcPts val="1000"/>
              </a:spcBef>
              <a:spcAft>
                <a:spcPts val="0"/>
              </a:spcAft>
              <a:buSzPts val="1800"/>
              <a:buChar char="-"/>
            </a:pPr>
            <a:r>
              <a:rPr lang="en-US"/>
              <a:t>Next Step: Get all five mockups from UX Team by end of this semester so next semester can be spent coding it up and having a working prototype</a:t>
            </a:r>
            <a:endParaRPr/>
          </a:p>
          <a:p>
            <a:pPr indent="0" lvl="0" marL="914400" rtl="0" algn="l">
              <a:lnSpc>
                <a:spcPct val="100000"/>
              </a:lnSpc>
              <a:spcBef>
                <a:spcPts val="1000"/>
              </a:spcBef>
              <a:spcAft>
                <a:spcPts val="0"/>
              </a:spcAft>
              <a:buSzPts val="1800"/>
              <a:buNone/>
            </a:pPr>
            <a:r>
              <a:t/>
            </a:r>
            <a:endParaRPr sz="2000"/>
          </a:p>
        </p:txBody>
      </p:sp>
      <p:sp>
        <p:nvSpPr>
          <p:cNvPr id="256" name="Google Shape;256;g9d659091a8_1_15"/>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Front-End Web Development</a:t>
            </a:r>
            <a:endParaRPr/>
          </a:p>
        </p:txBody>
      </p:sp>
      <p:sp>
        <p:nvSpPr>
          <p:cNvPr id="257" name="Google Shape;257;g9d659091a8_1_15"/>
          <p:cNvSpPr txBox="1"/>
          <p:nvPr/>
        </p:nvSpPr>
        <p:spPr>
          <a:xfrm>
            <a:off x="9399938" y="5882125"/>
            <a:ext cx="13644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pic>
        <p:nvPicPr>
          <p:cNvPr id="262" name="Google Shape;262;g122083f6e03_0_0"/>
          <p:cNvPicPr preferRelativeResize="0"/>
          <p:nvPr/>
        </p:nvPicPr>
        <p:blipFill>
          <a:blip r:embed="rId3">
            <a:alphaModFix/>
          </a:blip>
          <a:stretch>
            <a:fillRect/>
          </a:stretch>
        </p:blipFill>
        <p:spPr>
          <a:xfrm>
            <a:off x="152400" y="152400"/>
            <a:ext cx="11887201" cy="58739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gefb32003ea_0_0"/>
          <p:cNvSpPr txBox="1"/>
          <p:nvPr>
            <p:ph idx="1" type="body"/>
          </p:nvPr>
        </p:nvSpPr>
        <p:spPr>
          <a:xfrm>
            <a:off x="228600" y="1374884"/>
            <a:ext cx="11430000" cy="4596300"/>
          </a:xfrm>
          <a:prstGeom prst="rect">
            <a:avLst/>
          </a:prstGeom>
          <a:noFill/>
          <a:ln>
            <a:noFill/>
          </a:ln>
        </p:spPr>
        <p:txBody>
          <a:bodyPr anchorCtr="0" anchor="t" bIns="45700" lIns="91425" spcFirstLastPara="1" rIns="91425" wrap="square" tIns="45700">
            <a:noAutofit/>
          </a:bodyPr>
          <a:lstStyle/>
          <a:p>
            <a:pPr indent="-374650" lvl="0" marL="457200" rtl="0" algn="l">
              <a:lnSpc>
                <a:spcPct val="90000"/>
              </a:lnSpc>
              <a:spcBef>
                <a:spcPts val="1000"/>
              </a:spcBef>
              <a:spcAft>
                <a:spcPts val="0"/>
              </a:spcAft>
              <a:buSzPts val="2300"/>
              <a:buChar char="•"/>
            </a:pPr>
            <a:r>
              <a:rPr b="1" lang="en-US" sz="2300"/>
              <a:t>Set up Piazza -&gt; Python -&gt; SQLite3 pipeline</a:t>
            </a:r>
            <a:endParaRPr b="1" sz="2300"/>
          </a:p>
          <a:p>
            <a:pPr indent="-374650" lvl="1" marL="914400" rtl="0" algn="l">
              <a:lnSpc>
                <a:spcPct val="90000"/>
              </a:lnSpc>
              <a:spcBef>
                <a:spcPts val="1000"/>
              </a:spcBef>
              <a:spcAft>
                <a:spcPts val="0"/>
              </a:spcAft>
              <a:buSzPts val="2300"/>
              <a:buChar char="•"/>
            </a:pPr>
            <a:r>
              <a:rPr lang="en-US" sz="2300"/>
              <a:t>Used Piazza API to retrieve information from posts and </a:t>
            </a:r>
            <a:endParaRPr sz="2300"/>
          </a:p>
          <a:p>
            <a:pPr indent="0" lvl="0" marL="914400" rtl="0" algn="l">
              <a:lnSpc>
                <a:spcPct val="90000"/>
              </a:lnSpc>
              <a:spcBef>
                <a:spcPts val="1000"/>
              </a:spcBef>
              <a:spcAft>
                <a:spcPts val="0"/>
              </a:spcAft>
              <a:buNone/>
            </a:pPr>
            <a:r>
              <a:rPr lang="en-US" sz="2300"/>
              <a:t>and comments </a:t>
            </a:r>
            <a:endParaRPr sz="2300"/>
          </a:p>
          <a:p>
            <a:pPr indent="-374650" lvl="0" marL="914400" rtl="0" algn="l">
              <a:lnSpc>
                <a:spcPct val="90000"/>
              </a:lnSpc>
              <a:spcBef>
                <a:spcPts val="1000"/>
              </a:spcBef>
              <a:spcAft>
                <a:spcPts val="0"/>
              </a:spcAft>
              <a:buSzPts val="2300"/>
              <a:buChar char="•"/>
            </a:pPr>
            <a:r>
              <a:rPr lang="en-US" sz="2300"/>
              <a:t>Fed the data in a table format through SQL commands to</a:t>
            </a:r>
            <a:endParaRPr sz="2300"/>
          </a:p>
          <a:p>
            <a:pPr indent="0" lvl="0" marL="0" rtl="0" algn="l">
              <a:lnSpc>
                <a:spcPct val="90000"/>
              </a:lnSpc>
              <a:spcBef>
                <a:spcPts val="1000"/>
              </a:spcBef>
              <a:spcAft>
                <a:spcPts val="0"/>
              </a:spcAft>
              <a:buNone/>
            </a:pPr>
            <a:r>
              <a:rPr lang="en-US" sz="2300"/>
              <a:t>		a .db file</a:t>
            </a:r>
            <a:endParaRPr sz="2300"/>
          </a:p>
          <a:p>
            <a:pPr indent="-374650" lvl="0" marL="457200" rtl="0" algn="l">
              <a:lnSpc>
                <a:spcPct val="90000"/>
              </a:lnSpc>
              <a:spcBef>
                <a:spcPts val="1000"/>
              </a:spcBef>
              <a:spcAft>
                <a:spcPts val="0"/>
              </a:spcAft>
              <a:buSzPts val="2300"/>
              <a:buChar char="•"/>
            </a:pPr>
            <a:r>
              <a:rPr b="1" lang="en-US" sz="2300"/>
              <a:t>Unit Testing</a:t>
            </a:r>
            <a:endParaRPr b="1" sz="2300"/>
          </a:p>
          <a:p>
            <a:pPr indent="-374650" lvl="1" marL="914400" rtl="0" algn="l">
              <a:lnSpc>
                <a:spcPct val="90000"/>
              </a:lnSpc>
              <a:spcBef>
                <a:spcPts val="0"/>
              </a:spcBef>
              <a:spcAft>
                <a:spcPts val="0"/>
              </a:spcAft>
              <a:buSzPts val="2300"/>
              <a:buChar char="•"/>
            </a:pPr>
            <a:r>
              <a:rPr lang="en-US" sz="2300"/>
              <a:t>Have started the process of </a:t>
            </a:r>
            <a:r>
              <a:rPr lang="en-US" sz="2300"/>
              <a:t>building</a:t>
            </a:r>
            <a:r>
              <a:rPr lang="en-US" sz="2300"/>
              <a:t> unit tests for the </a:t>
            </a:r>
            <a:endParaRPr sz="2300"/>
          </a:p>
          <a:p>
            <a:pPr indent="0" lvl="0" marL="914400" rtl="0" algn="l">
              <a:lnSpc>
                <a:spcPct val="90000"/>
              </a:lnSpc>
              <a:spcBef>
                <a:spcPts val="1000"/>
              </a:spcBef>
              <a:spcAft>
                <a:spcPts val="0"/>
              </a:spcAft>
              <a:buNone/>
            </a:pPr>
            <a:r>
              <a:rPr lang="en-US" sz="2300"/>
              <a:t>entire pipeline</a:t>
            </a:r>
            <a:endParaRPr sz="2300"/>
          </a:p>
          <a:p>
            <a:pPr indent="-374650" lvl="0" marL="457200" rtl="0" algn="l">
              <a:lnSpc>
                <a:spcPct val="90000"/>
              </a:lnSpc>
              <a:spcBef>
                <a:spcPts val="1000"/>
              </a:spcBef>
              <a:spcAft>
                <a:spcPts val="0"/>
              </a:spcAft>
              <a:buSzPts val="2300"/>
              <a:buChar char="•"/>
            </a:pPr>
            <a:r>
              <a:rPr b="1" lang="en-US" sz="2300"/>
              <a:t>Working on front-end mockup to code conversion</a:t>
            </a:r>
            <a:endParaRPr b="1" sz="2300"/>
          </a:p>
          <a:p>
            <a:pPr indent="-374650" lvl="1" marL="914400" rtl="0" algn="l">
              <a:lnSpc>
                <a:spcPct val="90000"/>
              </a:lnSpc>
              <a:spcBef>
                <a:spcPts val="0"/>
              </a:spcBef>
              <a:spcAft>
                <a:spcPts val="0"/>
              </a:spcAft>
              <a:buSzPts val="2300"/>
              <a:buChar char="•"/>
            </a:pPr>
            <a:r>
              <a:rPr lang="en-US" sz="2300"/>
              <a:t>Using figma mockups and converting them into React </a:t>
            </a:r>
            <a:endParaRPr sz="2300"/>
          </a:p>
          <a:p>
            <a:pPr indent="0" lvl="0" marL="914400" rtl="0" algn="l">
              <a:lnSpc>
                <a:spcPct val="90000"/>
              </a:lnSpc>
              <a:spcBef>
                <a:spcPts val="1000"/>
              </a:spcBef>
              <a:spcAft>
                <a:spcPts val="0"/>
              </a:spcAft>
              <a:buNone/>
            </a:pPr>
            <a:r>
              <a:rPr lang="en-US" sz="2300"/>
              <a:t>code</a:t>
            </a:r>
            <a:endParaRPr sz="2300"/>
          </a:p>
        </p:txBody>
      </p:sp>
      <p:sp>
        <p:nvSpPr>
          <p:cNvPr id="268" name="Google Shape;268;gefb32003ea_0_0"/>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SzPts val="1800"/>
              <a:buNone/>
            </a:pPr>
            <a:r>
              <a:rPr lang="en-US"/>
              <a:t>Back-End Web Development</a:t>
            </a:r>
            <a:endParaRPr/>
          </a:p>
        </p:txBody>
      </p:sp>
      <p:pic>
        <p:nvPicPr>
          <p:cNvPr id="269" name="Google Shape;269;gefb32003ea_0_0"/>
          <p:cNvPicPr preferRelativeResize="0"/>
          <p:nvPr/>
        </p:nvPicPr>
        <p:blipFill rotWithShape="1">
          <a:blip r:embed="rId3">
            <a:alphaModFix/>
          </a:blip>
          <a:srcRect b="0" l="0" r="0" t="0"/>
          <a:stretch/>
        </p:blipFill>
        <p:spPr>
          <a:xfrm>
            <a:off x="7972563" y="787275"/>
            <a:ext cx="3108126" cy="802100"/>
          </a:xfrm>
          <a:prstGeom prst="rect">
            <a:avLst/>
          </a:prstGeom>
          <a:noFill/>
          <a:ln>
            <a:noFill/>
          </a:ln>
        </p:spPr>
      </p:pic>
      <p:pic>
        <p:nvPicPr>
          <p:cNvPr id="270" name="Google Shape;270;gefb32003ea_0_0"/>
          <p:cNvPicPr preferRelativeResize="0"/>
          <p:nvPr/>
        </p:nvPicPr>
        <p:blipFill>
          <a:blip r:embed="rId4">
            <a:alphaModFix/>
          </a:blip>
          <a:stretch>
            <a:fillRect/>
          </a:stretch>
        </p:blipFill>
        <p:spPr>
          <a:xfrm>
            <a:off x="8832012" y="2200175"/>
            <a:ext cx="1389254" cy="1389301"/>
          </a:xfrm>
          <a:prstGeom prst="rect">
            <a:avLst/>
          </a:prstGeom>
          <a:noFill/>
          <a:ln>
            <a:noFill/>
          </a:ln>
        </p:spPr>
      </p:pic>
      <p:pic>
        <p:nvPicPr>
          <p:cNvPr id="271" name="Google Shape;271;gefb32003ea_0_0"/>
          <p:cNvPicPr preferRelativeResize="0"/>
          <p:nvPr/>
        </p:nvPicPr>
        <p:blipFill>
          <a:blip r:embed="rId5">
            <a:alphaModFix/>
          </a:blip>
          <a:stretch>
            <a:fillRect/>
          </a:stretch>
        </p:blipFill>
        <p:spPr>
          <a:xfrm>
            <a:off x="8757212" y="4238125"/>
            <a:ext cx="1538851" cy="1573651"/>
          </a:xfrm>
          <a:prstGeom prst="rect">
            <a:avLst/>
          </a:prstGeom>
          <a:noFill/>
          <a:ln>
            <a:noFill/>
          </a:ln>
        </p:spPr>
      </p:pic>
      <p:cxnSp>
        <p:nvCxnSpPr>
          <p:cNvPr id="272" name="Google Shape;272;gefb32003ea_0_0"/>
          <p:cNvCxnSpPr>
            <a:endCxn id="270" idx="0"/>
          </p:cNvCxnSpPr>
          <p:nvPr/>
        </p:nvCxnSpPr>
        <p:spPr>
          <a:xfrm>
            <a:off x="9512839" y="1374875"/>
            <a:ext cx="13800" cy="825300"/>
          </a:xfrm>
          <a:prstGeom prst="straightConnector1">
            <a:avLst/>
          </a:prstGeom>
          <a:noFill/>
          <a:ln cap="flat" cmpd="sng" w="9525">
            <a:solidFill>
              <a:schemeClr val="dk2"/>
            </a:solidFill>
            <a:prstDash val="solid"/>
            <a:round/>
            <a:headEnd len="med" w="med" type="none"/>
            <a:tailEnd len="med" w="med" type="triangle"/>
          </a:ln>
        </p:spPr>
      </p:cxnSp>
      <p:cxnSp>
        <p:nvCxnSpPr>
          <p:cNvPr id="273" name="Google Shape;273;gefb32003ea_0_0"/>
          <p:cNvCxnSpPr>
            <a:stCxn id="270" idx="2"/>
            <a:endCxn id="271" idx="0"/>
          </p:cNvCxnSpPr>
          <p:nvPr/>
        </p:nvCxnSpPr>
        <p:spPr>
          <a:xfrm>
            <a:off x="9526639" y="3589476"/>
            <a:ext cx="0" cy="6486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pic>
        <p:nvPicPr>
          <p:cNvPr id="278" name="Google Shape;278;g1153fb2e3d8_1_0"/>
          <p:cNvPicPr preferRelativeResize="0"/>
          <p:nvPr/>
        </p:nvPicPr>
        <p:blipFill>
          <a:blip r:embed="rId3">
            <a:alphaModFix/>
          </a:blip>
          <a:stretch>
            <a:fillRect/>
          </a:stretch>
        </p:blipFill>
        <p:spPr>
          <a:xfrm>
            <a:off x="1202850" y="3768525"/>
            <a:ext cx="3384576" cy="2699576"/>
          </a:xfrm>
          <a:prstGeom prst="rect">
            <a:avLst/>
          </a:prstGeom>
          <a:noFill/>
          <a:ln>
            <a:noFill/>
          </a:ln>
        </p:spPr>
      </p:pic>
      <p:sp>
        <p:nvSpPr>
          <p:cNvPr id="279" name="Google Shape;279;g1153fb2e3d8_1_0"/>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Workflow Diagram</a:t>
            </a:r>
            <a:endParaRPr/>
          </a:p>
        </p:txBody>
      </p:sp>
      <p:sp>
        <p:nvSpPr>
          <p:cNvPr id="280" name="Google Shape;280;g1153fb2e3d8_1_0"/>
          <p:cNvSpPr/>
          <p:nvPr/>
        </p:nvSpPr>
        <p:spPr>
          <a:xfrm>
            <a:off x="1539650" y="1771725"/>
            <a:ext cx="1735200" cy="891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400"/>
              <a:buFont typeface="Arial"/>
              <a:buNone/>
            </a:pPr>
            <a:r>
              <a:rPr lang="en-US">
                <a:solidFill>
                  <a:schemeClr val="dk1"/>
                </a:solidFill>
              </a:rPr>
              <a:t>Extract real time Piazza data</a:t>
            </a:r>
            <a:endParaRPr>
              <a:solidFill>
                <a:schemeClr val="dk1"/>
              </a:solidFill>
            </a:endParaRPr>
          </a:p>
        </p:txBody>
      </p:sp>
      <p:sp>
        <p:nvSpPr>
          <p:cNvPr id="281" name="Google Shape;281;g1153fb2e3d8_1_0"/>
          <p:cNvSpPr/>
          <p:nvPr/>
        </p:nvSpPr>
        <p:spPr>
          <a:xfrm>
            <a:off x="4235525" y="3671325"/>
            <a:ext cx="1735200" cy="891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400"/>
              <a:buFont typeface="Arial"/>
              <a:buNone/>
            </a:pPr>
            <a:r>
              <a:rPr lang="en-US">
                <a:solidFill>
                  <a:schemeClr val="dk1"/>
                </a:solidFill>
              </a:rPr>
              <a:t>Integrate into database and a real time prototype</a:t>
            </a:r>
            <a:endParaRPr>
              <a:solidFill>
                <a:schemeClr val="dk1"/>
              </a:solidFill>
            </a:endParaRPr>
          </a:p>
        </p:txBody>
      </p:sp>
      <p:sp>
        <p:nvSpPr>
          <p:cNvPr id="282" name="Google Shape;282;g1153fb2e3d8_1_0"/>
          <p:cNvSpPr/>
          <p:nvPr/>
        </p:nvSpPr>
        <p:spPr>
          <a:xfrm>
            <a:off x="7038400" y="1771725"/>
            <a:ext cx="1735200" cy="891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US"/>
              <a:t>Done with unit testing and integration testing</a:t>
            </a:r>
            <a:endParaRPr b="0" i="0" sz="1400" u="none" cap="none" strike="noStrike">
              <a:solidFill>
                <a:srgbClr val="000000"/>
              </a:solidFill>
              <a:latin typeface="Arial"/>
              <a:ea typeface="Arial"/>
              <a:cs typeface="Arial"/>
              <a:sym typeface="Arial"/>
            </a:endParaRPr>
          </a:p>
        </p:txBody>
      </p:sp>
      <p:cxnSp>
        <p:nvCxnSpPr>
          <p:cNvPr id="283" name="Google Shape;283;g1153fb2e3d8_1_0"/>
          <p:cNvCxnSpPr/>
          <p:nvPr/>
        </p:nvCxnSpPr>
        <p:spPr>
          <a:xfrm>
            <a:off x="3251175" y="2817675"/>
            <a:ext cx="831900" cy="796200"/>
          </a:xfrm>
          <a:prstGeom prst="straightConnector1">
            <a:avLst/>
          </a:prstGeom>
          <a:noFill/>
          <a:ln cap="flat" cmpd="sng" w="9525">
            <a:solidFill>
              <a:schemeClr val="dk2"/>
            </a:solidFill>
            <a:prstDash val="solid"/>
            <a:round/>
            <a:headEnd len="sm" w="sm" type="none"/>
            <a:tailEnd len="med" w="med" type="triangle"/>
          </a:ln>
        </p:spPr>
      </p:cxnSp>
      <p:cxnSp>
        <p:nvCxnSpPr>
          <p:cNvPr id="284" name="Google Shape;284;g1153fb2e3d8_1_0"/>
          <p:cNvCxnSpPr/>
          <p:nvPr/>
        </p:nvCxnSpPr>
        <p:spPr>
          <a:xfrm flipH="1" rot="10800000">
            <a:off x="6056175" y="2698825"/>
            <a:ext cx="701400" cy="903300"/>
          </a:xfrm>
          <a:prstGeom prst="straightConnector1">
            <a:avLst/>
          </a:prstGeom>
          <a:noFill/>
          <a:ln cap="flat" cmpd="sng" w="9525">
            <a:solidFill>
              <a:schemeClr val="dk2"/>
            </a:solidFill>
            <a:prstDash val="solid"/>
            <a:round/>
            <a:headEnd len="sm" w="sm" type="none"/>
            <a:tailEnd len="med" w="med" type="triangle"/>
          </a:ln>
        </p:spPr>
      </p:cxnSp>
      <p:cxnSp>
        <p:nvCxnSpPr>
          <p:cNvPr id="285" name="Google Shape;285;g1153fb2e3d8_1_0"/>
          <p:cNvCxnSpPr/>
          <p:nvPr/>
        </p:nvCxnSpPr>
        <p:spPr>
          <a:xfrm>
            <a:off x="8920600" y="2675050"/>
            <a:ext cx="974700" cy="891300"/>
          </a:xfrm>
          <a:prstGeom prst="straightConnector1">
            <a:avLst/>
          </a:prstGeom>
          <a:noFill/>
          <a:ln cap="flat" cmpd="sng" w="9525">
            <a:solidFill>
              <a:schemeClr val="dk2"/>
            </a:solidFill>
            <a:prstDash val="solid"/>
            <a:round/>
            <a:headEnd len="sm" w="sm" type="none"/>
            <a:tailEnd len="med" w="med" type="triangle"/>
          </a:ln>
        </p:spPr>
      </p:cxnSp>
      <p:sp>
        <p:nvSpPr>
          <p:cNvPr id="286" name="Google Shape;286;g1153fb2e3d8_1_0"/>
          <p:cNvSpPr txBox="1"/>
          <p:nvPr/>
        </p:nvSpPr>
        <p:spPr>
          <a:xfrm>
            <a:off x="4370475" y="4562625"/>
            <a:ext cx="1685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t/>
            </a:r>
            <a:endParaRPr b="0" i="1" sz="1400" u="none" cap="none" strike="noStrike">
              <a:solidFill>
                <a:srgbClr val="000000"/>
              </a:solidFill>
              <a:latin typeface="Roboto"/>
              <a:ea typeface="Roboto"/>
              <a:cs typeface="Roboto"/>
              <a:sym typeface="Roboto"/>
            </a:endParaRPr>
          </a:p>
        </p:txBody>
      </p:sp>
      <p:sp>
        <p:nvSpPr>
          <p:cNvPr id="287" name="Google Shape;287;g1153fb2e3d8_1_0"/>
          <p:cNvSpPr txBox="1"/>
          <p:nvPr/>
        </p:nvSpPr>
        <p:spPr>
          <a:xfrm>
            <a:off x="1695825" y="2709975"/>
            <a:ext cx="1685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1" lang="en-US" sz="1400" u="none" cap="none" strike="noStrike">
                <a:solidFill>
                  <a:srgbClr val="000000"/>
                </a:solidFill>
                <a:latin typeface="Roboto"/>
                <a:ea typeface="Roboto"/>
                <a:cs typeface="Roboto"/>
                <a:sym typeface="Roboto"/>
              </a:rPr>
              <a:t>Last </a:t>
            </a:r>
            <a:r>
              <a:rPr i="1" lang="en-US">
                <a:latin typeface="Roboto"/>
                <a:ea typeface="Roboto"/>
                <a:cs typeface="Roboto"/>
                <a:sym typeface="Roboto"/>
              </a:rPr>
              <a:t>presentation</a:t>
            </a:r>
            <a:endParaRPr b="0" i="1" sz="1400" u="none" cap="none" strike="noStrike">
              <a:solidFill>
                <a:srgbClr val="000000"/>
              </a:solidFill>
              <a:latin typeface="Roboto"/>
              <a:ea typeface="Roboto"/>
              <a:cs typeface="Roboto"/>
              <a:sym typeface="Roboto"/>
            </a:endParaRPr>
          </a:p>
        </p:txBody>
      </p:sp>
      <p:sp>
        <p:nvSpPr>
          <p:cNvPr id="288" name="Google Shape;288;g1153fb2e3d8_1_0"/>
          <p:cNvSpPr txBox="1"/>
          <p:nvPr/>
        </p:nvSpPr>
        <p:spPr>
          <a:xfrm>
            <a:off x="7063150" y="1371525"/>
            <a:ext cx="1685700" cy="4002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i="1" lang="en-US">
                <a:latin typeface="Roboto"/>
                <a:ea typeface="Roboto"/>
                <a:cs typeface="Roboto"/>
                <a:sym typeface="Roboto"/>
              </a:rPr>
              <a:t>Here right now</a:t>
            </a:r>
            <a:endParaRPr b="0" i="1" sz="1400" u="none" cap="none" strike="noStrike">
              <a:solidFill>
                <a:srgbClr val="000000"/>
              </a:solidFill>
              <a:latin typeface="Roboto"/>
              <a:ea typeface="Roboto"/>
              <a:cs typeface="Roboto"/>
              <a:sym typeface="Roboto"/>
            </a:endParaRPr>
          </a:p>
        </p:txBody>
      </p:sp>
      <p:sp>
        <p:nvSpPr>
          <p:cNvPr id="289" name="Google Shape;289;g1153fb2e3d8_1_0"/>
          <p:cNvSpPr txBox="1"/>
          <p:nvPr/>
        </p:nvSpPr>
        <p:spPr>
          <a:xfrm>
            <a:off x="10033450" y="4562625"/>
            <a:ext cx="1685700" cy="4002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i="1" lang="en-US">
                <a:latin typeface="Roboto"/>
                <a:ea typeface="Roboto"/>
                <a:cs typeface="Roboto"/>
                <a:sym typeface="Roboto"/>
              </a:rPr>
              <a:t>Goal</a:t>
            </a:r>
            <a:endParaRPr b="0" i="1" sz="1400" u="none" cap="none" strike="noStrike">
              <a:solidFill>
                <a:srgbClr val="000000"/>
              </a:solidFill>
              <a:latin typeface="Roboto"/>
              <a:ea typeface="Roboto"/>
              <a:cs typeface="Roboto"/>
              <a:sym typeface="Roboto"/>
            </a:endParaRPr>
          </a:p>
        </p:txBody>
      </p:sp>
      <p:sp>
        <p:nvSpPr>
          <p:cNvPr id="290" name="Google Shape;290;g1153fb2e3d8_1_0"/>
          <p:cNvSpPr/>
          <p:nvPr/>
        </p:nvSpPr>
        <p:spPr>
          <a:xfrm>
            <a:off x="9983950" y="3671325"/>
            <a:ext cx="1735200" cy="8913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Use our pilot app to support professors</a:t>
            </a:r>
            <a:endParaRPr b="0" i="0" sz="1400" u="none" cap="none" strike="noStrike">
              <a:solidFill>
                <a:srgbClr val="000000"/>
              </a:solidFill>
              <a:latin typeface="Arial"/>
              <a:ea typeface="Arial"/>
              <a:cs typeface="Arial"/>
              <a:sym typeface="Arial"/>
            </a:endParaRPr>
          </a:p>
        </p:txBody>
      </p:sp>
      <p:pic>
        <p:nvPicPr>
          <p:cNvPr id="291" name="Google Shape;291;g1153fb2e3d8_1_0"/>
          <p:cNvPicPr preferRelativeResize="0"/>
          <p:nvPr/>
        </p:nvPicPr>
        <p:blipFill rotWithShape="1">
          <a:blip r:embed="rId4">
            <a:alphaModFix/>
          </a:blip>
          <a:srcRect b="14958" l="0" r="0" t="0"/>
          <a:stretch/>
        </p:blipFill>
        <p:spPr>
          <a:xfrm>
            <a:off x="6511925" y="3629625"/>
            <a:ext cx="974700" cy="891300"/>
          </a:xfrm>
          <a:prstGeom prst="rect">
            <a:avLst/>
          </a:prstGeom>
          <a:noFill/>
          <a:ln>
            <a:noFill/>
          </a:ln>
        </p:spPr>
      </p:pic>
      <p:pic>
        <p:nvPicPr>
          <p:cNvPr id="292" name="Google Shape;292;g1153fb2e3d8_1_0"/>
          <p:cNvPicPr preferRelativeResize="0"/>
          <p:nvPr/>
        </p:nvPicPr>
        <p:blipFill rotWithShape="1">
          <a:blip r:embed="rId5">
            <a:alphaModFix/>
          </a:blip>
          <a:srcRect b="16340" l="28913" r="27131" t="11451"/>
          <a:stretch/>
        </p:blipFill>
        <p:spPr>
          <a:xfrm>
            <a:off x="7628862" y="3693050"/>
            <a:ext cx="831901" cy="847826"/>
          </a:xfrm>
          <a:prstGeom prst="rect">
            <a:avLst/>
          </a:prstGeom>
          <a:noFill/>
          <a:ln>
            <a:noFill/>
          </a:ln>
        </p:spPr>
      </p:pic>
      <p:pic>
        <p:nvPicPr>
          <p:cNvPr id="293" name="Google Shape;293;g1153fb2e3d8_1_0"/>
          <p:cNvPicPr preferRelativeResize="0"/>
          <p:nvPr/>
        </p:nvPicPr>
        <p:blipFill rotWithShape="1">
          <a:blip r:embed="rId6">
            <a:alphaModFix/>
          </a:blip>
          <a:srcRect b="16437" l="8895" r="8431" t="14324"/>
          <a:stretch/>
        </p:blipFill>
        <p:spPr>
          <a:xfrm>
            <a:off x="8603001" y="3910701"/>
            <a:ext cx="974700" cy="539092"/>
          </a:xfrm>
          <a:prstGeom prst="rect">
            <a:avLst/>
          </a:prstGeom>
          <a:noFill/>
          <a:ln>
            <a:noFill/>
          </a:ln>
        </p:spPr>
      </p:pic>
      <p:pic>
        <p:nvPicPr>
          <p:cNvPr id="294" name="Google Shape;294;g1153fb2e3d8_1_0"/>
          <p:cNvPicPr preferRelativeResize="0"/>
          <p:nvPr/>
        </p:nvPicPr>
        <p:blipFill>
          <a:blip r:embed="rId7">
            <a:alphaModFix/>
          </a:blip>
          <a:stretch>
            <a:fillRect/>
          </a:stretch>
        </p:blipFill>
        <p:spPr>
          <a:xfrm>
            <a:off x="7379425" y="4683275"/>
            <a:ext cx="1330782" cy="5391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11"/>
          <p:cNvSpPr txBox="1"/>
          <p:nvPr>
            <p:ph idx="1" type="body"/>
          </p:nvPr>
        </p:nvSpPr>
        <p:spPr>
          <a:xfrm>
            <a:off x="381000" y="1215471"/>
            <a:ext cx="11430000" cy="5088300"/>
          </a:xfrm>
          <a:prstGeom prst="rect">
            <a:avLst/>
          </a:prstGeom>
          <a:noFill/>
          <a:ln>
            <a:noFill/>
          </a:ln>
        </p:spPr>
        <p:txBody>
          <a:bodyPr anchorCtr="0" anchor="t" bIns="45700" lIns="91425" spcFirstLastPara="1" rIns="91425" wrap="square" tIns="45700">
            <a:noAutofit/>
          </a:bodyPr>
          <a:lstStyle/>
          <a:p>
            <a:pPr indent="-342900" lvl="0" marL="457200" rtl="0" algn="l">
              <a:lnSpc>
                <a:spcPct val="115000"/>
              </a:lnSpc>
              <a:spcBef>
                <a:spcPts val="1000"/>
              </a:spcBef>
              <a:spcAft>
                <a:spcPts val="0"/>
              </a:spcAft>
              <a:buClr>
                <a:srgbClr val="000000"/>
              </a:buClr>
              <a:buSzPts val="1800"/>
              <a:buChar char="●"/>
            </a:pPr>
            <a:r>
              <a:rPr b="1" lang="en-US">
                <a:solidFill>
                  <a:srgbClr val="000000"/>
                </a:solidFill>
              </a:rPr>
              <a:t>Project Roadmap</a:t>
            </a:r>
            <a:endParaRPr b="1">
              <a:solidFill>
                <a:srgbClr val="000000"/>
              </a:solidFill>
            </a:endParaRPr>
          </a:p>
          <a:p>
            <a:pPr indent="-342900" lvl="1" marL="914400" rtl="0" algn="l">
              <a:lnSpc>
                <a:spcPct val="115000"/>
              </a:lnSpc>
              <a:spcBef>
                <a:spcPts val="1000"/>
              </a:spcBef>
              <a:spcAft>
                <a:spcPts val="0"/>
              </a:spcAft>
              <a:buClr>
                <a:srgbClr val="000000"/>
              </a:buClr>
              <a:buSzPts val="1800"/>
              <a:buChar char="•"/>
            </a:pPr>
            <a:r>
              <a:rPr lang="en-US">
                <a:solidFill>
                  <a:srgbClr val="000000"/>
                </a:solidFill>
              </a:rPr>
              <a:t>Complete the integration of dashboard and user-testing with instructors</a:t>
            </a:r>
            <a:endParaRPr>
              <a:solidFill>
                <a:srgbClr val="000000"/>
              </a:solidFill>
            </a:endParaRPr>
          </a:p>
          <a:p>
            <a:pPr indent="-342900" lvl="0" marL="457200" rtl="0" algn="l">
              <a:lnSpc>
                <a:spcPct val="115000"/>
              </a:lnSpc>
              <a:spcBef>
                <a:spcPts val="1000"/>
              </a:spcBef>
              <a:spcAft>
                <a:spcPts val="0"/>
              </a:spcAft>
              <a:buClr>
                <a:srgbClr val="000000"/>
              </a:buClr>
              <a:buSzPts val="1800"/>
              <a:buChar char="●"/>
            </a:pPr>
            <a:r>
              <a:rPr b="1" lang="en-US">
                <a:solidFill>
                  <a:srgbClr val="000000"/>
                </a:solidFill>
              </a:rPr>
              <a:t>Model Development</a:t>
            </a:r>
            <a:endParaRPr b="1">
              <a:solidFill>
                <a:srgbClr val="000000"/>
              </a:solidFill>
            </a:endParaRPr>
          </a:p>
          <a:p>
            <a:pPr indent="-342900" lvl="1" marL="914400" rtl="0" algn="l">
              <a:lnSpc>
                <a:spcPct val="115000"/>
              </a:lnSpc>
              <a:spcBef>
                <a:spcPts val="1000"/>
              </a:spcBef>
              <a:spcAft>
                <a:spcPts val="0"/>
              </a:spcAft>
              <a:buClr>
                <a:srgbClr val="000000"/>
              </a:buClr>
              <a:buSzPts val="1800"/>
              <a:buChar char="•"/>
            </a:pPr>
            <a:r>
              <a:rPr lang="en-US">
                <a:solidFill>
                  <a:srgbClr val="000000"/>
                </a:solidFill>
              </a:rPr>
              <a:t>Integrate insights from Cognitive Presence, Topic Modeling and sentiment analysis</a:t>
            </a:r>
            <a:endParaRPr>
              <a:solidFill>
                <a:srgbClr val="000000"/>
              </a:solidFill>
            </a:endParaRPr>
          </a:p>
          <a:p>
            <a:pPr indent="-342900" lvl="0" marL="457200" rtl="0" algn="l">
              <a:lnSpc>
                <a:spcPct val="115000"/>
              </a:lnSpc>
              <a:spcBef>
                <a:spcPts val="1000"/>
              </a:spcBef>
              <a:spcAft>
                <a:spcPts val="0"/>
              </a:spcAft>
              <a:buClr>
                <a:srgbClr val="000000"/>
              </a:buClr>
              <a:buSzPts val="1800"/>
              <a:buChar char="●"/>
            </a:pPr>
            <a:r>
              <a:rPr b="1" lang="en-US">
                <a:solidFill>
                  <a:srgbClr val="000000"/>
                </a:solidFill>
              </a:rPr>
              <a:t>Education Research</a:t>
            </a:r>
            <a:endParaRPr b="1">
              <a:solidFill>
                <a:srgbClr val="000000"/>
              </a:solidFill>
            </a:endParaRPr>
          </a:p>
          <a:p>
            <a:pPr indent="-342900" lvl="1" marL="914400" rtl="0" algn="l">
              <a:lnSpc>
                <a:spcPct val="115000"/>
              </a:lnSpc>
              <a:spcBef>
                <a:spcPts val="1000"/>
              </a:spcBef>
              <a:spcAft>
                <a:spcPts val="1000"/>
              </a:spcAft>
              <a:buClr>
                <a:srgbClr val="000000"/>
              </a:buClr>
              <a:buSzPts val="1800"/>
              <a:buChar char="•"/>
            </a:pPr>
            <a:r>
              <a:rPr lang="en-US">
                <a:solidFill>
                  <a:srgbClr val="000000"/>
                </a:solidFill>
              </a:rPr>
              <a:t>Design study to understand metacognition and get insights in combination with the community of inquiry framework</a:t>
            </a:r>
            <a:endParaRPr>
              <a:solidFill>
                <a:srgbClr val="000000"/>
              </a:solidFill>
            </a:endParaRPr>
          </a:p>
        </p:txBody>
      </p:sp>
      <p:sp>
        <p:nvSpPr>
          <p:cNvPr id="300" name="Google Shape;300;p11"/>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Conclusion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g9d48565bb2_0_10"/>
          <p:cNvSpPr txBox="1"/>
          <p:nvPr>
            <p:ph idx="1" type="body"/>
          </p:nvPr>
        </p:nvSpPr>
        <p:spPr>
          <a:xfrm>
            <a:off x="381000" y="1215473"/>
            <a:ext cx="11430000" cy="5818500"/>
          </a:xfrm>
          <a:prstGeom prst="rect">
            <a:avLst/>
          </a:prstGeom>
          <a:noFill/>
          <a:ln>
            <a:noFill/>
          </a:ln>
        </p:spPr>
        <p:txBody>
          <a:bodyPr anchorCtr="0" anchor="t" bIns="45700" lIns="91425" spcFirstLastPara="1" rIns="91425" wrap="square" tIns="45700">
            <a:noAutofit/>
          </a:bodyPr>
          <a:lstStyle/>
          <a:p>
            <a:pPr indent="-349250" lvl="0" marL="457200" rtl="0" algn="l">
              <a:lnSpc>
                <a:spcPct val="90000"/>
              </a:lnSpc>
              <a:spcBef>
                <a:spcPts val="0"/>
              </a:spcBef>
              <a:spcAft>
                <a:spcPts val="0"/>
              </a:spcAft>
              <a:buSzPts val="1900"/>
              <a:buAutoNum type="arabicPeriod"/>
            </a:pPr>
            <a:r>
              <a:rPr lang="en-US" sz="1900"/>
              <a:t>Garrison, D. R., Anderson, T., &amp; Archer, W. (1999). Critical Inquiry in a Text-Based Environment: Computer Conferencing in Higher Education. </a:t>
            </a:r>
            <a:r>
              <a:rPr i="1" lang="en-US" sz="1900"/>
              <a:t>The Internet and Higher Education</a:t>
            </a:r>
            <a:r>
              <a:rPr lang="en-US" sz="1900"/>
              <a:t>, 2(2–3), 87–105. https://doi.org/10.1016/S1096-7516(00)00016-6</a:t>
            </a:r>
            <a:endParaRPr sz="1900"/>
          </a:p>
          <a:p>
            <a:pPr indent="-349250" lvl="0" marL="457200" rtl="0" algn="l">
              <a:lnSpc>
                <a:spcPct val="90000"/>
              </a:lnSpc>
              <a:spcBef>
                <a:spcPts val="0"/>
              </a:spcBef>
              <a:spcAft>
                <a:spcPts val="0"/>
              </a:spcAft>
              <a:buSzPts val="1900"/>
              <a:buAutoNum type="arabicPeriod"/>
            </a:pPr>
            <a:r>
              <a:rPr lang="en-US" sz="1900"/>
              <a:t>Garrison, D. R., Anderson, T., &amp; Archer, W. (2001). Critical thinking, cognitive presence, and computer conferencing in distance education. </a:t>
            </a:r>
            <a:r>
              <a:rPr i="1" lang="en-US" sz="1900"/>
              <a:t>American Journal of Distance Education</a:t>
            </a:r>
            <a:r>
              <a:rPr lang="en-US" sz="1900"/>
              <a:t>, 15(1), 7–23. https://doi.org/10.1080/08923640109527071</a:t>
            </a:r>
            <a:endParaRPr sz="1900"/>
          </a:p>
          <a:p>
            <a:pPr indent="-349250" lvl="0" marL="457200" rtl="0" algn="l">
              <a:lnSpc>
                <a:spcPct val="90000"/>
              </a:lnSpc>
              <a:spcBef>
                <a:spcPts val="0"/>
              </a:spcBef>
              <a:spcAft>
                <a:spcPts val="0"/>
              </a:spcAft>
              <a:buSzPts val="1900"/>
              <a:buAutoNum type="arabicPeriod"/>
            </a:pPr>
            <a:r>
              <a:rPr lang="en-US" sz="1900"/>
              <a:t>Devlin, J., Chang, M. W., Lee, K., &amp; Toutanova, K. (2018). Bert: Pre-training of deep bidirectional transformers for language understanding. arXiv preprint arXiv:1810.04805.</a:t>
            </a:r>
            <a:endParaRPr sz="1900"/>
          </a:p>
          <a:p>
            <a:pPr indent="-349250" lvl="0" marL="457200" rtl="0" algn="l">
              <a:lnSpc>
                <a:spcPct val="90000"/>
              </a:lnSpc>
              <a:spcBef>
                <a:spcPts val="0"/>
              </a:spcBef>
              <a:spcAft>
                <a:spcPts val="0"/>
              </a:spcAft>
              <a:buSzPts val="1900"/>
              <a:buFont typeface="Roboto"/>
              <a:buAutoNum type="arabicPeriod"/>
            </a:pPr>
            <a:r>
              <a:rPr lang="en-US" sz="1900"/>
              <a:t>Medhat, Walaa, Hassan, Ahmed, Hoda, Korashy (2014). Sentiment analysis algorithms and applications: A survey. </a:t>
            </a:r>
            <a:r>
              <a:rPr i="1" lang="en-US" sz="1900"/>
              <a:t>Ain Sham Engineering Journals.</a:t>
            </a:r>
            <a:r>
              <a:rPr lang="en-US" sz="1900"/>
              <a:t> </a:t>
            </a:r>
            <a:r>
              <a:rPr lang="en-US" sz="1900">
                <a:solidFill>
                  <a:schemeClr val="hlink"/>
                </a:solidFill>
                <a:uFill>
                  <a:noFill/>
                </a:uFill>
                <a:hlinkClick r:id="rId3"/>
              </a:rPr>
              <a:t>https://doi.org/10.1016/j.asej.2014.04.011</a:t>
            </a:r>
            <a:endParaRPr sz="1900"/>
          </a:p>
          <a:p>
            <a:pPr indent="-349250" lvl="0" marL="457200" rtl="0" algn="l">
              <a:lnSpc>
                <a:spcPct val="115000"/>
              </a:lnSpc>
              <a:spcBef>
                <a:spcPts val="0"/>
              </a:spcBef>
              <a:spcAft>
                <a:spcPts val="0"/>
              </a:spcAft>
              <a:buSzPts val="1900"/>
              <a:buFont typeface="Roboto"/>
              <a:buAutoNum type="arabicPeriod"/>
            </a:pPr>
            <a:r>
              <a:rPr lang="en-US" sz="1900"/>
              <a:t>MacMillan, Kelsey, and James D. Wilson. </a:t>
            </a:r>
            <a:r>
              <a:rPr i="1" lang="en-US" sz="1900"/>
              <a:t>Topic Supervised Non-Negative Matrix Factorization</a:t>
            </a:r>
            <a:r>
              <a:rPr lang="en-US" sz="1900"/>
              <a:t>, Arxiv, 4 July 2017, https://arxiv.org/pdf/1706.05084.pdf. </a:t>
            </a:r>
            <a:endParaRPr sz="1900"/>
          </a:p>
          <a:p>
            <a:pPr indent="-349250" lvl="0" marL="457200" rtl="0" algn="l">
              <a:lnSpc>
                <a:spcPct val="115000"/>
              </a:lnSpc>
              <a:spcBef>
                <a:spcPts val="0"/>
              </a:spcBef>
              <a:spcAft>
                <a:spcPts val="0"/>
              </a:spcAft>
              <a:buSzPts val="1900"/>
              <a:buFont typeface="Roboto"/>
              <a:buAutoNum type="arabicPeriod"/>
            </a:pPr>
            <a:r>
              <a:rPr lang="en-US" sz="1900"/>
              <a:t>Beri, Aditya. “Latent Dirichlet Allocation.” </a:t>
            </a:r>
            <a:r>
              <a:rPr i="1" lang="en-US" sz="1900"/>
              <a:t>Latent Dirichlet Allocation</a:t>
            </a:r>
            <a:r>
              <a:rPr lang="en-US" sz="1900"/>
              <a:t>, CodeChef-VIT, 27 Jan. 2021, https://medium.com/codechef-vit/latent-dirichlet-allocation-812bb8099518. </a:t>
            </a:r>
            <a:endParaRPr sz="1900"/>
          </a:p>
          <a:p>
            <a:pPr indent="-349250" lvl="0" marL="457200" rtl="0" algn="l">
              <a:lnSpc>
                <a:spcPct val="115000"/>
              </a:lnSpc>
              <a:spcBef>
                <a:spcPts val="0"/>
              </a:spcBef>
              <a:spcAft>
                <a:spcPts val="0"/>
              </a:spcAft>
              <a:buSzPts val="1900"/>
              <a:buAutoNum type="arabicPeriod"/>
            </a:pPr>
            <a:r>
              <a:rPr lang="en-US" sz="1900"/>
              <a:t>E. Huang, H. Valdiviejas and N. Bosch, "I'm Sure! Automatic Detection of Metacognition in Online Course Discussion Forums," 2019 8th International Conference on Affective Computing and Intelligent Interaction (ACII), 2019, pp. 1-7, doi: 10.1109/ACII.2019.8925506.</a:t>
            </a:r>
            <a:endParaRPr sz="1900"/>
          </a:p>
          <a:p>
            <a:pPr indent="-349250" lvl="0" marL="457200" rtl="0" algn="l">
              <a:lnSpc>
                <a:spcPct val="115000"/>
              </a:lnSpc>
              <a:spcBef>
                <a:spcPts val="0"/>
              </a:spcBef>
              <a:spcAft>
                <a:spcPts val="0"/>
              </a:spcAft>
              <a:buSzPts val="1900"/>
              <a:buAutoNum type="arabicPeriod"/>
            </a:pPr>
            <a:r>
              <a:rPr lang="en-US" sz="1900" u="sng">
                <a:solidFill>
                  <a:schemeClr val="hlink"/>
                </a:solidFill>
                <a:hlinkClick r:id="rId4"/>
              </a:rPr>
              <a:t>https://docs.google.com/document/d/1TCuuu-8Mm14oxsOnlk8DqfZAA1cvtYu9WGv67Yj_sSk/pub</a:t>
            </a:r>
            <a:r>
              <a:rPr lang="en-US" sz="1900"/>
              <a:t> </a:t>
            </a:r>
            <a:endParaRPr sz="1900"/>
          </a:p>
        </p:txBody>
      </p:sp>
      <p:sp>
        <p:nvSpPr>
          <p:cNvPr id="306" name="Google Shape;306;g9d48565bb2_0_10"/>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Citations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12"/>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Questions?</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15" name="Shape 315"/>
        <p:cNvGrpSpPr/>
        <p:nvPr/>
      </p:nvGrpSpPr>
      <p:grpSpPr>
        <a:xfrm>
          <a:off x="0" y="0"/>
          <a:ext cx="0" cy="0"/>
          <a:chOff x="0" y="0"/>
          <a:chExt cx="0" cy="0"/>
        </a:xfrm>
      </p:grpSpPr>
      <p:sp>
        <p:nvSpPr>
          <p:cNvPr id="316" name="Google Shape;316;gefbeba6a1c_0_518"/>
          <p:cNvSpPr txBox="1"/>
          <p:nvPr>
            <p:ph idx="1" type="body"/>
          </p:nvPr>
        </p:nvSpPr>
        <p:spPr>
          <a:xfrm>
            <a:off x="381000" y="1215484"/>
            <a:ext cx="11430000" cy="4596300"/>
          </a:xfrm>
          <a:prstGeom prst="rect">
            <a:avLst/>
          </a:prstGeom>
          <a:noFill/>
          <a:ln>
            <a:noFill/>
          </a:ln>
        </p:spPr>
        <p:txBody>
          <a:bodyPr anchorCtr="0" anchor="t" bIns="45700" lIns="91425" spcFirstLastPara="1" rIns="91425" wrap="square" tIns="45700">
            <a:noAutofit/>
          </a:bodyPr>
          <a:lstStyle/>
          <a:p>
            <a:pPr indent="-342900" lvl="0" marL="457200" rtl="0" algn="l">
              <a:lnSpc>
                <a:spcPct val="100000"/>
              </a:lnSpc>
              <a:spcBef>
                <a:spcPts val="1000"/>
              </a:spcBef>
              <a:spcAft>
                <a:spcPts val="0"/>
              </a:spcAft>
              <a:buSzPts val="1800"/>
              <a:buChar char="•"/>
            </a:pPr>
            <a:r>
              <a:rPr lang="en-US"/>
              <a:t>First, focus on </a:t>
            </a:r>
            <a:endParaRPr/>
          </a:p>
          <a:p>
            <a:pPr indent="-342900" lvl="0" marL="457200" rtl="0" algn="l">
              <a:lnSpc>
                <a:spcPct val="100000"/>
              </a:lnSpc>
              <a:spcBef>
                <a:spcPts val="1000"/>
              </a:spcBef>
              <a:spcAft>
                <a:spcPts val="0"/>
              </a:spcAft>
              <a:buSzPts val="1800"/>
              <a:buChar char="•"/>
            </a:pPr>
            <a:r>
              <a:rPr lang="en-US"/>
              <a:t>Timeframe</a:t>
            </a:r>
            <a:endParaRPr/>
          </a:p>
        </p:txBody>
      </p:sp>
      <p:sp>
        <p:nvSpPr>
          <p:cNvPr id="317" name="Google Shape;317;gefbeba6a1c_0_518"/>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Data Science Goals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1" name="Shape 321"/>
        <p:cNvGrpSpPr/>
        <p:nvPr/>
      </p:nvGrpSpPr>
      <p:grpSpPr>
        <a:xfrm>
          <a:off x="0" y="0"/>
          <a:ext cx="0" cy="0"/>
          <a:chOff x="0" y="0"/>
          <a:chExt cx="0" cy="0"/>
        </a:xfrm>
      </p:grpSpPr>
      <p:sp>
        <p:nvSpPr>
          <p:cNvPr id="322" name="Google Shape;322;gbee4de09ef_0_2"/>
          <p:cNvSpPr txBox="1"/>
          <p:nvPr>
            <p:ph idx="1" type="body"/>
          </p:nvPr>
        </p:nvSpPr>
        <p:spPr>
          <a:xfrm>
            <a:off x="381000" y="1215484"/>
            <a:ext cx="11430000" cy="4596300"/>
          </a:xfrm>
          <a:prstGeom prst="rect">
            <a:avLst/>
          </a:prstGeom>
          <a:noFill/>
          <a:ln>
            <a:noFill/>
          </a:ln>
        </p:spPr>
        <p:txBody>
          <a:bodyPr anchorCtr="0" anchor="t" bIns="45700" lIns="91425" spcFirstLastPara="1" rIns="91425" wrap="square" tIns="45700">
            <a:normAutofit/>
          </a:bodyPr>
          <a:lstStyle/>
          <a:p>
            <a:pPr indent="-342900" lvl="0" marL="457200" rtl="0" algn="l">
              <a:lnSpc>
                <a:spcPct val="115000"/>
              </a:lnSpc>
              <a:spcBef>
                <a:spcPts val="1000"/>
              </a:spcBef>
              <a:spcAft>
                <a:spcPts val="0"/>
              </a:spcAft>
              <a:buSzPts val="1800"/>
              <a:buChar char="•"/>
            </a:pPr>
            <a:r>
              <a:t/>
            </a:r>
            <a:endParaRPr/>
          </a:p>
        </p:txBody>
      </p:sp>
      <p:sp>
        <p:nvSpPr>
          <p:cNvPr id="323" name="Google Shape;323;gbee4de09ef_0_2"/>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SzPts val="1800"/>
              <a:buNone/>
            </a:pPr>
            <a:r>
              <a:rPr lang="en-US"/>
              <a:t>Approach used in previous semester</a:t>
            </a:r>
            <a:endParaRPr/>
          </a:p>
        </p:txBody>
      </p:sp>
      <p:sp>
        <p:nvSpPr>
          <p:cNvPr id="324" name="Google Shape;324;gbee4de09ef_0_2"/>
          <p:cNvSpPr txBox="1"/>
          <p:nvPr/>
        </p:nvSpPr>
        <p:spPr>
          <a:xfrm>
            <a:off x="7872950" y="5852550"/>
            <a:ext cx="3395700" cy="493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The classic WMD example from [5]</a:t>
            </a:r>
            <a:endParaRPr b="0" i="0" sz="1400" u="none" cap="none" strike="noStrike">
              <a:solidFill>
                <a:srgbClr val="000000"/>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8" name="Shape 328"/>
        <p:cNvGrpSpPr/>
        <p:nvPr/>
      </p:nvGrpSpPr>
      <p:grpSpPr>
        <a:xfrm>
          <a:off x="0" y="0"/>
          <a:ext cx="0" cy="0"/>
          <a:chOff x="0" y="0"/>
          <a:chExt cx="0" cy="0"/>
        </a:xfrm>
      </p:grpSpPr>
      <p:sp>
        <p:nvSpPr>
          <p:cNvPr id="329" name="Google Shape;329;gbee4de09ef_0_7"/>
          <p:cNvSpPr txBox="1"/>
          <p:nvPr>
            <p:ph idx="1" type="body"/>
          </p:nvPr>
        </p:nvSpPr>
        <p:spPr>
          <a:xfrm>
            <a:off x="381000" y="1215484"/>
            <a:ext cx="11430000" cy="4596300"/>
          </a:xfrm>
          <a:prstGeom prst="rect">
            <a:avLst/>
          </a:prstGeom>
          <a:noFill/>
          <a:ln>
            <a:noFill/>
          </a:ln>
        </p:spPr>
        <p:txBody>
          <a:bodyPr anchorCtr="0" anchor="t" bIns="45700" lIns="91425" spcFirstLastPara="1" rIns="91425" wrap="square" tIns="45700">
            <a:normAutofit/>
          </a:bodyPr>
          <a:lstStyle/>
          <a:p>
            <a:pPr indent="-304800" lvl="0" marL="457200" rtl="0" algn="l">
              <a:lnSpc>
                <a:spcPct val="200000"/>
              </a:lnSpc>
              <a:spcBef>
                <a:spcPts val="1000"/>
              </a:spcBef>
              <a:spcAft>
                <a:spcPts val="1000"/>
              </a:spcAft>
              <a:buSzPts val="1200"/>
              <a:buChar char="•"/>
            </a:pPr>
            <a:r>
              <a:t/>
            </a:r>
            <a:endParaRPr sz="2200"/>
          </a:p>
        </p:txBody>
      </p:sp>
      <p:sp>
        <p:nvSpPr>
          <p:cNvPr id="330" name="Google Shape;330;gbee4de09ef_0_7"/>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SzPts val="1800"/>
              <a:buNone/>
            </a:pPr>
            <a:r>
              <a:rPr lang="en-US"/>
              <a:t>Challenges encountered</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4" name="Shape 334"/>
        <p:cNvGrpSpPr/>
        <p:nvPr/>
      </p:nvGrpSpPr>
      <p:grpSpPr>
        <a:xfrm>
          <a:off x="0" y="0"/>
          <a:ext cx="0" cy="0"/>
          <a:chOff x="0" y="0"/>
          <a:chExt cx="0" cy="0"/>
        </a:xfrm>
      </p:grpSpPr>
      <p:sp>
        <p:nvSpPr>
          <p:cNvPr id="335" name="Google Shape;335;gba764dde3e_0_5"/>
          <p:cNvSpPr txBox="1"/>
          <p:nvPr>
            <p:ph idx="1" type="body"/>
          </p:nvPr>
        </p:nvSpPr>
        <p:spPr>
          <a:xfrm>
            <a:off x="381000" y="1215484"/>
            <a:ext cx="11430000" cy="4596300"/>
          </a:xfrm>
          <a:prstGeom prst="rect">
            <a:avLst/>
          </a:prstGeom>
          <a:noFill/>
          <a:ln>
            <a:noFill/>
          </a:ln>
        </p:spPr>
        <p:txBody>
          <a:bodyPr anchorCtr="0" anchor="t" bIns="45700" lIns="91425" spcFirstLastPara="1" rIns="91425" wrap="square" tIns="45700">
            <a:noAutofit/>
          </a:bodyPr>
          <a:lstStyle/>
          <a:p>
            <a:pPr indent="-349250" lvl="0" marL="457200" rtl="0" algn="l">
              <a:lnSpc>
                <a:spcPct val="100000"/>
              </a:lnSpc>
              <a:spcBef>
                <a:spcPts val="1000"/>
              </a:spcBef>
              <a:spcAft>
                <a:spcPts val="1000"/>
              </a:spcAft>
              <a:buSzPts val="1900"/>
              <a:buChar char="•"/>
            </a:pPr>
            <a:r>
              <a:rPr b="1" i="1" lang="en-US" sz="1900"/>
              <a:t>Sentiment Analysis of Piazza Data</a:t>
            </a:r>
            <a:endParaRPr b="1" i="1" sz="1900"/>
          </a:p>
        </p:txBody>
      </p:sp>
      <p:sp>
        <p:nvSpPr>
          <p:cNvPr id="336" name="Google Shape;336;gba764dde3e_0_5"/>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1800"/>
              <a:buNone/>
            </a:pPr>
            <a:r>
              <a:rPr lang="en-US"/>
              <a:t>Goals for this semester (Data Science)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40" name="Shape 340"/>
        <p:cNvGrpSpPr/>
        <p:nvPr/>
      </p:nvGrpSpPr>
      <p:grpSpPr>
        <a:xfrm>
          <a:off x="0" y="0"/>
          <a:ext cx="0" cy="0"/>
          <a:chOff x="0" y="0"/>
          <a:chExt cx="0" cy="0"/>
        </a:xfrm>
      </p:grpSpPr>
      <p:sp>
        <p:nvSpPr>
          <p:cNvPr id="341" name="Google Shape;341;gbea1223c9f_0_1"/>
          <p:cNvSpPr txBox="1"/>
          <p:nvPr>
            <p:ph idx="1" type="body"/>
          </p:nvPr>
        </p:nvSpPr>
        <p:spPr>
          <a:xfrm>
            <a:off x="6091850" y="1215475"/>
            <a:ext cx="5718900" cy="45963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1000"/>
              </a:spcBef>
              <a:spcAft>
                <a:spcPts val="0"/>
              </a:spcAft>
              <a:buSzPts val="1800"/>
              <a:buNone/>
            </a:pPr>
            <a:r>
              <a:rPr lang="en-US"/>
              <a:t>“a group of individuals who collaboratively engage in purposeful critical discourse and reflection to construct personal meaning and confirm mutual understanding”</a:t>
            </a:r>
            <a:endParaRPr/>
          </a:p>
        </p:txBody>
      </p:sp>
      <p:sp>
        <p:nvSpPr>
          <p:cNvPr id="342" name="Google Shape;342;gbea1223c9f_0_1"/>
          <p:cNvSpPr txBox="1"/>
          <p:nvPr>
            <p:ph type="title"/>
          </p:nvPr>
        </p:nvSpPr>
        <p:spPr>
          <a:xfrm>
            <a:off x="381000" y="200722"/>
            <a:ext cx="11430000" cy="1014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SzPts val="1800"/>
              <a:buNone/>
            </a:pPr>
            <a:r>
              <a:rPr lang="en-US"/>
              <a:t>Community of Inquiry</a:t>
            </a:r>
            <a:endParaRPr/>
          </a:p>
        </p:txBody>
      </p:sp>
      <p:pic>
        <p:nvPicPr>
          <p:cNvPr id="343" name="Google Shape;343;gbea1223c9f_0_1"/>
          <p:cNvPicPr preferRelativeResize="0"/>
          <p:nvPr/>
        </p:nvPicPr>
        <p:blipFill rotWithShape="1">
          <a:blip r:embed="rId3">
            <a:alphaModFix/>
          </a:blip>
          <a:srcRect b="11793" l="0" r="0" t="0"/>
          <a:stretch/>
        </p:blipFill>
        <p:spPr>
          <a:xfrm>
            <a:off x="488775" y="1215475"/>
            <a:ext cx="5117075" cy="4054150"/>
          </a:xfrm>
          <a:prstGeom prst="rect">
            <a:avLst/>
          </a:prstGeom>
          <a:noFill/>
          <a:ln>
            <a:noFill/>
          </a:ln>
        </p:spPr>
      </p:pic>
      <p:sp>
        <p:nvSpPr>
          <p:cNvPr id="344" name="Google Shape;344;gbea1223c9f_0_1"/>
          <p:cNvSpPr txBox="1"/>
          <p:nvPr/>
        </p:nvSpPr>
        <p:spPr>
          <a:xfrm>
            <a:off x="488763" y="5411575"/>
            <a:ext cx="51171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Roboto"/>
                <a:ea typeface="Roboto"/>
                <a:cs typeface="Roboto"/>
                <a:sym typeface="Roboto"/>
              </a:rPr>
              <a:t>Elements of an Educational Experience (Garrison et al., 1999)</a:t>
            </a:r>
            <a:endParaRPr b="0" i="0" sz="1400" u="none" cap="none" strike="noStrike">
              <a:solidFill>
                <a:srgbClr val="000000"/>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2016-03-09T16:46:53Z</dcterms:created>
  <dc:creator>Microsoft Office User</dc:creator>
</cp:coreProperties>
</file>