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2000" cy="6858000"/>
  <p:notesSz cx="6858000" cy="9144000"/>
  <p:embeddedFontLst>
    <p:embeddedFont>
      <p:font typeface="Roboto" panose="02000000000000000000" pitchFamily="2" charset="0"/>
      <p:regular r:id="rId34"/>
      <p:bold r:id="rId35"/>
      <p:italic r:id="rId36"/>
      <p:boldItalic r:id="rId37"/>
    </p:embeddedFont>
    <p:embeddedFont>
      <p:font typeface="Roboto Condensed Light" panose="020000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73">
          <p15:clr>
            <a:srgbClr val="000000"/>
          </p15:clr>
        </p15:guide>
        <p15:guide id="2" pos="244">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f5zKcHPP0HIE5OUR09lcMANeM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C85661-2F1D-43B8-8111-96E062A24845}">
  <a:tblStyle styleId="{B8C85661-2F1D-43B8-8111-96E062A2484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guide orient="horz" pos="773"/>
        <p:guide pos="2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font" Target="fonts/font7.fntdata"/><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56"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font" Target="fonts/font8.fntdata"/><Relationship Id="rId5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Pratik</a:t>
            </a:r>
            <a:endParaRPr/>
          </a:p>
        </p:txBody>
      </p:sp>
      <p:sp>
        <p:nvSpPr>
          <p:cNvPr id="74" name="Google Shape;7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9d48565bb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9d48565bb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As a refresher, we’re working with Piazza Discussion forums data from Dr. Thad Starner’s CS 6601 course. Our goal is to create a web-app that can help reduce instructors’ workload, at the same time, allow them to track the engagement levels in their courses, and identify instances where their intervention is required. Examples include identifying posts that need their attention, get a representation of the class engagement both individually, and at a group level, as well as get alerts for peaking activity, usually expected around assignments or exams’ due dates.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04582646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104582646e5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Talking of our results this semester, the web-dev team was able to integrate the web-app with the Data Science team’s sentiment analysis model getting the first version of our dashboard working on real Piazza data. </a:t>
            </a:r>
            <a:r>
              <a:rPr lang="en-US" dirty="0" err="1"/>
              <a:t>Sambhav</a:t>
            </a:r>
            <a:r>
              <a:rPr lang="en-US" dirty="0"/>
              <a:t> will be showing you a small demo. In terms of UX research, we were able to collect a few survey results and couple interviews with instructors to help prioritize metrics for the dashboard. More details to be shared by Gautam. The data science team was able to build 2 models, one for sentiment and the other for cognitive presence. On top of that, the team also </a:t>
            </a:r>
            <a:r>
              <a:rPr lang="en-US" dirty="0" err="1"/>
              <a:t>analysed</a:t>
            </a:r>
            <a:r>
              <a:rPr lang="en-US" dirty="0"/>
              <a:t> top contributors in the forums, and the influence of activity on student outcomes which will be elaborated by </a:t>
            </a:r>
            <a:r>
              <a:rPr lang="en-US" dirty="0" err="1"/>
              <a:t>Malav</a:t>
            </a:r>
            <a:r>
              <a:rPr lang="en-US" dirty="0"/>
              <a:t>, Nidhi, Sarah and </a:t>
            </a:r>
            <a:r>
              <a:rPr lang="en-US" dirty="0" err="1"/>
              <a:t>Aanya</a:t>
            </a:r>
            <a:r>
              <a:rPr lang="en-US" dirty="0"/>
              <a:t>. Our focus for the next </a:t>
            </a:r>
            <a:r>
              <a:rPr lang="en-US" dirty="0" err="1"/>
              <a:t>sem</a:t>
            </a:r>
            <a:r>
              <a:rPr lang="en-US" dirty="0"/>
              <a:t> will be on pilot testing the web-app, extracting the relevant metrics from forums data using our cognitive presence and sentiment models, and deepening our analysis on social presence. As a project manager, there are a few aspects I’d like to improve on based on reflections this semester. Mainly setting clear measurable goals at the start rather than in the middle, quicker feedback loops involving multiple interactions with target users, and better scheduling of tasks for each individual to minimize any bottlenecks in execution. Over to the Data Science team.</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efbeba6a1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efbeba6a1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bea1223c9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bea1223c9f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efbeba6a1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efbeba6a1c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bea1223c9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bea1223c9f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f234d063b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f234d063be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04e11fccd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104e11fccdd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04e11fccdd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104e11fccdd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Malav</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04fcaf90d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104fcaf90d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04b9201d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104b9201dd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Nidhi </a:t>
            </a:r>
            <a:endParaRPr/>
          </a:p>
          <a:p>
            <a:pPr marL="457200" lvl="0" indent="-298450" algn="l" rtl="0">
              <a:lnSpc>
                <a:spcPct val="100000"/>
              </a:lnSpc>
              <a:spcBef>
                <a:spcPts val="0"/>
              </a:spcBef>
              <a:spcAft>
                <a:spcPts val="0"/>
              </a:spcAft>
              <a:buSzPts val="1100"/>
              <a:buChar char="-"/>
            </a:pPr>
            <a:r>
              <a:rPr lang="en-US"/>
              <a:t>organized in megathreads: the follow-ups are sometimes the answer, which makes categorizing by post type a little tricky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efbeba6a1c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efbeba6a1c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endParaRPr/>
          </a:p>
          <a:p>
            <a:pPr marL="457200" lvl="0" indent="-298450" algn="l" rtl="0">
              <a:lnSpc>
                <a:spcPct val="100000"/>
              </a:lnSpc>
              <a:spcBef>
                <a:spcPts val="0"/>
              </a:spcBef>
              <a:spcAft>
                <a:spcPts val="0"/>
              </a:spcAft>
              <a:buSzPts val="1100"/>
              <a:buChar char="-"/>
            </a:pPr>
            <a:r>
              <a:rPr lang="en-US"/>
              <a:t>answers: hard to tell what an answer is and what a question is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104b9201dd5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104b9201dd5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endParaRPr/>
          </a:p>
          <a:p>
            <a:pPr marL="457200" lvl="0" indent="-298450" algn="l" rtl="0">
              <a:lnSpc>
                <a:spcPct val="100000"/>
              </a:lnSpc>
              <a:spcBef>
                <a:spcPts val="0"/>
              </a:spcBef>
              <a:spcAft>
                <a:spcPts val="0"/>
              </a:spcAft>
              <a:buSzPts val="1100"/>
              <a:buChar char="-"/>
            </a:pPr>
            <a:r>
              <a:rPr lang="en-US"/>
              <a:t>answers: hard to tell what an answer is and what a question is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04582646e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104582646e5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efbeba6a1c_0_5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efbeba6a1c_0_5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efbeba6a1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efbeba6a1c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Gautam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efbeba6a1c_0_4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efbeba6a1c_0_4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Gautam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051ec82e73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051ec82e73_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efbeba6a1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efbeba6a1c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fb4c11e2d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fb4c11e2d3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051ec82e73_19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051ec82e73_19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efb32003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efb32003e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cfa7e5c338_1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cfa7e5c338_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cfa7e5c338_18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cfa7e5c338_18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04582646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104582646e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To conclude, this sem we were able to get a working dashboard showing results from real course data extracted from Piazza. In terms of next steps, we’ll need to conduct a few more interviews to get deeper insights into the metrics to track. We also think it’d be helpful to talk to the PARQR team since they’ve been working with similar data. Our focus next semester will be (if possible) to pilot test our web-app with a few instructors in near real-time and using our trained cognitive presence and sentiment analysis models to inform the metrics that’d be the most valuable for our target users, the instructors. And that’s all for today. Thank you for your time.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9d48565bb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g9d48565bb2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
        <p:cNvGrpSpPr/>
        <p:nvPr/>
      </p:nvGrpSpPr>
      <p:grpSpPr>
        <a:xfrm>
          <a:off x="0" y="0"/>
          <a:ext cx="0" cy="0"/>
          <a:chOff x="0" y="0"/>
          <a:chExt cx="0" cy="0"/>
        </a:xfrm>
      </p:grpSpPr>
      <p:sp>
        <p:nvSpPr>
          <p:cNvPr id="7" name="Google Shape;7;p14"/>
          <p:cNvSpPr txBox="1">
            <a:spLocks noGrp="1"/>
          </p:cNvSpPr>
          <p:nvPr>
            <p:ph type="subTitle" idx="1"/>
          </p:nvPr>
        </p:nvSpPr>
        <p:spPr>
          <a:xfrm>
            <a:off x="4024461" y="3793068"/>
            <a:ext cx="6795913" cy="1684868"/>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600"/>
              </a:spcBef>
              <a:spcAft>
                <a:spcPts val="0"/>
              </a:spcAft>
              <a:buClr>
                <a:srgbClr val="7F7F7F"/>
              </a:buClr>
              <a:buSzPts val="3000"/>
              <a:buFont typeface="Arial"/>
              <a:buNone/>
              <a:defRPr sz="3000" b="0" i="0" u="none" strike="noStrike" cap="none">
                <a:solidFill>
                  <a:srgbClr val="7F7F7F"/>
                </a:solidFill>
                <a:latin typeface="Roboto Condensed Light"/>
                <a:ea typeface="Roboto Condensed Light"/>
                <a:cs typeface="Roboto Condensed Light"/>
                <a:sym typeface="Roboto Condensed Light"/>
              </a:defRPr>
            </a:lvl1pPr>
            <a:lvl2pPr marR="0" lvl="1" algn="ctr" rtl="0">
              <a:lnSpc>
                <a:spcPct val="100000"/>
              </a:lnSpc>
              <a:spcBef>
                <a:spcPts val="420"/>
              </a:spcBef>
              <a:spcAft>
                <a:spcPts val="0"/>
              </a:spcAft>
              <a:buClr>
                <a:srgbClr val="888888"/>
              </a:buClr>
              <a:buSzPts val="2100"/>
              <a:buFont typeface="Arial"/>
              <a:buNone/>
              <a:defRPr sz="2100" b="0" i="0" u="none" strike="noStrike" cap="none">
                <a:solidFill>
                  <a:srgbClr val="888888"/>
                </a:solidFill>
                <a:latin typeface="Arial"/>
                <a:ea typeface="Arial"/>
                <a:cs typeface="Arial"/>
                <a:sym typeface="Arial"/>
              </a:defRPr>
            </a:lvl2pPr>
            <a:lvl3pPr marR="0" lvl="2"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R="0" lvl="3"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4pPr>
            <a:lvl5pPr marR="0" lvl="4"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5pPr>
            <a:lvl6pPr marR="0" lvl="5"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6pPr>
            <a:lvl7pPr marR="0" lvl="6"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7pPr>
            <a:lvl8pPr marR="0" lvl="7"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8pPr>
            <a:lvl9pPr marR="0" lvl="8"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9pPr>
          </a:lstStyle>
          <a:p>
            <a:endParaRPr/>
          </a:p>
        </p:txBody>
      </p:sp>
      <p:sp>
        <p:nvSpPr>
          <p:cNvPr id="8" name="Google Shape;8;p14"/>
          <p:cNvSpPr txBox="1">
            <a:spLocks noGrp="1"/>
          </p:cNvSpPr>
          <p:nvPr>
            <p:ph type="ctrTitle"/>
          </p:nvPr>
        </p:nvSpPr>
        <p:spPr>
          <a:xfrm>
            <a:off x="4024462" y="333633"/>
            <a:ext cx="6795913" cy="3459435"/>
          </a:xfrm>
          <a:prstGeom prst="rect">
            <a:avLst/>
          </a:prstGeom>
          <a:noFill/>
          <a:ln>
            <a:noFill/>
          </a:ln>
        </p:spPr>
        <p:txBody>
          <a:bodyPr spcFirstLastPara="1" wrap="square" lIns="91425" tIns="45700" rIns="91425" bIns="45700" anchor="b" anchorCtr="0">
            <a:normAutofit/>
          </a:bodyPr>
          <a:lstStyle>
            <a:lvl1pPr marR="0" lvl="0" algn="l" rtl="0">
              <a:lnSpc>
                <a:spcPct val="114285"/>
              </a:lnSpc>
              <a:spcBef>
                <a:spcPts val="0"/>
              </a:spcBef>
              <a:spcAft>
                <a:spcPts val="0"/>
              </a:spcAft>
              <a:buClr>
                <a:srgbClr val="A7934B"/>
              </a:buClr>
              <a:buSzPts val="4200"/>
              <a:buFont typeface="Roboto"/>
              <a:buNone/>
              <a:defRPr sz="4200" b="1" i="0" u="none" strike="noStrike" cap="none">
                <a:solidFill>
                  <a:srgbClr val="A7934B"/>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6"/>
          <p:cNvSpPr txBox="1">
            <a:spLocks noGrp="1"/>
          </p:cNvSpPr>
          <p:nvPr>
            <p:ph type="body" idx="1"/>
          </p:nvPr>
        </p:nvSpPr>
        <p:spPr>
          <a:xfrm>
            <a:off x="381000" y="1215484"/>
            <a:ext cx="11430000" cy="459635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6"/>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6"/>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7"/>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0"/>
        <p:cNvGrpSpPr/>
        <p:nvPr/>
      </p:nvGrpSpPr>
      <p:grpSpPr>
        <a:xfrm>
          <a:off x="0" y="0"/>
          <a:ext cx="0" cy="0"/>
          <a:chOff x="0" y="0"/>
          <a:chExt cx="0" cy="0"/>
        </a:xfrm>
      </p:grpSpPr>
      <p:sp>
        <p:nvSpPr>
          <p:cNvPr id="31" name="Google Shape;31;p18"/>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8"/>
          <p:cNvSpPr txBox="1">
            <a:spLocks noGrp="1"/>
          </p:cNvSpPr>
          <p:nvPr>
            <p:ph type="body" idx="1"/>
          </p:nvPr>
        </p:nvSpPr>
        <p:spPr>
          <a:xfrm>
            <a:off x="379048" y="1215483"/>
            <a:ext cx="5615353" cy="4961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8"/>
          <p:cNvSpPr txBox="1">
            <a:spLocks noGrp="1"/>
          </p:cNvSpPr>
          <p:nvPr>
            <p:ph type="body" idx="2"/>
          </p:nvPr>
        </p:nvSpPr>
        <p:spPr>
          <a:xfrm>
            <a:off x="6197600" y="1215483"/>
            <a:ext cx="5613400" cy="4961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7"/>
        <p:cNvGrpSpPr/>
        <p:nvPr/>
      </p:nvGrpSpPr>
      <p:grpSpPr>
        <a:xfrm>
          <a:off x="0" y="0"/>
          <a:ext cx="0" cy="0"/>
          <a:chOff x="0" y="0"/>
          <a:chExt cx="0" cy="0"/>
        </a:xfrm>
      </p:grpSpPr>
      <p:sp>
        <p:nvSpPr>
          <p:cNvPr id="38" name="Google Shape;38;p19"/>
          <p:cNvSpPr txBox="1">
            <a:spLocks noGrp="1"/>
          </p:cNvSpPr>
          <p:nvPr>
            <p:ph type="body" idx="1"/>
          </p:nvPr>
        </p:nvSpPr>
        <p:spPr>
          <a:xfrm>
            <a:off x="381001" y="1235113"/>
            <a:ext cx="561763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381001" y="2078657"/>
            <a:ext cx="5617633" cy="411100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6172200" y="1235113"/>
            <a:ext cx="56388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6172200" y="2078657"/>
            <a:ext cx="5638800" cy="411100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19"/>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46"/>
        <p:cNvGrpSpPr/>
        <p:nvPr/>
      </p:nvGrpSpPr>
      <p:grpSpPr>
        <a:xfrm>
          <a:off x="0" y="0"/>
          <a:ext cx="0" cy="0"/>
          <a:chOff x="0" y="0"/>
          <a:chExt cx="0" cy="0"/>
        </a:xfrm>
      </p:grpSpPr>
      <p:sp>
        <p:nvSpPr>
          <p:cNvPr id="47" name="Google Shape;47;p21"/>
          <p:cNvSpPr txBox="1">
            <a:spLocks noGrp="1"/>
          </p:cNvSpPr>
          <p:nvPr>
            <p:ph type="title"/>
          </p:nvPr>
        </p:nvSpPr>
        <p:spPr>
          <a:xfrm>
            <a:off x="381001"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1"/>
          <p:cNvSpPr txBox="1">
            <a:spLocks noGrp="1"/>
          </p:cNvSpPr>
          <p:nvPr>
            <p:ph type="body" idx="1"/>
          </p:nvPr>
        </p:nvSpPr>
        <p:spPr>
          <a:xfrm>
            <a:off x="4313768" y="457201"/>
            <a:ext cx="7497233"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21"/>
          <p:cNvSpPr txBox="1">
            <a:spLocks noGrp="1"/>
          </p:cNvSpPr>
          <p:nvPr>
            <p:ph type="body" idx="2"/>
          </p:nvPr>
        </p:nvSpPr>
        <p:spPr>
          <a:xfrm>
            <a:off x="381001" y="2274849"/>
            <a:ext cx="3932767" cy="359413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21"/>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53"/>
        <p:cNvGrpSpPr/>
        <p:nvPr/>
      </p:nvGrpSpPr>
      <p:grpSpPr>
        <a:xfrm>
          <a:off x="0" y="0"/>
          <a:ext cx="0" cy="0"/>
          <a:chOff x="0" y="0"/>
          <a:chExt cx="0" cy="0"/>
        </a:xfrm>
      </p:grpSpPr>
      <p:sp>
        <p:nvSpPr>
          <p:cNvPr id="54" name="Google Shape;54;p22"/>
          <p:cNvSpPr txBox="1">
            <a:spLocks noGrp="1"/>
          </p:cNvSpPr>
          <p:nvPr>
            <p:ph type="title"/>
          </p:nvPr>
        </p:nvSpPr>
        <p:spPr>
          <a:xfrm>
            <a:off x="381001"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a:spLocks noGrp="1"/>
          </p:cNvSpPr>
          <p:nvPr>
            <p:ph type="pic" idx="2"/>
          </p:nvPr>
        </p:nvSpPr>
        <p:spPr>
          <a:xfrm>
            <a:off x="4313768" y="457201"/>
            <a:ext cx="7497233" cy="5403850"/>
          </a:xfrm>
          <a:prstGeom prst="rect">
            <a:avLst/>
          </a:prstGeom>
          <a:noFill/>
          <a:ln>
            <a:noFill/>
          </a:ln>
        </p:spPr>
      </p:sp>
      <p:sp>
        <p:nvSpPr>
          <p:cNvPr id="56" name="Google Shape;56;p22"/>
          <p:cNvSpPr txBox="1">
            <a:spLocks noGrp="1"/>
          </p:cNvSpPr>
          <p:nvPr>
            <p:ph type="body" idx="1"/>
          </p:nvPr>
        </p:nvSpPr>
        <p:spPr>
          <a:xfrm>
            <a:off x="381001" y="2274849"/>
            <a:ext cx="3932767" cy="359413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22"/>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60"/>
        <p:cNvGrpSpPr/>
        <p:nvPr/>
      </p:nvGrpSpPr>
      <p:grpSpPr>
        <a:xfrm>
          <a:off x="0" y="0"/>
          <a:ext cx="0" cy="0"/>
          <a:chOff x="0" y="0"/>
          <a:chExt cx="0" cy="0"/>
        </a:xfrm>
      </p:grpSpPr>
      <p:sp>
        <p:nvSpPr>
          <p:cNvPr id="61" name="Google Shape;61;p23"/>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body" idx="1"/>
          </p:nvPr>
        </p:nvSpPr>
        <p:spPr>
          <a:xfrm rot="5400000">
            <a:off x="3797823" y="-2201338"/>
            <a:ext cx="4596355" cy="11430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23"/>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rot="5400000">
            <a:off x="7590632"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1875632" y="-1129506"/>
            <a:ext cx="5811838" cy="88011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2.jpg"/><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A7934B"/>
              </a:buClr>
              <a:buSzPts val="3600"/>
              <a:buFont typeface="Roboto"/>
              <a:buNone/>
              <a:defRPr sz="3600" b="1" i="0" u="none" strike="noStrike" cap="none">
                <a:solidFill>
                  <a:srgbClr val="A7934B"/>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381000" y="1215484"/>
            <a:ext cx="11430000" cy="459635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Roboto"/>
                <a:ea typeface="Roboto"/>
                <a:cs typeface="Roboto"/>
                <a:sym typeface="Robo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5"/>
          <p:cNvSpPr txBox="1">
            <a:spLocks noGrp="1"/>
          </p:cNvSpPr>
          <p:nvPr>
            <p:ph type="dt" idx="10"/>
          </p:nvPr>
        </p:nvSpPr>
        <p:spPr>
          <a:xfrm>
            <a:off x="381000" y="5811839"/>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5"/>
          <p:cNvSpPr txBox="1">
            <a:spLocks noGrp="1"/>
          </p:cNvSpPr>
          <p:nvPr>
            <p:ph type="ftr" idx="11"/>
          </p:nvPr>
        </p:nvSpPr>
        <p:spPr>
          <a:xfrm>
            <a:off x="3126154" y="5811839"/>
            <a:ext cx="5941647"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5"/>
          <p:cNvSpPr txBox="1">
            <a:spLocks noGrp="1"/>
          </p:cNvSpPr>
          <p:nvPr>
            <p:ph type="sldNum" idx="12"/>
          </p:nvPr>
        </p:nvSpPr>
        <p:spPr>
          <a:xfrm>
            <a:off x="9067800" y="5811839"/>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 Id="rId9" Type="http://schemas.openxmlformats.org/officeDocument/2006/relationships/image" Target="../media/image9.jp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2.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16/j.asej.2014.04.011"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5"/>
        <p:cNvGrpSpPr/>
        <p:nvPr/>
      </p:nvGrpSpPr>
      <p:grpSpPr>
        <a:xfrm>
          <a:off x="0" y="0"/>
          <a:ext cx="0" cy="0"/>
          <a:chOff x="0" y="0"/>
          <a:chExt cx="0" cy="0"/>
        </a:xfrm>
      </p:grpSpPr>
      <p:sp>
        <p:nvSpPr>
          <p:cNvPr id="76" name="Google Shape;76;p1"/>
          <p:cNvSpPr txBox="1">
            <a:spLocks noGrp="1"/>
          </p:cNvSpPr>
          <p:nvPr>
            <p:ph type="subTitle" idx="1"/>
          </p:nvPr>
        </p:nvSpPr>
        <p:spPr>
          <a:xfrm>
            <a:off x="4024461" y="3793068"/>
            <a:ext cx="6795913" cy="168486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rgbClr val="7F7F7F"/>
              </a:buClr>
              <a:buSzPts val="3000"/>
              <a:buNone/>
            </a:pPr>
            <a:r>
              <a:rPr lang="en-US"/>
              <a:t>Discussion Forum Subteam</a:t>
            </a:r>
            <a:endParaRPr/>
          </a:p>
          <a:p>
            <a:pPr marL="0" lvl="0" indent="0" algn="l" rtl="0">
              <a:lnSpc>
                <a:spcPct val="120000"/>
              </a:lnSpc>
              <a:spcBef>
                <a:spcPts val="600"/>
              </a:spcBef>
              <a:spcAft>
                <a:spcPts val="0"/>
              </a:spcAft>
              <a:buClr>
                <a:srgbClr val="7F7F7F"/>
              </a:buClr>
              <a:buSzPts val="3000"/>
              <a:buNone/>
            </a:pPr>
            <a:r>
              <a:rPr lang="en-US"/>
              <a:t>Presentation 3 - 12/01/2021</a:t>
            </a:r>
            <a:endParaRPr/>
          </a:p>
        </p:txBody>
      </p:sp>
      <p:sp>
        <p:nvSpPr>
          <p:cNvPr id="77" name="Google Shape;77;p1"/>
          <p:cNvSpPr txBox="1">
            <a:spLocks noGrp="1"/>
          </p:cNvSpPr>
          <p:nvPr>
            <p:ph type="ctrTitle"/>
          </p:nvPr>
        </p:nvSpPr>
        <p:spPr>
          <a:xfrm>
            <a:off x="4024462" y="333633"/>
            <a:ext cx="6795913" cy="3459435"/>
          </a:xfrm>
          <a:prstGeom prst="rect">
            <a:avLst/>
          </a:prstGeom>
          <a:noFill/>
          <a:ln>
            <a:noFill/>
          </a:ln>
        </p:spPr>
        <p:txBody>
          <a:bodyPr spcFirstLastPara="1" wrap="square" lIns="91425" tIns="45700" rIns="91425" bIns="45700" anchor="b" anchorCtr="0">
            <a:normAutofit/>
          </a:bodyPr>
          <a:lstStyle/>
          <a:p>
            <a:pPr marL="0" lvl="0" indent="0" algn="l" rtl="0">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2"/>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a:t>Team Members</a:t>
            </a:r>
            <a:endParaRPr/>
          </a:p>
        </p:txBody>
      </p:sp>
      <p:sp>
        <p:nvSpPr>
          <p:cNvPr id="83" name="Google Shape;83;p2"/>
          <p:cNvSpPr txBox="1"/>
          <p:nvPr/>
        </p:nvSpPr>
        <p:spPr>
          <a:xfrm>
            <a:off x="1537750" y="5614188"/>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Aanya Khandelwal</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Back-end</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Developer</a:t>
            </a:r>
            <a:endParaRPr sz="1400" b="0" i="0" u="none" strike="noStrike" cap="none">
              <a:solidFill>
                <a:srgbClr val="000000"/>
              </a:solidFill>
              <a:latin typeface="Roboto"/>
              <a:ea typeface="Roboto"/>
              <a:cs typeface="Roboto"/>
              <a:sym typeface="Roboto"/>
            </a:endParaRPr>
          </a:p>
        </p:txBody>
      </p:sp>
      <p:sp>
        <p:nvSpPr>
          <p:cNvPr id="84" name="Google Shape;84;p2"/>
          <p:cNvSpPr txBox="1"/>
          <p:nvPr/>
        </p:nvSpPr>
        <p:spPr>
          <a:xfrm>
            <a:off x="4110175" y="56002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Gautam Sugasi</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Back-end </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Developer</a:t>
            </a:r>
            <a:endParaRPr sz="1400" b="0" i="0" u="none" strike="noStrike" cap="none">
              <a:solidFill>
                <a:srgbClr val="000000"/>
              </a:solidFill>
              <a:latin typeface="Roboto"/>
              <a:ea typeface="Roboto"/>
              <a:cs typeface="Roboto"/>
              <a:sym typeface="Roboto"/>
            </a:endParaRPr>
          </a:p>
        </p:txBody>
      </p:sp>
      <p:sp>
        <p:nvSpPr>
          <p:cNvPr id="85" name="Google Shape;85;p2"/>
          <p:cNvSpPr txBox="1"/>
          <p:nvPr/>
        </p:nvSpPr>
        <p:spPr>
          <a:xfrm>
            <a:off x="6682600" y="56002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Sambhav Jaideep</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Front-end </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Web Developer</a:t>
            </a:r>
            <a:endParaRPr sz="1400" b="0" i="0" u="none" strike="noStrike" cap="none">
              <a:solidFill>
                <a:srgbClr val="000000"/>
              </a:solidFill>
              <a:latin typeface="Roboto"/>
              <a:ea typeface="Roboto"/>
              <a:cs typeface="Roboto"/>
              <a:sym typeface="Roboto"/>
            </a:endParaRPr>
          </a:p>
        </p:txBody>
      </p:sp>
      <p:sp>
        <p:nvSpPr>
          <p:cNvPr id="86" name="Google Shape;86;p2"/>
          <p:cNvSpPr txBox="1"/>
          <p:nvPr/>
        </p:nvSpPr>
        <p:spPr>
          <a:xfrm>
            <a:off x="6687563" y="29478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Nidhi Pai</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Data Scientist</a:t>
            </a:r>
            <a:endParaRPr sz="1400" b="0" i="0" u="none" strike="noStrike" cap="none">
              <a:solidFill>
                <a:srgbClr val="000000"/>
              </a:solidFill>
              <a:latin typeface="Roboto"/>
              <a:ea typeface="Roboto"/>
              <a:cs typeface="Roboto"/>
              <a:sym typeface="Roboto"/>
            </a:endParaRPr>
          </a:p>
        </p:txBody>
      </p:sp>
      <p:sp>
        <p:nvSpPr>
          <p:cNvPr id="87" name="Google Shape;87;p2"/>
          <p:cNvSpPr/>
          <p:nvPr/>
        </p:nvSpPr>
        <p:spPr>
          <a:xfrm>
            <a:off x="7001200" y="4275100"/>
            <a:ext cx="1153200" cy="1183500"/>
          </a:xfrm>
          <a:prstGeom prst="smileyFace">
            <a:avLst>
              <a:gd name="adj" fmla="val 4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
          <p:cNvSpPr txBox="1"/>
          <p:nvPr/>
        </p:nvSpPr>
        <p:spPr>
          <a:xfrm>
            <a:off x="9207425" y="409525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Pratik Agarwal</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Project Manager</a:t>
            </a:r>
            <a:endParaRPr sz="1400" b="0" i="0" u="none" strike="noStrike" cap="none">
              <a:solidFill>
                <a:srgbClr val="000000"/>
              </a:solidFill>
              <a:latin typeface="Roboto"/>
              <a:ea typeface="Roboto"/>
              <a:cs typeface="Roboto"/>
              <a:sym typeface="Roboto"/>
            </a:endParaRPr>
          </a:p>
        </p:txBody>
      </p:sp>
      <p:pic>
        <p:nvPicPr>
          <p:cNvPr id="89" name="Google Shape;89;p2"/>
          <p:cNvPicPr preferRelativeResize="0"/>
          <p:nvPr/>
        </p:nvPicPr>
        <p:blipFill rotWithShape="1">
          <a:blip r:embed="rId3">
            <a:alphaModFix/>
          </a:blip>
          <a:srcRect/>
          <a:stretch/>
        </p:blipFill>
        <p:spPr>
          <a:xfrm>
            <a:off x="6953050" y="4242100"/>
            <a:ext cx="1249500" cy="1249500"/>
          </a:xfrm>
          <a:prstGeom prst="ellipse">
            <a:avLst/>
          </a:prstGeom>
          <a:noFill/>
          <a:ln>
            <a:noFill/>
          </a:ln>
        </p:spPr>
      </p:pic>
      <p:sp>
        <p:nvSpPr>
          <p:cNvPr id="90" name="Google Shape;90;p2"/>
          <p:cNvSpPr/>
          <p:nvPr/>
        </p:nvSpPr>
        <p:spPr>
          <a:xfrm>
            <a:off x="4404700" y="4329100"/>
            <a:ext cx="1153200" cy="1183500"/>
          </a:xfrm>
          <a:prstGeom prst="smileyFace">
            <a:avLst>
              <a:gd name="adj" fmla="val 4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1" name="Google Shape;91;p2"/>
          <p:cNvPicPr preferRelativeResize="0"/>
          <p:nvPr/>
        </p:nvPicPr>
        <p:blipFill rotWithShape="1">
          <a:blip r:embed="rId4">
            <a:alphaModFix/>
          </a:blip>
          <a:srcRect l="2552" r="2561"/>
          <a:stretch/>
        </p:blipFill>
        <p:spPr>
          <a:xfrm>
            <a:off x="6927588" y="1554300"/>
            <a:ext cx="1252800" cy="1320300"/>
          </a:xfrm>
          <a:prstGeom prst="ellipse">
            <a:avLst/>
          </a:prstGeom>
          <a:noFill/>
          <a:ln>
            <a:noFill/>
          </a:ln>
        </p:spPr>
      </p:pic>
      <p:pic>
        <p:nvPicPr>
          <p:cNvPr id="92" name="Google Shape;92;p2"/>
          <p:cNvPicPr preferRelativeResize="0"/>
          <p:nvPr/>
        </p:nvPicPr>
        <p:blipFill rotWithShape="1">
          <a:blip r:embed="rId5">
            <a:alphaModFix/>
          </a:blip>
          <a:srcRect/>
          <a:stretch/>
        </p:blipFill>
        <p:spPr>
          <a:xfrm>
            <a:off x="1866300" y="4329112"/>
            <a:ext cx="1252800" cy="1269000"/>
          </a:xfrm>
          <a:prstGeom prst="ellipse">
            <a:avLst/>
          </a:prstGeom>
          <a:noFill/>
          <a:ln>
            <a:noFill/>
          </a:ln>
          <a:effectLst>
            <a:outerShdw blurRad="57150" dist="19050" dir="5400000" algn="bl" rotWithShape="0">
              <a:srgbClr val="000000">
                <a:alpha val="49019"/>
              </a:srgbClr>
            </a:outerShdw>
          </a:effectLst>
        </p:spPr>
      </p:pic>
      <p:pic>
        <p:nvPicPr>
          <p:cNvPr id="93" name="Google Shape;93;p2"/>
          <p:cNvPicPr preferRelativeResize="0"/>
          <p:nvPr/>
        </p:nvPicPr>
        <p:blipFill rotWithShape="1">
          <a:blip r:embed="rId6">
            <a:alphaModFix/>
          </a:blip>
          <a:srcRect/>
          <a:stretch/>
        </p:blipFill>
        <p:spPr>
          <a:xfrm>
            <a:off x="9458825" y="2737800"/>
            <a:ext cx="1413775" cy="1413750"/>
          </a:xfrm>
          <a:prstGeom prst="rect">
            <a:avLst/>
          </a:prstGeom>
          <a:noFill/>
          <a:ln>
            <a:noFill/>
          </a:ln>
        </p:spPr>
      </p:pic>
      <p:sp>
        <p:nvSpPr>
          <p:cNvPr id="94" name="Google Shape;94;p2"/>
          <p:cNvSpPr txBox="1"/>
          <p:nvPr/>
        </p:nvSpPr>
        <p:spPr>
          <a:xfrm>
            <a:off x="1537750" y="28254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Malav Patel</a:t>
            </a: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Data Scientist</a:t>
            </a:r>
            <a:endParaRPr sz="1400" b="0" i="0" u="none" strike="noStrike" cap="none">
              <a:solidFill>
                <a:srgbClr val="000000"/>
              </a:solidFill>
              <a:latin typeface="Roboto"/>
              <a:ea typeface="Roboto"/>
              <a:cs typeface="Roboto"/>
              <a:sym typeface="Roboto"/>
            </a:endParaRPr>
          </a:p>
        </p:txBody>
      </p:sp>
      <p:sp>
        <p:nvSpPr>
          <p:cNvPr id="95" name="Google Shape;95;p2"/>
          <p:cNvSpPr txBox="1"/>
          <p:nvPr/>
        </p:nvSpPr>
        <p:spPr>
          <a:xfrm>
            <a:off x="4110175" y="2825400"/>
            <a:ext cx="1790400" cy="64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Sarah Kaufman</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a:ea typeface="Roboto"/>
                <a:cs typeface="Roboto"/>
                <a:sym typeface="Roboto"/>
              </a:rPr>
              <a:t>Data Scientist</a:t>
            </a:r>
            <a:endParaRPr sz="1400" b="0" i="0" u="none" strike="noStrike" cap="none">
              <a:solidFill>
                <a:srgbClr val="000000"/>
              </a:solidFill>
              <a:latin typeface="Roboto"/>
              <a:ea typeface="Roboto"/>
              <a:cs typeface="Roboto"/>
              <a:sym typeface="Roboto"/>
            </a:endParaRPr>
          </a:p>
        </p:txBody>
      </p:sp>
      <p:pic>
        <p:nvPicPr>
          <p:cNvPr id="96" name="Google Shape;96;p2"/>
          <p:cNvPicPr preferRelativeResize="0"/>
          <p:nvPr/>
        </p:nvPicPr>
        <p:blipFill rotWithShape="1">
          <a:blip r:embed="rId7">
            <a:alphaModFix/>
          </a:blip>
          <a:srcRect t="20468" b="15388"/>
          <a:stretch/>
        </p:blipFill>
        <p:spPr>
          <a:xfrm>
            <a:off x="4356550" y="4214050"/>
            <a:ext cx="1249500" cy="1413600"/>
          </a:xfrm>
          <a:prstGeom prst="ellipse">
            <a:avLst/>
          </a:prstGeom>
          <a:noFill/>
          <a:ln>
            <a:noFill/>
          </a:ln>
        </p:spPr>
      </p:pic>
      <p:pic>
        <p:nvPicPr>
          <p:cNvPr id="97" name="Google Shape;97;p2"/>
          <p:cNvPicPr preferRelativeResize="0"/>
          <p:nvPr/>
        </p:nvPicPr>
        <p:blipFill rotWithShape="1">
          <a:blip r:embed="rId8">
            <a:alphaModFix/>
          </a:blip>
          <a:srcRect/>
          <a:stretch/>
        </p:blipFill>
        <p:spPr>
          <a:xfrm>
            <a:off x="1715699" y="1554300"/>
            <a:ext cx="1367439" cy="1320300"/>
          </a:xfrm>
          <a:prstGeom prst="rect">
            <a:avLst/>
          </a:prstGeom>
          <a:noFill/>
          <a:ln>
            <a:noFill/>
          </a:ln>
        </p:spPr>
      </p:pic>
      <p:pic>
        <p:nvPicPr>
          <p:cNvPr id="98" name="Google Shape;98;p2"/>
          <p:cNvPicPr preferRelativeResize="0"/>
          <p:nvPr/>
        </p:nvPicPr>
        <p:blipFill rotWithShape="1">
          <a:blip r:embed="rId9">
            <a:alphaModFix/>
          </a:blip>
          <a:srcRect l="13267" r="13267"/>
          <a:stretch/>
        </p:blipFill>
        <p:spPr>
          <a:xfrm>
            <a:off x="4321649" y="1505100"/>
            <a:ext cx="1367400" cy="13203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9d48565bb2_0_0"/>
          <p:cNvSpPr txBox="1">
            <a:spLocks noGrp="1"/>
          </p:cNvSpPr>
          <p:nvPr>
            <p:ph type="body" idx="1"/>
          </p:nvPr>
        </p:nvSpPr>
        <p:spPr>
          <a:xfrm>
            <a:off x="381000" y="1215475"/>
            <a:ext cx="7187100" cy="4596300"/>
          </a:xfrm>
          <a:prstGeom prst="rect">
            <a:avLst/>
          </a:prstGeom>
          <a:noFill/>
          <a:ln>
            <a:noFill/>
          </a:ln>
        </p:spPr>
        <p:txBody>
          <a:bodyPr spcFirstLastPara="1" wrap="square" lIns="91425" tIns="45700" rIns="91425" bIns="45700" anchor="t" anchorCtr="0">
            <a:noAutofit/>
          </a:bodyPr>
          <a:lstStyle/>
          <a:p>
            <a:pPr marL="457200" lvl="0" indent="-317500" algn="l" rtl="0">
              <a:lnSpc>
                <a:spcPct val="100000"/>
              </a:lnSpc>
              <a:spcBef>
                <a:spcPts val="1500"/>
              </a:spcBef>
              <a:spcAft>
                <a:spcPts val="0"/>
              </a:spcAft>
              <a:buSzPts val="1400"/>
              <a:buChar char="●"/>
            </a:pPr>
            <a:r>
              <a:rPr lang="en-US" sz="2400" b="1"/>
              <a:t>Discussion forums</a:t>
            </a:r>
            <a:endParaRPr sz="2400" b="1"/>
          </a:p>
          <a:p>
            <a:pPr marL="914400" lvl="1" indent="-330200" algn="l" rtl="0">
              <a:lnSpc>
                <a:spcPct val="100000"/>
              </a:lnSpc>
              <a:spcBef>
                <a:spcPts val="1500"/>
              </a:spcBef>
              <a:spcAft>
                <a:spcPts val="0"/>
              </a:spcAft>
              <a:buSzPts val="1600"/>
              <a:buChar char="•"/>
            </a:pPr>
            <a:r>
              <a:rPr lang="en-US" sz="2200"/>
              <a:t>Online formats - primary source of interaction</a:t>
            </a:r>
            <a:endParaRPr sz="2200"/>
          </a:p>
          <a:p>
            <a:pPr marL="914400" lvl="1" indent="-368300" algn="l" rtl="0">
              <a:lnSpc>
                <a:spcPct val="100000"/>
              </a:lnSpc>
              <a:spcBef>
                <a:spcPts val="1500"/>
              </a:spcBef>
              <a:spcAft>
                <a:spcPts val="0"/>
              </a:spcAft>
              <a:buSzPts val="2200"/>
              <a:buChar char="•"/>
            </a:pPr>
            <a:r>
              <a:rPr lang="en-US" sz="2200"/>
              <a:t>CS 6601 -</a:t>
            </a:r>
            <a:r>
              <a:rPr lang="en-US" sz="2200" b="1"/>
              <a:t> </a:t>
            </a:r>
            <a:r>
              <a:rPr lang="en-US" sz="2200"/>
              <a:t>155 threads, 1494 comments</a:t>
            </a:r>
            <a:endParaRPr sz="2200"/>
          </a:p>
          <a:p>
            <a:pPr marL="457200" lvl="0" indent="-317500" algn="l" rtl="0">
              <a:lnSpc>
                <a:spcPct val="100000"/>
              </a:lnSpc>
              <a:spcBef>
                <a:spcPts val="1500"/>
              </a:spcBef>
              <a:spcAft>
                <a:spcPts val="0"/>
              </a:spcAft>
              <a:buSzPts val="1400"/>
              <a:buChar char="●"/>
            </a:pPr>
            <a:r>
              <a:rPr lang="en-US" sz="2400" b="1"/>
              <a:t>Student interaction</a:t>
            </a:r>
            <a:r>
              <a:rPr lang="en-US" sz="2400"/>
              <a:t> </a:t>
            </a:r>
            <a:endParaRPr sz="2400"/>
          </a:p>
          <a:p>
            <a:pPr marL="914400" lvl="1" indent="-330200" algn="l" rtl="0">
              <a:lnSpc>
                <a:spcPct val="100000"/>
              </a:lnSpc>
              <a:spcBef>
                <a:spcPts val="1500"/>
              </a:spcBef>
              <a:spcAft>
                <a:spcPts val="0"/>
              </a:spcAft>
              <a:buSzPts val="1600"/>
              <a:buChar char="•"/>
            </a:pPr>
            <a:r>
              <a:rPr lang="en-US" sz="2200"/>
              <a:t>Cognitive presence</a:t>
            </a:r>
            <a:endParaRPr sz="2200"/>
          </a:p>
          <a:p>
            <a:pPr marL="914400" lvl="1" indent="-330200" algn="l" rtl="0">
              <a:lnSpc>
                <a:spcPct val="100000"/>
              </a:lnSpc>
              <a:spcBef>
                <a:spcPts val="1500"/>
              </a:spcBef>
              <a:spcAft>
                <a:spcPts val="0"/>
              </a:spcAft>
              <a:buSzPts val="1600"/>
              <a:buChar char="•"/>
            </a:pPr>
            <a:r>
              <a:rPr lang="en-US" sz="2200"/>
              <a:t>Social presence</a:t>
            </a:r>
            <a:endParaRPr sz="2200"/>
          </a:p>
          <a:p>
            <a:pPr marL="457200" lvl="0" indent="-317500" algn="l" rtl="0">
              <a:lnSpc>
                <a:spcPct val="100000"/>
              </a:lnSpc>
              <a:spcBef>
                <a:spcPts val="1500"/>
              </a:spcBef>
              <a:spcAft>
                <a:spcPts val="0"/>
              </a:spcAft>
              <a:buSzPts val="1400"/>
              <a:buChar char="●"/>
            </a:pPr>
            <a:r>
              <a:rPr lang="en-US" sz="2400"/>
              <a:t>Activity on forums </a:t>
            </a:r>
            <a:r>
              <a:rPr lang="en-US" sz="2400" b="1"/>
              <a:t>indicative of student engagement and interest</a:t>
            </a:r>
            <a:endParaRPr sz="2400" b="1"/>
          </a:p>
          <a:p>
            <a:pPr marL="457200" lvl="0" indent="-317500" algn="l" rtl="0">
              <a:lnSpc>
                <a:spcPct val="100000"/>
              </a:lnSpc>
              <a:spcBef>
                <a:spcPts val="1500"/>
              </a:spcBef>
              <a:spcAft>
                <a:spcPts val="1500"/>
              </a:spcAft>
              <a:buSzPts val="1400"/>
              <a:buChar char="●"/>
            </a:pPr>
            <a:r>
              <a:rPr lang="en-US" sz="2400" b="1"/>
              <a:t>Goal:</a:t>
            </a:r>
            <a:r>
              <a:rPr lang="en-US" sz="2400"/>
              <a:t> Creating a web application to be used by professors to make their courses more effective and engaging</a:t>
            </a:r>
            <a:endParaRPr sz="2400"/>
          </a:p>
        </p:txBody>
      </p:sp>
      <p:sp>
        <p:nvSpPr>
          <p:cNvPr id="104" name="Google Shape;104;g9d48565bb2_0_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Introduction</a:t>
            </a:r>
            <a:endParaRPr/>
          </a:p>
        </p:txBody>
      </p:sp>
      <p:pic>
        <p:nvPicPr>
          <p:cNvPr id="105" name="Google Shape;105;g9d48565bb2_0_0"/>
          <p:cNvPicPr preferRelativeResize="0"/>
          <p:nvPr/>
        </p:nvPicPr>
        <p:blipFill rotWithShape="1">
          <a:blip r:embed="rId3">
            <a:alphaModFix/>
          </a:blip>
          <a:srcRect/>
          <a:stretch/>
        </p:blipFill>
        <p:spPr>
          <a:xfrm>
            <a:off x="6123100" y="1018700"/>
            <a:ext cx="3108126" cy="802100"/>
          </a:xfrm>
          <a:prstGeom prst="rect">
            <a:avLst/>
          </a:prstGeom>
          <a:noFill/>
          <a:ln>
            <a:noFill/>
          </a:ln>
        </p:spPr>
      </p:pic>
      <p:pic>
        <p:nvPicPr>
          <p:cNvPr id="106" name="Google Shape;106;g9d48565bb2_0_0"/>
          <p:cNvPicPr preferRelativeResize="0"/>
          <p:nvPr/>
        </p:nvPicPr>
        <p:blipFill rotWithShape="1">
          <a:blip r:embed="rId4">
            <a:alphaModFix/>
          </a:blip>
          <a:srcRect/>
          <a:stretch/>
        </p:blipFill>
        <p:spPr>
          <a:xfrm>
            <a:off x="7568100" y="1950800"/>
            <a:ext cx="4442200" cy="399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104582646e5_0_15"/>
          <p:cNvSpPr txBox="1">
            <a:spLocks noGrp="1"/>
          </p:cNvSpPr>
          <p:nvPr>
            <p:ph type="body" idx="1"/>
          </p:nvPr>
        </p:nvSpPr>
        <p:spPr>
          <a:xfrm>
            <a:off x="381000" y="4867276"/>
            <a:ext cx="11430000" cy="1739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500"/>
              </a:spcBef>
              <a:spcAft>
                <a:spcPts val="0"/>
              </a:spcAft>
              <a:buSzPts val="1800"/>
              <a:buNone/>
            </a:pPr>
            <a:r>
              <a:rPr lang="en-US" sz="2600" b="1"/>
              <a:t>Learnings and Challenges as a Project Manager:</a:t>
            </a:r>
            <a:endParaRPr sz="2600" b="1"/>
          </a:p>
          <a:p>
            <a:pPr marL="457200" lvl="0" indent="-355600" algn="l" rtl="0">
              <a:lnSpc>
                <a:spcPct val="100000"/>
              </a:lnSpc>
              <a:spcBef>
                <a:spcPts val="1500"/>
              </a:spcBef>
              <a:spcAft>
                <a:spcPts val="0"/>
              </a:spcAft>
              <a:buSzPts val="2000"/>
              <a:buChar char="•"/>
            </a:pPr>
            <a:r>
              <a:rPr lang="en-US" sz="2000"/>
              <a:t>Important to coordinate the team as a whole, and scheduling of project tasks</a:t>
            </a:r>
            <a:endParaRPr sz="2000"/>
          </a:p>
          <a:p>
            <a:pPr marL="457200" lvl="0" indent="-355600" algn="l" rtl="0">
              <a:lnSpc>
                <a:spcPct val="100000"/>
              </a:lnSpc>
              <a:spcBef>
                <a:spcPts val="0"/>
              </a:spcBef>
              <a:spcAft>
                <a:spcPts val="0"/>
              </a:spcAft>
              <a:buSzPts val="2000"/>
              <a:buChar char="•"/>
            </a:pPr>
            <a:r>
              <a:rPr lang="en-US" sz="2000"/>
              <a:t>Set expectations clearly at the start of semester for the team and each individual</a:t>
            </a:r>
            <a:endParaRPr sz="2000"/>
          </a:p>
          <a:p>
            <a:pPr marL="457200" lvl="0" indent="-355600" algn="l" rtl="0">
              <a:lnSpc>
                <a:spcPct val="100000"/>
              </a:lnSpc>
              <a:spcBef>
                <a:spcPts val="0"/>
              </a:spcBef>
              <a:spcAft>
                <a:spcPts val="0"/>
              </a:spcAft>
              <a:buSzPts val="2000"/>
              <a:buChar char="•"/>
            </a:pPr>
            <a:r>
              <a:rPr lang="en-US" sz="2000"/>
              <a:t>Quicker iterations and faster feedback loops - focus on quick launch</a:t>
            </a:r>
            <a:endParaRPr sz="2000"/>
          </a:p>
        </p:txBody>
      </p:sp>
      <p:sp>
        <p:nvSpPr>
          <p:cNvPr id="112" name="Google Shape;112;g104582646e5_0_15"/>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Overall results and project goals for next semester</a:t>
            </a:r>
            <a:endParaRPr/>
          </a:p>
        </p:txBody>
      </p:sp>
      <p:graphicFrame>
        <p:nvGraphicFramePr>
          <p:cNvPr id="113" name="Google Shape;113;g104582646e5_0_15"/>
          <p:cNvGraphicFramePr/>
          <p:nvPr/>
        </p:nvGraphicFramePr>
        <p:xfrm>
          <a:off x="620313" y="1215617"/>
          <a:ext cx="10694175" cy="3535560"/>
        </p:xfrm>
        <a:graphic>
          <a:graphicData uri="http://schemas.openxmlformats.org/drawingml/2006/table">
            <a:tbl>
              <a:tblPr>
                <a:noFill/>
                <a:tableStyleId>{B8C85661-2F1D-43B8-8111-96E062A24845}</a:tableStyleId>
              </a:tblPr>
              <a:tblGrid>
                <a:gridCol w="3564725">
                  <a:extLst>
                    <a:ext uri="{9D8B030D-6E8A-4147-A177-3AD203B41FA5}">
                      <a16:colId xmlns:a16="http://schemas.microsoft.com/office/drawing/2014/main" val="20000"/>
                    </a:ext>
                  </a:extLst>
                </a:gridCol>
                <a:gridCol w="3564725">
                  <a:extLst>
                    <a:ext uri="{9D8B030D-6E8A-4147-A177-3AD203B41FA5}">
                      <a16:colId xmlns:a16="http://schemas.microsoft.com/office/drawing/2014/main" val="20001"/>
                    </a:ext>
                  </a:extLst>
                </a:gridCol>
                <a:gridCol w="3564725">
                  <a:extLst>
                    <a:ext uri="{9D8B030D-6E8A-4147-A177-3AD203B41FA5}">
                      <a16:colId xmlns:a16="http://schemas.microsoft.com/office/drawing/2014/main" val="20002"/>
                    </a:ext>
                  </a:extLst>
                </a:gridCol>
              </a:tblGrid>
              <a:tr h="398225">
                <a:tc>
                  <a:txBody>
                    <a:bodyPr/>
                    <a:lstStyle/>
                    <a:p>
                      <a:pPr marL="0" lvl="0" indent="0" algn="ctr" rtl="0">
                        <a:spcBef>
                          <a:spcPts val="0"/>
                        </a:spcBef>
                        <a:spcAft>
                          <a:spcPts val="0"/>
                        </a:spcAft>
                        <a:buNone/>
                      </a:pPr>
                      <a:r>
                        <a:rPr lang="en-US" sz="2400" b="1">
                          <a:latin typeface="Roboto"/>
                          <a:ea typeface="Roboto"/>
                          <a:cs typeface="Roboto"/>
                          <a:sym typeface="Roboto"/>
                        </a:rPr>
                        <a:t>Category</a:t>
                      </a:r>
                      <a:endParaRPr sz="2400" b="1">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US" sz="2400" b="1">
                          <a:latin typeface="Roboto"/>
                          <a:ea typeface="Roboto"/>
                          <a:cs typeface="Roboto"/>
                          <a:sym typeface="Roboto"/>
                        </a:rPr>
                        <a:t>Accomplished</a:t>
                      </a:r>
                      <a:endParaRPr sz="2400" b="1">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US" sz="2400" b="1">
                          <a:latin typeface="Roboto"/>
                          <a:ea typeface="Roboto"/>
                          <a:cs typeface="Roboto"/>
                          <a:sym typeface="Roboto"/>
                        </a:rPr>
                        <a:t>Next Goals</a:t>
                      </a:r>
                      <a:endParaRPr sz="2400" b="1">
                        <a:latin typeface="Roboto"/>
                        <a:ea typeface="Roboto"/>
                        <a:cs typeface="Roboto"/>
                        <a:sym typeface="Roboto"/>
                      </a:endParaRPr>
                    </a:p>
                  </a:txBody>
                  <a:tcPr marL="91425" marR="91425" marT="91425" marB="91425"/>
                </a:tc>
                <a:extLst>
                  <a:ext uri="{0D108BD9-81ED-4DB2-BD59-A6C34878D82A}">
                    <a16:rowId xmlns:a16="http://schemas.microsoft.com/office/drawing/2014/main" val="10000"/>
                  </a:ext>
                </a:extLst>
              </a:tr>
              <a:tr h="488900">
                <a:tc>
                  <a:txBody>
                    <a:bodyPr/>
                    <a:lstStyle/>
                    <a:p>
                      <a:pPr marL="0" lvl="0" indent="0" algn="ctr" rtl="0">
                        <a:spcBef>
                          <a:spcPts val="0"/>
                        </a:spcBef>
                        <a:spcAft>
                          <a:spcPts val="0"/>
                        </a:spcAft>
                        <a:buNone/>
                      </a:pPr>
                      <a:r>
                        <a:rPr lang="en-US" sz="1600">
                          <a:latin typeface="Roboto"/>
                          <a:ea typeface="Roboto"/>
                          <a:cs typeface="Roboto"/>
                          <a:sym typeface="Roboto"/>
                        </a:rPr>
                        <a:t>Web Dev</a:t>
                      </a:r>
                      <a:endParaRPr sz="1600">
                        <a:latin typeface="Roboto"/>
                        <a:ea typeface="Roboto"/>
                        <a:cs typeface="Roboto"/>
                        <a:sym typeface="Roboto"/>
                      </a:endParaRPr>
                    </a:p>
                  </a:txBody>
                  <a:tcPr marL="91425" marR="91425" marT="91425" marB="91425"/>
                </a:tc>
                <a:tc>
                  <a:txBody>
                    <a:bodyPr/>
                    <a:lstStyle/>
                    <a:p>
                      <a:pPr marL="457200" lvl="0" indent="-330200" algn="l" rtl="0">
                        <a:spcBef>
                          <a:spcPts val="0"/>
                        </a:spcBef>
                        <a:spcAft>
                          <a:spcPts val="0"/>
                        </a:spcAft>
                        <a:buSzPts val="1600"/>
                        <a:buFont typeface="Roboto"/>
                        <a:buChar char="●"/>
                      </a:pPr>
                      <a:r>
                        <a:rPr lang="en-US" sz="1600">
                          <a:latin typeface="Roboto"/>
                          <a:ea typeface="Roboto"/>
                          <a:cs typeface="Roboto"/>
                          <a:sym typeface="Roboto"/>
                        </a:rPr>
                        <a:t>Working dashboard on real data (sentiment)</a:t>
                      </a:r>
                      <a:endParaRPr sz="1600">
                        <a:latin typeface="Roboto"/>
                        <a:ea typeface="Roboto"/>
                        <a:cs typeface="Roboto"/>
                        <a:sym typeface="Roboto"/>
                      </a:endParaRPr>
                    </a:p>
                  </a:txBody>
                  <a:tcPr marL="91425" marR="91425" marT="91425" marB="91425"/>
                </a:tc>
                <a:tc>
                  <a:txBody>
                    <a:bodyPr/>
                    <a:lstStyle/>
                    <a:p>
                      <a:pPr marL="457200" lvl="0" indent="-330200" algn="l" rtl="0">
                        <a:spcBef>
                          <a:spcPts val="0"/>
                        </a:spcBef>
                        <a:spcAft>
                          <a:spcPts val="0"/>
                        </a:spcAft>
                        <a:buSzPts val="1600"/>
                        <a:buFont typeface="Roboto"/>
                        <a:buChar char="●"/>
                      </a:pPr>
                      <a:r>
                        <a:rPr lang="en-US" sz="1600">
                          <a:latin typeface="Roboto"/>
                          <a:ea typeface="Roboto"/>
                          <a:cs typeface="Roboto"/>
                          <a:sym typeface="Roboto"/>
                        </a:rPr>
                        <a:t>Pilot testing with real users (instructors)</a:t>
                      </a:r>
                      <a:endParaRPr sz="1600">
                        <a:latin typeface="Roboto"/>
                        <a:ea typeface="Roboto"/>
                        <a:cs typeface="Roboto"/>
                        <a:sym typeface="Roboto"/>
                      </a:endParaRPr>
                    </a:p>
                    <a:p>
                      <a:pPr marL="457200" lvl="0" indent="-330200" algn="l" rtl="0">
                        <a:spcBef>
                          <a:spcPts val="0"/>
                        </a:spcBef>
                        <a:spcAft>
                          <a:spcPts val="0"/>
                        </a:spcAft>
                        <a:buSzPts val="1600"/>
                        <a:buFont typeface="Roboto"/>
                        <a:buChar char="●"/>
                      </a:pPr>
                      <a:r>
                        <a:rPr lang="en-US" sz="1600">
                          <a:latin typeface="Roboto"/>
                          <a:ea typeface="Roboto"/>
                          <a:cs typeface="Roboto"/>
                          <a:sym typeface="Roboto"/>
                        </a:rPr>
                        <a:t>Integration with Piazza/Ed</a:t>
                      </a:r>
                      <a:endParaRPr sz="1600">
                        <a:latin typeface="Roboto"/>
                        <a:ea typeface="Roboto"/>
                        <a:cs typeface="Roboto"/>
                        <a:sym typeface="Roboto"/>
                      </a:endParaRPr>
                    </a:p>
                  </a:txBody>
                  <a:tcPr marL="91425" marR="91425" marT="91425" marB="91425"/>
                </a:tc>
                <a:extLst>
                  <a:ext uri="{0D108BD9-81ED-4DB2-BD59-A6C34878D82A}">
                    <a16:rowId xmlns:a16="http://schemas.microsoft.com/office/drawing/2014/main" val="10001"/>
                  </a:ext>
                </a:extLst>
              </a:tr>
              <a:tr h="508400">
                <a:tc>
                  <a:txBody>
                    <a:bodyPr/>
                    <a:lstStyle/>
                    <a:p>
                      <a:pPr marL="0" lvl="0" indent="0" algn="ctr" rtl="0">
                        <a:spcBef>
                          <a:spcPts val="0"/>
                        </a:spcBef>
                        <a:spcAft>
                          <a:spcPts val="0"/>
                        </a:spcAft>
                        <a:buNone/>
                      </a:pPr>
                      <a:r>
                        <a:rPr lang="en-US" sz="1600">
                          <a:latin typeface="Roboto"/>
                          <a:ea typeface="Roboto"/>
                          <a:cs typeface="Roboto"/>
                          <a:sym typeface="Roboto"/>
                        </a:rPr>
                        <a:t>UX Research</a:t>
                      </a:r>
                      <a:endParaRPr sz="1600">
                        <a:latin typeface="Roboto"/>
                        <a:ea typeface="Roboto"/>
                        <a:cs typeface="Roboto"/>
                        <a:sym typeface="Roboto"/>
                      </a:endParaRPr>
                    </a:p>
                  </a:txBody>
                  <a:tcPr marL="91425" marR="91425" marT="91425" marB="91425"/>
                </a:tc>
                <a:tc>
                  <a:txBody>
                    <a:bodyPr/>
                    <a:lstStyle/>
                    <a:p>
                      <a:pPr marL="457200" lvl="0" indent="-330200" algn="l" rtl="0">
                        <a:spcBef>
                          <a:spcPts val="0"/>
                        </a:spcBef>
                        <a:spcAft>
                          <a:spcPts val="0"/>
                        </a:spcAft>
                        <a:buSzPts val="1600"/>
                        <a:buFont typeface="Roboto"/>
                        <a:buChar char="●"/>
                      </a:pPr>
                      <a:r>
                        <a:rPr lang="en-US" sz="1600">
                          <a:latin typeface="Roboto"/>
                          <a:ea typeface="Roboto"/>
                          <a:cs typeface="Roboto"/>
                          <a:sym typeface="Roboto"/>
                        </a:rPr>
                        <a:t>Identified few key features of importance to instructors</a:t>
                      </a:r>
                      <a:endParaRPr sz="1600">
                        <a:latin typeface="Roboto"/>
                        <a:ea typeface="Roboto"/>
                        <a:cs typeface="Roboto"/>
                        <a:sym typeface="Roboto"/>
                      </a:endParaRPr>
                    </a:p>
                  </a:txBody>
                  <a:tcPr marL="91425" marR="91425" marT="91425" marB="91425"/>
                </a:tc>
                <a:tc>
                  <a:txBody>
                    <a:bodyPr/>
                    <a:lstStyle/>
                    <a:p>
                      <a:pPr marL="457200" lvl="0" indent="-330200" algn="l" rtl="0">
                        <a:spcBef>
                          <a:spcPts val="0"/>
                        </a:spcBef>
                        <a:spcAft>
                          <a:spcPts val="0"/>
                        </a:spcAft>
                        <a:buSzPts val="1600"/>
                        <a:buFont typeface="Roboto"/>
                        <a:buChar char="●"/>
                      </a:pPr>
                      <a:r>
                        <a:rPr lang="en-US" sz="1600">
                          <a:latin typeface="Roboto"/>
                          <a:ea typeface="Roboto"/>
                          <a:cs typeface="Roboto"/>
                          <a:sym typeface="Roboto"/>
                        </a:rPr>
                        <a:t>Create relevant metrics from forums data</a:t>
                      </a:r>
                      <a:endParaRPr sz="1600">
                        <a:latin typeface="Roboto"/>
                        <a:ea typeface="Roboto"/>
                        <a:cs typeface="Roboto"/>
                        <a:sym typeface="Roboto"/>
                      </a:endParaRPr>
                    </a:p>
                    <a:p>
                      <a:pPr marL="457200" lvl="0" indent="-330200" algn="l" rtl="0">
                        <a:spcBef>
                          <a:spcPts val="0"/>
                        </a:spcBef>
                        <a:spcAft>
                          <a:spcPts val="0"/>
                        </a:spcAft>
                        <a:buSzPts val="1600"/>
                        <a:buFont typeface="Roboto"/>
                        <a:buChar char="●"/>
                      </a:pPr>
                      <a:r>
                        <a:rPr lang="en-US" sz="1600">
                          <a:latin typeface="Roboto"/>
                          <a:ea typeface="Roboto"/>
                          <a:cs typeface="Roboto"/>
                          <a:sym typeface="Roboto"/>
                        </a:rPr>
                        <a:t>Pilot study on a real course</a:t>
                      </a:r>
                      <a:endParaRPr sz="1600">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508400">
                <a:tc>
                  <a:txBody>
                    <a:bodyPr/>
                    <a:lstStyle/>
                    <a:p>
                      <a:pPr marL="0" lvl="0" indent="0" algn="ctr" rtl="0">
                        <a:spcBef>
                          <a:spcPts val="0"/>
                        </a:spcBef>
                        <a:spcAft>
                          <a:spcPts val="0"/>
                        </a:spcAft>
                        <a:buNone/>
                      </a:pPr>
                      <a:r>
                        <a:rPr lang="en-US" sz="1600">
                          <a:latin typeface="Roboto"/>
                          <a:ea typeface="Roboto"/>
                          <a:cs typeface="Roboto"/>
                          <a:sym typeface="Roboto"/>
                        </a:rPr>
                        <a:t>Data Science</a:t>
                      </a:r>
                      <a:endParaRPr sz="1600">
                        <a:latin typeface="Roboto"/>
                        <a:ea typeface="Roboto"/>
                        <a:cs typeface="Roboto"/>
                        <a:sym typeface="Roboto"/>
                      </a:endParaRPr>
                    </a:p>
                  </a:txBody>
                  <a:tcPr marL="91425" marR="91425" marT="91425" marB="91425"/>
                </a:tc>
                <a:tc>
                  <a:txBody>
                    <a:bodyPr/>
                    <a:lstStyle/>
                    <a:p>
                      <a:pPr marL="457200" lvl="0" indent="-330200" algn="l" rtl="0">
                        <a:spcBef>
                          <a:spcPts val="0"/>
                        </a:spcBef>
                        <a:spcAft>
                          <a:spcPts val="0"/>
                        </a:spcAft>
                        <a:buSzPts val="1600"/>
                        <a:buFont typeface="Roboto"/>
                        <a:buChar char="●"/>
                      </a:pPr>
                      <a:r>
                        <a:rPr lang="en-US" sz="1600">
                          <a:latin typeface="Roboto"/>
                          <a:ea typeface="Roboto"/>
                          <a:cs typeface="Roboto"/>
                          <a:sym typeface="Roboto"/>
                        </a:rPr>
                        <a:t>Sentiment scoring and cognitive presence model on Piazza+EdX</a:t>
                      </a:r>
                      <a:endParaRPr sz="1600">
                        <a:latin typeface="Roboto"/>
                        <a:ea typeface="Roboto"/>
                        <a:cs typeface="Roboto"/>
                        <a:sym typeface="Roboto"/>
                      </a:endParaRPr>
                    </a:p>
                    <a:p>
                      <a:pPr marL="457200" lvl="0" indent="-330200" algn="l" rtl="0">
                        <a:spcBef>
                          <a:spcPts val="0"/>
                        </a:spcBef>
                        <a:spcAft>
                          <a:spcPts val="0"/>
                        </a:spcAft>
                        <a:buSzPts val="1600"/>
                        <a:buFont typeface="Roboto"/>
                        <a:buChar char="●"/>
                      </a:pPr>
                      <a:r>
                        <a:rPr lang="en-US" sz="1600">
                          <a:latin typeface="Roboto"/>
                          <a:ea typeface="Roboto"/>
                          <a:cs typeface="Roboto"/>
                          <a:sym typeface="Roboto"/>
                        </a:rPr>
                        <a:t>Analysis of top contributors and correlation with grades</a:t>
                      </a:r>
                      <a:endParaRPr sz="1600">
                        <a:latin typeface="Roboto"/>
                        <a:ea typeface="Roboto"/>
                        <a:cs typeface="Roboto"/>
                        <a:sym typeface="Roboto"/>
                      </a:endParaRPr>
                    </a:p>
                  </a:txBody>
                  <a:tcPr marL="91425" marR="91425" marT="91425" marB="91425"/>
                </a:tc>
                <a:tc>
                  <a:txBody>
                    <a:bodyPr/>
                    <a:lstStyle/>
                    <a:p>
                      <a:pPr marL="457200" lvl="0" indent="-330200" algn="l" rtl="0">
                        <a:spcBef>
                          <a:spcPts val="0"/>
                        </a:spcBef>
                        <a:spcAft>
                          <a:spcPts val="0"/>
                        </a:spcAft>
                        <a:buSzPts val="1600"/>
                        <a:buFont typeface="Roboto"/>
                        <a:buChar char="●"/>
                      </a:pPr>
                      <a:r>
                        <a:rPr lang="en-US" sz="1600">
                          <a:latin typeface="Roboto"/>
                          <a:ea typeface="Roboto"/>
                          <a:cs typeface="Roboto"/>
                          <a:sym typeface="Roboto"/>
                        </a:rPr>
                        <a:t>Use cognitive presence to inform metrics of relevance</a:t>
                      </a:r>
                      <a:endParaRPr sz="1600">
                        <a:latin typeface="Roboto"/>
                        <a:ea typeface="Roboto"/>
                        <a:cs typeface="Roboto"/>
                        <a:sym typeface="Roboto"/>
                      </a:endParaRPr>
                    </a:p>
                    <a:p>
                      <a:pPr marL="457200" lvl="0" indent="-330200" algn="l" rtl="0">
                        <a:spcBef>
                          <a:spcPts val="0"/>
                        </a:spcBef>
                        <a:spcAft>
                          <a:spcPts val="0"/>
                        </a:spcAft>
                        <a:buSzPts val="1600"/>
                        <a:buFont typeface="Roboto"/>
                        <a:buChar char="●"/>
                      </a:pPr>
                      <a:r>
                        <a:rPr lang="en-US" sz="1600">
                          <a:latin typeface="Roboto"/>
                          <a:ea typeface="Roboto"/>
                          <a:cs typeface="Roboto"/>
                          <a:sym typeface="Roboto"/>
                        </a:rPr>
                        <a:t>Identify highly connected and most contributing students</a:t>
                      </a:r>
                      <a:endParaRPr sz="1600">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efbeba6a1c_0_0"/>
          <p:cNvSpPr txBox="1">
            <a:spLocks noGrp="1"/>
          </p:cNvSpPr>
          <p:nvPr>
            <p:ph type="title" idx="4294967295"/>
          </p:nvPr>
        </p:nvSpPr>
        <p:spPr>
          <a:xfrm>
            <a:off x="381000" y="292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bea1223c9f_0_11"/>
          <p:cNvSpPr txBox="1">
            <a:spLocks noGrp="1"/>
          </p:cNvSpPr>
          <p:nvPr>
            <p:ph type="body" idx="1"/>
          </p:nvPr>
        </p:nvSpPr>
        <p:spPr>
          <a:xfrm>
            <a:off x="381000" y="2522700"/>
            <a:ext cx="11430000" cy="30273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1000"/>
              </a:spcBef>
              <a:spcAft>
                <a:spcPts val="0"/>
              </a:spcAft>
              <a:buSzPts val="1800"/>
              <a:buNone/>
            </a:pPr>
            <a:r>
              <a:rPr lang="en-US"/>
              <a:t>Identify key factors influencing student </a:t>
            </a:r>
            <a:r>
              <a:rPr lang="en-US" b="1"/>
              <a:t>engagement</a:t>
            </a:r>
            <a:r>
              <a:rPr lang="en-US"/>
              <a:t> and </a:t>
            </a:r>
            <a:r>
              <a:rPr lang="en-US" b="1"/>
              <a:t>performance </a:t>
            </a:r>
            <a:r>
              <a:rPr lang="en-US"/>
              <a:t>in an asynchronous online classroom using the </a:t>
            </a:r>
            <a:r>
              <a:rPr lang="en-US" b="1" u="sng"/>
              <a:t>community of inquiry framework</a:t>
            </a:r>
            <a:r>
              <a:rPr lang="en-US"/>
              <a:t>, and provide actionable insights to the instructors through the </a:t>
            </a:r>
            <a:r>
              <a:rPr lang="en-US" b="1"/>
              <a:t>web app</a:t>
            </a:r>
            <a:r>
              <a:rPr lang="en-US"/>
              <a:t>.</a:t>
            </a:r>
            <a:endParaRPr/>
          </a:p>
          <a:p>
            <a:pPr marL="0" lvl="0" indent="0" algn="just" rtl="0">
              <a:lnSpc>
                <a:spcPct val="90000"/>
              </a:lnSpc>
              <a:spcBef>
                <a:spcPts val="1000"/>
              </a:spcBef>
              <a:spcAft>
                <a:spcPts val="0"/>
              </a:spcAft>
              <a:buSzPts val="1800"/>
              <a:buNone/>
            </a:pPr>
            <a:endParaRPr/>
          </a:p>
          <a:p>
            <a:pPr marL="0" lvl="0" indent="0" algn="just" rtl="0">
              <a:lnSpc>
                <a:spcPct val="90000"/>
              </a:lnSpc>
              <a:spcBef>
                <a:spcPts val="1000"/>
              </a:spcBef>
              <a:spcAft>
                <a:spcPts val="0"/>
              </a:spcAft>
              <a:buSzPts val="1800"/>
              <a:buNone/>
            </a:pPr>
            <a:endParaRPr/>
          </a:p>
        </p:txBody>
      </p:sp>
      <p:sp>
        <p:nvSpPr>
          <p:cNvPr id="124" name="Google Shape;124;gbea1223c9f_0_11"/>
          <p:cNvSpPr txBox="1">
            <a:spLocks noGrp="1"/>
          </p:cNvSpPr>
          <p:nvPr>
            <p:ph type="title"/>
          </p:nvPr>
        </p:nvSpPr>
        <p:spPr>
          <a:xfrm>
            <a:off x="381000" y="212247"/>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Research Goal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efbeba6a1c_0_10"/>
          <p:cNvSpPr txBox="1">
            <a:spLocks noGrp="1"/>
          </p:cNvSpPr>
          <p:nvPr>
            <p:ph type="body" idx="1"/>
          </p:nvPr>
        </p:nvSpPr>
        <p:spPr>
          <a:xfrm>
            <a:off x="118250" y="1227150"/>
            <a:ext cx="11430000" cy="1405800"/>
          </a:xfrm>
          <a:prstGeom prst="rect">
            <a:avLst/>
          </a:prstGeom>
          <a:noFill/>
          <a:ln>
            <a:noFill/>
          </a:ln>
        </p:spPr>
        <p:txBody>
          <a:bodyPr spcFirstLastPara="1" wrap="square" lIns="91425" tIns="45700" rIns="91425" bIns="45700" anchor="t" anchorCtr="0">
            <a:noAutofit/>
          </a:bodyPr>
          <a:lstStyle/>
          <a:p>
            <a:pPr marL="457200" lvl="0" indent="-355600" algn="l" rtl="0">
              <a:lnSpc>
                <a:spcPct val="100000"/>
              </a:lnSpc>
              <a:spcBef>
                <a:spcPts val="1000"/>
              </a:spcBef>
              <a:spcAft>
                <a:spcPts val="0"/>
              </a:spcAft>
              <a:buSzPts val="2000"/>
              <a:buChar char="-"/>
            </a:pPr>
            <a:r>
              <a:rPr lang="en-US" sz="2000" b="1"/>
              <a:t>Flair</a:t>
            </a:r>
            <a:r>
              <a:rPr lang="en-US" sz="2000"/>
              <a:t>: Generated a sentiment along with the confidence level. </a:t>
            </a:r>
            <a:endParaRPr sz="2000"/>
          </a:p>
          <a:p>
            <a:pPr marL="1828800" lvl="0" indent="-292100" algn="l" rtl="0">
              <a:lnSpc>
                <a:spcPct val="100000"/>
              </a:lnSpc>
              <a:spcBef>
                <a:spcPts val="0"/>
              </a:spcBef>
              <a:spcAft>
                <a:spcPts val="0"/>
              </a:spcAft>
              <a:buSzPts val="1000"/>
              <a:buChar char="•"/>
            </a:pPr>
            <a:r>
              <a:rPr lang="en-US" sz="2000"/>
              <a:t>Currently it took about 65-70 minutes for 1494 posts</a:t>
            </a:r>
            <a:endParaRPr sz="2000"/>
          </a:p>
          <a:p>
            <a:pPr marL="1828800" lvl="0" indent="-292100" algn="l" rtl="0">
              <a:lnSpc>
                <a:spcPct val="100000"/>
              </a:lnSpc>
              <a:spcBef>
                <a:spcPts val="0"/>
              </a:spcBef>
              <a:spcAft>
                <a:spcPts val="0"/>
              </a:spcAft>
              <a:buSzPts val="1000"/>
              <a:buChar char="•"/>
            </a:pPr>
            <a:r>
              <a:rPr lang="en-US" sz="2000"/>
              <a:t>Will be looking for processing comments in batches in future </a:t>
            </a:r>
            <a:endParaRPr sz="2000"/>
          </a:p>
          <a:p>
            <a:pPr marL="457200" lvl="0" indent="-355600" algn="l" rtl="0">
              <a:lnSpc>
                <a:spcPct val="100000"/>
              </a:lnSpc>
              <a:spcBef>
                <a:spcPts val="0"/>
              </a:spcBef>
              <a:spcAft>
                <a:spcPts val="0"/>
              </a:spcAft>
              <a:buSzPts val="2000"/>
              <a:buChar char="-"/>
            </a:pPr>
            <a:r>
              <a:rPr lang="en-US" sz="2000" b="1"/>
              <a:t>Textblob</a:t>
            </a:r>
            <a:r>
              <a:rPr lang="en-US" sz="2000"/>
              <a:t>: Generated a polarity score between -1 to 1 </a:t>
            </a:r>
            <a:endParaRPr sz="2000"/>
          </a:p>
          <a:p>
            <a:pPr marL="0" lvl="0" indent="0" algn="l" rtl="0">
              <a:lnSpc>
                <a:spcPct val="100000"/>
              </a:lnSpc>
              <a:spcBef>
                <a:spcPts val="1000"/>
              </a:spcBef>
              <a:spcAft>
                <a:spcPts val="0"/>
              </a:spcAft>
              <a:buNone/>
            </a:pPr>
            <a:endParaRPr sz="2000"/>
          </a:p>
          <a:p>
            <a:pPr marL="0" lvl="0" indent="0" algn="l" rtl="0">
              <a:lnSpc>
                <a:spcPct val="100000"/>
              </a:lnSpc>
              <a:spcBef>
                <a:spcPts val="1000"/>
              </a:spcBef>
              <a:spcAft>
                <a:spcPts val="0"/>
              </a:spcAft>
              <a:buNone/>
            </a:pPr>
            <a:endParaRPr sz="2000"/>
          </a:p>
          <a:p>
            <a:pPr marL="0" lvl="0" indent="0" algn="l" rtl="0">
              <a:lnSpc>
                <a:spcPct val="100000"/>
              </a:lnSpc>
              <a:spcBef>
                <a:spcPts val="1000"/>
              </a:spcBef>
              <a:spcAft>
                <a:spcPts val="0"/>
              </a:spcAft>
              <a:buNone/>
            </a:pPr>
            <a:endParaRPr sz="2000"/>
          </a:p>
          <a:p>
            <a:pPr marL="0" lvl="0" indent="0" algn="l" rtl="0">
              <a:lnSpc>
                <a:spcPct val="100000"/>
              </a:lnSpc>
              <a:spcBef>
                <a:spcPts val="1000"/>
              </a:spcBef>
              <a:spcAft>
                <a:spcPts val="0"/>
              </a:spcAft>
              <a:buNone/>
            </a:pPr>
            <a:endParaRPr sz="2000"/>
          </a:p>
          <a:p>
            <a:pPr marL="457200" lvl="0" indent="-355600" algn="l" rtl="0">
              <a:lnSpc>
                <a:spcPct val="100000"/>
              </a:lnSpc>
              <a:spcBef>
                <a:spcPts val="1000"/>
              </a:spcBef>
              <a:spcAft>
                <a:spcPts val="0"/>
              </a:spcAft>
              <a:buSzPts val="2000"/>
              <a:buChar char="❖"/>
            </a:pPr>
            <a:r>
              <a:rPr lang="en-US" sz="2000"/>
              <a:t>Observations: Polarity scores with the TextBlob model after an exam was seen to be </a:t>
            </a:r>
            <a:r>
              <a:rPr lang="en-US" sz="2000" b="1"/>
              <a:t>slightly negative compared to other days</a:t>
            </a:r>
            <a:r>
              <a:rPr lang="en-US" sz="2000"/>
              <a:t>. </a:t>
            </a:r>
            <a:endParaRPr sz="2000"/>
          </a:p>
          <a:p>
            <a:pPr marL="457200" lvl="0" indent="0" algn="l" rtl="0">
              <a:lnSpc>
                <a:spcPct val="100000"/>
              </a:lnSpc>
              <a:spcBef>
                <a:spcPts val="1000"/>
              </a:spcBef>
              <a:spcAft>
                <a:spcPts val="0"/>
              </a:spcAft>
              <a:buNone/>
            </a:pPr>
            <a:endParaRPr sz="2000"/>
          </a:p>
          <a:p>
            <a:pPr marL="457200" lvl="0" indent="-355600" algn="l" rtl="0">
              <a:lnSpc>
                <a:spcPct val="100000"/>
              </a:lnSpc>
              <a:spcBef>
                <a:spcPts val="1000"/>
              </a:spcBef>
              <a:spcAft>
                <a:spcPts val="0"/>
              </a:spcAft>
              <a:buSzPts val="2000"/>
              <a:buChar char="❖"/>
            </a:pPr>
            <a:r>
              <a:rPr lang="en-US" sz="2000" b="1"/>
              <a:t>Weaknesses:</a:t>
            </a:r>
            <a:r>
              <a:rPr lang="en-US" sz="2000"/>
              <a:t> </a:t>
            </a:r>
            <a:endParaRPr sz="2000"/>
          </a:p>
          <a:p>
            <a:pPr marL="457200" lvl="0" indent="0" algn="l" rtl="0">
              <a:lnSpc>
                <a:spcPct val="100000"/>
              </a:lnSpc>
              <a:spcBef>
                <a:spcPts val="1000"/>
              </a:spcBef>
              <a:spcAft>
                <a:spcPts val="0"/>
              </a:spcAft>
              <a:buNone/>
            </a:pPr>
            <a:r>
              <a:rPr lang="en-US" sz="2000"/>
              <a:t>- 	Both the pre-trained models were trained on IMDb movie data. </a:t>
            </a:r>
            <a:endParaRPr sz="2000"/>
          </a:p>
          <a:p>
            <a:pPr marL="457200" lvl="0" indent="0" algn="l" rtl="0">
              <a:lnSpc>
                <a:spcPct val="100000"/>
              </a:lnSpc>
              <a:spcBef>
                <a:spcPts val="1000"/>
              </a:spcBef>
              <a:spcAft>
                <a:spcPts val="0"/>
              </a:spcAft>
              <a:buNone/>
            </a:pPr>
            <a:r>
              <a:rPr lang="en-US" sz="2000"/>
              <a:t>-	Could not train the model ourselves due to lack of no. of posts</a:t>
            </a:r>
            <a:endParaRPr sz="2000"/>
          </a:p>
        </p:txBody>
      </p:sp>
      <p:sp>
        <p:nvSpPr>
          <p:cNvPr id="130" name="Google Shape;130;gefbeba6a1c_0_1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Sentiment Analysis and web-app integration</a:t>
            </a:r>
            <a:endParaRPr/>
          </a:p>
        </p:txBody>
      </p:sp>
      <p:pic>
        <p:nvPicPr>
          <p:cNvPr id="131" name="Google Shape;131;gefbeba6a1c_0_10"/>
          <p:cNvPicPr preferRelativeResize="0"/>
          <p:nvPr/>
        </p:nvPicPr>
        <p:blipFill>
          <a:blip r:embed="rId3">
            <a:alphaModFix/>
          </a:blip>
          <a:stretch>
            <a:fillRect/>
          </a:stretch>
        </p:blipFill>
        <p:spPr>
          <a:xfrm>
            <a:off x="266700" y="2780037"/>
            <a:ext cx="11658598" cy="1297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bea1223c9f_0_16"/>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Cognitive Presence (Garrison et al., 2001)</a:t>
            </a:r>
            <a:endParaRPr/>
          </a:p>
        </p:txBody>
      </p:sp>
      <p:grpSp>
        <p:nvGrpSpPr>
          <p:cNvPr id="137" name="Google Shape;137;gbea1223c9f_0_16"/>
          <p:cNvGrpSpPr/>
          <p:nvPr/>
        </p:nvGrpSpPr>
        <p:grpSpPr>
          <a:xfrm>
            <a:off x="0" y="1586613"/>
            <a:ext cx="2952726" cy="4290074"/>
            <a:chOff x="0" y="1189989"/>
            <a:chExt cx="2214600" cy="3217636"/>
          </a:xfrm>
        </p:grpSpPr>
        <p:sp>
          <p:nvSpPr>
            <p:cNvPr id="138" name="Google Shape;138;gbea1223c9f_0_16"/>
            <p:cNvSpPr/>
            <p:nvPr/>
          </p:nvSpPr>
          <p:spPr>
            <a:xfrm>
              <a:off x="0" y="1189989"/>
              <a:ext cx="2214600" cy="669000"/>
            </a:xfrm>
            <a:prstGeom prst="homePlate">
              <a:avLst>
                <a:gd name="adj" fmla="val 50000"/>
              </a:avLst>
            </a:prstGeom>
            <a:solidFill>
              <a:srgbClr val="0944A1"/>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0: No Cognitive Presence</a:t>
              </a:r>
              <a:endParaRPr sz="1900" b="0" i="0" u="none" strike="noStrike" cap="none">
                <a:solidFill>
                  <a:srgbClr val="FFFFFF"/>
                </a:solidFill>
                <a:latin typeface="Roboto"/>
                <a:ea typeface="Roboto"/>
                <a:cs typeface="Roboto"/>
                <a:sym typeface="Roboto"/>
              </a:endParaRPr>
            </a:p>
          </p:txBody>
        </p:sp>
        <p:sp>
          <p:nvSpPr>
            <p:cNvPr id="139" name="Google Shape;139;gbea1223c9f_0_16"/>
            <p:cNvSpPr txBox="1"/>
            <p:nvPr/>
          </p:nvSpPr>
          <p:spPr>
            <a:xfrm>
              <a:off x="2950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Logistics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Socializing</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“Thank you”</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Unclear comments (code without comment)</a:t>
              </a:r>
              <a:endParaRPr sz="1500" b="0" i="0" u="none" strike="noStrike" cap="none">
                <a:solidFill>
                  <a:srgbClr val="000000"/>
                </a:solidFill>
                <a:latin typeface="Roboto"/>
                <a:ea typeface="Roboto"/>
                <a:cs typeface="Roboto"/>
                <a:sym typeface="Roboto"/>
              </a:endParaRPr>
            </a:p>
          </p:txBody>
        </p:sp>
      </p:grpSp>
      <p:grpSp>
        <p:nvGrpSpPr>
          <p:cNvPr id="140" name="Google Shape;140;gbea1223c9f_0_16"/>
          <p:cNvGrpSpPr/>
          <p:nvPr/>
        </p:nvGrpSpPr>
        <p:grpSpPr>
          <a:xfrm>
            <a:off x="2451039" y="1586327"/>
            <a:ext cx="2751931" cy="4290359"/>
            <a:chOff x="1838325" y="1189775"/>
            <a:chExt cx="2064000" cy="3217850"/>
          </a:xfrm>
        </p:grpSpPr>
        <p:sp>
          <p:nvSpPr>
            <p:cNvPr id="141" name="Google Shape;141;gbea1223c9f_0_16"/>
            <p:cNvSpPr/>
            <p:nvPr/>
          </p:nvSpPr>
          <p:spPr>
            <a:xfrm>
              <a:off x="1838325" y="1189775"/>
              <a:ext cx="2064000" cy="669000"/>
            </a:xfrm>
            <a:prstGeom prst="chevron">
              <a:avLst>
                <a:gd name="adj" fmla="val 50000"/>
              </a:avLst>
            </a:prstGeom>
            <a:solidFill>
              <a:srgbClr val="0C58D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1: Triggering Event</a:t>
              </a:r>
              <a:endParaRPr sz="1900" b="0" i="0" u="none" strike="noStrike" cap="none">
                <a:solidFill>
                  <a:srgbClr val="FFFFFF"/>
                </a:solidFill>
                <a:latin typeface="Roboto"/>
                <a:ea typeface="Roboto"/>
                <a:cs typeface="Roboto"/>
                <a:sym typeface="Roboto"/>
              </a:endParaRPr>
            </a:p>
          </p:txBody>
        </p:sp>
        <p:sp>
          <p:nvSpPr>
            <p:cNvPr id="142" name="Google Shape;142;gbea1223c9f_0_16"/>
            <p:cNvSpPr txBox="1"/>
            <p:nvPr/>
          </p:nvSpPr>
          <p:spPr>
            <a:xfrm>
              <a:off x="20172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Short questions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Technical clarification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“I am clueless”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“I think this is right/wrong”</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Focus on the problem itself</a:t>
              </a:r>
              <a:endParaRPr sz="1500" b="0" i="0" u="none" strike="noStrike" cap="none">
                <a:solidFill>
                  <a:srgbClr val="000000"/>
                </a:solidFill>
                <a:latin typeface="Roboto"/>
                <a:ea typeface="Roboto"/>
                <a:cs typeface="Roboto"/>
                <a:sym typeface="Roboto"/>
              </a:endParaRPr>
            </a:p>
          </p:txBody>
        </p:sp>
      </p:grpSp>
      <p:grpSp>
        <p:nvGrpSpPr>
          <p:cNvPr id="143" name="Google Shape;143;gbea1223c9f_0_16"/>
          <p:cNvGrpSpPr/>
          <p:nvPr/>
        </p:nvGrpSpPr>
        <p:grpSpPr>
          <a:xfrm>
            <a:off x="4688882" y="1586327"/>
            <a:ext cx="2751931" cy="4290359"/>
            <a:chOff x="3516750" y="1189775"/>
            <a:chExt cx="2064000" cy="3217850"/>
          </a:xfrm>
        </p:grpSpPr>
        <p:sp>
          <p:nvSpPr>
            <p:cNvPr id="144" name="Google Shape;144;gbea1223c9f_0_16"/>
            <p:cNvSpPr/>
            <p:nvPr/>
          </p:nvSpPr>
          <p:spPr>
            <a:xfrm>
              <a:off x="3516750" y="1189775"/>
              <a:ext cx="2064000" cy="669000"/>
            </a:xfrm>
            <a:prstGeom prst="chevron">
              <a:avLst>
                <a:gd name="adj" fmla="val 50000"/>
              </a:avLst>
            </a:prstGeom>
            <a:solidFill>
              <a:srgbClr val="0D5DD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2: Exploration</a:t>
              </a:r>
              <a:endParaRPr sz="1900" b="0" i="0" u="none" strike="noStrike" cap="none">
                <a:solidFill>
                  <a:srgbClr val="FFFFFF"/>
                </a:solidFill>
                <a:latin typeface="Roboto"/>
                <a:ea typeface="Roboto"/>
                <a:cs typeface="Roboto"/>
                <a:sym typeface="Roboto"/>
              </a:endParaRPr>
            </a:p>
          </p:txBody>
        </p:sp>
        <p:sp>
          <p:nvSpPr>
            <p:cNvPr id="145" name="Google Shape;145;gbea1223c9f_0_16"/>
            <p:cNvSpPr txBox="1"/>
            <p:nvPr/>
          </p:nvSpPr>
          <p:spPr>
            <a:xfrm>
              <a:off x="37394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Describing a problem</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Giving suggestions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Partial understanding</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Clarifications with detailed description or own assumptions</a:t>
              </a:r>
              <a:endParaRPr sz="1500" b="0" i="0" u="none" strike="noStrike" cap="none">
                <a:solidFill>
                  <a:srgbClr val="000000"/>
                </a:solidFill>
                <a:latin typeface="Roboto"/>
                <a:ea typeface="Roboto"/>
                <a:cs typeface="Roboto"/>
                <a:sym typeface="Roboto"/>
              </a:endParaRPr>
            </a:p>
          </p:txBody>
        </p:sp>
      </p:grpSp>
      <p:grpSp>
        <p:nvGrpSpPr>
          <p:cNvPr id="146" name="Google Shape;146;gbea1223c9f_0_16"/>
          <p:cNvGrpSpPr/>
          <p:nvPr/>
        </p:nvGrpSpPr>
        <p:grpSpPr>
          <a:xfrm>
            <a:off x="9165137" y="1586327"/>
            <a:ext cx="2751931" cy="4290359"/>
            <a:chOff x="6874025" y="1189775"/>
            <a:chExt cx="2064000" cy="3217850"/>
          </a:xfrm>
        </p:grpSpPr>
        <p:sp>
          <p:nvSpPr>
            <p:cNvPr id="147" name="Google Shape;147;gbea1223c9f_0_16"/>
            <p:cNvSpPr/>
            <p:nvPr/>
          </p:nvSpPr>
          <p:spPr>
            <a:xfrm>
              <a:off x="6874025" y="1189775"/>
              <a:ext cx="2064000" cy="669000"/>
            </a:xfrm>
            <a:prstGeom prst="chevron">
              <a:avLst>
                <a:gd name="adj" fmla="val 50000"/>
              </a:avLst>
            </a:prstGeom>
            <a:solidFill>
              <a:srgbClr val="307BF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4: Resolution</a:t>
              </a:r>
              <a:endParaRPr sz="1900" b="0" i="0" u="none" strike="noStrike" cap="none">
                <a:solidFill>
                  <a:srgbClr val="FFFFFF"/>
                </a:solidFill>
                <a:latin typeface="Roboto"/>
                <a:ea typeface="Roboto"/>
                <a:cs typeface="Roboto"/>
                <a:sym typeface="Roboto"/>
              </a:endParaRPr>
            </a:p>
          </p:txBody>
        </p:sp>
        <p:sp>
          <p:nvSpPr>
            <p:cNvPr id="148" name="Google Shape;148;gbea1223c9f_0_16"/>
            <p:cNvSpPr txBox="1"/>
            <p:nvPr/>
          </p:nvSpPr>
          <p:spPr>
            <a:xfrm>
              <a:off x="71838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Confirmation of ideas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Elaboration on solution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Explain why/how solution works in detail</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Definite comments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Comments from instructors</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Direct answer</a:t>
              </a:r>
              <a:endParaRPr sz="1500" b="0" i="0" u="none" strike="noStrike" cap="none">
                <a:solidFill>
                  <a:srgbClr val="000000"/>
                </a:solidFill>
                <a:latin typeface="Roboto"/>
                <a:ea typeface="Roboto"/>
                <a:cs typeface="Roboto"/>
                <a:sym typeface="Roboto"/>
              </a:endParaRPr>
            </a:p>
          </p:txBody>
        </p:sp>
      </p:grpSp>
      <p:grpSp>
        <p:nvGrpSpPr>
          <p:cNvPr id="149" name="Google Shape;149;gbea1223c9f_0_16"/>
          <p:cNvGrpSpPr/>
          <p:nvPr/>
        </p:nvGrpSpPr>
        <p:grpSpPr>
          <a:xfrm>
            <a:off x="6926960" y="1586327"/>
            <a:ext cx="2751931" cy="4290359"/>
            <a:chOff x="5195350" y="1189775"/>
            <a:chExt cx="2064000" cy="3217850"/>
          </a:xfrm>
        </p:grpSpPr>
        <p:sp>
          <p:nvSpPr>
            <p:cNvPr id="150" name="Google Shape;150;gbea1223c9f_0_16"/>
            <p:cNvSpPr/>
            <p:nvPr/>
          </p:nvSpPr>
          <p:spPr>
            <a:xfrm>
              <a:off x="5195350" y="1189775"/>
              <a:ext cx="2064000" cy="669000"/>
            </a:xfrm>
            <a:prstGeom prst="chevron">
              <a:avLst>
                <a:gd name="adj" fmla="val 50000"/>
              </a:avLst>
            </a:prstGeom>
            <a:solidFill>
              <a:srgbClr val="0E65F0"/>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rgbClr val="FFFFFF"/>
                  </a:solidFill>
                  <a:latin typeface="Roboto"/>
                  <a:ea typeface="Roboto"/>
                  <a:cs typeface="Roboto"/>
                  <a:sym typeface="Roboto"/>
                </a:rPr>
                <a:t>3: Integration</a:t>
              </a:r>
              <a:endParaRPr sz="1900" b="0" i="0" u="none" strike="noStrike" cap="none">
                <a:solidFill>
                  <a:srgbClr val="FFFFFF"/>
                </a:solidFill>
                <a:latin typeface="Roboto"/>
                <a:ea typeface="Roboto"/>
                <a:cs typeface="Roboto"/>
                <a:sym typeface="Roboto"/>
              </a:endParaRPr>
            </a:p>
          </p:txBody>
        </p:sp>
        <p:sp>
          <p:nvSpPr>
            <p:cNvPr id="151" name="Google Shape;151;gbea1223c9f_0_16"/>
            <p:cNvSpPr txBox="1"/>
            <p:nvPr/>
          </p:nvSpPr>
          <p:spPr>
            <a:xfrm>
              <a:off x="5461650" y="2057125"/>
              <a:ext cx="1624500" cy="2350500"/>
            </a:xfrm>
            <a:prstGeom prst="rect">
              <a:avLst/>
            </a:prstGeom>
            <a:noFill/>
            <a:ln>
              <a:noFill/>
            </a:ln>
          </p:spPr>
          <p:txBody>
            <a:bodyPr spcFirstLastPara="1" wrap="square" lIns="121900" tIns="121900" rIns="121900" bIns="121900" anchor="t" anchorCtr="0">
              <a:noAutofit/>
            </a:bodyPr>
            <a:lstStyle/>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Proposing a solution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Giving their solution</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Giving a textbook or other reference</a:t>
              </a:r>
              <a:endParaRPr sz="1500" b="0" i="0" u="none" strike="noStrike" cap="none">
                <a:solidFill>
                  <a:srgbClr val="000000"/>
                </a:solidFill>
                <a:latin typeface="Roboto"/>
                <a:ea typeface="Roboto"/>
                <a:cs typeface="Roboto"/>
                <a:sym typeface="Roboto"/>
              </a:endParaRPr>
            </a:p>
            <a:p>
              <a:pPr marL="457200" marR="0" lvl="0" indent="-323850" algn="l" rtl="0">
                <a:lnSpc>
                  <a:spcPct val="115000"/>
                </a:lnSpc>
                <a:spcBef>
                  <a:spcPts val="0"/>
                </a:spcBef>
                <a:spcAft>
                  <a:spcPts val="0"/>
                </a:spcAft>
                <a:buClr>
                  <a:srgbClr val="000000"/>
                </a:buClr>
                <a:buSzPts val="1500"/>
                <a:buFont typeface="Roboto"/>
                <a:buChar char="●"/>
              </a:pPr>
              <a:r>
                <a:rPr lang="en-US" sz="1500" b="0" i="0" u="none" strike="noStrike" cap="none">
                  <a:solidFill>
                    <a:srgbClr val="000000"/>
                  </a:solidFill>
                  <a:latin typeface="Roboto"/>
                  <a:ea typeface="Roboto"/>
                  <a:cs typeface="Roboto"/>
                  <a:sym typeface="Roboto"/>
                </a:rPr>
                <a:t>Partial solutions</a:t>
              </a:r>
              <a:endParaRPr sz="1500" b="0" i="0" u="none" strike="noStrike" cap="none">
                <a:solidFill>
                  <a:srgbClr val="000000"/>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f234d063be_0_4"/>
          <p:cNvSpPr txBox="1">
            <a:spLocks noGrp="1"/>
          </p:cNvSpPr>
          <p:nvPr>
            <p:ph type="body" idx="1"/>
          </p:nvPr>
        </p:nvSpPr>
        <p:spPr>
          <a:xfrm>
            <a:off x="381000" y="1215474"/>
            <a:ext cx="11430000" cy="50118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AutoNum type="arabicPeriod"/>
            </a:pPr>
            <a:r>
              <a:rPr lang="en-US" sz="1800"/>
              <a:t>Test and Trained on both </a:t>
            </a:r>
            <a:r>
              <a:rPr lang="en-US" sz="1800" b="1"/>
              <a:t>Piazza and EdX data:</a:t>
            </a:r>
            <a:r>
              <a:rPr lang="en-US" sz="1800"/>
              <a:t> </a:t>
            </a: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342900" algn="l" rtl="0">
              <a:lnSpc>
                <a:spcPct val="100000"/>
              </a:lnSpc>
              <a:spcBef>
                <a:spcPts val="0"/>
              </a:spcBef>
              <a:spcAft>
                <a:spcPts val="0"/>
              </a:spcAft>
              <a:buSzPts val="1800"/>
              <a:buAutoNum type="arabicPeriod"/>
            </a:pPr>
            <a:r>
              <a:rPr lang="en-US" sz="1800"/>
              <a:t>Test and Trained on</a:t>
            </a:r>
            <a:r>
              <a:rPr lang="en-US" sz="1800" b="1"/>
              <a:t> EdX data:</a:t>
            </a:r>
            <a:r>
              <a:rPr lang="en-US" sz="1800"/>
              <a:t> </a:t>
            </a:r>
            <a:endParaRPr sz="1800"/>
          </a:p>
          <a:p>
            <a:pPr marL="457200" lvl="0" indent="0" algn="l" rtl="0">
              <a:lnSpc>
                <a:spcPct val="100000"/>
              </a:lnSpc>
              <a:spcBef>
                <a:spcPts val="0"/>
              </a:spcBef>
              <a:spcAft>
                <a:spcPts val="0"/>
              </a:spcAft>
              <a:buNone/>
            </a:pPr>
            <a:endParaRPr sz="1800"/>
          </a:p>
        </p:txBody>
      </p:sp>
      <p:sp>
        <p:nvSpPr>
          <p:cNvPr id="157" name="Google Shape;157;gf234d063be_0_4"/>
          <p:cNvSpPr txBox="1">
            <a:spLocks noGrp="1"/>
          </p:cNvSpPr>
          <p:nvPr>
            <p:ph type="title"/>
          </p:nvPr>
        </p:nvSpPr>
        <p:spPr>
          <a:xfrm>
            <a:off x="381000" y="212250"/>
            <a:ext cx="12192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Cognitive Presence Modeling - Results and Analysis</a:t>
            </a:r>
            <a:endParaRPr/>
          </a:p>
        </p:txBody>
      </p:sp>
      <p:pic>
        <p:nvPicPr>
          <p:cNvPr id="158" name="Google Shape;158;gf234d063be_0_4"/>
          <p:cNvPicPr preferRelativeResize="0"/>
          <p:nvPr/>
        </p:nvPicPr>
        <p:blipFill>
          <a:blip r:embed="rId3">
            <a:alphaModFix/>
          </a:blip>
          <a:stretch>
            <a:fillRect/>
          </a:stretch>
        </p:blipFill>
        <p:spPr>
          <a:xfrm>
            <a:off x="1407425" y="1778950"/>
            <a:ext cx="4819976" cy="1798900"/>
          </a:xfrm>
          <a:prstGeom prst="rect">
            <a:avLst/>
          </a:prstGeom>
          <a:noFill/>
          <a:ln>
            <a:noFill/>
          </a:ln>
        </p:spPr>
      </p:pic>
      <p:pic>
        <p:nvPicPr>
          <p:cNvPr id="159" name="Google Shape;159;gf234d063be_0_4"/>
          <p:cNvPicPr preferRelativeResize="0"/>
          <p:nvPr/>
        </p:nvPicPr>
        <p:blipFill>
          <a:blip r:embed="rId4">
            <a:alphaModFix/>
          </a:blip>
          <a:stretch>
            <a:fillRect/>
          </a:stretch>
        </p:blipFill>
        <p:spPr>
          <a:xfrm>
            <a:off x="6708250" y="1778950"/>
            <a:ext cx="924882" cy="240225"/>
          </a:xfrm>
          <a:prstGeom prst="rect">
            <a:avLst/>
          </a:prstGeom>
          <a:noFill/>
          <a:ln>
            <a:noFill/>
          </a:ln>
        </p:spPr>
      </p:pic>
      <p:pic>
        <p:nvPicPr>
          <p:cNvPr id="160" name="Google Shape;160;gf234d063be_0_4"/>
          <p:cNvPicPr preferRelativeResize="0"/>
          <p:nvPr/>
        </p:nvPicPr>
        <p:blipFill>
          <a:blip r:embed="rId5">
            <a:alphaModFix/>
          </a:blip>
          <a:stretch>
            <a:fillRect/>
          </a:stretch>
        </p:blipFill>
        <p:spPr>
          <a:xfrm>
            <a:off x="6590000" y="2019175"/>
            <a:ext cx="4706650" cy="640550"/>
          </a:xfrm>
          <a:prstGeom prst="rect">
            <a:avLst/>
          </a:prstGeom>
          <a:noFill/>
          <a:ln>
            <a:noFill/>
          </a:ln>
        </p:spPr>
      </p:pic>
      <p:pic>
        <p:nvPicPr>
          <p:cNvPr id="161" name="Google Shape;161;gf234d063be_0_4"/>
          <p:cNvPicPr preferRelativeResize="0"/>
          <p:nvPr/>
        </p:nvPicPr>
        <p:blipFill>
          <a:blip r:embed="rId6">
            <a:alphaModFix/>
          </a:blip>
          <a:stretch>
            <a:fillRect/>
          </a:stretch>
        </p:blipFill>
        <p:spPr>
          <a:xfrm>
            <a:off x="6708250" y="2659725"/>
            <a:ext cx="924875" cy="292677"/>
          </a:xfrm>
          <a:prstGeom prst="rect">
            <a:avLst/>
          </a:prstGeom>
          <a:noFill/>
          <a:ln>
            <a:noFill/>
          </a:ln>
        </p:spPr>
      </p:pic>
      <p:pic>
        <p:nvPicPr>
          <p:cNvPr id="162" name="Google Shape;162;gf234d063be_0_4"/>
          <p:cNvPicPr preferRelativeResize="0"/>
          <p:nvPr/>
        </p:nvPicPr>
        <p:blipFill>
          <a:blip r:embed="rId7">
            <a:alphaModFix/>
          </a:blip>
          <a:stretch>
            <a:fillRect/>
          </a:stretch>
        </p:blipFill>
        <p:spPr>
          <a:xfrm>
            <a:off x="6590000" y="2952400"/>
            <a:ext cx="4706651" cy="567567"/>
          </a:xfrm>
          <a:prstGeom prst="rect">
            <a:avLst/>
          </a:prstGeom>
          <a:noFill/>
          <a:ln>
            <a:noFill/>
          </a:ln>
        </p:spPr>
      </p:pic>
      <p:pic>
        <p:nvPicPr>
          <p:cNvPr id="163" name="Google Shape;163;gf234d063be_0_4"/>
          <p:cNvPicPr preferRelativeResize="0"/>
          <p:nvPr/>
        </p:nvPicPr>
        <p:blipFill>
          <a:blip r:embed="rId8">
            <a:alphaModFix/>
          </a:blip>
          <a:stretch>
            <a:fillRect/>
          </a:stretch>
        </p:blipFill>
        <p:spPr>
          <a:xfrm>
            <a:off x="1407425" y="4451175"/>
            <a:ext cx="4819976" cy="1847176"/>
          </a:xfrm>
          <a:prstGeom prst="rect">
            <a:avLst/>
          </a:prstGeom>
          <a:noFill/>
          <a:ln>
            <a:noFill/>
          </a:ln>
        </p:spPr>
      </p:pic>
      <p:pic>
        <p:nvPicPr>
          <p:cNvPr id="164" name="Google Shape;164;gf234d063be_0_4"/>
          <p:cNvPicPr preferRelativeResize="0"/>
          <p:nvPr/>
        </p:nvPicPr>
        <p:blipFill>
          <a:blip r:embed="rId4">
            <a:alphaModFix/>
          </a:blip>
          <a:stretch>
            <a:fillRect/>
          </a:stretch>
        </p:blipFill>
        <p:spPr>
          <a:xfrm>
            <a:off x="6794950" y="4358925"/>
            <a:ext cx="924882" cy="240225"/>
          </a:xfrm>
          <a:prstGeom prst="rect">
            <a:avLst/>
          </a:prstGeom>
          <a:noFill/>
          <a:ln>
            <a:noFill/>
          </a:ln>
        </p:spPr>
      </p:pic>
      <p:pic>
        <p:nvPicPr>
          <p:cNvPr id="165" name="Google Shape;165;gf234d063be_0_4"/>
          <p:cNvPicPr preferRelativeResize="0"/>
          <p:nvPr/>
        </p:nvPicPr>
        <p:blipFill>
          <a:blip r:embed="rId6">
            <a:alphaModFix/>
          </a:blip>
          <a:stretch>
            <a:fillRect/>
          </a:stretch>
        </p:blipFill>
        <p:spPr>
          <a:xfrm>
            <a:off x="6794950" y="5214750"/>
            <a:ext cx="924875" cy="292677"/>
          </a:xfrm>
          <a:prstGeom prst="rect">
            <a:avLst/>
          </a:prstGeom>
          <a:noFill/>
          <a:ln>
            <a:noFill/>
          </a:ln>
        </p:spPr>
      </p:pic>
      <p:pic>
        <p:nvPicPr>
          <p:cNvPr id="166" name="Google Shape;166;gf234d063be_0_4"/>
          <p:cNvPicPr preferRelativeResize="0"/>
          <p:nvPr/>
        </p:nvPicPr>
        <p:blipFill>
          <a:blip r:embed="rId9">
            <a:alphaModFix/>
          </a:blip>
          <a:stretch>
            <a:fillRect/>
          </a:stretch>
        </p:blipFill>
        <p:spPr>
          <a:xfrm>
            <a:off x="6596925" y="5507425"/>
            <a:ext cx="4692811" cy="567575"/>
          </a:xfrm>
          <a:prstGeom prst="rect">
            <a:avLst/>
          </a:prstGeom>
          <a:noFill/>
          <a:ln>
            <a:noFill/>
          </a:ln>
        </p:spPr>
      </p:pic>
      <p:pic>
        <p:nvPicPr>
          <p:cNvPr id="167" name="Google Shape;167;gf234d063be_0_4"/>
          <p:cNvPicPr preferRelativeResize="0"/>
          <p:nvPr/>
        </p:nvPicPr>
        <p:blipFill>
          <a:blip r:embed="rId10">
            <a:alphaModFix/>
          </a:blip>
          <a:stretch>
            <a:fillRect/>
          </a:stretch>
        </p:blipFill>
        <p:spPr>
          <a:xfrm>
            <a:off x="6596925" y="4625075"/>
            <a:ext cx="4819975" cy="5637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104e11fccdd_0_14"/>
          <p:cNvSpPr txBox="1">
            <a:spLocks noGrp="1"/>
          </p:cNvSpPr>
          <p:nvPr>
            <p:ph type="body" idx="1"/>
          </p:nvPr>
        </p:nvSpPr>
        <p:spPr>
          <a:xfrm>
            <a:off x="381000" y="1215474"/>
            <a:ext cx="11430000" cy="5011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1800"/>
              <a:t>3. 	Test and Trained on </a:t>
            </a:r>
            <a:r>
              <a:rPr lang="en-US" sz="1800" b="1"/>
              <a:t>Piazza data: </a:t>
            </a:r>
            <a:endParaRPr sz="1800" b="1"/>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0" lvl="0" indent="0" algn="l" rtl="0">
              <a:lnSpc>
                <a:spcPct val="100000"/>
              </a:lnSpc>
              <a:spcBef>
                <a:spcPts val="0"/>
              </a:spcBef>
              <a:spcAft>
                <a:spcPts val="0"/>
              </a:spcAft>
              <a:buNone/>
            </a:pPr>
            <a:r>
              <a:rPr lang="en-US" sz="1800"/>
              <a:t>4. 	Test and Trained on </a:t>
            </a:r>
            <a:r>
              <a:rPr lang="en-US" sz="1800" b="1"/>
              <a:t>EdX data (train:test = 95:5) </a:t>
            </a:r>
            <a:r>
              <a:rPr lang="en-US" sz="1800"/>
              <a:t> </a:t>
            </a:r>
            <a:endParaRPr sz="1800"/>
          </a:p>
          <a:p>
            <a:pPr marL="457200" lvl="0" indent="0" algn="l" rtl="0">
              <a:lnSpc>
                <a:spcPct val="100000"/>
              </a:lnSpc>
              <a:spcBef>
                <a:spcPts val="0"/>
              </a:spcBef>
              <a:spcAft>
                <a:spcPts val="0"/>
              </a:spcAft>
              <a:buNone/>
            </a:pPr>
            <a:endParaRPr sz="1800"/>
          </a:p>
        </p:txBody>
      </p:sp>
      <p:sp>
        <p:nvSpPr>
          <p:cNvPr id="173" name="Google Shape;173;g104e11fccdd_0_14"/>
          <p:cNvSpPr txBox="1">
            <a:spLocks noGrp="1"/>
          </p:cNvSpPr>
          <p:nvPr>
            <p:ph type="title"/>
          </p:nvPr>
        </p:nvSpPr>
        <p:spPr>
          <a:xfrm>
            <a:off x="381000" y="212250"/>
            <a:ext cx="12192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Cognitive Presence Modeling - Results and Analysis</a:t>
            </a:r>
            <a:endParaRPr/>
          </a:p>
        </p:txBody>
      </p:sp>
      <p:pic>
        <p:nvPicPr>
          <p:cNvPr id="174" name="Google Shape;174;g104e11fccdd_0_14"/>
          <p:cNvPicPr preferRelativeResize="0"/>
          <p:nvPr/>
        </p:nvPicPr>
        <p:blipFill>
          <a:blip r:embed="rId3">
            <a:alphaModFix/>
          </a:blip>
          <a:stretch>
            <a:fillRect/>
          </a:stretch>
        </p:blipFill>
        <p:spPr>
          <a:xfrm>
            <a:off x="1407425" y="1915572"/>
            <a:ext cx="4731610" cy="1847175"/>
          </a:xfrm>
          <a:prstGeom prst="rect">
            <a:avLst/>
          </a:prstGeom>
          <a:noFill/>
          <a:ln>
            <a:noFill/>
          </a:ln>
        </p:spPr>
      </p:pic>
      <p:pic>
        <p:nvPicPr>
          <p:cNvPr id="175" name="Google Shape;175;g104e11fccdd_0_14"/>
          <p:cNvPicPr preferRelativeResize="0"/>
          <p:nvPr/>
        </p:nvPicPr>
        <p:blipFill>
          <a:blip r:embed="rId4">
            <a:alphaModFix/>
          </a:blip>
          <a:stretch>
            <a:fillRect/>
          </a:stretch>
        </p:blipFill>
        <p:spPr>
          <a:xfrm>
            <a:off x="6794950" y="2665614"/>
            <a:ext cx="841001" cy="254849"/>
          </a:xfrm>
          <a:prstGeom prst="rect">
            <a:avLst/>
          </a:prstGeom>
          <a:noFill/>
          <a:ln>
            <a:noFill/>
          </a:ln>
        </p:spPr>
      </p:pic>
      <p:pic>
        <p:nvPicPr>
          <p:cNvPr id="176" name="Google Shape;176;g104e11fccdd_0_14"/>
          <p:cNvPicPr preferRelativeResize="0"/>
          <p:nvPr/>
        </p:nvPicPr>
        <p:blipFill>
          <a:blip r:embed="rId5">
            <a:alphaModFix/>
          </a:blip>
          <a:stretch>
            <a:fillRect/>
          </a:stretch>
        </p:blipFill>
        <p:spPr>
          <a:xfrm>
            <a:off x="6794949" y="1794038"/>
            <a:ext cx="841000" cy="304688"/>
          </a:xfrm>
          <a:prstGeom prst="rect">
            <a:avLst/>
          </a:prstGeom>
          <a:noFill/>
          <a:ln>
            <a:noFill/>
          </a:ln>
        </p:spPr>
      </p:pic>
      <p:pic>
        <p:nvPicPr>
          <p:cNvPr id="177" name="Google Shape;177;g104e11fccdd_0_14"/>
          <p:cNvPicPr preferRelativeResize="0"/>
          <p:nvPr/>
        </p:nvPicPr>
        <p:blipFill>
          <a:blip r:embed="rId6">
            <a:alphaModFix/>
          </a:blip>
          <a:stretch>
            <a:fillRect/>
          </a:stretch>
        </p:blipFill>
        <p:spPr>
          <a:xfrm>
            <a:off x="6533338" y="2049124"/>
            <a:ext cx="4819975" cy="616508"/>
          </a:xfrm>
          <a:prstGeom prst="rect">
            <a:avLst/>
          </a:prstGeom>
          <a:noFill/>
          <a:ln>
            <a:noFill/>
          </a:ln>
        </p:spPr>
      </p:pic>
      <p:pic>
        <p:nvPicPr>
          <p:cNvPr id="178" name="Google Shape;178;g104e11fccdd_0_14"/>
          <p:cNvPicPr preferRelativeResize="0"/>
          <p:nvPr/>
        </p:nvPicPr>
        <p:blipFill>
          <a:blip r:embed="rId7">
            <a:alphaModFix/>
          </a:blip>
          <a:stretch>
            <a:fillRect/>
          </a:stretch>
        </p:blipFill>
        <p:spPr>
          <a:xfrm>
            <a:off x="6592288" y="2988150"/>
            <a:ext cx="4829250" cy="616500"/>
          </a:xfrm>
          <a:prstGeom prst="rect">
            <a:avLst/>
          </a:prstGeom>
          <a:noFill/>
          <a:ln>
            <a:noFill/>
          </a:ln>
        </p:spPr>
      </p:pic>
      <p:pic>
        <p:nvPicPr>
          <p:cNvPr id="179" name="Google Shape;179;g104e11fccdd_0_14"/>
          <p:cNvPicPr preferRelativeResize="0"/>
          <p:nvPr/>
        </p:nvPicPr>
        <p:blipFill>
          <a:blip r:embed="rId8">
            <a:alphaModFix/>
          </a:blip>
          <a:stretch>
            <a:fillRect/>
          </a:stretch>
        </p:blipFill>
        <p:spPr>
          <a:xfrm>
            <a:off x="1407425" y="4451175"/>
            <a:ext cx="5125925" cy="1948445"/>
          </a:xfrm>
          <a:prstGeom prst="rect">
            <a:avLst/>
          </a:prstGeom>
          <a:noFill/>
          <a:ln>
            <a:noFill/>
          </a:ln>
        </p:spPr>
      </p:pic>
      <p:pic>
        <p:nvPicPr>
          <p:cNvPr id="180" name="Google Shape;180;g104e11fccdd_0_14"/>
          <p:cNvPicPr preferRelativeResize="0"/>
          <p:nvPr/>
        </p:nvPicPr>
        <p:blipFill>
          <a:blip r:embed="rId9">
            <a:alphaModFix/>
          </a:blip>
          <a:stretch>
            <a:fillRect/>
          </a:stretch>
        </p:blipFill>
        <p:spPr>
          <a:xfrm>
            <a:off x="6794950" y="4358925"/>
            <a:ext cx="924882" cy="240225"/>
          </a:xfrm>
          <a:prstGeom prst="rect">
            <a:avLst/>
          </a:prstGeom>
          <a:noFill/>
          <a:ln>
            <a:noFill/>
          </a:ln>
        </p:spPr>
      </p:pic>
      <p:pic>
        <p:nvPicPr>
          <p:cNvPr id="181" name="Google Shape;181;g104e11fccdd_0_14"/>
          <p:cNvPicPr preferRelativeResize="0"/>
          <p:nvPr/>
        </p:nvPicPr>
        <p:blipFill>
          <a:blip r:embed="rId10">
            <a:alphaModFix/>
          </a:blip>
          <a:stretch>
            <a:fillRect/>
          </a:stretch>
        </p:blipFill>
        <p:spPr>
          <a:xfrm>
            <a:off x="6794950" y="5214750"/>
            <a:ext cx="924875" cy="292677"/>
          </a:xfrm>
          <a:prstGeom prst="rect">
            <a:avLst/>
          </a:prstGeom>
          <a:noFill/>
          <a:ln>
            <a:noFill/>
          </a:ln>
        </p:spPr>
      </p:pic>
      <p:pic>
        <p:nvPicPr>
          <p:cNvPr id="182" name="Google Shape;182;g104e11fccdd_0_14"/>
          <p:cNvPicPr preferRelativeResize="0"/>
          <p:nvPr/>
        </p:nvPicPr>
        <p:blipFill>
          <a:blip r:embed="rId11">
            <a:alphaModFix/>
          </a:blip>
          <a:stretch>
            <a:fillRect/>
          </a:stretch>
        </p:blipFill>
        <p:spPr>
          <a:xfrm>
            <a:off x="6592300" y="4599150"/>
            <a:ext cx="4616900" cy="616500"/>
          </a:xfrm>
          <a:prstGeom prst="rect">
            <a:avLst/>
          </a:prstGeom>
          <a:noFill/>
          <a:ln>
            <a:noFill/>
          </a:ln>
        </p:spPr>
      </p:pic>
      <p:pic>
        <p:nvPicPr>
          <p:cNvPr id="183" name="Google Shape;183;g104e11fccdd_0_14"/>
          <p:cNvPicPr preferRelativeResize="0"/>
          <p:nvPr/>
        </p:nvPicPr>
        <p:blipFill>
          <a:blip r:embed="rId12">
            <a:alphaModFix/>
          </a:blip>
          <a:stretch>
            <a:fillRect/>
          </a:stretch>
        </p:blipFill>
        <p:spPr>
          <a:xfrm>
            <a:off x="6641113" y="5507425"/>
            <a:ext cx="4731601" cy="5810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104e11fccdd_0_36"/>
          <p:cNvSpPr txBox="1">
            <a:spLocks noGrp="1"/>
          </p:cNvSpPr>
          <p:nvPr>
            <p:ph type="body" idx="1"/>
          </p:nvPr>
        </p:nvSpPr>
        <p:spPr>
          <a:xfrm>
            <a:off x="381000" y="1215474"/>
            <a:ext cx="11430000" cy="5011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1800"/>
              <a:t>5. 	Test and Trained on </a:t>
            </a:r>
            <a:r>
              <a:rPr lang="en-US" sz="1800" b="1"/>
              <a:t>Piazza data (train:test = 95:5)</a:t>
            </a:r>
            <a:r>
              <a:rPr lang="en-US" sz="1800"/>
              <a:t>: </a:t>
            </a: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a:p>
            <a:pPr marL="0" lvl="0" indent="0" algn="l" rtl="0">
              <a:lnSpc>
                <a:spcPct val="100000"/>
              </a:lnSpc>
              <a:spcBef>
                <a:spcPts val="0"/>
              </a:spcBef>
              <a:spcAft>
                <a:spcPts val="0"/>
              </a:spcAft>
              <a:buNone/>
            </a:pPr>
            <a:endParaRPr sz="1800"/>
          </a:p>
          <a:p>
            <a:pPr marL="457200" lvl="0" indent="0" algn="l" rtl="0">
              <a:lnSpc>
                <a:spcPct val="100000"/>
              </a:lnSpc>
              <a:spcBef>
                <a:spcPts val="0"/>
              </a:spcBef>
              <a:spcAft>
                <a:spcPts val="0"/>
              </a:spcAft>
              <a:buNone/>
            </a:pPr>
            <a:endParaRPr sz="1800"/>
          </a:p>
        </p:txBody>
      </p:sp>
      <p:sp>
        <p:nvSpPr>
          <p:cNvPr id="189" name="Google Shape;189;g104e11fccdd_0_36"/>
          <p:cNvSpPr txBox="1">
            <a:spLocks noGrp="1"/>
          </p:cNvSpPr>
          <p:nvPr>
            <p:ph type="title"/>
          </p:nvPr>
        </p:nvSpPr>
        <p:spPr>
          <a:xfrm>
            <a:off x="381000" y="212250"/>
            <a:ext cx="12192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Cognitive Presence Modeling - Results and Analysis</a:t>
            </a:r>
            <a:endParaRPr/>
          </a:p>
        </p:txBody>
      </p:sp>
      <p:pic>
        <p:nvPicPr>
          <p:cNvPr id="190" name="Google Shape;190;g104e11fccdd_0_36"/>
          <p:cNvPicPr preferRelativeResize="0"/>
          <p:nvPr/>
        </p:nvPicPr>
        <p:blipFill>
          <a:blip r:embed="rId3">
            <a:alphaModFix/>
          </a:blip>
          <a:stretch>
            <a:fillRect/>
          </a:stretch>
        </p:blipFill>
        <p:spPr>
          <a:xfrm>
            <a:off x="1091100" y="1856375"/>
            <a:ext cx="4619149" cy="1782825"/>
          </a:xfrm>
          <a:prstGeom prst="rect">
            <a:avLst/>
          </a:prstGeom>
          <a:noFill/>
          <a:ln>
            <a:noFill/>
          </a:ln>
        </p:spPr>
      </p:pic>
      <p:pic>
        <p:nvPicPr>
          <p:cNvPr id="191" name="Google Shape;191;g104e11fccdd_0_36"/>
          <p:cNvPicPr preferRelativeResize="0"/>
          <p:nvPr/>
        </p:nvPicPr>
        <p:blipFill>
          <a:blip r:embed="rId4">
            <a:alphaModFix/>
          </a:blip>
          <a:stretch>
            <a:fillRect/>
          </a:stretch>
        </p:blipFill>
        <p:spPr>
          <a:xfrm>
            <a:off x="6794949" y="1794038"/>
            <a:ext cx="841000" cy="304688"/>
          </a:xfrm>
          <a:prstGeom prst="rect">
            <a:avLst/>
          </a:prstGeom>
          <a:noFill/>
          <a:ln>
            <a:noFill/>
          </a:ln>
        </p:spPr>
      </p:pic>
      <p:pic>
        <p:nvPicPr>
          <p:cNvPr id="192" name="Google Shape;192;g104e11fccdd_0_36"/>
          <p:cNvPicPr preferRelativeResize="0"/>
          <p:nvPr/>
        </p:nvPicPr>
        <p:blipFill>
          <a:blip r:embed="rId5">
            <a:alphaModFix/>
          </a:blip>
          <a:stretch>
            <a:fillRect/>
          </a:stretch>
        </p:blipFill>
        <p:spPr>
          <a:xfrm>
            <a:off x="6794950" y="2665614"/>
            <a:ext cx="841001" cy="254849"/>
          </a:xfrm>
          <a:prstGeom prst="rect">
            <a:avLst/>
          </a:prstGeom>
          <a:noFill/>
          <a:ln>
            <a:noFill/>
          </a:ln>
        </p:spPr>
      </p:pic>
      <p:pic>
        <p:nvPicPr>
          <p:cNvPr id="193" name="Google Shape;193;g104e11fccdd_0_36"/>
          <p:cNvPicPr preferRelativeResize="0"/>
          <p:nvPr/>
        </p:nvPicPr>
        <p:blipFill>
          <a:blip r:embed="rId6">
            <a:alphaModFix/>
          </a:blip>
          <a:stretch>
            <a:fillRect/>
          </a:stretch>
        </p:blipFill>
        <p:spPr>
          <a:xfrm>
            <a:off x="6507325" y="2976275"/>
            <a:ext cx="4728349" cy="584100"/>
          </a:xfrm>
          <a:prstGeom prst="rect">
            <a:avLst/>
          </a:prstGeom>
          <a:noFill/>
          <a:ln>
            <a:noFill/>
          </a:ln>
        </p:spPr>
      </p:pic>
      <p:pic>
        <p:nvPicPr>
          <p:cNvPr id="194" name="Google Shape;194;g104e11fccdd_0_36"/>
          <p:cNvPicPr preferRelativeResize="0"/>
          <p:nvPr/>
        </p:nvPicPr>
        <p:blipFill>
          <a:blip r:embed="rId7">
            <a:alphaModFix/>
          </a:blip>
          <a:stretch>
            <a:fillRect/>
          </a:stretch>
        </p:blipFill>
        <p:spPr>
          <a:xfrm>
            <a:off x="6555500" y="2098725"/>
            <a:ext cx="4631992" cy="584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104fcaf90da_0_0"/>
          <p:cNvSpPr txBox="1">
            <a:spLocks noGrp="1"/>
          </p:cNvSpPr>
          <p:nvPr>
            <p:ph type="body" idx="1"/>
          </p:nvPr>
        </p:nvSpPr>
        <p:spPr>
          <a:xfrm>
            <a:off x="381000" y="1215484"/>
            <a:ext cx="11430000" cy="4596300"/>
          </a:xfrm>
          <a:prstGeom prst="rect">
            <a:avLst/>
          </a:prstGeom>
        </p:spPr>
        <p:txBody>
          <a:bodyPr spcFirstLastPara="1" wrap="square" lIns="91425" tIns="45700" rIns="91425" bIns="45700" anchor="t" anchorCtr="0">
            <a:normAutofit fontScale="85000" lnSpcReduction="20000"/>
          </a:bodyPr>
          <a:lstStyle/>
          <a:p>
            <a:pPr marL="457200" lvl="0" indent="-325755" algn="l" rtl="0">
              <a:spcBef>
                <a:spcPts val="1000"/>
              </a:spcBef>
              <a:spcAft>
                <a:spcPts val="0"/>
              </a:spcAft>
              <a:buSzPct val="64285"/>
              <a:buChar char="•"/>
            </a:pPr>
            <a:r>
              <a:rPr lang="en-US" b="1"/>
              <a:t>Top five students with the most posts:</a:t>
            </a:r>
            <a:endParaRPr b="1"/>
          </a:p>
          <a:p>
            <a:pPr marL="457200" lvl="0" indent="0" algn="l" rtl="0">
              <a:spcBef>
                <a:spcPts val="1000"/>
              </a:spcBef>
              <a:spcAft>
                <a:spcPts val="0"/>
              </a:spcAft>
              <a:buNone/>
            </a:pPr>
            <a:endParaRPr/>
          </a:p>
          <a:p>
            <a:pPr marL="914400" lvl="1" indent="-325755" algn="l" rtl="0">
              <a:lnSpc>
                <a:spcPct val="100000"/>
              </a:lnSpc>
              <a:spcBef>
                <a:spcPts val="500"/>
              </a:spcBef>
              <a:spcAft>
                <a:spcPts val="0"/>
              </a:spcAft>
              <a:buSzPct val="75000"/>
              <a:buChar char="•"/>
            </a:pPr>
            <a:r>
              <a:rPr lang="en-US"/>
              <a:t>tend to have very high grades ranging from 98% to 104% (due to extra credit)</a:t>
            </a:r>
            <a:endParaRPr/>
          </a:p>
          <a:p>
            <a:pPr marL="914400" lvl="1" indent="-325755" algn="l" rtl="0">
              <a:lnSpc>
                <a:spcPct val="100000"/>
              </a:lnSpc>
              <a:spcBef>
                <a:spcPts val="1000"/>
              </a:spcBef>
              <a:spcAft>
                <a:spcPts val="0"/>
              </a:spcAft>
              <a:buSzPct val="75000"/>
              <a:buChar char="•"/>
            </a:pPr>
            <a:r>
              <a:rPr lang="en-US"/>
              <a:t>average sentiment is positive but close to neutral</a:t>
            </a:r>
            <a:endParaRPr/>
          </a:p>
          <a:p>
            <a:pPr marL="914400" lvl="1" indent="-325755" algn="l" rtl="0">
              <a:lnSpc>
                <a:spcPct val="100000"/>
              </a:lnSpc>
              <a:spcBef>
                <a:spcPts val="1000"/>
              </a:spcBef>
              <a:spcAft>
                <a:spcPts val="0"/>
              </a:spcAft>
              <a:buSzPct val="75000"/>
              <a:buChar char="•"/>
            </a:pPr>
            <a:r>
              <a:rPr lang="en-US"/>
              <a:t>students with a large number of posts have a relatively low average cognitive presence</a:t>
            </a:r>
            <a:endParaRPr/>
          </a:p>
          <a:p>
            <a:pPr marL="914400" lvl="1" indent="-325755" algn="l" rtl="0">
              <a:lnSpc>
                <a:spcPct val="100000"/>
              </a:lnSpc>
              <a:spcBef>
                <a:spcPts val="1000"/>
              </a:spcBef>
              <a:spcAft>
                <a:spcPts val="0"/>
              </a:spcAft>
              <a:buSzPct val="75000"/>
              <a:buChar char="•"/>
            </a:pPr>
            <a:r>
              <a:rPr lang="en-US"/>
              <a:t>these students would be good candidates to be future teaching assistants</a:t>
            </a:r>
            <a:endParaRPr/>
          </a:p>
          <a:p>
            <a:pPr marL="914400" lvl="0" indent="0" algn="l" rtl="0">
              <a:spcBef>
                <a:spcPts val="1000"/>
              </a:spcBef>
              <a:spcAft>
                <a:spcPts val="0"/>
              </a:spcAft>
              <a:buNone/>
            </a:pPr>
            <a:endParaRPr/>
          </a:p>
          <a:p>
            <a:pPr marL="457200" lvl="0" indent="-325755" algn="l" rtl="0">
              <a:spcBef>
                <a:spcPts val="1000"/>
              </a:spcBef>
              <a:spcAft>
                <a:spcPts val="0"/>
              </a:spcAft>
              <a:buSzPct val="64285"/>
              <a:buChar char="•"/>
            </a:pPr>
            <a:r>
              <a:rPr lang="en-US" b="1"/>
              <a:t>Next steps:</a:t>
            </a:r>
            <a:endParaRPr b="1"/>
          </a:p>
          <a:p>
            <a:pPr marL="457200" lvl="0" indent="0" algn="l" rtl="0">
              <a:spcBef>
                <a:spcPts val="1000"/>
              </a:spcBef>
              <a:spcAft>
                <a:spcPts val="0"/>
              </a:spcAft>
              <a:buNone/>
            </a:pPr>
            <a:endParaRPr/>
          </a:p>
          <a:p>
            <a:pPr marL="914400" lvl="1" indent="-325755" algn="l" rtl="0">
              <a:spcBef>
                <a:spcPts val="500"/>
              </a:spcBef>
              <a:spcAft>
                <a:spcPts val="0"/>
              </a:spcAft>
              <a:buSzPct val="75000"/>
              <a:buChar char="•"/>
            </a:pPr>
            <a:r>
              <a:rPr lang="en-US"/>
              <a:t>How does the number connections students have relate to other metrics?</a:t>
            </a:r>
            <a:endParaRPr/>
          </a:p>
          <a:p>
            <a:pPr marL="914400" lvl="1" indent="-325755" algn="l" rtl="0">
              <a:spcBef>
                <a:spcPts val="1000"/>
              </a:spcBef>
              <a:spcAft>
                <a:spcPts val="0"/>
              </a:spcAft>
              <a:buSzPct val="75000"/>
              <a:buChar char="•"/>
            </a:pPr>
            <a:r>
              <a:rPr lang="en-US"/>
              <a:t>How do instructor contributions influence cognitive presence and sentiment of students?</a:t>
            </a:r>
            <a:endParaRPr/>
          </a:p>
          <a:p>
            <a:pPr marL="914400" lvl="1" indent="-325755" algn="l" rtl="0">
              <a:spcBef>
                <a:spcPts val="1000"/>
              </a:spcBef>
              <a:spcAft>
                <a:spcPts val="0"/>
              </a:spcAft>
              <a:buSzPct val="75000"/>
              <a:buChar char="•"/>
            </a:pPr>
            <a:r>
              <a:rPr lang="en-US"/>
              <a:t>How do cognitive presence, social presence, and sentiment change over time within a course?</a:t>
            </a:r>
            <a:endParaRPr/>
          </a:p>
        </p:txBody>
      </p:sp>
      <p:sp>
        <p:nvSpPr>
          <p:cNvPr id="200" name="Google Shape;200;g104fcaf90da_0_0"/>
          <p:cNvSpPr txBox="1">
            <a:spLocks noGrp="1"/>
          </p:cNvSpPr>
          <p:nvPr>
            <p:ph type="title"/>
          </p:nvPr>
        </p:nvSpPr>
        <p:spPr>
          <a:xfrm>
            <a:off x="381000" y="200722"/>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Social Presence - Analysis of Top Contributors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04b9201dd5_0_0"/>
          <p:cNvSpPr txBox="1">
            <a:spLocks noGrp="1"/>
          </p:cNvSpPr>
          <p:nvPr>
            <p:ph type="body" idx="1"/>
          </p:nvPr>
        </p:nvSpPr>
        <p:spPr>
          <a:xfrm>
            <a:off x="381000" y="1086900"/>
            <a:ext cx="7299300" cy="5455800"/>
          </a:xfrm>
          <a:prstGeom prst="rect">
            <a:avLst/>
          </a:prstGeom>
          <a:noFill/>
          <a:ln>
            <a:noFill/>
          </a:ln>
        </p:spPr>
        <p:txBody>
          <a:bodyPr spcFirstLastPara="1" wrap="square" lIns="91425" tIns="45700" rIns="91425" bIns="45700" anchor="t" anchorCtr="0">
            <a:noAutofit/>
          </a:bodyPr>
          <a:lstStyle/>
          <a:p>
            <a:pPr marL="457200" lvl="0" indent="-317500" algn="l" rtl="0">
              <a:lnSpc>
                <a:spcPct val="100000"/>
              </a:lnSpc>
              <a:spcBef>
                <a:spcPts val="1000"/>
              </a:spcBef>
              <a:spcAft>
                <a:spcPts val="0"/>
              </a:spcAft>
              <a:buSzPts val="1400"/>
              <a:buChar char="•"/>
            </a:pPr>
            <a:r>
              <a:rPr lang="en-US" sz="2400"/>
              <a:t>Examined cognitive presence, number of comments, length of posts, sentiment, timing, types of posts</a:t>
            </a:r>
            <a:endParaRPr sz="2400"/>
          </a:p>
          <a:p>
            <a:pPr marL="457200" lvl="0" indent="0" algn="l" rtl="0">
              <a:lnSpc>
                <a:spcPct val="100000"/>
              </a:lnSpc>
              <a:spcBef>
                <a:spcPts val="1000"/>
              </a:spcBef>
              <a:spcAft>
                <a:spcPts val="0"/>
              </a:spcAft>
              <a:buNone/>
            </a:pPr>
            <a:endParaRPr sz="1400"/>
          </a:p>
          <a:p>
            <a:pPr marL="457200" lvl="0" indent="-317500" algn="l" rtl="0">
              <a:lnSpc>
                <a:spcPct val="100000"/>
              </a:lnSpc>
              <a:spcBef>
                <a:spcPts val="1000"/>
              </a:spcBef>
              <a:spcAft>
                <a:spcPts val="0"/>
              </a:spcAft>
              <a:buSzPts val="1400"/>
              <a:buChar char="•"/>
            </a:pPr>
            <a:r>
              <a:rPr lang="en-US" sz="2400" b="1"/>
              <a:t>Notes about data set</a:t>
            </a:r>
            <a:endParaRPr sz="2400" b="1"/>
          </a:p>
          <a:p>
            <a:pPr marL="914400" lvl="1" indent="-317500" algn="l" rtl="0">
              <a:lnSpc>
                <a:spcPct val="100000"/>
              </a:lnSpc>
              <a:spcBef>
                <a:spcPts val="1000"/>
              </a:spcBef>
              <a:spcAft>
                <a:spcPts val="0"/>
              </a:spcAft>
              <a:buSzPts val="1400"/>
              <a:buChar char="•"/>
            </a:pPr>
            <a:r>
              <a:rPr lang="en-US" sz="2000"/>
              <a:t>Only have passing students (169 with grades)</a:t>
            </a:r>
            <a:endParaRPr sz="2000"/>
          </a:p>
          <a:p>
            <a:pPr marL="914400" lvl="1" indent="-355600" algn="l" rtl="0">
              <a:lnSpc>
                <a:spcPct val="100000"/>
              </a:lnSpc>
              <a:spcBef>
                <a:spcPts val="1000"/>
              </a:spcBef>
              <a:spcAft>
                <a:spcPts val="0"/>
              </a:spcAft>
              <a:buSzPts val="2000"/>
              <a:buChar char="•"/>
            </a:pPr>
            <a:r>
              <a:rPr lang="en-US" sz="2000"/>
              <a:t>Mislabeled students and instructors</a:t>
            </a:r>
            <a:endParaRPr sz="2000"/>
          </a:p>
          <a:p>
            <a:pPr marL="914400" lvl="0" indent="0" algn="l" rtl="0">
              <a:lnSpc>
                <a:spcPct val="100000"/>
              </a:lnSpc>
              <a:spcBef>
                <a:spcPts val="1000"/>
              </a:spcBef>
              <a:spcAft>
                <a:spcPts val="0"/>
              </a:spcAft>
              <a:buNone/>
            </a:pPr>
            <a:endParaRPr sz="1200"/>
          </a:p>
          <a:p>
            <a:pPr marL="457200" lvl="0" indent="-355600" algn="l" rtl="0">
              <a:lnSpc>
                <a:spcPct val="100000"/>
              </a:lnSpc>
              <a:spcBef>
                <a:spcPts val="1000"/>
              </a:spcBef>
              <a:spcAft>
                <a:spcPts val="0"/>
              </a:spcAft>
              <a:buSzPts val="2000"/>
              <a:buChar char="•"/>
            </a:pPr>
            <a:r>
              <a:rPr lang="en-US" sz="2400" b="1"/>
              <a:t>Findings</a:t>
            </a:r>
            <a:endParaRPr sz="2000" b="1"/>
          </a:p>
          <a:p>
            <a:pPr marL="914400" marR="0" lvl="1" indent="-317500" algn="l" rtl="0">
              <a:lnSpc>
                <a:spcPct val="100000"/>
              </a:lnSpc>
              <a:spcBef>
                <a:spcPts val="1000"/>
              </a:spcBef>
              <a:spcAft>
                <a:spcPts val="0"/>
              </a:spcAft>
              <a:buSzPts val="1400"/>
              <a:buChar char="•"/>
            </a:pPr>
            <a:r>
              <a:rPr lang="en-US" sz="2000"/>
              <a:t>Highest correlation with final grades: number of follow-ups (0.27)</a:t>
            </a:r>
            <a:endParaRPr sz="2000"/>
          </a:p>
          <a:p>
            <a:pPr marL="914400" marR="0" lvl="1" indent="-317500" algn="l" rtl="0">
              <a:lnSpc>
                <a:spcPct val="100000"/>
              </a:lnSpc>
              <a:spcBef>
                <a:spcPts val="1000"/>
              </a:spcBef>
              <a:spcAft>
                <a:spcPts val="0"/>
              </a:spcAft>
              <a:buSzPts val="1400"/>
              <a:buChar char="•"/>
            </a:pPr>
            <a:r>
              <a:rPr lang="en-US" sz="2000"/>
              <a:t>Followed by average CP (.13)</a:t>
            </a:r>
            <a:endParaRPr sz="2000"/>
          </a:p>
        </p:txBody>
      </p:sp>
      <p:sp>
        <p:nvSpPr>
          <p:cNvPr id="206" name="Google Shape;206;g104b9201dd5_0_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Student Outcomes Analysis</a:t>
            </a:r>
            <a:endParaRPr/>
          </a:p>
        </p:txBody>
      </p:sp>
      <p:sp>
        <p:nvSpPr>
          <p:cNvPr id="207" name="Google Shape;207;g104b9201dd5_0_0"/>
          <p:cNvSpPr/>
          <p:nvPr/>
        </p:nvSpPr>
        <p:spPr>
          <a:xfrm>
            <a:off x="10277724" y="2615749"/>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Final grades</a:t>
            </a:r>
            <a:endParaRPr sz="1900" b="0" i="0" u="none" strike="noStrike" cap="none">
              <a:solidFill>
                <a:schemeClr val="lt1"/>
              </a:solidFill>
              <a:latin typeface="Roboto"/>
              <a:ea typeface="Roboto"/>
              <a:cs typeface="Roboto"/>
              <a:sym typeface="Roboto"/>
            </a:endParaRPr>
          </a:p>
        </p:txBody>
      </p:sp>
      <p:sp>
        <p:nvSpPr>
          <p:cNvPr id="208" name="Google Shape;208;g104b9201dd5_0_0"/>
          <p:cNvSpPr/>
          <p:nvPr/>
        </p:nvSpPr>
        <p:spPr>
          <a:xfrm>
            <a:off x="7963400" y="3004525"/>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Number of posts</a:t>
            </a:r>
            <a:endParaRPr sz="1900" b="0" i="0" u="none" strike="noStrike" cap="none">
              <a:solidFill>
                <a:schemeClr val="lt1"/>
              </a:solidFill>
              <a:latin typeface="Roboto"/>
              <a:ea typeface="Roboto"/>
              <a:cs typeface="Roboto"/>
              <a:sym typeface="Roboto"/>
            </a:endParaRPr>
          </a:p>
        </p:txBody>
      </p:sp>
      <p:sp>
        <p:nvSpPr>
          <p:cNvPr id="209" name="Google Shape;209;g104b9201dd5_0_0"/>
          <p:cNvSpPr/>
          <p:nvPr/>
        </p:nvSpPr>
        <p:spPr>
          <a:xfrm>
            <a:off x="7963400" y="2110000"/>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Cognitive presence</a:t>
            </a:r>
            <a:endParaRPr sz="1900" b="0" i="0" u="none" strike="noStrike" cap="none">
              <a:solidFill>
                <a:schemeClr val="lt1"/>
              </a:solidFill>
              <a:latin typeface="Roboto"/>
              <a:ea typeface="Roboto"/>
              <a:cs typeface="Roboto"/>
              <a:sym typeface="Roboto"/>
            </a:endParaRPr>
          </a:p>
        </p:txBody>
      </p:sp>
      <p:sp>
        <p:nvSpPr>
          <p:cNvPr id="210" name="Google Shape;210;g104b9201dd5_0_0"/>
          <p:cNvSpPr/>
          <p:nvPr/>
        </p:nvSpPr>
        <p:spPr>
          <a:xfrm>
            <a:off x="7963400" y="1215475"/>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Number of answers</a:t>
            </a:r>
            <a:endParaRPr sz="1900" b="0" i="0" u="none" strike="noStrike" cap="none">
              <a:solidFill>
                <a:schemeClr val="lt1"/>
              </a:solidFill>
              <a:latin typeface="Roboto"/>
              <a:ea typeface="Roboto"/>
              <a:cs typeface="Roboto"/>
              <a:sym typeface="Roboto"/>
            </a:endParaRPr>
          </a:p>
        </p:txBody>
      </p:sp>
      <p:sp>
        <p:nvSpPr>
          <p:cNvPr id="211" name="Google Shape;211;g104b9201dd5_0_0"/>
          <p:cNvSpPr/>
          <p:nvPr/>
        </p:nvSpPr>
        <p:spPr>
          <a:xfrm>
            <a:off x="7963400" y="3899049"/>
            <a:ext cx="1401300" cy="6612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Roboto"/>
                <a:ea typeface="Roboto"/>
                <a:cs typeface="Roboto"/>
                <a:sym typeface="Roboto"/>
              </a:rPr>
              <a:t>Timing of posts</a:t>
            </a:r>
            <a:endParaRPr sz="1900" b="0" i="0" u="none" strike="noStrike" cap="none">
              <a:solidFill>
                <a:schemeClr val="lt1"/>
              </a:solidFill>
              <a:latin typeface="Roboto"/>
              <a:ea typeface="Roboto"/>
              <a:cs typeface="Roboto"/>
              <a:sym typeface="Roboto"/>
            </a:endParaRPr>
          </a:p>
        </p:txBody>
      </p:sp>
      <p:cxnSp>
        <p:nvCxnSpPr>
          <p:cNvPr id="212" name="Google Shape;212;g104b9201dd5_0_0"/>
          <p:cNvCxnSpPr>
            <a:stCxn id="210" idx="3"/>
            <a:endCxn id="207" idx="1"/>
          </p:cNvCxnSpPr>
          <p:nvPr/>
        </p:nvCxnSpPr>
        <p:spPr>
          <a:xfrm>
            <a:off x="9364700" y="1546075"/>
            <a:ext cx="912900" cy="1400400"/>
          </a:xfrm>
          <a:prstGeom prst="straightConnector1">
            <a:avLst/>
          </a:prstGeom>
          <a:noFill/>
          <a:ln w="9525" cap="flat" cmpd="sng">
            <a:solidFill>
              <a:schemeClr val="dk2"/>
            </a:solidFill>
            <a:prstDash val="solid"/>
            <a:round/>
            <a:headEnd type="none" w="sm" len="sm"/>
            <a:tailEnd type="triangle" w="med" len="med"/>
          </a:ln>
        </p:spPr>
      </p:cxnSp>
      <p:cxnSp>
        <p:nvCxnSpPr>
          <p:cNvPr id="213" name="Google Shape;213;g104b9201dd5_0_0"/>
          <p:cNvCxnSpPr>
            <a:stCxn id="209" idx="3"/>
            <a:endCxn id="207" idx="1"/>
          </p:cNvCxnSpPr>
          <p:nvPr/>
        </p:nvCxnSpPr>
        <p:spPr>
          <a:xfrm>
            <a:off x="9364700" y="2440600"/>
            <a:ext cx="912900" cy="505800"/>
          </a:xfrm>
          <a:prstGeom prst="straightConnector1">
            <a:avLst/>
          </a:prstGeom>
          <a:noFill/>
          <a:ln w="9525" cap="flat" cmpd="sng">
            <a:solidFill>
              <a:schemeClr val="dk2"/>
            </a:solidFill>
            <a:prstDash val="solid"/>
            <a:round/>
            <a:headEnd type="none" w="sm" len="sm"/>
            <a:tailEnd type="triangle" w="med" len="med"/>
          </a:ln>
        </p:spPr>
      </p:cxnSp>
      <p:cxnSp>
        <p:nvCxnSpPr>
          <p:cNvPr id="214" name="Google Shape;214;g104b9201dd5_0_0"/>
          <p:cNvCxnSpPr>
            <a:stCxn id="208" idx="3"/>
            <a:endCxn id="207" idx="1"/>
          </p:cNvCxnSpPr>
          <p:nvPr/>
        </p:nvCxnSpPr>
        <p:spPr>
          <a:xfrm rot="10800000" flipH="1">
            <a:off x="9364700" y="2946325"/>
            <a:ext cx="912900" cy="388800"/>
          </a:xfrm>
          <a:prstGeom prst="straightConnector1">
            <a:avLst/>
          </a:prstGeom>
          <a:noFill/>
          <a:ln w="9525" cap="flat" cmpd="sng">
            <a:solidFill>
              <a:schemeClr val="dk2"/>
            </a:solidFill>
            <a:prstDash val="solid"/>
            <a:round/>
            <a:headEnd type="none" w="sm" len="sm"/>
            <a:tailEnd type="triangle" w="med" len="med"/>
          </a:ln>
        </p:spPr>
      </p:cxnSp>
      <p:cxnSp>
        <p:nvCxnSpPr>
          <p:cNvPr id="215" name="Google Shape;215;g104b9201dd5_0_0"/>
          <p:cNvCxnSpPr>
            <a:stCxn id="211" idx="3"/>
            <a:endCxn id="207" idx="1"/>
          </p:cNvCxnSpPr>
          <p:nvPr/>
        </p:nvCxnSpPr>
        <p:spPr>
          <a:xfrm rot="10800000" flipH="1">
            <a:off x="9364700" y="2946249"/>
            <a:ext cx="912900" cy="1283400"/>
          </a:xfrm>
          <a:prstGeom prst="straightConnector1">
            <a:avLst/>
          </a:prstGeom>
          <a:noFill/>
          <a:ln w="9525" cap="flat" cmpd="sng">
            <a:solidFill>
              <a:schemeClr val="dk2"/>
            </a:solidFill>
            <a:prstDash val="solid"/>
            <a:round/>
            <a:headEnd type="none" w="sm" len="sm"/>
            <a:tailEnd type="triangle" w="med" len="med"/>
          </a:ln>
        </p:spPr>
      </p:cxnSp>
      <p:sp>
        <p:nvSpPr>
          <p:cNvPr id="216" name="Google Shape;216;g104b9201dd5_0_0"/>
          <p:cNvSpPr/>
          <p:nvPr/>
        </p:nvSpPr>
        <p:spPr>
          <a:xfrm>
            <a:off x="8590382" y="4783933"/>
            <a:ext cx="69900" cy="789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g104b9201dd5_0_0"/>
          <p:cNvSpPr/>
          <p:nvPr/>
        </p:nvSpPr>
        <p:spPr>
          <a:xfrm>
            <a:off x="8590382" y="5046913"/>
            <a:ext cx="69900" cy="789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g104b9201dd5_0_0"/>
          <p:cNvSpPr/>
          <p:nvPr/>
        </p:nvSpPr>
        <p:spPr>
          <a:xfrm>
            <a:off x="8590382" y="5309893"/>
            <a:ext cx="69900" cy="789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efbeba6a1c_0_25"/>
          <p:cNvSpPr txBox="1">
            <a:spLocks noGrp="1"/>
          </p:cNvSpPr>
          <p:nvPr>
            <p:ph type="body" idx="1"/>
          </p:nvPr>
        </p:nvSpPr>
        <p:spPr>
          <a:xfrm>
            <a:off x="381000" y="1215475"/>
            <a:ext cx="11430000" cy="4596300"/>
          </a:xfrm>
          <a:prstGeom prst="rect">
            <a:avLst/>
          </a:prstGeom>
          <a:noFill/>
          <a:ln>
            <a:noFill/>
          </a:ln>
        </p:spPr>
        <p:txBody>
          <a:bodyPr spcFirstLastPara="1" wrap="square" lIns="91425" tIns="45700" rIns="91425" bIns="45700" anchor="t" anchorCtr="0">
            <a:noAutofit/>
          </a:bodyPr>
          <a:lstStyle/>
          <a:p>
            <a:pPr marL="457200" lvl="0" indent="-317500" algn="l" rtl="0">
              <a:lnSpc>
                <a:spcPct val="100000"/>
              </a:lnSpc>
              <a:spcBef>
                <a:spcPts val="1000"/>
              </a:spcBef>
              <a:spcAft>
                <a:spcPts val="0"/>
              </a:spcAft>
              <a:buSzPts val="1400"/>
              <a:buChar char="•"/>
            </a:pPr>
            <a:r>
              <a:rPr lang="en-US" sz="2000"/>
              <a:t>Found metrics for dashboard based on Piazza data set</a:t>
            </a:r>
            <a:endParaRPr sz="2000"/>
          </a:p>
          <a:p>
            <a:pPr marL="0" lvl="0" indent="0" algn="l" rtl="0">
              <a:lnSpc>
                <a:spcPct val="100000"/>
              </a:lnSpc>
              <a:spcBef>
                <a:spcPts val="1000"/>
              </a:spcBef>
              <a:spcAft>
                <a:spcPts val="0"/>
              </a:spcAft>
              <a:buNone/>
            </a:pPr>
            <a:endParaRPr sz="2000"/>
          </a:p>
          <a:p>
            <a:pPr marL="457200" lvl="0" indent="-355600" algn="l" rtl="0">
              <a:lnSpc>
                <a:spcPct val="100000"/>
              </a:lnSpc>
              <a:spcBef>
                <a:spcPts val="1000"/>
              </a:spcBef>
              <a:spcAft>
                <a:spcPts val="0"/>
              </a:spcAft>
              <a:buSzPts val="2000"/>
              <a:buAutoNum type="arabicPeriod"/>
            </a:pPr>
            <a:r>
              <a:rPr lang="en-US" sz="2000" b="1"/>
              <a:t>Top student answerers</a:t>
            </a:r>
            <a:endParaRPr sz="2000" b="1"/>
          </a:p>
          <a:p>
            <a:pPr marL="914400" lvl="1" indent="-355600" algn="l" rtl="0">
              <a:lnSpc>
                <a:spcPct val="100000"/>
              </a:lnSpc>
              <a:spcBef>
                <a:spcPts val="0"/>
              </a:spcBef>
              <a:spcAft>
                <a:spcPts val="0"/>
              </a:spcAft>
              <a:buSzPts val="2000"/>
              <a:buAutoNum type="alphaLcPeriod"/>
            </a:pPr>
            <a:r>
              <a:rPr lang="en-US" sz="2000"/>
              <a:t>User 60 - 4 answers</a:t>
            </a:r>
            <a:endParaRPr sz="2000"/>
          </a:p>
          <a:p>
            <a:pPr marL="914400" lvl="1" indent="-355600" algn="l" rtl="0">
              <a:lnSpc>
                <a:spcPct val="100000"/>
              </a:lnSpc>
              <a:spcBef>
                <a:spcPts val="0"/>
              </a:spcBef>
              <a:spcAft>
                <a:spcPts val="0"/>
              </a:spcAft>
              <a:buSzPts val="2000"/>
              <a:buAutoNum type="alphaLcPeriod"/>
            </a:pPr>
            <a:r>
              <a:rPr lang="en-US" sz="2000"/>
              <a:t>User 4 - 2 answers</a:t>
            </a:r>
            <a:endParaRPr sz="2000"/>
          </a:p>
          <a:p>
            <a:pPr marL="914400" lvl="0" indent="0" algn="l" rtl="0">
              <a:lnSpc>
                <a:spcPct val="100000"/>
              </a:lnSpc>
              <a:spcBef>
                <a:spcPts val="0"/>
              </a:spcBef>
              <a:spcAft>
                <a:spcPts val="0"/>
              </a:spcAft>
              <a:buNone/>
            </a:pPr>
            <a:endParaRPr sz="2000"/>
          </a:p>
          <a:p>
            <a:pPr marL="457200" lvl="0" indent="-355600" algn="l" rtl="0">
              <a:lnSpc>
                <a:spcPct val="100000"/>
              </a:lnSpc>
              <a:spcBef>
                <a:spcPts val="0"/>
              </a:spcBef>
              <a:spcAft>
                <a:spcPts val="0"/>
              </a:spcAft>
              <a:buSzPts val="2000"/>
              <a:buAutoNum type="arabicPeriod"/>
            </a:pPr>
            <a:r>
              <a:rPr lang="en-US" sz="2000" b="1"/>
              <a:t>Top student askers</a:t>
            </a:r>
            <a:endParaRPr sz="2000" b="1"/>
          </a:p>
          <a:p>
            <a:pPr marL="914400" lvl="1" indent="-355600" algn="l" rtl="0">
              <a:lnSpc>
                <a:spcPct val="100000"/>
              </a:lnSpc>
              <a:spcBef>
                <a:spcPts val="0"/>
              </a:spcBef>
              <a:spcAft>
                <a:spcPts val="0"/>
              </a:spcAft>
              <a:buSzPts val="2000"/>
              <a:buAutoNum type="alphaLcPeriod"/>
            </a:pPr>
            <a:r>
              <a:rPr lang="en-US" sz="2000"/>
              <a:t>User 60 - 19 questions</a:t>
            </a:r>
            <a:endParaRPr sz="2000"/>
          </a:p>
          <a:p>
            <a:pPr marL="914400" lvl="1" indent="-355600" algn="l" rtl="0">
              <a:lnSpc>
                <a:spcPct val="100000"/>
              </a:lnSpc>
              <a:spcBef>
                <a:spcPts val="0"/>
              </a:spcBef>
              <a:spcAft>
                <a:spcPts val="0"/>
              </a:spcAft>
              <a:buSzPts val="2000"/>
              <a:buAutoNum type="alphaLcPeriod"/>
            </a:pPr>
            <a:r>
              <a:rPr lang="en-US" sz="2000"/>
              <a:t>User 46 - 5 questions</a:t>
            </a:r>
            <a:endParaRPr sz="2000"/>
          </a:p>
          <a:p>
            <a:pPr marL="914400" lvl="0" indent="0" algn="l" rtl="0">
              <a:lnSpc>
                <a:spcPct val="100000"/>
              </a:lnSpc>
              <a:spcBef>
                <a:spcPts val="0"/>
              </a:spcBef>
              <a:spcAft>
                <a:spcPts val="0"/>
              </a:spcAft>
              <a:buNone/>
            </a:pPr>
            <a:endParaRPr sz="2000"/>
          </a:p>
          <a:p>
            <a:pPr marL="457200" lvl="0" indent="-355600" algn="l" rtl="0">
              <a:lnSpc>
                <a:spcPct val="100000"/>
              </a:lnSpc>
              <a:spcBef>
                <a:spcPts val="1000"/>
              </a:spcBef>
              <a:spcAft>
                <a:spcPts val="0"/>
              </a:spcAft>
              <a:buSzPts val="2000"/>
              <a:buAutoNum type="arabicPeriod"/>
            </a:pPr>
            <a:r>
              <a:rPr lang="en-US" sz="2000" b="1"/>
              <a:t>Overall sentiment around an assignment/exam</a:t>
            </a:r>
            <a:endParaRPr sz="2000" b="1"/>
          </a:p>
          <a:p>
            <a:pPr marL="914400" lvl="1" indent="-355600" algn="l" rtl="0">
              <a:lnSpc>
                <a:spcPct val="100000"/>
              </a:lnSpc>
              <a:spcBef>
                <a:spcPts val="0"/>
              </a:spcBef>
              <a:spcAft>
                <a:spcPts val="0"/>
              </a:spcAft>
              <a:buSzPts val="2000"/>
              <a:buAutoNum type="alphaLcPeriod"/>
            </a:pPr>
            <a:r>
              <a:rPr lang="en-US" sz="2000"/>
              <a:t>Highest sentiment: Assignment 4 Bonus Kaggle Competition (.57)</a:t>
            </a:r>
            <a:endParaRPr sz="2000"/>
          </a:p>
          <a:p>
            <a:pPr marL="914400" lvl="1" indent="-355600" algn="l" rtl="0">
              <a:lnSpc>
                <a:spcPct val="100000"/>
              </a:lnSpc>
              <a:spcBef>
                <a:spcPts val="0"/>
              </a:spcBef>
              <a:spcAft>
                <a:spcPts val="0"/>
              </a:spcAft>
              <a:buSzPts val="2000"/>
              <a:buAutoNum type="alphaLcPeriod"/>
            </a:pPr>
            <a:r>
              <a:rPr lang="en-US" sz="2000"/>
              <a:t>Lowest sentiment: Assignment 4 - Part 1: Hand Tree &amp; Performance Metrics (.06)</a:t>
            </a:r>
            <a:endParaRPr sz="2000"/>
          </a:p>
        </p:txBody>
      </p:sp>
      <p:sp>
        <p:nvSpPr>
          <p:cNvPr id="224" name="Google Shape;224;gefbeba6a1c_0_25"/>
          <p:cNvSpPr txBox="1">
            <a:spLocks noGrp="1"/>
          </p:cNvSpPr>
          <p:nvPr>
            <p:ph type="title"/>
          </p:nvPr>
        </p:nvSpPr>
        <p:spPr>
          <a:xfrm>
            <a:off x="381000" y="20057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Metrics for Dashboard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104b9201dd5_1_3"/>
          <p:cNvSpPr txBox="1">
            <a:spLocks noGrp="1"/>
          </p:cNvSpPr>
          <p:nvPr>
            <p:ph type="body" idx="1"/>
          </p:nvPr>
        </p:nvSpPr>
        <p:spPr>
          <a:xfrm>
            <a:off x="381000" y="1215475"/>
            <a:ext cx="11148600" cy="522300"/>
          </a:xfrm>
          <a:prstGeom prst="rect">
            <a:avLst/>
          </a:prstGeom>
          <a:noFill/>
          <a:ln>
            <a:noFill/>
          </a:ln>
        </p:spPr>
        <p:txBody>
          <a:bodyPr spcFirstLastPara="1" wrap="square" lIns="91425" tIns="45700" rIns="91425" bIns="45700" anchor="t" anchorCtr="0">
            <a:noAutofit/>
          </a:bodyPr>
          <a:lstStyle/>
          <a:p>
            <a:pPr marL="457200" lvl="0" indent="-330200" algn="l" rtl="0">
              <a:lnSpc>
                <a:spcPct val="100000"/>
              </a:lnSpc>
              <a:spcBef>
                <a:spcPts val="1000"/>
              </a:spcBef>
              <a:spcAft>
                <a:spcPts val="0"/>
              </a:spcAft>
              <a:buSzPts val="1600"/>
              <a:buChar char="•"/>
            </a:pPr>
            <a:r>
              <a:rPr lang="en-US" sz="2200"/>
              <a:t>Found metrics for dashboard based on Piazza data set</a:t>
            </a:r>
            <a:endParaRPr sz="2200"/>
          </a:p>
        </p:txBody>
      </p:sp>
      <p:sp>
        <p:nvSpPr>
          <p:cNvPr id="230" name="Google Shape;230;g104b9201dd5_1_3"/>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Metrics for Dashboard (cont)</a:t>
            </a:r>
            <a:endParaRPr/>
          </a:p>
        </p:txBody>
      </p:sp>
      <p:pic>
        <p:nvPicPr>
          <p:cNvPr id="231" name="Google Shape;231;g104b9201dd5_1_3"/>
          <p:cNvPicPr preferRelativeResize="0"/>
          <p:nvPr/>
        </p:nvPicPr>
        <p:blipFill>
          <a:blip r:embed="rId3">
            <a:alphaModFix/>
          </a:blip>
          <a:stretch>
            <a:fillRect/>
          </a:stretch>
        </p:blipFill>
        <p:spPr>
          <a:xfrm>
            <a:off x="773726" y="2903876"/>
            <a:ext cx="5217925" cy="3150600"/>
          </a:xfrm>
          <a:prstGeom prst="rect">
            <a:avLst/>
          </a:prstGeom>
          <a:noFill/>
          <a:ln>
            <a:noFill/>
          </a:ln>
        </p:spPr>
      </p:pic>
      <p:sp>
        <p:nvSpPr>
          <p:cNvPr id="232" name="Google Shape;232;g104b9201dd5_1_3"/>
          <p:cNvSpPr txBox="1"/>
          <p:nvPr/>
        </p:nvSpPr>
        <p:spPr>
          <a:xfrm>
            <a:off x="616650" y="2167650"/>
            <a:ext cx="5867700" cy="5232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Font typeface="Roboto"/>
              <a:buAutoNum type="arabicPeriod" startAt="4"/>
            </a:pPr>
            <a:r>
              <a:rPr lang="en-US" sz="2200" b="1">
                <a:solidFill>
                  <a:schemeClr val="dk1"/>
                </a:solidFill>
                <a:latin typeface="Roboto"/>
                <a:ea typeface="Roboto"/>
                <a:cs typeface="Roboto"/>
                <a:sym typeface="Roboto"/>
              </a:rPr>
              <a:t>Distribution of instructor contributions</a:t>
            </a:r>
            <a:endParaRPr b="1">
              <a:latin typeface="Roboto"/>
              <a:ea typeface="Roboto"/>
              <a:cs typeface="Roboto"/>
              <a:sym typeface="Roboto"/>
            </a:endParaRPr>
          </a:p>
        </p:txBody>
      </p:sp>
      <p:sp>
        <p:nvSpPr>
          <p:cNvPr id="233" name="Google Shape;233;g104b9201dd5_1_3"/>
          <p:cNvSpPr txBox="1"/>
          <p:nvPr/>
        </p:nvSpPr>
        <p:spPr>
          <a:xfrm>
            <a:off x="6324300" y="2167650"/>
            <a:ext cx="5867700" cy="5232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Font typeface="Roboto"/>
              <a:buAutoNum type="arabicPeriod" startAt="5"/>
            </a:pPr>
            <a:r>
              <a:rPr lang="en-US" sz="2200">
                <a:solidFill>
                  <a:schemeClr val="dk1"/>
                </a:solidFill>
                <a:latin typeface="Roboto"/>
                <a:ea typeface="Roboto"/>
                <a:cs typeface="Roboto"/>
                <a:sym typeface="Roboto"/>
              </a:rPr>
              <a:t>Distribution of </a:t>
            </a:r>
            <a:r>
              <a:rPr lang="en-US" sz="2200" b="1">
                <a:solidFill>
                  <a:schemeClr val="dk1"/>
                </a:solidFill>
                <a:latin typeface="Roboto"/>
                <a:ea typeface="Roboto"/>
                <a:cs typeface="Roboto"/>
                <a:sym typeface="Roboto"/>
              </a:rPr>
              <a:t>sentiment by post</a:t>
            </a:r>
            <a:endParaRPr b="1">
              <a:latin typeface="Roboto"/>
              <a:ea typeface="Roboto"/>
              <a:cs typeface="Roboto"/>
              <a:sym typeface="Roboto"/>
            </a:endParaRPr>
          </a:p>
        </p:txBody>
      </p:sp>
      <p:pic>
        <p:nvPicPr>
          <p:cNvPr id="234" name="Google Shape;234;g104b9201dd5_1_3"/>
          <p:cNvPicPr preferRelativeResize="0"/>
          <p:nvPr/>
        </p:nvPicPr>
        <p:blipFill>
          <a:blip r:embed="rId4">
            <a:alphaModFix/>
          </a:blip>
          <a:stretch>
            <a:fillRect/>
          </a:stretch>
        </p:blipFill>
        <p:spPr>
          <a:xfrm>
            <a:off x="6484350" y="2787175"/>
            <a:ext cx="4877125" cy="3438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104582646e5_0_5"/>
          <p:cNvSpPr txBox="1">
            <a:spLocks noGrp="1"/>
          </p:cNvSpPr>
          <p:nvPr>
            <p:ph type="body" idx="1"/>
          </p:nvPr>
        </p:nvSpPr>
        <p:spPr>
          <a:xfrm>
            <a:off x="387350" y="3061150"/>
            <a:ext cx="10714200" cy="357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200" b="1"/>
              <a:t>Next Steps</a:t>
            </a:r>
            <a:r>
              <a:rPr lang="en-US" sz="2200"/>
              <a:t>: </a:t>
            </a:r>
            <a:endParaRPr sz="2200"/>
          </a:p>
          <a:p>
            <a:pPr marL="457200" lvl="0" indent="-368300" algn="l" rtl="0">
              <a:lnSpc>
                <a:spcPct val="100000"/>
              </a:lnSpc>
              <a:spcBef>
                <a:spcPts val="1000"/>
              </a:spcBef>
              <a:spcAft>
                <a:spcPts val="0"/>
              </a:spcAft>
              <a:buSzPts val="2200"/>
              <a:buChar char="•"/>
            </a:pPr>
            <a:r>
              <a:rPr lang="en-US" sz="2200"/>
              <a:t>Complete the pipeline:  comments -&gt; polarity score and sentiment for real-time piazza data</a:t>
            </a:r>
            <a:endParaRPr sz="2200"/>
          </a:p>
          <a:p>
            <a:pPr marL="457200" lvl="0" indent="-368300" algn="l" rtl="0">
              <a:lnSpc>
                <a:spcPct val="100000"/>
              </a:lnSpc>
              <a:spcBef>
                <a:spcPts val="0"/>
              </a:spcBef>
              <a:spcAft>
                <a:spcPts val="0"/>
              </a:spcAft>
              <a:buSzPts val="2200"/>
              <a:buChar char="•"/>
            </a:pPr>
            <a:r>
              <a:rPr lang="en-US" sz="2200"/>
              <a:t>Test this trained BERT model using LIME approach to identify impact of commonly used words on Piazza</a:t>
            </a:r>
            <a:endParaRPr sz="2200"/>
          </a:p>
          <a:p>
            <a:pPr marL="457200" lvl="0" indent="-368300" algn="l" rtl="0">
              <a:lnSpc>
                <a:spcPct val="100000"/>
              </a:lnSpc>
              <a:spcBef>
                <a:spcPts val="0"/>
              </a:spcBef>
              <a:spcAft>
                <a:spcPts val="0"/>
              </a:spcAft>
              <a:buSzPts val="2200"/>
              <a:buChar char="•"/>
            </a:pPr>
            <a:r>
              <a:rPr lang="en-US" sz="2200"/>
              <a:t>Use the model to predict cognitive presence for real-time Piazza data and display it on dashboard</a:t>
            </a:r>
            <a:endParaRPr sz="2200"/>
          </a:p>
        </p:txBody>
      </p:sp>
      <p:sp>
        <p:nvSpPr>
          <p:cNvPr id="240" name="Google Shape;240;g104582646e5_0_5"/>
          <p:cNvSpPr txBox="1">
            <a:spLocks noGrp="1"/>
          </p:cNvSpPr>
          <p:nvPr>
            <p:ph type="title"/>
          </p:nvPr>
        </p:nvSpPr>
        <p:spPr>
          <a:xfrm>
            <a:off x="381000" y="2122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Data Science - Key Learnings and Goals for next sem</a:t>
            </a:r>
            <a:endParaRPr/>
          </a:p>
        </p:txBody>
      </p:sp>
      <p:sp>
        <p:nvSpPr>
          <p:cNvPr id="241" name="Google Shape;241;g104582646e5_0_5"/>
          <p:cNvSpPr txBox="1">
            <a:spLocks noGrp="1"/>
          </p:cNvSpPr>
          <p:nvPr>
            <p:ph type="body" idx="1"/>
          </p:nvPr>
        </p:nvSpPr>
        <p:spPr>
          <a:xfrm>
            <a:off x="495400" y="1215625"/>
            <a:ext cx="10916400" cy="2671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200" b="1"/>
              <a:t>Learnings</a:t>
            </a:r>
            <a:r>
              <a:rPr lang="en-US" sz="2200"/>
              <a:t>: </a:t>
            </a:r>
            <a:endParaRPr sz="2200"/>
          </a:p>
          <a:p>
            <a:pPr marL="457200" lvl="0" indent="-368300" algn="l" rtl="0">
              <a:lnSpc>
                <a:spcPct val="100000"/>
              </a:lnSpc>
              <a:spcBef>
                <a:spcPts val="1000"/>
              </a:spcBef>
              <a:spcAft>
                <a:spcPts val="0"/>
              </a:spcAft>
              <a:buSzPts val="2200"/>
              <a:buChar char="•"/>
            </a:pPr>
            <a:r>
              <a:rPr lang="en-US" sz="2200"/>
              <a:t>Sentiment Analysis: Although the pre-trained model was trained on movie data, it worked well to predict the sentiment of Piazza comments. </a:t>
            </a:r>
            <a:endParaRPr sz="2200"/>
          </a:p>
          <a:p>
            <a:pPr marL="457200" lvl="0" indent="-368300" algn="l" rtl="0">
              <a:lnSpc>
                <a:spcPct val="100000"/>
              </a:lnSpc>
              <a:spcBef>
                <a:spcPts val="0"/>
              </a:spcBef>
              <a:spcAft>
                <a:spcPts val="0"/>
              </a:spcAft>
              <a:buSzPts val="2200"/>
              <a:buChar char="•"/>
            </a:pPr>
            <a:r>
              <a:rPr lang="en-US" sz="2200"/>
              <a:t>A bit inaccurate sentiment of a question unless some specific keywords are used.  </a:t>
            </a:r>
            <a:endParaRPr sz="2200"/>
          </a:p>
          <a:p>
            <a:pPr marL="0" lvl="0" indent="0" algn="l" rtl="0">
              <a:lnSpc>
                <a:spcPct val="100000"/>
              </a:lnSpc>
              <a:spcBef>
                <a:spcPts val="1000"/>
              </a:spcBef>
              <a:spcAft>
                <a:spcPts val="0"/>
              </a:spcAft>
              <a:buNone/>
            </a:pP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efbeba6a1c_0_514"/>
          <p:cNvSpPr txBox="1">
            <a:spLocks noGrp="1"/>
          </p:cNvSpPr>
          <p:nvPr>
            <p:ph type="title" idx="4294967295"/>
          </p:nvPr>
        </p:nvSpPr>
        <p:spPr>
          <a:xfrm>
            <a:off x="381000" y="292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sz="7000"/>
              <a:t>UX Research</a:t>
            </a:r>
            <a:endParaRPr sz="7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efbeba6a1c_0_15"/>
          <p:cNvSpPr txBox="1">
            <a:spLocks noGrp="1"/>
          </p:cNvSpPr>
          <p:nvPr>
            <p:ph type="body" idx="1"/>
          </p:nvPr>
        </p:nvSpPr>
        <p:spPr>
          <a:xfrm>
            <a:off x="381000" y="1532300"/>
            <a:ext cx="11430000" cy="49893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1000"/>
              </a:spcBef>
              <a:spcAft>
                <a:spcPts val="0"/>
              </a:spcAft>
              <a:buSzPts val="1800"/>
              <a:buChar char="-"/>
            </a:pPr>
            <a:r>
              <a:rPr lang="en-US" b="1"/>
              <a:t>Metrics survey sent out to a few people initially to gather feedback</a:t>
            </a:r>
            <a:endParaRPr b="1"/>
          </a:p>
          <a:p>
            <a:pPr marL="914400" lvl="1" indent="-330200" algn="l" rtl="0">
              <a:lnSpc>
                <a:spcPct val="100000"/>
              </a:lnSpc>
              <a:spcBef>
                <a:spcPts val="1000"/>
              </a:spcBef>
              <a:spcAft>
                <a:spcPts val="0"/>
              </a:spcAft>
              <a:buSzPts val="1600"/>
              <a:buChar char="-"/>
            </a:pPr>
            <a:r>
              <a:rPr lang="en-US" sz="2200"/>
              <a:t>Edited based off of feedback and resent to a broader group to get more responses</a:t>
            </a:r>
            <a:endParaRPr sz="2200"/>
          </a:p>
          <a:p>
            <a:pPr marL="914400" lvl="0" indent="0" algn="l" rtl="0">
              <a:lnSpc>
                <a:spcPct val="100000"/>
              </a:lnSpc>
              <a:spcBef>
                <a:spcPts val="1000"/>
              </a:spcBef>
              <a:spcAft>
                <a:spcPts val="0"/>
              </a:spcAft>
              <a:buNone/>
            </a:pPr>
            <a:r>
              <a:rPr lang="en-US" sz="2200"/>
              <a:t> </a:t>
            </a:r>
            <a:endParaRPr sz="2200"/>
          </a:p>
          <a:p>
            <a:pPr marL="457200" lvl="0" indent="-342900" algn="l" rtl="0">
              <a:lnSpc>
                <a:spcPct val="100000"/>
              </a:lnSpc>
              <a:spcBef>
                <a:spcPts val="1000"/>
              </a:spcBef>
              <a:spcAft>
                <a:spcPts val="0"/>
              </a:spcAft>
              <a:buSzPts val="1800"/>
              <a:buChar char="-"/>
            </a:pPr>
            <a:r>
              <a:rPr lang="en-US" b="1">
                <a:highlight>
                  <a:schemeClr val="lt1"/>
                </a:highlight>
              </a:rPr>
              <a:t>Three highest ranked metrics by average score</a:t>
            </a:r>
            <a:r>
              <a:rPr lang="en-US">
                <a:highlight>
                  <a:schemeClr val="lt1"/>
                </a:highlight>
              </a:rPr>
              <a:t>:</a:t>
            </a:r>
            <a:endParaRPr>
              <a:highlight>
                <a:schemeClr val="lt1"/>
              </a:highlight>
            </a:endParaRPr>
          </a:p>
          <a:p>
            <a:pPr marL="914400" lvl="1" indent="-368300" algn="l" rtl="0">
              <a:lnSpc>
                <a:spcPct val="100000"/>
              </a:lnSpc>
              <a:spcBef>
                <a:spcPts val="1000"/>
              </a:spcBef>
              <a:spcAft>
                <a:spcPts val="0"/>
              </a:spcAft>
              <a:buSzPts val="2200"/>
              <a:buFont typeface="Roboto"/>
              <a:buChar char="-"/>
            </a:pPr>
            <a:r>
              <a:rPr lang="en-US" sz="2200">
                <a:highlight>
                  <a:schemeClr val="lt1"/>
                </a:highlight>
              </a:rPr>
              <a:t>Most popular topic that is trending this certain week? For example, if a lot of students have questions on a particular topic.</a:t>
            </a:r>
            <a:endParaRPr sz="2200">
              <a:highlight>
                <a:schemeClr val="lt1"/>
              </a:highlight>
            </a:endParaRPr>
          </a:p>
          <a:p>
            <a:pPr marL="914400" lvl="1" indent="-368300" algn="l" rtl="0">
              <a:lnSpc>
                <a:spcPct val="100000"/>
              </a:lnSpc>
              <a:spcBef>
                <a:spcPts val="1000"/>
              </a:spcBef>
              <a:spcAft>
                <a:spcPts val="0"/>
              </a:spcAft>
              <a:buSzPts val="2200"/>
              <a:buFont typeface="Roboto"/>
              <a:buChar char="-"/>
            </a:pPr>
            <a:r>
              <a:rPr lang="en-US" sz="2200">
                <a:highlight>
                  <a:schemeClr val="lt1"/>
                </a:highlight>
              </a:rPr>
              <a:t>Overall sentiment around a given homework/exam? Sentiment of a post/thread is how positive or negative the tone of a given post is.</a:t>
            </a:r>
            <a:endParaRPr sz="2200">
              <a:highlight>
                <a:schemeClr val="lt1"/>
              </a:highlight>
            </a:endParaRPr>
          </a:p>
          <a:p>
            <a:pPr marL="914400" lvl="1" indent="-368300" algn="l" rtl="0">
              <a:lnSpc>
                <a:spcPct val="100000"/>
              </a:lnSpc>
              <a:spcBef>
                <a:spcPts val="1000"/>
              </a:spcBef>
              <a:spcAft>
                <a:spcPts val="0"/>
              </a:spcAft>
              <a:buSzPts val="2200"/>
              <a:buFont typeface="Roboto"/>
              <a:buChar char="-"/>
            </a:pPr>
            <a:r>
              <a:rPr lang="en-US" sz="2200">
                <a:highlight>
                  <a:schemeClr val="lt1"/>
                </a:highlight>
              </a:rPr>
              <a:t>Top students that answer the most questions?</a:t>
            </a:r>
            <a:endParaRPr sz="2200">
              <a:highlight>
                <a:schemeClr val="lt1"/>
              </a:highlight>
            </a:endParaRPr>
          </a:p>
        </p:txBody>
      </p:sp>
      <p:sp>
        <p:nvSpPr>
          <p:cNvPr id="252" name="Google Shape;252;gefbeba6a1c_0_15"/>
          <p:cNvSpPr txBox="1">
            <a:spLocks noGrp="1"/>
          </p:cNvSpPr>
          <p:nvPr>
            <p:ph type="title"/>
          </p:nvPr>
        </p:nvSpPr>
        <p:spPr>
          <a:xfrm>
            <a:off x="381000" y="33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User Surveys - Analysis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efbeba6a1c_0_498"/>
          <p:cNvSpPr txBox="1">
            <a:spLocks noGrp="1"/>
          </p:cNvSpPr>
          <p:nvPr>
            <p:ph type="body" idx="1"/>
          </p:nvPr>
        </p:nvSpPr>
        <p:spPr>
          <a:xfrm>
            <a:off x="381000" y="1215474"/>
            <a:ext cx="11430000" cy="5258100"/>
          </a:xfrm>
          <a:prstGeom prst="rect">
            <a:avLst/>
          </a:prstGeom>
          <a:noFill/>
          <a:ln>
            <a:noFill/>
          </a:ln>
        </p:spPr>
        <p:txBody>
          <a:bodyPr spcFirstLastPara="1" wrap="square" lIns="91425" tIns="45700" rIns="91425" bIns="45700" anchor="t" anchorCtr="0">
            <a:normAutofit lnSpcReduction="20000"/>
          </a:bodyPr>
          <a:lstStyle/>
          <a:p>
            <a:pPr marL="457200" lvl="0" indent="-342900" algn="l" rtl="0">
              <a:lnSpc>
                <a:spcPct val="100000"/>
              </a:lnSpc>
              <a:spcBef>
                <a:spcPts val="1000"/>
              </a:spcBef>
              <a:spcAft>
                <a:spcPts val="0"/>
              </a:spcAft>
              <a:buSzPts val="1800"/>
              <a:buChar char="-"/>
            </a:pPr>
            <a:r>
              <a:rPr lang="en-US"/>
              <a:t>Some </a:t>
            </a:r>
            <a:r>
              <a:rPr lang="en-US" b="1"/>
              <a:t>respondents also proposed their own metrics</a:t>
            </a:r>
            <a:r>
              <a:rPr lang="en-US"/>
              <a:t> which they think would be useful to look at</a:t>
            </a:r>
            <a:endParaRPr/>
          </a:p>
          <a:p>
            <a:pPr marL="914400" lvl="1" indent="-368300" algn="l" rtl="0">
              <a:lnSpc>
                <a:spcPct val="100000"/>
              </a:lnSpc>
              <a:spcBef>
                <a:spcPts val="1000"/>
              </a:spcBef>
              <a:spcAft>
                <a:spcPts val="0"/>
              </a:spcAft>
              <a:buSzPts val="2200"/>
              <a:buFont typeface="Roboto"/>
              <a:buChar char="-"/>
            </a:pPr>
            <a:r>
              <a:rPr lang="en-US" sz="2200">
                <a:highlight>
                  <a:srgbClr val="FFFFFF"/>
                </a:highlight>
              </a:rPr>
              <a:t>How often their questions are marked as 'good question' by TAs</a:t>
            </a:r>
            <a:endParaRPr sz="2200">
              <a:highlight>
                <a:srgbClr val="FFFFFF"/>
              </a:highlight>
            </a:endParaRPr>
          </a:p>
          <a:p>
            <a:pPr marL="914400" lvl="1" indent="-368300" algn="l" rtl="0">
              <a:lnSpc>
                <a:spcPct val="100000"/>
              </a:lnSpc>
              <a:spcBef>
                <a:spcPts val="1000"/>
              </a:spcBef>
              <a:spcAft>
                <a:spcPts val="0"/>
              </a:spcAft>
              <a:buSzPts val="2200"/>
              <a:buChar char="-"/>
            </a:pPr>
            <a:r>
              <a:rPr lang="en-US" sz="2200">
                <a:highlight>
                  <a:srgbClr val="FFFFFF"/>
                </a:highlight>
              </a:rPr>
              <a:t>Category of post (course concepts vs logistics)</a:t>
            </a:r>
            <a:endParaRPr sz="2200">
              <a:highlight>
                <a:srgbClr val="FFFFFF"/>
              </a:highlight>
            </a:endParaRPr>
          </a:p>
          <a:p>
            <a:pPr marL="914400" lvl="1" indent="-368300" algn="l" rtl="0">
              <a:lnSpc>
                <a:spcPct val="100000"/>
              </a:lnSpc>
              <a:spcBef>
                <a:spcPts val="1000"/>
              </a:spcBef>
              <a:spcAft>
                <a:spcPts val="0"/>
              </a:spcAft>
              <a:buSzPts val="2200"/>
              <a:buChar char="-"/>
            </a:pPr>
            <a:r>
              <a:rPr lang="en-US" sz="2200">
                <a:highlight>
                  <a:srgbClr val="FFFFFF"/>
                </a:highlight>
              </a:rPr>
              <a:t>Average time certain types of posts take to be resolved</a:t>
            </a:r>
            <a:endParaRPr sz="2200">
              <a:highlight>
                <a:srgbClr val="FFFFFF"/>
              </a:highlight>
            </a:endParaRPr>
          </a:p>
          <a:p>
            <a:pPr marL="914400" lvl="0" indent="0" algn="l" rtl="0">
              <a:lnSpc>
                <a:spcPct val="100000"/>
              </a:lnSpc>
              <a:spcBef>
                <a:spcPts val="1000"/>
              </a:spcBef>
              <a:spcAft>
                <a:spcPts val="0"/>
              </a:spcAft>
              <a:buNone/>
            </a:pPr>
            <a:endParaRPr sz="2200">
              <a:highlight>
                <a:srgbClr val="FFFFFF"/>
              </a:highlight>
            </a:endParaRPr>
          </a:p>
          <a:p>
            <a:pPr marL="457200" lvl="0" indent="-406400" algn="l" rtl="0">
              <a:lnSpc>
                <a:spcPct val="100000"/>
              </a:lnSpc>
              <a:spcBef>
                <a:spcPts val="1000"/>
              </a:spcBef>
              <a:spcAft>
                <a:spcPts val="0"/>
              </a:spcAft>
              <a:buSzPts val="2800"/>
              <a:buChar char="-"/>
            </a:pPr>
            <a:r>
              <a:rPr lang="en-US">
                <a:highlight>
                  <a:srgbClr val="FFFFFF"/>
                </a:highlight>
              </a:rPr>
              <a:t>With this, the </a:t>
            </a:r>
            <a:r>
              <a:rPr lang="en-US" b="1">
                <a:highlight>
                  <a:srgbClr val="FFFFFF"/>
                </a:highlight>
              </a:rPr>
              <a:t>metrics collection stage of the project is finished </a:t>
            </a:r>
            <a:endParaRPr b="1">
              <a:highlight>
                <a:srgbClr val="FFFFFF"/>
              </a:highlight>
            </a:endParaRPr>
          </a:p>
          <a:p>
            <a:pPr marL="914400" lvl="1" indent="-330200" algn="l" rtl="0">
              <a:lnSpc>
                <a:spcPct val="100000"/>
              </a:lnSpc>
              <a:spcBef>
                <a:spcPts val="1000"/>
              </a:spcBef>
              <a:spcAft>
                <a:spcPts val="0"/>
              </a:spcAft>
              <a:buSzPts val="1600"/>
              <a:buChar char="-"/>
            </a:pPr>
            <a:r>
              <a:rPr lang="en-US" sz="2200">
                <a:highlight>
                  <a:srgbClr val="FFFFFF"/>
                </a:highlight>
              </a:rPr>
              <a:t>Can further interview certain TA’s and Professors if we need further input or assistance </a:t>
            </a:r>
            <a:endParaRPr sz="2200">
              <a:highlight>
                <a:srgbClr val="FFFFFF"/>
              </a:highlight>
            </a:endParaRPr>
          </a:p>
          <a:p>
            <a:pPr marL="914400" lvl="1" indent="-342900" algn="l" rtl="0">
              <a:lnSpc>
                <a:spcPct val="100000"/>
              </a:lnSpc>
              <a:spcBef>
                <a:spcPts val="1000"/>
              </a:spcBef>
              <a:spcAft>
                <a:spcPts val="0"/>
              </a:spcAft>
              <a:buSzPts val="1800"/>
              <a:buChar char="-"/>
            </a:pPr>
            <a:r>
              <a:rPr lang="en-US">
                <a:highlight>
                  <a:srgbClr val="FFFFFF"/>
                </a:highlight>
              </a:rPr>
              <a:t>Next Steps:</a:t>
            </a:r>
            <a:endParaRPr>
              <a:highlight>
                <a:srgbClr val="FFFFFF"/>
              </a:highlight>
            </a:endParaRPr>
          </a:p>
          <a:p>
            <a:pPr marL="1371600" lvl="2" indent="-355600" algn="l" rtl="0">
              <a:lnSpc>
                <a:spcPct val="100000"/>
              </a:lnSpc>
              <a:spcBef>
                <a:spcPts val="1000"/>
              </a:spcBef>
              <a:spcAft>
                <a:spcPts val="0"/>
              </a:spcAft>
              <a:buSzPts val="2000"/>
              <a:buChar char="-"/>
            </a:pPr>
            <a:r>
              <a:rPr lang="en-US" sz="2200">
                <a:highlight>
                  <a:srgbClr val="FFFFFF"/>
                </a:highlight>
              </a:rPr>
              <a:t>Work with the data science team to identify methods to extract the information from the data that is required for each metric</a:t>
            </a:r>
            <a:endParaRPr sz="2200">
              <a:highlight>
                <a:srgbClr val="FFFFFF"/>
              </a:highlight>
            </a:endParaRPr>
          </a:p>
          <a:p>
            <a:pPr marL="1371600" lvl="2" indent="-342900" algn="l" rtl="0">
              <a:lnSpc>
                <a:spcPct val="100000"/>
              </a:lnSpc>
              <a:spcBef>
                <a:spcPts val="1000"/>
              </a:spcBef>
              <a:spcAft>
                <a:spcPts val="0"/>
              </a:spcAft>
              <a:buSzPts val="1800"/>
              <a:buChar char="-"/>
            </a:pPr>
            <a:r>
              <a:rPr lang="en-US" sz="2200">
                <a:highlight>
                  <a:srgbClr val="FFFFFF"/>
                </a:highlight>
              </a:rPr>
              <a:t>Then, work with web development team to portray this information on the application</a:t>
            </a:r>
            <a:r>
              <a:rPr lang="en-US">
                <a:highlight>
                  <a:srgbClr val="FFFFFF"/>
                </a:highlight>
              </a:rPr>
              <a:t> </a:t>
            </a:r>
            <a:endParaRPr>
              <a:highlight>
                <a:srgbClr val="FFFFFF"/>
              </a:highlight>
            </a:endParaRPr>
          </a:p>
        </p:txBody>
      </p:sp>
      <p:sp>
        <p:nvSpPr>
          <p:cNvPr id="258" name="Google Shape;258;gefbeba6a1c_0_498"/>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User Surveys - Challenges &amp; Next Goals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1051ec82e73_8_0"/>
          <p:cNvSpPr txBox="1">
            <a:spLocks noGrp="1"/>
          </p:cNvSpPr>
          <p:nvPr>
            <p:ph type="body" idx="1"/>
          </p:nvPr>
        </p:nvSpPr>
        <p:spPr>
          <a:xfrm>
            <a:off x="381000" y="1215484"/>
            <a:ext cx="11430000" cy="4596300"/>
          </a:xfrm>
          <a:prstGeom prst="rect">
            <a:avLst/>
          </a:prstGeom>
        </p:spPr>
        <p:txBody>
          <a:bodyPr spcFirstLastPara="1" wrap="square" lIns="91425" tIns="45700" rIns="91425" bIns="45700" anchor="t" anchorCtr="0">
            <a:normAutofit lnSpcReduction="20000"/>
          </a:bodyPr>
          <a:lstStyle/>
          <a:p>
            <a:pPr marL="457200" lvl="0" indent="-342900" algn="l" rtl="0">
              <a:lnSpc>
                <a:spcPct val="115000"/>
              </a:lnSpc>
              <a:spcBef>
                <a:spcPts val="1000"/>
              </a:spcBef>
              <a:spcAft>
                <a:spcPts val="0"/>
              </a:spcAft>
              <a:buSzPts val="1800"/>
              <a:buChar char="•"/>
            </a:pPr>
            <a:r>
              <a:rPr lang="en-US"/>
              <a:t>Interviewed James - TA for OMS Intro to Information Security</a:t>
            </a:r>
            <a:endParaRPr/>
          </a:p>
          <a:p>
            <a:pPr marL="457200" lvl="0" indent="-342900" algn="l" rtl="0">
              <a:lnSpc>
                <a:spcPct val="115000"/>
              </a:lnSpc>
              <a:spcBef>
                <a:spcPts val="0"/>
              </a:spcBef>
              <a:spcAft>
                <a:spcPts val="0"/>
              </a:spcAft>
              <a:buSzPts val="1800"/>
              <a:buChar char="•"/>
            </a:pPr>
            <a:r>
              <a:rPr lang="en-US"/>
              <a:t>Use cases of Piazza metrics:</a:t>
            </a:r>
            <a:endParaRPr/>
          </a:p>
          <a:p>
            <a:pPr marL="914400" lvl="1" indent="-342900" algn="l" rtl="0">
              <a:lnSpc>
                <a:spcPct val="115000"/>
              </a:lnSpc>
              <a:spcBef>
                <a:spcPts val="0"/>
              </a:spcBef>
              <a:spcAft>
                <a:spcPts val="0"/>
              </a:spcAft>
              <a:buSzPts val="1800"/>
              <a:buChar char="•"/>
            </a:pPr>
            <a:r>
              <a:rPr lang="en-US"/>
              <a:t>Assessing TA performance and who’s contributing</a:t>
            </a:r>
            <a:endParaRPr/>
          </a:p>
          <a:p>
            <a:pPr marL="457200" lvl="0" indent="-342900" algn="l" rtl="0">
              <a:lnSpc>
                <a:spcPct val="115000"/>
              </a:lnSpc>
              <a:spcBef>
                <a:spcPts val="0"/>
              </a:spcBef>
              <a:spcAft>
                <a:spcPts val="0"/>
              </a:spcAft>
              <a:buSzPts val="1800"/>
              <a:buChar char="•"/>
            </a:pPr>
            <a:r>
              <a:rPr lang="en-US"/>
              <a:t>Helpful metrics to include:</a:t>
            </a:r>
            <a:endParaRPr/>
          </a:p>
          <a:p>
            <a:pPr marL="914400" lvl="1" indent="-342900" algn="l" rtl="0">
              <a:lnSpc>
                <a:spcPct val="115000"/>
              </a:lnSpc>
              <a:spcBef>
                <a:spcPts val="0"/>
              </a:spcBef>
              <a:spcAft>
                <a:spcPts val="0"/>
              </a:spcAft>
              <a:buSzPts val="1800"/>
              <a:buChar char="•"/>
            </a:pPr>
            <a:r>
              <a:rPr lang="en-US"/>
              <a:t>Ranked urgency of posts</a:t>
            </a:r>
            <a:endParaRPr/>
          </a:p>
          <a:p>
            <a:pPr marL="914400" lvl="1" indent="-342900" algn="l" rtl="0">
              <a:lnSpc>
                <a:spcPct val="115000"/>
              </a:lnSpc>
              <a:spcBef>
                <a:spcPts val="0"/>
              </a:spcBef>
              <a:spcAft>
                <a:spcPts val="0"/>
              </a:spcAft>
              <a:buSzPts val="1800"/>
              <a:buChar char="•"/>
            </a:pPr>
            <a:r>
              <a:rPr lang="en-US"/>
              <a:t>Duplicate posts</a:t>
            </a:r>
            <a:endParaRPr/>
          </a:p>
          <a:p>
            <a:pPr marL="457200" lvl="0" indent="-342900" algn="l" rtl="0">
              <a:lnSpc>
                <a:spcPct val="115000"/>
              </a:lnSpc>
              <a:spcBef>
                <a:spcPts val="0"/>
              </a:spcBef>
              <a:spcAft>
                <a:spcPts val="0"/>
              </a:spcAft>
              <a:buSzPts val="1800"/>
              <a:buChar char="•"/>
            </a:pPr>
            <a:r>
              <a:rPr lang="en-US"/>
              <a:t>Problem: Quality of questions can be low, show lack of research</a:t>
            </a:r>
            <a:endParaRPr/>
          </a:p>
          <a:p>
            <a:pPr marL="457200" lvl="0" indent="-342900" algn="l" rtl="0">
              <a:lnSpc>
                <a:spcPct val="115000"/>
              </a:lnSpc>
              <a:spcBef>
                <a:spcPts val="0"/>
              </a:spcBef>
              <a:spcAft>
                <a:spcPts val="0"/>
              </a:spcAft>
              <a:buSzPts val="1800"/>
              <a:buChar char="•"/>
            </a:pPr>
            <a:r>
              <a:rPr lang="en-US"/>
              <a:t>Overall trends are more important than individual statistics</a:t>
            </a:r>
            <a:endParaRPr/>
          </a:p>
          <a:p>
            <a:pPr marL="457200" lvl="0" indent="-342900" algn="l" rtl="0">
              <a:lnSpc>
                <a:spcPct val="115000"/>
              </a:lnSpc>
              <a:spcBef>
                <a:spcPts val="0"/>
              </a:spcBef>
              <a:spcAft>
                <a:spcPts val="0"/>
              </a:spcAft>
              <a:buSzPts val="1800"/>
              <a:buChar char="•"/>
            </a:pPr>
            <a:r>
              <a:rPr lang="en-US"/>
              <a:t>Look into:</a:t>
            </a:r>
            <a:endParaRPr/>
          </a:p>
          <a:p>
            <a:pPr marL="914400" lvl="1" indent="-342900" algn="l" rtl="0">
              <a:lnSpc>
                <a:spcPct val="115000"/>
              </a:lnSpc>
              <a:spcBef>
                <a:spcPts val="0"/>
              </a:spcBef>
              <a:spcAft>
                <a:spcPts val="0"/>
              </a:spcAft>
              <a:buSzPts val="1800"/>
              <a:buChar char="•"/>
            </a:pPr>
            <a:r>
              <a:rPr lang="en-US"/>
              <a:t>Sentiment over time</a:t>
            </a:r>
            <a:endParaRPr/>
          </a:p>
          <a:p>
            <a:pPr marL="914400" lvl="1" indent="-342900" algn="l" rtl="0">
              <a:lnSpc>
                <a:spcPct val="115000"/>
              </a:lnSpc>
              <a:spcBef>
                <a:spcPts val="0"/>
              </a:spcBef>
              <a:spcAft>
                <a:spcPts val="0"/>
              </a:spcAft>
              <a:buSzPts val="1800"/>
              <a:buChar char="•"/>
            </a:pPr>
            <a:r>
              <a:rPr lang="en-US"/>
              <a:t>How quickly a post blows up and how activity is sustained</a:t>
            </a:r>
            <a:endParaRPr/>
          </a:p>
        </p:txBody>
      </p:sp>
      <p:sp>
        <p:nvSpPr>
          <p:cNvPr id="264" name="Google Shape;264;g1051ec82e73_8_0"/>
          <p:cNvSpPr txBox="1">
            <a:spLocks noGrp="1"/>
          </p:cNvSpPr>
          <p:nvPr>
            <p:ph type="title"/>
          </p:nvPr>
        </p:nvSpPr>
        <p:spPr>
          <a:xfrm>
            <a:off x="381000" y="200722"/>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Interview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efbeba6a1c_0_34"/>
          <p:cNvSpPr txBox="1">
            <a:spLocks noGrp="1"/>
          </p:cNvSpPr>
          <p:nvPr>
            <p:ph type="title" idx="4294967295"/>
          </p:nvPr>
        </p:nvSpPr>
        <p:spPr>
          <a:xfrm>
            <a:off x="381000" y="2921547"/>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fb4c11e2d3_0_9"/>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Web-App Progress</a:t>
            </a:r>
            <a:endParaRPr/>
          </a:p>
        </p:txBody>
      </p:sp>
      <p:pic>
        <p:nvPicPr>
          <p:cNvPr id="275" name="Google Shape;275;gfb4c11e2d3_0_9"/>
          <p:cNvPicPr preferRelativeResize="0"/>
          <p:nvPr/>
        </p:nvPicPr>
        <p:blipFill>
          <a:blip r:embed="rId3">
            <a:alphaModFix/>
          </a:blip>
          <a:stretch>
            <a:fillRect/>
          </a:stretch>
        </p:blipFill>
        <p:spPr>
          <a:xfrm>
            <a:off x="849755" y="1902624"/>
            <a:ext cx="1641382" cy="1641385"/>
          </a:xfrm>
          <a:prstGeom prst="rect">
            <a:avLst/>
          </a:prstGeom>
          <a:noFill/>
          <a:ln>
            <a:noFill/>
          </a:ln>
        </p:spPr>
      </p:pic>
      <p:pic>
        <p:nvPicPr>
          <p:cNvPr id="276" name="Google Shape;276;gfb4c11e2d3_0_9"/>
          <p:cNvPicPr preferRelativeResize="0"/>
          <p:nvPr/>
        </p:nvPicPr>
        <p:blipFill>
          <a:blip r:embed="rId4">
            <a:alphaModFix/>
          </a:blip>
          <a:stretch>
            <a:fillRect/>
          </a:stretch>
        </p:blipFill>
        <p:spPr>
          <a:xfrm>
            <a:off x="3814354" y="1902600"/>
            <a:ext cx="1641382" cy="1641408"/>
          </a:xfrm>
          <a:prstGeom prst="rect">
            <a:avLst/>
          </a:prstGeom>
          <a:noFill/>
          <a:ln>
            <a:noFill/>
          </a:ln>
        </p:spPr>
      </p:pic>
      <p:pic>
        <p:nvPicPr>
          <p:cNvPr id="277" name="Google Shape;277;gfb4c11e2d3_0_9"/>
          <p:cNvPicPr preferRelativeResize="0"/>
          <p:nvPr/>
        </p:nvPicPr>
        <p:blipFill>
          <a:blip r:embed="rId5">
            <a:alphaModFix/>
          </a:blip>
          <a:stretch>
            <a:fillRect/>
          </a:stretch>
        </p:blipFill>
        <p:spPr>
          <a:xfrm>
            <a:off x="6778953" y="1902624"/>
            <a:ext cx="1641382" cy="1641385"/>
          </a:xfrm>
          <a:prstGeom prst="rect">
            <a:avLst/>
          </a:prstGeom>
          <a:noFill/>
          <a:ln>
            <a:noFill/>
          </a:ln>
        </p:spPr>
      </p:pic>
      <p:pic>
        <p:nvPicPr>
          <p:cNvPr id="278" name="Google Shape;278;gfb4c11e2d3_0_9"/>
          <p:cNvPicPr preferRelativeResize="0"/>
          <p:nvPr/>
        </p:nvPicPr>
        <p:blipFill>
          <a:blip r:embed="rId6">
            <a:alphaModFix/>
          </a:blip>
          <a:stretch>
            <a:fillRect/>
          </a:stretch>
        </p:blipFill>
        <p:spPr>
          <a:xfrm>
            <a:off x="9743551" y="1902611"/>
            <a:ext cx="1641382" cy="1641385"/>
          </a:xfrm>
          <a:prstGeom prst="rect">
            <a:avLst/>
          </a:prstGeom>
          <a:noFill/>
          <a:ln>
            <a:noFill/>
          </a:ln>
        </p:spPr>
      </p:pic>
      <p:sp>
        <p:nvSpPr>
          <p:cNvPr id="279" name="Google Shape;279;gfb4c11e2d3_0_9"/>
          <p:cNvSpPr txBox="1"/>
          <p:nvPr/>
        </p:nvSpPr>
        <p:spPr>
          <a:xfrm>
            <a:off x="346202" y="3638654"/>
            <a:ext cx="3071400" cy="1231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b="1">
                <a:latin typeface="Roboto"/>
                <a:ea typeface="Roboto"/>
                <a:cs typeface="Roboto"/>
                <a:sym typeface="Roboto"/>
              </a:rPr>
              <a:t>SQLite3</a:t>
            </a:r>
            <a:r>
              <a:rPr lang="en-US" sz="1700">
                <a:latin typeface="Roboto"/>
                <a:ea typeface="Roboto"/>
                <a:cs typeface="Roboto"/>
                <a:sym typeface="Roboto"/>
              </a:rPr>
              <a:t> database of student discussion posts, as well as the sentiment, polarity, subjectivity of the posts</a:t>
            </a:r>
            <a:endParaRPr sz="1700">
              <a:latin typeface="Roboto"/>
              <a:ea typeface="Roboto"/>
              <a:cs typeface="Roboto"/>
              <a:sym typeface="Roboto"/>
            </a:endParaRPr>
          </a:p>
        </p:txBody>
      </p:sp>
      <p:cxnSp>
        <p:nvCxnSpPr>
          <p:cNvPr id="280" name="Google Shape;280;gfb4c11e2d3_0_9"/>
          <p:cNvCxnSpPr/>
          <p:nvPr/>
        </p:nvCxnSpPr>
        <p:spPr>
          <a:xfrm rot="10800000" flipH="1">
            <a:off x="2818584" y="2699432"/>
            <a:ext cx="668400" cy="9300"/>
          </a:xfrm>
          <a:prstGeom prst="straightConnector1">
            <a:avLst/>
          </a:prstGeom>
          <a:noFill/>
          <a:ln w="28575" cap="flat" cmpd="sng">
            <a:solidFill>
              <a:schemeClr val="dk2"/>
            </a:solidFill>
            <a:prstDash val="solid"/>
            <a:round/>
            <a:headEnd type="none" w="med" len="med"/>
            <a:tailEnd type="triangle" w="med" len="med"/>
          </a:ln>
        </p:spPr>
      </p:cxnSp>
      <p:cxnSp>
        <p:nvCxnSpPr>
          <p:cNvPr id="281" name="Google Shape;281;gfb4c11e2d3_0_9"/>
          <p:cNvCxnSpPr/>
          <p:nvPr/>
        </p:nvCxnSpPr>
        <p:spPr>
          <a:xfrm rot="10800000" flipH="1">
            <a:off x="5783183" y="2718638"/>
            <a:ext cx="668400" cy="9300"/>
          </a:xfrm>
          <a:prstGeom prst="straightConnector1">
            <a:avLst/>
          </a:prstGeom>
          <a:noFill/>
          <a:ln w="28575" cap="flat" cmpd="sng">
            <a:solidFill>
              <a:schemeClr val="dk2"/>
            </a:solidFill>
            <a:prstDash val="solid"/>
            <a:round/>
            <a:headEnd type="none" w="med" len="med"/>
            <a:tailEnd type="triangle" w="med" len="med"/>
          </a:ln>
        </p:spPr>
      </p:cxnSp>
      <p:cxnSp>
        <p:nvCxnSpPr>
          <p:cNvPr id="282" name="Google Shape;282;gfb4c11e2d3_0_9"/>
          <p:cNvCxnSpPr/>
          <p:nvPr/>
        </p:nvCxnSpPr>
        <p:spPr>
          <a:xfrm rot="10800000" flipH="1">
            <a:off x="8747781" y="2699432"/>
            <a:ext cx="668400" cy="9300"/>
          </a:xfrm>
          <a:prstGeom prst="straightConnector1">
            <a:avLst/>
          </a:prstGeom>
          <a:noFill/>
          <a:ln w="28575" cap="flat" cmpd="sng">
            <a:solidFill>
              <a:schemeClr val="dk2"/>
            </a:solidFill>
            <a:prstDash val="solid"/>
            <a:round/>
            <a:headEnd type="none" w="med" len="med"/>
            <a:tailEnd type="triangle" w="med" len="med"/>
          </a:ln>
        </p:spPr>
      </p:cxnSp>
      <p:sp>
        <p:nvSpPr>
          <p:cNvPr id="283" name="Google Shape;283;gfb4c11e2d3_0_9"/>
          <p:cNvSpPr txBox="1"/>
          <p:nvPr/>
        </p:nvSpPr>
        <p:spPr>
          <a:xfrm>
            <a:off x="3417900" y="3638654"/>
            <a:ext cx="2562900" cy="969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a:latin typeface="Roboto"/>
                <a:ea typeface="Roboto"/>
                <a:cs typeface="Roboto"/>
                <a:sym typeface="Roboto"/>
              </a:rPr>
              <a:t>Fetching and processing data from database (</a:t>
            </a:r>
            <a:r>
              <a:rPr lang="en-US" sz="1700" b="1">
                <a:latin typeface="Roboto"/>
                <a:ea typeface="Roboto"/>
                <a:cs typeface="Roboto"/>
                <a:sym typeface="Roboto"/>
              </a:rPr>
              <a:t>forum_database.py</a:t>
            </a:r>
            <a:r>
              <a:rPr lang="en-US" sz="1700">
                <a:latin typeface="Roboto"/>
                <a:ea typeface="Roboto"/>
                <a:cs typeface="Roboto"/>
                <a:sym typeface="Roboto"/>
              </a:rPr>
              <a:t>)</a:t>
            </a:r>
            <a:endParaRPr sz="1700">
              <a:latin typeface="Roboto"/>
              <a:ea typeface="Roboto"/>
              <a:cs typeface="Roboto"/>
              <a:sym typeface="Roboto"/>
            </a:endParaRPr>
          </a:p>
        </p:txBody>
      </p:sp>
      <p:sp>
        <p:nvSpPr>
          <p:cNvPr id="284" name="Google Shape;284;gfb4c11e2d3_0_9"/>
          <p:cNvSpPr txBox="1"/>
          <p:nvPr/>
        </p:nvSpPr>
        <p:spPr>
          <a:xfrm>
            <a:off x="6318306" y="3638654"/>
            <a:ext cx="2562900" cy="969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a:latin typeface="Roboto"/>
                <a:ea typeface="Roboto"/>
                <a:cs typeface="Roboto"/>
                <a:sym typeface="Roboto"/>
              </a:rPr>
              <a:t>Creating graphs using </a:t>
            </a:r>
            <a:r>
              <a:rPr lang="en-US" sz="1700" b="1">
                <a:latin typeface="Roboto"/>
                <a:ea typeface="Roboto"/>
                <a:cs typeface="Roboto"/>
                <a:sym typeface="Roboto"/>
              </a:rPr>
              <a:t>matplotlib</a:t>
            </a:r>
            <a:r>
              <a:rPr lang="en-US" sz="1700">
                <a:latin typeface="Roboto"/>
                <a:ea typeface="Roboto"/>
                <a:cs typeface="Roboto"/>
                <a:sym typeface="Roboto"/>
              </a:rPr>
              <a:t> and saving them as images</a:t>
            </a:r>
            <a:endParaRPr sz="1700">
              <a:latin typeface="Roboto"/>
              <a:ea typeface="Roboto"/>
              <a:cs typeface="Roboto"/>
              <a:sym typeface="Roboto"/>
            </a:endParaRPr>
          </a:p>
        </p:txBody>
      </p:sp>
      <p:sp>
        <p:nvSpPr>
          <p:cNvPr id="285" name="Google Shape;285;gfb4c11e2d3_0_9"/>
          <p:cNvSpPr txBox="1"/>
          <p:nvPr/>
        </p:nvSpPr>
        <p:spPr>
          <a:xfrm>
            <a:off x="9282905" y="3638654"/>
            <a:ext cx="2562900" cy="969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a:latin typeface="Roboto"/>
                <a:ea typeface="Roboto"/>
                <a:cs typeface="Roboto"/>
                <a:sym typeface="Roboto"/>
              </a:rPr>
              <a:t>Serving images and other webpage elements on web-app using </a:t>
            </a:r>
            <a:r>
              <a:rPr lang="en-US" sz="1700" b="1">
                <a:latin typeface="Roboto"/>
                <a:ea typeface="Roboto"/>
                <a:cs typeface="Roboto"/>
                <a:sym typeface="Roboto"/>
              </a:rPr>
              <a:t>Flask</a:t>
            </a:r>
            <a:endParaRPr sz="1700" b="1">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g1051ec82e73_19_1"/>
          <p:cNvPicPr preferRelativeResize="0"/>
          <p:nvPr/>
        </p:nvPicPr>
        <p:blipFill>
          <a:blip r:embed="rId3">
            <a:alphaModFix/>
          </a:blip>
          <a:stretch>
            <a:fillRect/>
          </a:stretch>
        </p:blipFill>
        <p:spPr>
          <a:xfrm>
            <a:off x="555075" y="262575"/>
            <a:ext cx="11081827" cy="57429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efb32003ea_0_0"/>
          <p:cNvSpPr txBox="1">
            <a:spLocks noGrp="1"/>
          </p:cNvSpPr>
          <p:nvPr>
            <p:ph type="body" idx="1"/>
          </p:nvPr>
        </p:nvSpPr>
        <p:spPr>
          <a:xfrm>
            <a:off x="381000" y="1215474"/>
            <a:ext cx="11430000" cy="5253900"/>
          </a:xfrm>
          <a:prstGeom prst="rect">
            <a:avLst/>
          </a:prstGeom>
          <a:noFill/>
          <a:ln>
            <a:noFill/>
          </a:ln>
        </p:spPr>
        <p:txBody>
          <a:bodyPr spcFirstLastPara="1" wrap="square" lIns="91425" tIns="45700" rIns="91425" bIns="45700" anchor="t" anchorCtr="0">
            <a:normAutofit/>
          </a:bodyPr>
          <a:lstStyle/>
          <a:p>
            <a:pPr marL="457200" lvl="0" indent="-381000" algn="l" rtl="0">
              <a:lnSpc>
                <a:spcPct val="115000"/>
              </a:lnSpc>
              <a:spcBef>
                <a:spcPts val="1000"/>
              </a:spcBef>
              <a:spcAft>
                <a:spcPts val="0"/>
              </a:spcAft>
              <a:buSzPts val="2400"/>
              <a:buChar char="•"/>
            </a:pPr>
            <a:r>
              <a:rPr lang="en-US" sz="2400"/>
              <a:t>For this iteration we chose to start with </a:t>
            </a:r>
            <a:r>
              <a:rPr lang="en-US" sz="2400" b="1"/>
              <a:t>sentiment analysis using flair model</a:t>
            </a:r>
            <a:r>
              <a:rPr lang="en-US" sz="2400"/>
              <a:t> to build the backend</a:t>
            </a:r>
            <a:endParaRPr sz="2400"/>
          </a:p>
          <a:p>
            <a:pPr marL="0" lvl="0" indent="0" algn="l" rtl="0">
              <a:lnSpc>
                <a:spcPct val="115000"/>
              </a:lnSpc>
              <a:spcBef>
                <a:spcPts val="1000"/>
              </a:spcBef>
              <a:spcAft>
                <a:spcPts val="0"/>
              </a:spcAft>
              <a:buNone/>
            </a:pPr>
            <a:endParaRPr sz="500"/>
          </a:p>
          <a:p>
            <a:pPr marL="457200" lvl="0" indent="-381000" algn="l" rtl="0">
              <a:lnSpc>
                <a:spcPct val="115000"/>
              </a:lnSpc>
              <a:spcBef>
                <a:spcPts val="1000"/>
              </a:spcBef>
              <a:spcAft>
                <a:spcPts val="0"/>
              </a:spcAft>
              <a:buSzPts val="2400"/>
              <a:buChar char="•"/>
            </a:pPr>
            <a:r>
              <a:rPr lang="en-US" sz="2400" b="1"/>
              <a:t>Employed Python and SQLite3 to build a relational database table</a:t>
            </a:r>
            <a:endParaRPr sz="2400" b="1"/>
          </a:p>
          <a:p>
            <a:pPr marL="914400" lvl="1" indent="-381000" algn="l" rtl="0">
              <a:lnSpc>
                <a:spcPct val="115000"/>
              </a:lnSpc>
              <a:spcBef>
                <a:spcPts val="1000"/>
              </a:spcBef>
              <a:spcAft>
                <a:spcPts val="0"/>
              </a:spcAft>
              <a:buSzPts val="2400"/>
              <a:buChar char="•"/>
            </a:pPr>
            <a:r>
              <a:rPr lang="en-US"/>
              <a:t>Extracted data from .csv format and converted the same to a .db file</a:t>
            </a:r>
            <a:endParaRPr/>
          </a:p>
          <a:p>
            <a:pPr marL="914400" lvl="1" indent="-381000" algn="l" rtl="0">
              <a:lnSpc>
                <a:spcPct val="115000"/>
              </a:lnSpc>
              <a:spcBef>
                <a:spcPts val="1000"/>
              </a:spcBef>
              <a:spcAft>
                <a:spcPts val="0"/>
              </a:spcAft>
              <a:buSzPts val="2400"/>
              <a:buChar char="•"/>
            </a:pPr>
            <a:r>
              <a:rPr lang="en-US"/>
              <a:t>Data can be accessed through code in Python or through DB Browser for SQLite</a:t>
            </a:r>
            <a:endParaRPr/>
          </a:p>
          <a:p>
            <a:pPr marL="0" lvl="0" indent="0" algn="l" rtl="0">
              <a:lnSpc>
                <a:spcPct val="115000"/>
              </a:lnSpc>
              <a:spcBef>
                <a:spcPts val="1000"/>
              </a:spcBef>
              <a:spcAft>
                <a:spcPts val="0"/>
              </a:spcAft>
              <a:buNone/>
            </a:pPr>
            <a:endParaRPr sz="500"/>
          </a:p>
          <a:p>
            <a:pPr marL="457200" lvl="0" indent="-381000" algn="l" rtl="0">
              <a:lnSpc>
                <a:spcPct val="115000"/>
              </a:lnSpc>
              <a:spcBef>
                <a:spcPts val="1000"/>
              </a:spcBef>
              <a:spcAft>
                <a:spcPts val="0"/>
              </a:spcAft>
              <a:buSzPts val="2400"/>
              <a:buChar char="•"/>
            </a:pPr>
            <a:r>
              <a:rPr lang="en-US" sz="2400"/>
              <a:t>Working through </a:t>
            </a:r>
            <a:r>
              <a:rPr lang="en-US" sz="2400" b="1"/>
              <a:t>connecting front-end with database environment using Flask</a:t>
            </a:r>
            <a:endParaRPr sz="2400" b="1"/>
          </a:p>
        </p:txBody>
      </p:sp>
      <p:sp>
        <p:nvSpPr>
          <p:cNvPr id="296" name="Google Shape;296;gefb32003ea_0_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Back-End Web Development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cfa7e5c338_18_0"/>
          <p:cNvSpPr txBox="1">
            <a:spLocks noGrp="1"/>
          </p:cNvSpPr>
          <p:nvPr>
            <p:ph type="body" idx="1"/>
          </p:nvPr>
        </p:nvSpPr>
        <p:spPr>
          <a:xfrm>
            <a:off x="381000" y="1215475"/>
            <a:ext cx="11430000" cy="5344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So, how did we do on the goals we set in August?</a:t>
            </a:r>
            <a:endParaRPr/>
          </a:p>
          <a:p>
            <a:pPr marL="0" lvl="0" indent="0" algn="l" rtl="0">
              <a:spcBef>
                <a:spcPts val="1000"/>
              </a:spcBef>
              <a:spcAft>
                <a:spcPts val="0"/>
              </a:spcAft>
              <a:buNone/>
            </a:pPr>
            <a:endParaRPr sz="1300"/>
          </a:p>
          <a:p>
            <a:pPr marL="0" lvl="0" indent="0" algn="l" rtl="0">
              <a:spcBef>
                <a:spcPts val="1000"/>
              </a:spcBef>
              <a:spcAft>
                <a:spcPts val="0"/>
              </a:spcAft>
              <a:buNone/>
            </a:pPr>
            <a:r>
              <a:rPr lang="en-US" b="1"/>
              <a:t>Web-App</a:t>
            </a:r>
            <a:endParaRPr b="1"/>
          </a:p>
          <a:p>
            <a:pPr marL="457200" lvl="0" indent="-342900" algn="l" rtl="0">
              <a:lnSpc>
                <a:spcPct val="100000"/>
              </a:lnSpc>
              <a:spcBef>
                <a:spcPts val="1000"/>
              </a:spcBef>
              <a:spcAft>
                <a:spcPts val="0"/>
              </a:spcAft>
              <a:buSzPts val="1800"/>
              <a:buChar char="-"/>
            </a:pPr>
            <a:r>
              <a:rPr lang="en-US"/>
              <a:t>create pipeline from database to front-end</a:t>
            </a:r>
            <a:endParaRPr/>
          </a:p>
          <a:p>
            <a:pPr marL="457200" lvl="0" indent="-342900" algn="l" rtl="0">
              <a:lnSpc>
                <a:spcPct val="100000"/>
              </a:lnSpc>
              <a:spcBef>
                <a:spcPts val="0"/>
              </a:spcBef>
              <a:spcAft>
                <a:spcPts val="0"/>
              </a:spcAft>
              <a:buSzPts val="1800"/>
              <a:buChar char="-"/>
            </a:pPr>
            <a:r>
              <a:rPr lang="en-US"/>
              <a:t>prioritize basic, simple design/features</a:t>
            </a:r>
            <a:endParaRPr/>
          </a:p>
          <a:p>
            <a:pPr marL="457200" lvl="0" indent="-342900" algn="l" rtl="0">
              <a:lnSpc>
                <a:spcPct val="100000"/>
              </a:lnSpc>
              <a:spcBef>
                <a:spcPts val="0"/>
              </a:spcBef>
              <a:spcAft>
                <a:spcPts val="0"/>
              </a:spcAft>
              <a:buSzPts val="1800"/>
              <a:buChar char="-"/>
            </a:pPr>
            <a:r>
              <a:rPr lang="en-US"/>
              <a:t>basic data visualizations</a:t>
            </a:r>
            <a:endParaRPr/>
          </a:p>
          <a:p>
            <a:pPr marL="0" lvl="0" indent="0" algn="l" rtl="0">
              <a:spcBef>
                <a:spcPts val="1000"/>
              </a:spcBef>
              <a:spcAft>
                <a:spcPts val="0"/>
              </a:spcAft>
              <a:buNone/>
            </a:pPr>
            <a:endParaRPr sz="1500"/>
          </a:p>
          <a:p>
            <a:pPr marL="0" lvl="0" indent="0" algn="l" rtl="0">
              <a:spcBef>
                <a:spcPts val="1000"/>
              </a:spcBef>
              <a:spcAft>
                <a:spcPts val="0"/>
              </a:spcAft>
              <a:buNone/>
            </a:pPr>
            <a:r>
              <a:rPr lang="en-US" b="1"/>
              <a:t>Logistical/Research</a:t>
            </a:r>
            <a:endParaRPr b="1"/>
          </a:p>
          <a:p>
            <a:pPr marL="457200" lvl="0" indent="-342900" algn="l" rtl="0">
              <a:lnSpc>
                <a:spcPct val="100000"/>
              </a:lnSpc>
              <a:spcBef>
                <a:spcPts val="1000"/>
              </a:spcBef>
              <a:spcAft>
                <a:spcPts val="0"/>
              </a:spcAft>
              <a:buSzPts val="1800"/>
              <a:buChar char="-"/>
            </a:pPr>
            <a:r>
              <a:rPr lang="en-US"/>
              <a:t>documentation!</a:t>
            </a:r>
            <a:endParaRPr/>
          </a:p>
          <a:p>
            <a:pPr marL="457200" lvl="0" indent="-342900" algn="l" rtl="0">
              <a:lnSpc>
                <a:spcPct val="100000"/>
              </a:lnSpc>
              <a:spcBef>
                <a:spcPts val="0"/>
              </a:spcBef>
              <a:spcAft>
                <a:spcPts val="0"/>
              </a:spcAft>
              <a:buSzPts val="1800"/>
              <a:buChar char="-"/>
            </a:pPr>
            <a:r>
              <a:rPr lang="en-US"/>
              <a:t>professor insights on UI/UX</a:t>
            </a:r>
            <a:endParaRPr/>
          </a:p>
          <a:p>
            <a:pPr marL="457200" lvl="0" indent="-342900" algn="l" rtl="0">
              <a:lnSpc>
                <a:spcPct val="100000"/>
              </a:lnSpc>
              <a:spcBef>
                <a:spcPts val="0"/>
              </a:spcBef>
              <a:spcAft>
                <a:spcPts val="0"/>
              </a:spcAft>
              <a:buSzPts val="1800"/>
              <a:buChar char="-"/>
            </a:pPr>
            <a:r>
              <a:rPr lang="en-US"/>
              <a:t>cohesiveness and communication between subteams</a:t>
            </a:r>
            <a:endParaRPr/>
          </a:p>
        </p:txBody>
      </p:sp>
      <p:sp>
        <p:nvSpPr>
          <p:cNvPr id="302" name="Google Shape;302;gcfa7e5c338_18_0"/>
          <p:cNvSpPr txBox="1">
            <a:spLocks noGrp="1"/>
          </p:cNvSpPr>
          <p:nvPr>
            <p:ph type="title"/>
          </p:nvPr>
        </p:nvSpPr>
        <p:spPr>
          <a:xfrm>
            <a:off x="381000" y="200722"/>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Looking Back on the Semester</a:t>
            </a:r>
            <a:endParaRPr/>
          </a:p>
        </p:txBody>
      </p:sp>
      <p:pic>
        <p:nvPicPr>
          <p:cNvPr id="303" name="Google Shape;303;gcfa7e5c338_18_0"/>
          <p:cNvPicPr preferRelativeResize="0"/>
          <p:nvPr/>
        </p:nvPicPr>
        <p:blipFill>
          <a:blip r:embed="rId3">
            <a:alphaModFix/>
          </a:blip>
          <a:stretch>
            <a:fillRect/>
          </a:stretch>
        </p:blipFill>
        <p:spPr>
          <a:xfrm>
            <a:off x="7779650" y="2604650"/>
            <a:ext cx="358900" cy="340950"/>
          </a:xfrm>
          <a:prstGeom prst="rect">
            <a:avLst/>
          </a:prstGeom>
          <a:noFill/>
          <a:ln>
            <a:noFill/>
          </a:ln>
        </p:spPr>
      </p:pic>
      <p:pic>
        <p:nvPicPr>
          <p:cNvPr id="304" name="Google Shape;304;gcfa7e5c338_18_0"/>
          <p:cNvPicPr preferRelativeResize="0"/>
          <p:nvPr/>
        </p:nvPicPr>
        <p:blipFill>
          <a:blip r:embed="rId3">
            <a:alphaModFix/>
          </a:blip>
          <a:stretch>
            <a:fillRect/>
          </a:stretch>
        </p:blipFill>
        <p:spPr>
          <a:xfrm>
            <a:off x="7182100" y="3073275"/>
            <a:ext cx="358900" cy="340950"/>
          </a:xfrm>
          <a:prstGeom prst="rect">
            <a:avLst/>
          </a:prstGeom>
          <a:noFill/>
          <a:ln>
            <a:noFill/>
          </a:ln>
        </p:spPr>
      </p:pic>
      <p:pic>
        <p:nvPicPr>
          <p:cNvPr id="305" name="Google Shape;305;gcfa7e5c338_18_0"/>
          <p:cNvPicPr preferRelativeResize="0"/>
          <p:nvPr/>
        </p:nvPicPr>
        <p:blipFill>
          <a:blip r:embed="rId3">
            <a:alphaModFix/>
          </a:blip>
          <a:stretch>
            <a:fillRect/>
          </a:stretch>
        </p:blipFill>
        <p:spPr>
          <a:xfrm>
            <a:off x="4949100" y="3514825"/>
            <a:ext cx="358900" cy="340950"/>
          </a:xfrm>
          <a:prstGeom prst="rect">
            <a:avLst/>
          </a:prstGeom>
          <a:noFill/>
          <a:ln>
            <a:noFill/>
          </a:ln>
        </p:spPr>
      </p:pic>
      <p:pic>
        <p:nvPicPr>
          <p:cNvPr id="306" name="Google Shape;306;gcfa7e5c338_18_0"/>
          <p:cNvPicPr preferRelativeResize="0"/>
          <p:nvPr/>
        </p:nvPicPr>
        <p:blipFill>
          <a:blip r:embed="rId3">
            <a:alphaModFix/>
          </a:blip>
          <a:stretch>
            <a:fillRect/>
          </a:stretch>
        </p:blipFill>
        <p:spPr>
          <a:xfrm>
            <a:off x="3547375" y="4878000"/>
            <a:ext cx="358900" cy="340950"/>
          </a:xfrm>
          <a:prstGeom prst="rect">
            <a:avLst/>
          </a:prstGeom>
          <a:noFill/>
          <a:ln>
            <a:noFill/>
          </a:ln>
        </p:spPr>
      </p:pic>
      <p:pic>
        <p:nvPicPr>
          <p:cNvPr id="307" name="Google Shape;307;gcfa7e5c338_18_0"/>
          <p:cNvPicPr preferRelativeResize="0"/>
          <p:nvPr/>
        </p:nvPicPr>
        <p:blipFill>
          <a:blip r:embed="rId3">
            <a:alphaModFix/>
          </a:blip>
          <a:stretch>
            <a:fillRect/>
          </a:stretch>
        </p:blipFill>
        <p:spPr>
          <a:xfrm>
            <a:off x="5443650" y="5301475"/>
            <a:ext cx="358900" cy="340950"/>
          </a:xfrm>
          <a:prstGeom prst="rect">
            <a:avLst/>
          </a:prstGeom>
          <a:noFill/>
          <a:ln>
            <a:noFill/>
          </a:ln>
        </p:spPr>
      </p:pic>
      <p:pic>
        <p:nvPicPr>
          <p:cNvPr id="308" name="Google Shape;308;gcfa7e5c338_18_0"/>
          <p:cNvPicPr preferRelativeResize="0"/>
          <p:nvPr/>
        </p:nvPicPr>
        <p:blipFill>
          <a:blip r:embed="rId3">
            <a:alphaModFix/>
          </a:blip>
          <a:stretch>
            <a:fillRect/>
          </a:stretch>
        </p:blipFill>
        <p:spPr>
          <a:xfrm>
            <a:off x="9535575" y="5752050"/>
            <a:ext cx="358900" cy="3409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cfa7e5c338_18_27"/>
          <p:cNvSpPr txBox="1">
            <a:spLocks noGrp="1"/>
          </p:cNvSpPr>
          <p:nvPr>
            <p:ph type="title"/>
          </p:nvPr>
        </p:nvSpPr>
        <p:spPr>
          <a:xfrm>
            <a:off x="381000" y="200722"/>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Deliverables</a:t>
            </a:r>
            <a:endParaRPr/>
          </a:p>
        </p:txBody>
      </p:sp>
      <p:pic>
        <p:nvPicPr>
          <p:cNvPr id="314" name="Google Shape;314;gcfa7e5c338_18_27"/>
          <p:cNvPicPr preferRelativeResize="0"/>
          <p:nvPr/>
        </p:nvPicPr>
        <p:blipFill>
          <a:blip r:embed="rId3">
            <a:alphaModFix/>
          </a:blip>
          <a:stretch>
            <a:fillRect/>
          </a:stretch>
        </p:blipFill>
        <p:spPr>
          <a:xfrm>
            <a:off x="685600" y="2134387"/>
            <a:ext cx="2432876" cy="2969300"/>
          </a:xfrm>
          <a:prstGeom prst="rect">
            <a:avLst/>
          </a:prstGeom>
          <a:noFill/>
          <a:ln>
            <a:noFill/>
          </a:ln>
        </p:spPr>
      </p:pic>
      <p:pic>
        <p:nvPicPr>
          <p:cNvPr id="315" name="Google Shape;315;gcfa7e5c338_18_27"/>
          <p:cNvPicPr preferRelativeResize="0"/>
          <p:nvPr/>
        </p:nvPicPr>
        <p:blipFill>
          <a:blip r:embed="rId4">
            <a:alphaModFix/>
          </a:blip>
          <a:stretch>
            <a:fillRect/>
          </a:stretch>
        </p:blipFill>
        <p:spPr>
          <a:xfrm>
            <a:off x="3716550" y="563362"/>
            <a:ext cx="4758901" cy="3050876"/>
          </a:xfrm>
          <a:prstGeom prst="rect">
            <a:avLst/>
          </a:prstGeom>
          <a:noFill/>
          <a:ln>
            <a:noFill/>
          </a:ln>
        </p:spPr>
      </p:pic>
      <p:pic>
        <p:nvPicPr>
          <p:cNvPr id="316" name="Google Shape;316;gcfa7e5c338_18_27"/>
          <p:cNvPicPr preferRelativeResize="0"/>
          <p:nvPr/>
        </p:nvPicPr>
        <p:blipFill>
          <a:blip r:embed="rId5">
            <a:alphaModFix/>
          </a:blip>
          <a:stretch>
            <a:fillRect/>
          </a:stretch>
        </p:blipFill>
        <p:spPr>
          <a:xfrm>
            <a:off x="9255651" y="2071135"/>
            <a:ext cx="2257201" cy="2589228"/>
          </a:xfrm>
          <a:prstGeom prst="rect">
            <a:avLst/>
          </a:prstGeom>
          <a:noFill/>
          <a:ln>
            <a:noFill/>
          </a:ln>
        </p:spPr>
      </p:pic>
      <p:pic>
        <p:nvPicPr>
          <p:cNvPr id="317" name="Google Shape;317;gcfa7e5c338_18_27"/>
          <p:cNvPicPr preferRelativeResize="0"/>
          <p:nvPr/>
        </p:nvPicPr>
        <p:blipFill>
          <a:blip r:embed="rId6">
            <a:alphaModFix/>
          </a:blip>
          <a:stretch>
            <a:fillRect/>
          </a:stretch>
        </p:blipFill>
        <p:spPr>
          <a:xfrm>
            <a:off x="4316600" y="3824999"/>
            <a:ext cx="3740909" cy="2536051"/>
          </a:xfrm>
          <a:prstGeom prst="rect">
            <a:avLst/>
          </a:prstGeom>
          <a:noFill/>
          <a:ln>
            <a:noFill/>
          </a:ln>
        </p:spPr>
      </p:pic>
      <p:sp>
        <p:nvSpPr>
          <p:cNvPr id="318" name="Google Shape;318;gcfa7e5c338_18_27"/>
          <p:cNvSpPr txBox="1"/>
          <p:nvPr/>
        </p:nvSpPr>
        <p:spPr>
          <a:xfrm>
            <a:off x="957775" y="5177400"/>
            <a:ext cx="1698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Roboto"/>
                <a:ea typeface="Roboto"/>
                <a:cs typeface="Roboto"/>
                <a:sym typeface="Roboto"/>
              </a:rPr>
              <a:t>Script to process and visualize data</a:t>
            </a:r>
            <a:endParaRPr>
              <a:latin typeface="Roboto"/>
              <a:ea typeface="Roboto"/>
              <a:cs typeface="Roboto"/>
              <a:sym typeface="Roboto"/>
            </a:endParaRPr>
          </a:p>
        </p:txBody>
      </p:sp>
      <p:sp>
        <p:nvSpPr>
          <p:cNvPr id="319" name="Google Shape;319;gcfa7e5c338_18_27"/>
          <p:cNvSpPr txBox="1"/>
          <p:nvPr/>
        </p:nvSpPr>
        <p:spPr>
          <a:xfrm>
            <a:off x="3865350" y="107250"/>
            <a:ext cx="4643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Roboto"/>
                <a:ea typeface="Roboto"/>
                <a:cs typeface="Roboto"/>
                <a:sym typeface="Roboto"/>
              </a:rPr>
              <a:t>Created solid design plans using Figma prototyping</a:t>
            </a:r>
            <a:endParaRPr>
              <a:latin typeface="Roboto"/>
              <a:ea typeface="Roboto"/>
              <a:cs typeface="Roboto"/>
              <a:sym typeface="Roboto"/>
            </a:endParaRPr>
          </a:p>
        </p:txBody>
      </p:sp>
      <p:sp>
        <p:nvSpPr>
          <p:cNvPr id="320" name="Google Shape;320;gcfa7e5c338_18_27"/>
          <p:cNvSpPr txBox="1"/>
          <p:nvPr/>
        </p:nvSpPr>
        <p:spPr>
          <a:xfrm>
            <a:off x="4293450" y="6412875"/>
            <a:ext cx="3787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Roboto"/>
                <a:ea typeface="Roboto"/>
                <a:cs typeface="Roboto"/>
                <a:sym typeface="Roboto"/>
              </a:rPr>
              <a:t>Implemented a functioning database </a:t>
            </a:r>
            <a:endParaRPr>
              <a:latin typeface="Roboto"/>
              <a:ea typeface="Roboto"/>
              <a:cs typeface="Roboto"/>
              <a:sym typeface="Roboto"/>
            </a:endParaRPr>
          </a:p>
        </p:txBody>
      </p:sp>
      <p:sp>
        <p:nvSpPr>
          <p:cNvPr id="321" name="Google Shape;321;gcfa7e5c338_18_27"/>
          <p:cNvSpPr txBox="1"/>
          <p:nvPr/>
        </p:nvSpPr>
        <p:spPr>
          <a:xfrm>
            <a:off x="9391500" y="4850925"/>
            <a:ext cx="23187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Roboto"/>
                <a:ea typeface="Roboto"/>
                <a:cs typeface="Roboto"/>
                <a:sym typeface="Roboto"/>
              </a:rPr>
              <a:t>Second semester of sending out surveys to professors and TAs</a:t>
            </a:r>
            <a:endParaRPr>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104582646e5_0_0"/>
          <p:cNvSpPr txBox="1">
            <a:spLocks noGrp="1"/>
          </p:cNvSpPr>
          <p:nvPr>
            <p:ph type="body" idx="1"/>
          </p:nvPr>
        </p:nvSpPr>
        <p:spPr>
          <a:xfrm>
            <a:off x="381000" y="1432475"/>
            <a:ext cx="11430000" cy="56424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None/>
            </a:pPr>
            <a:r>
              <a:rPr lang="en-US" sz="2500" b="1"/>
              <a:t>Web-App</a:t>
            </a:r>
            <a:endParaRPr sz="2500" b="1"/>
          </a:p>
          <a:p>
            <a:pPr marL="457200" lvl="0" indent="-387350" algn="l" rtl="0">
              <a:lnSpc>
                <a:spcPct val="115000"/>
              </a:lnSpc>
              <a:spcBef>
                <a:spcPts val="1000"/>
              </a:spcBef>
              <a:spcAft>
                <a:spcPts val="0"/>
              </a:spcAft>
              <a:buSzPts val="2500"/>
              <a:buChar char="-"/>
            </a:pPr>
            <a:r>
              <a:rPr lang="en-US" sz="2500"/>
              <a:t>fetch Piazza discussion forum data → database</a:t>
            </a:r>
            <a:endParaRPr sz="2500"/>
          </a:p>
          <a:p>
            <a:pPr marL="457200" lvl="0" indent="-387350" algn="l" rtl="0">
              <a:lnSpc>
                <a:spcPct val="115000"/>
              </a:lnSpc>
              <a:spcBef>
                <a:spcPts val="0"/>
              </a:spcBef>
              <a:spcAft>
                <a:spcPts val="0"/>
              </a:spcAft>
              <a:buSzPts val="2500"/>
              <a:buChar char="-"/>
            </a:pPr>
            <a:r>
              <a:rPr lang="en-US" sz="2500"/>
              <a:t>graphs as images (hosting?) or through libraries (Chart.js for React?)</a:t>
            </a:r>
            <a:endParaRPr sz="2500"/>
          </a:p>
          <a:p>
            <a:pPr marL="457200" lvl="0" indent="-387350" algn="l" rtl="0">
              <a:lnSpc>
                <a:spcPct val="115000"/>
              </a:lnSpc>
              <a:spcBef>
                <a:spcPts val="0"/>
              </a:spcBef>
              <a:spcAft>
                <a:spcPts val="0"/>
              </a:spcAft>
              <a:buSzPts val="2500"/>
              <a:buChar char="-"/>
            </a:pPr>
            <a:r>
              <a:rPr lang="en-US" sz="2500"/>
              <a:t>spend some time on design to get closer to design goals</a:t>
            </a:r>
            <a:endParaRPr sz="2500"/>
          </a:p>
          <a:p>
            <a:pPr marL="457200" lvl="0" indent="-387350" algn="l" rtl="0">
              <a:lnSpc>
                <a:spcPct val="115000"/>
              </a:lnSpc>
              <a:spcBef>
                <a:spcPts val="0"/>
              </a:spcBef>
              <a:spcAft>
                <a:spcPts val="0"/>
              </a:spcAft>
              <a:buSzPts val="2500"/>
              <a:buChar char="-"/>
            </a:pPr>
            <a:r>
              <a:rPr lang="en-US" sz="2500"/>
              <a:t>rethink our development stack (only Flask?)</a:t>
            </a:r>
            <a:endParaRPr sz="2500"/>
          </a:p>
          <a:p>
            <a:pPr marL="0" lvl="0" indent="0" algn="l" rtl="0">
              <a:lnSpc>
                <a:spcPct val="100000"/>
              </a:lnSpc>
              <a:spcBef>
                <a:spcPts val="1000"/>
              </a:spcBef>
              <a:spcAft>
                <a:spcPts val="0"/>
              </a:spcAft>
              <a:buNone/>
            </a:pPr>
            <a:endParaRPr sz="100"/>
          </a:p>
          <a:p>
            <a:pPr marL="0" lvl="0" indent="0" algn="l" rtl="0">
              <a:lnSpc>
                <a:spcPct val="100000"/>
              </a:lnSpc>
              <a:spcBef>
                <a:spcPts val="1000"/>
              </a:spcBef>
              <a:spcAft>
                <a:spcPts val="0"/>
              </a:spcAft>
              <a:buNone/>
            </a:pPr>
            <a:r>
              <a:rPr lang="en-US" sz="2500" b="1"/>
              <a:t>Logistical</a:t>
            </a:r>
            <a:endParaRPr sz="2500"/>
          </a:p>
          <a:p>
            <a:pPr marL="457200" lvl="0" indent="-387350" algn="l" rtl="0">
              <a:lnSpc>
                <a:spcPct val="115000"/>
              </a:lnSpc>
              <a:spcBef>
                <a:spcPts val="1000"/>
              </a:spcBef>
              <a:spcAft>
                <a:spcPts val="0"/>
              </a:spcAft>
              <a:buSzPts val="2500"/>
              <a:buChar char="-"/>
            </a:pPr>
            <a:r>
              <a:rPr lang="en-US" sz="2500"/>
              <a:t>more cohesive web-dev team</a:t>
            </a:r>
            <a:endParaRPr sz="2500"/>
          </a:p>
          <a:p>
            <a:pPr marL="457200" lvl="0" indent="-387350" algn="l" rtl="0">
              <a:lnSpc>
                <a:spcPct val="115000"/>
              </a:lnSpc>
              <a:spcBef>
                <a:spcPts val="0"/>
              </a:spcBef>
              <a:spcAft>
                <a:spcPts val="0"/>
              </a:spcAft>
              <a:buSzPts val="2500"/>
              <a:buChar char="-"/>
            </a:pPr>
            <a:r>
              <a:rPr lang="en-US" sz="2500"/>
              <a:t>incremental progress</a:t>
            </a:r>
            <a:endParaRPr sz="2500"/>
          </a:p>
          <a:p>
            <a:pPr marL="457200" lvl="0" indent="-387350" algn="l" rtl="0">
              <a:lnSpc>
                <a:spcPct val="115000"/>
              </a:lnSpc>
              <a:spcBef>
                <a:spcPts val="0"/>
              </a:spcBef>
              <a:spcAft>
                <a:spcPts val="0"/>
              </a:spcAft>
              <a:buSzPts val="2500"/>
              <a:buChar char="-"/>
            </a:pPr>
            <a:r>
              <a:rPr lang="en-US" sz="2500"/>
              <a:t>narrow our focus</a:t>
            </a:r>
            <a:endParaRPr sz="2500"/>
          </a:p>
        </p:txBody>
      </p:sp>
      <p:sp>
        <p:nvSpPr>
          <p:cNvPr id="327" name="Google Shape;327;g104582646e5_0_0"/>
          <p:cNvSpPr txBox="1">
            <a:spLocks noGrp="1"/>
          </p:cNvSpPr>
          <p:nvPr>
            <p:ph type="title"/>
          </p:nvPr>
        </p:nvSpPr>
        <p:spPr>
          <a:xfrm>
            <a:off x="381000" y="83272"/>
            <a:ext cx="11430000" cy="1014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Web-Dev Goals for Next Semester</a:t>
            </a:r>
            <a:endParaRPr/>
          </a:p>
        </p:txBody>
      </p:sp>
      <p:pic>
        <p:nvPicPr>
          <p:cNvPr id="328" name="Google Shape;328;g104582646e5_0_0"/>
          <p:cNvPicPr preferRelativeResize="0"/>
          <p:nvPr/>
        </p:nvPicPr>
        <p:blipFill>
          <a:blip r:embed="rId3">
            <a:alphaModFix/>
          </a:blip>
          <a:stretch>
            <a:fillRect/>
          </a:stretch>
        </p:blipFill>
        <p:spPr>
          <a:xfrm>
            <a:off x="6617325" y="3691000"/>
            <a:ext cx="3458826" cy="31669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1"/>
          <p:cNvSpPr txBox="1">
            <a:spLocks noGrp="1"/>
          </p:cNvSpPr>
          <p:nvPr>
            <p:ph type="body" idx="1"/>
          </p:nvPr>
        </p:nvSpPr>
        <p:spPr>
          <a:xfrm>
            <a:off x="381000" y="1215471"/>
            <a:ext cx="11430000" cy="5088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SzPts val="1800"/>
              <a:buNone/>
            </a:pPr>
            <a:r>
              <a:rPr lang="en-US" sz="2400">
                <a:solidFill>
                  <a:srgbClr val="000000"/>
                </a:solidFill>
              </a:rPr>
              <a:t>Our progress this semester, and direction for next semester:</a:t>
            </a:r>
            <a:endParaRPr sz="2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US" sz="2400" b="1">
                <a:solidFill>
                  <a:srgbClr val="000000"/>
                </a:solidFill>
              </a:rPr>
              <a:t>Overall Project Outcomes (Web-app)</a:t>
            </a:r>
            <a:endParaRPr sz="2400" b="1">
              <a:solidFill>
                <a:srgbClr val="000000"/>
              </a:solidFill>
            </a:endParaRPr>
          </a:p>
          <a:p>
            <a:pPr marL="914400" lvl="1" indent="-317500" algn="l" rtl="0">
              <a:lnSpc>
                <a:spcPct val="115000"/>
              </a:lnSpc>
              <a:spcBef>
                <a:spcPts val="1000"/>
              </a:spcBef>
              <a:spcAft>
                <a:spcPts val="0"/>
              </a:spcAft>
              <a:buClr>
                <a:srgbClr val="000000"/>
              </a:buClr>
              <a:buSzPts val="1400"/>
              <a:buChar char="•"/>
            </a:pPr>
            <a:r>
              <a:rPr lang="en-US" sz="2000">
                <a:solidFill>
                  <a:srgbClr val="000000"/>
                </a:solidFill>
              </a:rPr>
              <a:t>Working dashboard showing metrics calculated using models created by DS team</a:t>
            </a:r>
            <a:endParaRPr sz="2000">
              <a:solidFill>
                <a:srgbClr val="000000"/>
              </a:solidFill>
            </a:endParaRPr>
          </a:p>
          <a:p>
            <a:pPr marL="914400" lvl="1" indent="-355600" algn="l" rtl="0">
              <a:lnSpc>
                <a:spcPct val="115000"/>
              </a:lnSpc>
              <a:spcBef>
                <a:spcPts val="1000"/>
              </a:spcBef>
              <a:spcAft>
                <a:spcPts val="0"/>
              </a:spcAft>
              <a:buClr>
                <a:srgbClr val="000000"/>
              </a:buClr>
              <a:buSzPts val="2000"/>
              <a:buChar char="•"/>
            </a:pPr>
            <a:r>
              <a:rPr lang="en-US" sz="2000">
                <a:solidFill>
                  <a:srgbClr val="000000"/>
                </a:solidFill>
              </a:rPr>
              <a:t>Proposal for pilot testing the app on a real course - Need to connect with instructors</a:t>
            </a:r>
            <a:endParaRPr sz="20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US" sz="2400" b="1">
                <a:solidFill>
                  <a:srgbClr val="000000"/>
                </a:solidFill>
              </a:rPr>
              <a:t>Data science</a:t>
            </a:r>
            <a:endParaRPr sz="2400" b="1">
              <a:solidFill>
                <a:srgbClr val="000000"/>
              </a:solidFill>
            </a:endParaRPr>
          </a:p>
          <a:p>
            <a:pPr marL="914400" lvl="1" indent="-317500" algn="l" rtl="0">
              <a:lnSpc>
                <a:spcPct val="115000"/>
              </a:lnSpc>
              <a:spcBef>
                <a:spcPts val="1000"/>
              </a:spcBef>
              <a:spcAft>
                <a:spcPts val="0"/>
              </a:spcAft>
              <a:buClr>
                <a:srgbClr val="000000"/>
              </a:buClr>
              <a:buSzPts val="1400"/>
              <a:buChar char="•"/>
            </a:pPr>
            <a:r>
              <a:rPr lang="en-US" sz="2000">
                <a:solidFill>
                  <a:srgbClr val="000000"/>
                </a:solidFill>
              </a:rPr>
              <a:t>Cognitive presence classification model using BERT, and a sentiment analysis model</a:t>
            </a:r>
            <a:endParaRPr sz="2000">
              <a:solidFill>
                <a:srgbClr val="000000"/>
              </a:solidFill>
            </a:endParaRPr>
          </a:p>
          <a:p>
            <a:pPr marL="914400" lvl="1" indent="-355600" algn="l" rtl="0">
              <a:lnSpc>
                <a:spcPct val="115000"/>
              </a:lnSpc>
              <a:spcBef>
                <a:spcPts val="1000"/>
              </a:spcBef>
              <a:spcAft>
                <a:spcPts val="0"/>
              </a:spcAft>
              <a:buClr>
                <a:srgbClr val="000000"/>
              </a:buClr>
              <a:buSzPts val="2000"/>
              <a:buChar char="•"/>
            </a:pPr>
            <a:r>
              <a:rPr lang="en-US" sz="2000">
                <a:solidFill>
                  <a:srgbClr val="000000"/>
                </a:solidFill>
              </a:rPr>
              <a:t>Analysis of top contributors, periods of peak activity in course and sentiment around that</a:t>
            </a:r>
            <a:endParaRPr sz="20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US" sz="2400" b="1">
                <a:solidFill>
                  <a:srgbClr val="000000"/>
                </a:solidFill>
              </a:rPr>
              <a:t>UX research</a:t>
            </a:r>
            <a:endParaRPr sz="2400" b="1">
              <a:solidFill>
                <a:srgbClr val="000000"/>
              </a:solidFill>
            </a:endParaRPr>
          </a:p>
          <a:p>
            <a:pPr marL="914400" lvl="1" indent="-317500" algn="l" rtl="0">
              <a:lnSpc>
                <a:spcPct val="115000"/>
              </a:lnSpc>
              <a:spcBef>
                <a:spcPts val="1000"/>
              </a:spcBef>
              <a:spcAft>
                <a:spcPts val="0"/>
              </a:spcAft>
              <a:buClr>
                <a:srgbClr val="000000"/>
              </a:buClr>
              <a:buSzPts val="1400"/>
              <a:buChar char="•"/>
            </a:pPr>
            <a:r>
              <a:rPr lang="en-US" sz="2000">
                <a:solidFill>
                  <a:srgbClr val="000000"/>
                </a:solidFill>
              </a:rPr>
              <a:t>Need to conduct a few more interviews with instructors and the PARQR team</a:t>
            </a:r>
            <a:endParaRPr sz="2000">
              <a:solidFill>
                <a:srgbClr val="000000"/>
              </a:solidFill>
            </a:endParaRPr>
          </a:p>
          <a:p>
            <a:pPr marL="914400" lvl="1" indent="-355600" algn="l" rtl="0">
              <a:lnSpc>
                <a:spcPct val="115000"/>
              </a:lnSpc>
              <a:spcBef>
                <a:spcPts val="1000"/>
              </a:spcBef>
              <a:spcAft>
                <a:spcPts val="1000"/>
              </a:spcAft>
              <a:buClr>
                <a:srgbClr val="000000"/>
              </a:buClr>
              <a:buSzPts val="2000"/>
              <a:buChar char="•"/>
            </a:pPr>
            <a:r>
              <a:rPr lang="en-US" sz="2000">
                <a:solidFill>
                  <a:srgbClr val="000000"/>
                </a:solidFill>
              </a:rPr>
              <a:t>Construct metrics based on discussion forum data to represent info that instructors want</a:t>
            </a:r>
            <a:endParaRPr sz="2000">
              <a:solidFill>
                <a:srgbClr val="000000"/>
              </a:solidFill>
            </a:endParaRPr>
          </a:p>
        </p:txBody>
      </p:sp>
      <p:sp>
        <p:nvSpPr>
          <p:cNvPr id="334" name="Google Shape;334;p11"/>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Conclusion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9d48565bb2_0_10"/>
          <p:cNvSpPr txBox="1">
            <a:spLocks noGrp="1"/>
          </p:cNvSpPr>
          <p:nvPr>
            <p:ph type="body" idx="1"/>
          </p:nvPr>
        </p:nvSpPr>
        <p:spPr>
          <a:xfrm>
            <a:off x="381000" y="1215473"/>
            <a:ext cx="11430000" cy="5818500"/>
          </a:xfrm>
          <a:prstGeom prst="rect">
            <a:avLst/>
          </a:prstGeom>
          <a:noFill/>
          <a:ln>
            <a:noFill/>
          </a:ln>
        </p:spPr>
        <p:txBody>
          <a:bodyPr spcFirstLastPara="1" wrap="square" lIns="91425" tIns="45700" rIns="91425" bIns="45700" anchor="t" anchorCtr="0">
            <a:noAutofit/>
          </a:bodyPr>
          <a:lstStyle/>
          <a:p>
            <a:pPr marL="457200" lvl="0" indent="-349250" algn="l" rtl="0">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lang="en-US" sz="1900" i="1"/>
              <a:t>The Internet and Higher Education</a:t>
            </a:r>
            <a:r>
              <a:rPr lang="en-US" sz="1900"/>
              <a:t>, 2(2–3), 87–105. https://doi.org/10.1016/S1096-7516(00)00016-6</a:t>
            </a:r>
            <a:endParaRPr sz="1900"/>
          </a:p>
          <a:p>
            <a:pPr marL="457200" lvl="0" indent="-349250" algn="l" rtl="0">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lang="en-US" sz="1900" i="1"/>
              <a:t>American Journal of Distance Education</a:t>
            </a:r>
            <a:r>
              <a:rPr lang="en-US" sz="1900"/>
              <a:t>, 15(1), 7–23. https://doi.org/10.1080/08923640109527071</a:t>
            </a:r>
            <a:endParaRPr sz="1900"/>
          </a:p>
          <a:p>
            <a:pPr marL="457200" lvl="0" indent="-349250" algn="l" rtl="0">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marL="457200" lvl="0" indent="-349250" algn="l" rtl="0">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lang="en-US" sz="1900" i="1"/>
              <a:t>Ain Sham Engineering Journals.</a:t>
            </a:r>
            <a:r>
              <a:rPr lang="en-US" sz="1900"/>
              <a:t> </a:t>
            </a:r>
            <a:r>
              <a:rPr lang="en-US" sz="1900">
                <a:solidFill>
                  <a:schemeClr val="hlink"/>
                </a:solidFill>
                <a:uFill>
                  <a:noFill/>
                </a:uFill>
                <a:hlinkClick r:id="rId3"/>
              </a:rPr>
              <a:t>https://doi.org/10.1016/j.asej.2014.04.011</a:t>
            </a:r>
            <a:endParaRPr sz="1900"/>
          </a:p>
        </p:txBody>
      </p:sp>
      <p:sp>
        <p:nvSpPr>
          <p:cNvPr id="340" name="Google Shape;340;g9d48565bb2_0_10"/>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Citations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2"/>
          <p:cNvSpPr txBox="1">
            <a:spLocks noGrp="1"/>
          </p:cNvSpPr>
          <p:nvPr>
            <p:ph type="title"/>
          </p:nvPr>
        </p:nvSpPr>
        <p:spPr>
          <a:xfrm>
            <a:off x="381000" y="200722"/>
            <a:ext cx="11430000" cy="1014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a:t>Questions?</a:t>
            </a:r>
            <a:endParaRP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2311</Words>
  <Application>Microsoft Office PowerPoint</Application>
  <PresentationFormat>Widescreen</PresentationFormat>
  <Paragraphs>302</Paragraphs>
  <Slides>30</Slides>
  <Notes>30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30</vt:i4>
      </vt:variant>
    </vt:vector>
  </HeadingPairs>
  <TitlesOfParts>
    <vt:vector size="35" baseType="lpstr">
      <vt:lpstr>Arial</vt:lpstr>
      <vt:lpstr>Roboto Condensed Light</vt:lpstr>
      <vt:lpstr>Roboto</vt:lpstr>
      <vt:lpstr>Custom Design</vt:lpstr>
      <vt:lpstr>1_Custom Design</vt:lpstr>
      <vt:lpstr>Data Driven Education</vt:lpstr>
      <vt:lpstr>Team Members</vt:lpstr>
      <vt:lpstr>Introduction</vt:lpstr>
      <vt:lpstr>Overall results and project goals for next semester</vt:lpstr>
      <vt:lpstr>Data Science</vt:lpstr>
      <vt:lpstr>Research Goal</vt:lpstr>
      <vt:lpstr>Sentiment Analysis and web-app integration</vt:lpstr>
      <vt:lpstr>Cognitive Presence (Garrison et al., 2001)</vt:lpstr>
      <vt:lpstr>Cognitive Presence Modeling - Results and Analysis</vt:lpstr>
      <vt:lpstr>Cognitive Presence Modeling - Results and Analysis</vt:lpstr>
      <vt:lpstr>Cognitive Presence Modeling - Results and Analysis</vt:lpstr>
      <vt:lpstr>Social Presence - Analysis of Top Contributors</vt:lpstr>
      <vt:lpstr>Student Outcomes Analysis</vt:lpstr>
      <vt:lpstr>Metrics for Dashboard</vt:lpstr>
      <vt:lpstr>Metrics for Dashboard (cont)</vt:lpstr>
      <vt:lpstr>Data Science - Key Learnings and Goals for next sem</vt:lpstr>
      <vt:lpstr>UX Research</vt:lpstr>
      <vt:lpstr>User Surveys - Analysis</vt:lpstr>
      <vt:lpstr>User Surveys - Challenges &amp; Next Goals</vt:lpstr>
      <vt:lpstr>Interview</vt:lpstr>
      <vt:lpstr>Web Development</vt:lpstr>
      <vt:lpstr>Web-App Progress</vt:lpstr>
      <vt:lpstr>PowerPoint Presentation</vt:lpstr>
      <vt:lpstr>Back-End Web Development</vt:lpstr>
      <vt:lpstr>Looking Back on the Semester</vt:lpstr>
      <vt:lpstr>Deliverables</vt:lpstr>
      <vt:lpstr>Web-Dev Goals for Next Semester</vt:lpstr>
      <vt:lpstr>Conclusion</vt:lpstr>
      <vt:lpstr>Citations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Driven Education</dc:title>
  <dc:creator>Microsoft Office User</dc:creator>
  <cp:lastModifiedBy>Agarwal, Pratik</cp:lastModifiedBy>
  <cp:revision>2</cp:revision>
  <dcterms:created xsi:type="dcterms:W3CDTF">2016-03-09T16:46:53Z</dcterms:created>
  <dcterms:modified xsi:type="dcterms:W3CDTF">2021-12-01T18:11:16Z</dcterms:modified>
</cp:coreProperties>
</file>