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98" r:id="rId2"/>
    <p:sldId id="302" r:id="rId3"/>
    <p:sldId id="304" r:id="rId4"/>
    <p:sldId id="303" r:id="rId5"/>
    <p:sldId id="307" r:id="rId6"/>
    <p:sldId id="300" r:id="rId7"/>
    <p:sldId id="299" r:id="rId8"/>
    <p:sldId id="30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220"/>
    <p:restoredTop sz="94671"/>
  </p:normalViewPr>
  <p:slideViewPr>
    <p:cSldViewPr snapToGrid="0" snapToObjects="1">
      <p:cViewPr varScale="1">
        <p:scale>
          <a:sx n="113" d="100"/>
          <a:sy n="113" d="100"/>
        </p:scale>
        <p:origin x="200" y="2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F7E5A0-3DFF-AC42-B325-75DF10C3E373}" type="datetimeFigureOut">
              <a:rPr lang="en-US" smtClean="0"/>
              <a:t>10/9/19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377C15-F707-9944-8AAD-016228FFB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465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B8C07-3EFC-5B44-93C6-D936DCBA29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B6605-2B14-A84A-844B-194DDC30B0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B2B31-1459-614B-AF84-F7C55DE68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A928A-194A-DD4C-B9F0-ECE64D550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EE7C3-73D6-7046-9520-B9B7ABB58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34464-8693-AA44-92B3-D34CAD938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522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79C14-B9E4-6F4A-8390-546400578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785C5-5534-DC42-B8DB-BBC18F3DD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64AA4-6FC8-5843-B621-313A63A3D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2041E-8702-3A4B-8B4C-EA0B25053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4093D-4963-DF40-96BA-BEC504DEF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34464-8693-AA44-92B3-D34CAD938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93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79825-B3E2-6440-8DB9-B395D8419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36AD22-2BC3-AE49-A343-A278A498F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7D046-8AB2-EC44-BBF8-1F5BB02EE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79D11-CDAB-EC4A-94D7-DFA17E0EA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73912-CC17-6A4A-8735-845F5A406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34464-8693-AA44-92B3-D34CAD938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493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BCBF0-6582-2A40-A36B-8409B4E30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22605-CB6A-FD48-ACD3-4B98DEE344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80D9C0-560C-E642-ABA0-A22B059A8A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972B30-992B-AB49-90CA-31F75BF49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47959F-5A6D-8A4E-8718-0583601FA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8361FB-028B-1B46-8CA6-2364CC11B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34464-8693-AA44-92B3-D34CAD938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255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23990-CC8A-C340-B82F-CDBDCD2BD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CEC091-F9B0-F94D-BA39-9829C0CAD1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6F875B-032F-9148-BDE5-69499AAD4E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8BD9D6-D0CA-9C4D-BFEE-EC55186E80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792523-73BC-6A41-8415-7365EAC8D9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1D3275-D0E5-4546-BC86-681D16A78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A11DFD-CA5D-FB44-99B3-A682ED7E3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40FDDC-03BC-1C43-950F-9FB927482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34464-8693-AA44-92B3-D34CAD938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253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69C45-3898-3640-9609-DFA86922F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8E8FE5-C8B9-3B43-B295-E4418AC29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F0AE0-B583-D942-B646-FE4D0316E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306E52-7604-ED4E-B275-2375DD82F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34464-8693-AA44-92B3-D34CAD938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381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4D7237-BF2A-4243-8907-5272F5D57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0C4D4F-DF88-5549-B713-6F1D970B3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F9239A-6559-094D-9CBF-47F08A0C7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34464-8693-AA44-92B3-D34CAD938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746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DE67D-55B3-D446-AA6F-43898BBBB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BA539-709D-3345-ABA9-5DD3C5121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42AD49-555C-3141-A75F-01E4FD6666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CA6660-B8FD-FB40-85F0-29E39DDF0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DE7B0-FEC8-114E-9567-1040865C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4FD715-18FF-8A40-B734-E4A3040C9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34464-8693-AA44-92B3-D34CAD938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989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106F8-2E24-974A-96AD-B4A385557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1C53AA-E2F8-2D45-BCFC-81A6949BEC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120D99-A384-4C42-A3C3-BA8F4B39A2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DA1F49-9F00-7E47-B482-9E5F8954D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BE8C39-8A7C-6D47-87D6-01C241F93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ABC33D-579D-1C48-88FF-886AE9D28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34464-8693-AA44-92B3-D34CAD938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625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4999C-1407-0148-9656-D0DC1294F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BF32BF-9724-194B-8094-F9A7F715F5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FBD77-B2DE-4543-99DD-920D45BF9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157DA-4EB8-E448-ABBB-92DB76DB8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65BA4-14E4-484F-B5EA-9875EFB10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34464-8693-AA44-92B3-D34CAD938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227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58C978-5C12-3447-9BD4-F399CEE000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E6488E-07FB-E84A-9CD5-8A015C1740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7D39A-77D3-7241-B64E-DEC2FE299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14DD6-0688-E340-AE41-C8ABC631F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79631-5CF1-1A48-B631-1B2C3DC70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34464-8693-AA44-92B3-D34CAD938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3142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7330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41B9EF-A7A7-B04E-997A-F7ED1E58E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8B98FC-31B5-ED4E-8439-6278C6B30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2567F-5E26-B34B-A04C-1A1201EB54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CF86A-A44C-4642-9764-F6EFCB8EE3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55272-88E0-D740-BD14-E2880E0A5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E34464-8693-AA44-92B3-D34CAD938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06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BF7CF08-A4AB-6641-939E-4E4B917AD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2232" y="192472"/>
            <a:ext cx="2532533" cy="253253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BBD00B3-1AEE-5C4B-8E6C-075ED83020FE}"/>
              </a:ext>
            </a:extLst>
          </p:cNvPr>
          <p:cNvSpPr txBox="1"/>
          <p:nvPr userDrawn="1"/>
        </p:nvSpPr>
        <p:spPr>
          <a:xfrm>
            <a:off x="1277257" y="2769909"/>
            <a:ext cx="12308115" cy="995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spc="433" dirty="0">
                <a:solidFill>
                  <a:srgbClr val="374552"/>
                </a:solidFill>
                <a:latin typeface="Bernard MT Condensed" panose="02050806060905020404" pitchFamily="18" charset="77"/>
                <a:ea typeface="Tahoma" panose="020B0604030504040204" pitchFamily="34" charset="0"/>
                <a:cs typeface="Tahoma" panose="020B0604030504040204" pitchFamily="34" charset="0"/>
              </a:rPr>
              <a:t>Natural</a:t>
            </a:r>
            <a:r>
              <a:rPr lang="en-US" sz="5867" b="1" spc="433" dirty="0">
                <a:solidFill>
                  <a:srgbClr val="374552"/>
                </a:solidFill>
                <a:latin typeface="Bernard MT Condensed" panose="02050806060905020404" pitchFamily="18" charset="77"/>
                <a:ea typeface="Tahoma" panose="020B0604030504040204" pitchFamily="34" charset="0"/>
                <a:cs typeface="Tahoma" panose="020B0604030504040204" pitchFamily="34" charset="0"/>
              </a:rPr>
              <a:t> Language Processing </a:t>
            </a:r>
            <a:endParaRPr lang="bg-BG" sz="5867" b="1" spc="433" dirty="0">
              <a:solidFill>
                <a:srgbClr val="37455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09FF87D-1EDF-374E-A2D3-9FDE4FE230E5}"/>
              </a:ext>
            </a:extLst>
          </p:cNvPr>
          <p:cNvGrpSpPr/>
          <p:nvPr/>
        </p:nvGrpSpPr>
        <p:grpSpPr>
          <a:xfrm>
            <a:off x="1433225" y="3930225"/>
            <a:ext cx="9713747" cy="5561"/>
            <a:chOff x="1074919" y="3100068"/>
            <a:chExt cx="7285310" cy="4171"/>
          </a:xfrm>
        </p:grpSpPr>
        <p:cxnSp>
          <p:nvCxnSpPr>
            <p:cNvPr id="49" name="直接连接符 107">
              <a:extLst>
                <a:ext uri="{FF2B5EF4-FFF2-40B4-BE49-F238E27FC236}">
                  <a16:creationId xmlns:a16="http://schemas.microsoft.com/office/drawing/2014/main" id="{E1270382-5BD2-E54E-8934-8D7EDD923007}"/>
                </a:ext>
              </a:extLst>
            </p:cNvPr>
            <p:cNvCxnSpPr>
              <a:cxnSpLocks/>
            </p:cNvCxnSpPr>
            <p:nvPr/>
          </p:nvCxnSpPr>
          <p:spPr>
            <a:xfrm>
              <a:off x="1074919" y="3100068"/>
              <a:ext cx="7285310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107">
              <a:extLst>
                <a:ext uri="{FF2B5EF4-FFF2-40B4-BE49-F238E27FC236}">
                  <a16:creationId xmlns:a16="http://schemas.microsoft.com/office/drawing/2014/main" id="{86995964-BAA9-F642-903C-7859E80D89F1}"/>
                </a:ext>
              </a:extLst>
            </p:cNvPr>
            <p:cNvCxnSpPr>
              <a:cxnSpLocks/>
            </p:cNvCxnSpPr>
            <p:nvPr/>
          </p:nvCxnSpPr>
          <p:spPr>
            <a:xfrm>
              <a:off x="3169329" y="3104239"/>
              <a:ext cx="2456407" cy="0"/>
            </a:xfrm>
            <a:prstGeom prst="line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任意多边形: 形状 2">
            <a:extLst>
              <a:ext uri="{FF2B5EF4-FFF2-40B4-BE49-F238E27FC236}">
                <a16:creationId xmlns:a16="http://schemas.microsoft.com/office/drawing/2014/main" id="{4626F17F-8C79-BF47-90C2-035267748515}"/>
              </a:ext>
            </a:extLst>
          </p:cNvPr>
          <p:cNvSpPr/>
          <p:nvPr/>
        </p:nvSpPr>
        <p:spPr>
          <a:xfrm>
            <a:off x="35056" y="5506975"/>
            <a:ext cx="12156944" cy="1272683"/>
          </a:xfrm>
          <a:custGeom>
            <a:avLst/>
            <a:gdLst>
              <a:gd name="connsiteX0" fmla="*/ 0 w 12032343"/>
              <a:gd name="connsiteY0" fmla="*/ 17481 h 1272682"/>
              <a:gd name="connsiteX1" fmla="*/ 1567543 w 12032343"/>
              <a:gd name="connsiteY1" fmla="*/ 902853 h 1272682"/>
              <a:gd name="connsiteX2" fmla="*/ 3599543 w 12032343"/>
              <a:gd name="connsiteY2" fmla="*/ 90053 h 1272682"/>
              <a:gd name="connsiteX3" fmla="*/ 5646057 w 12032343"/>
              <a:gd name="connsiteY3" fmla="*/ 1265710 h 1272682"/>
              <a:gd name="connsiteX4" fmla="*/ 7300686 w 12032343"/>
              <a:gd name="connsiteY4" fmla="*/ 598053 h 1272682"/>
              <a:gd name="connsiteX5" fmla="*/ 8563429 w 12032343"/>
              <a:gd name="connsiteY5" fmla="*/ 1033481 h 1272682"/>
              <a:gd name="connsiteX6" fmla="*/ 9608457 w 12032343"/>
              <a:gd name="connsiteY6" fmla="*/ 2967 h 1272682"/>
              <a:gd name="connsiteX7" fmla="*/ 10871200 w 12032343"/>
              <a:gd name="connsiteY7" fmla="*/ 699653 h 1272682"/>
              <a:gd name="connsiteX8" fmla="*/ 12032343 w 12032343"/>
              <a:gd name="connsiteY8" fmla="*/ 46510 h 1272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032343" h="1272682">
                <a:moveTo>
                  <a:pt x="0" y="17481"/>
                </a:moveTo>
                <a:cubicBezTo>
                  <a:pt x="483809" y="454119"/>
                  <a:pt x="967619" y="890758"/>
                  <a:pt x="1567543" y="902853"/>
                </a:cubicBezTo>
                <a:cubicBezTo>
                  <a:pt x="2167467" y="914948"/>
                  <a:pt x="2919791" y="29577"/>
                  <a:pt x="3599543" y="90053"/>
                </a:cubicBezTo>
                <a:cubicBezTo>
                  <a:pt x="4279295" y="150529"/>
                  <a:pt x="5029200" y="1181043"/>
                  <a:pt x="5646057" y="1265710"/>
                </a:cubicBezTo>
                <a:cubicBezTo>
                  <a:pt x="6262914" y="1350377"/>
                  <a:pt x="6814457" y="636758"/>
                  <a:pt x="7300686" y="598053"/>
                </a:cubicBezTo>
                <a:cubicBezTo>
                  <a:pt x="7786915" y="559348"/>
                  <a:pt x="8178801" y="1132662"/>
                  <a:pt x="8563429" y="1033481"/>
                </a:cubicBezTo>
                <a:cubicBezTo>
                  <a:pt x="8948057" y="934300"/>
                  <a:pt x="9223829" y="58605"/>
                  <a:pt x="9608457" y="2967"/>
                </a:cubicBezTo>
                <a:cubicBezTo>
                  <a:pt x="9993086" y="-52671"/>
                  <a:pt x="10467219" y="692396"/>
                  <a:pt x="10871200" y="699653"/>
                </a:cubicBezTo>
                <a:cubicBezTo>
                  <a:pt x="11275181" y="706910"/>
                  <a:pt x="11831562" y="152948"/>
                  <a:pt x="12032343" y="46510"/>
                </a:cubicBezTo>
              </a:path>
            </a:pathLst>
          </a:custGeom>
          <a:noFill/>
          <a:ln w="19050">
            <a:solidFill>
              <a:srgbClr val="5771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任意多边形: 形状 4">
            <a:extLst>
              <a:ext uri="{FF2B5EF4-FFF2-40B4-BE49-F238E27FC236}">
                <a16:creationId xmlns:a16="http://schemas.microsoft.com/office/drawing/2014/main" id="{2C0090F4-FF8F-F144-BA5A-83398E4EEB1D}"/>
              </a:ext>
            </a:extLst>
          </p:cNvPr>
          <p:cNvSpPr/>
          <p:nvPr/>
        </p:nvSpPr>
        <p:spPr>
          <a:xfrm flipH="1">
            <a:off x="35055" y="3876373"/>
            <a:ext cx="12171459" cy="2857379"/>
          </a:xfrm>
          <a:custGeom>
            <a:avLst/>
            <a:gdLst>
              <a:gd name="connsiteX0" fmla="*/ 0 w 12424228"/>
              <a:gd name="connsiteY0" fmla="*/ 0 h 2857379"/>
              <a:gd name="connsiteX1" fmla="*/ 2728685 w 12424228"/>
              <a:gd name="connsiteY1" fmla="*/ 2815772 h 2857379"/>
              <a:gd name="connsiteX2" fmla="*/ 5573485 w 12424228"/>
              <a:gd name="connsiteY2" fmla="*/ 1756229 h 2857379"/>
              <a:gd name="connsiteX3" fmla="*/ 7257143 w 12424228"/>
              <a:gd name="connsiteY3" fmla="*/ 2786743 h 2857379"/>
              <a:gd name="connsiteX4" fmla="*/ 8940800 w 12424228"/>
              <a:gd name="connsiteY4" fmla="*/ 1944915 h 2857379"/>
              <a:gd name="connsiteX5" fmla="*/ 10653485 w 12424228"/>
              <a:gd name="connsiteY5" fmla="*/ 2627086 h 2857379"/>
              <a:gd name="connsiteX6" fmla="*/ 11727543 w 12424228"/>
              <a:gd name="connsiteY6" fmla="*/ 1654629 h 2857379"/>
              <a:gd name="connsiteX7" fmla="*/ 12424228 w 12424228"/>
              <a:gd name="connsiteY7" fmla="*/ 1799772 h 2857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24228" h="2857379">
                <a:moveTo>
                  <a:pt x="0" y="0"/>
                </a:moveTo>
                <a:cubicBezTo>
                  <a:pt x="899885" y="1261533"/>
                  <a:pt x="1799771" y="2523067"/>
                  <a:pt x="2728685" y="2815772"/>
                </a:cubicBezTo>
                <a:cubicBezTo>
                  <a:pt x="3657599" y="3108477"/>
                  <a:pt x="4818742" y="1761067"/>
                  <a:pt x="5573485" y="1756229"/>
                </a:cubicBezTo>
                <a:cubicBezTo>
                  <a:pt x="6328228" y="1751391"/>
                  <a:pt x="6695924" y="2755295"/>
                  <a:pt x="7257143" y="2786743"/>
                </a:cubicBezTo>
                <a:cubicBezTo>
                  <a:pt x="7818362" y="2818191"/>
                  <a:pt x="8374743" y="1971525"/>
                  <a:pt x="8940800" y="1944915"/>
                </a:cubicBezTo>
                <a:cubicBezTo>
                  <a:pt x="9506857" y="1918306"/>
                  <a:pt x="10189028" y="2675467"/>
                  <a:pt x="10653485" y="2627086"/>
                </a:cubicBezTo>
                <a:cubicBezTo>
                  <a:pt x="11117942" y="2578705"/>
                  <a:pt x="11432419" y="1792515"/>
                  <a:pt x="11727543" y="1654629"/>
                </a:cubicBezTo>
                <a:cubicBezTo>
                  <a:pt x="12022667" y="1516743"/>
                  <a:pt x="12223447" y="1658257"/>
                  <a:pt x="12424228" y="1799772"/>
                </a:cubicBezTo>
              </a:path>
            </a:pathLst>
          </a:custGeom>
          <a:noFill/>
          <a:ln>
            <a:solidFill>
              <a:srgbClr val="5771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937BBD5D-3E2E-AA44-BE4E-5A10896015AE}"/>
              </a:ext>
            </a:extLst>
          </p:cNvPr>
          <p:cNvSpPr txBox="1"/>
          <p:nvPr/>
        </p:nvSpPr>
        <p:spPr>
          <a:xfrm>
            <a:off x="8419811" y="4052829"/>
            <a:ext cx="1247571" cy="3244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algn="l" defTabSz="914400">
              <a:defRPr sz="2300" b="0"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r>
              <a:rPr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Jianin</a:t>
            </a:r>
            <a:r>
              <a:rPr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Jin</a:t>
            </a:r>
            <a:endParaRPr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Rectangle 16">
            <a:extLst>
              <a:ext uri="{FF2B5EF4-FFF2-40B4-BE49-F238E27FC236}">
                <a16:creationId xmlns:a16="http://schemas.microsoft.com/office/drawing/2014/main" id="{C23B976A-62AA-AF44-A836-8C8E4AC8A5B8}"/>
              </a:ext>
            </a:extLst>
          </p:cNvPr>
          <p:cNvSpPr txBox="1"/>
          <p:nvPr/>
        </p:nvSpPr>
        <p:spPr>
          <a:xfrm>
            <a:off x="9818015" y="4055493"/>
            <a:ext cx="1262807" cy="3244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algn="l" defTabSz="914400">
              <a:defRPr sz="2300" b="0"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r>
              <a:rPr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Xinran Yu</a:t>
            </a:r>
          </a:p>
        </p:txBody>
      </p:sp>
      <p:sp>
        <p:nvSpPr>
          <p:cNvPr id="11" name="Rectangle 16">
            <a:extLst>
              <a:ext uri="{FF2B5EF4-FFF2-40B4-BE49-F238E27FC236}">
                <a16:creationId xmlns:a16="http://schemas.microsoft.com/office/drawing/2014/main" id="{71E8C924-43C5-E44A-A204-8BED2EAB5F29}"/>
              </a:ext>
            </a:extLst>
          </p:cNvPr>
          <p:cNvSpPr txBox="1"/>
          <p:nvPr/>
        </p:nvSpPr>
        <p:spPr>
          <a:xfrm>
            <a:off x="6457786" y="4053861"/>
            <a:ext cx="1748817" cy="3244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algn="l" defTabSz="914400">
              <a:defRPr sz="2300" b="0"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r>
              <a:rPr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Atush</a:t>
            </a:r>
            <a:r>
              <a:rPr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Dhakal</a:t>
            </a:r>
            <a:endParaRPr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Rectangle 16">
            <a:extLst>
              <a:ext uri="{FF2B5EF4-FFF2-40B4-BE49-F238E27FC236}">
                <a16:creationId xmlns:a16="http://schemas.microsoft.com/office/drawing/2014/main" id="{D6CC6916-E8CA-3F4F-A05C-C94C01155691}"/>
              </a:ext>
            </a:extLst>
          </p:cNvPr>
          <p:cNvSpPr txBox="1"/>
          <p:nvPr/>
        </p:nvSpPr>
        <p:spPr>
          <a:xfrm>
            <a:off x="3826426" y="4074866"/>
            <a:ext cx="2490859" cy="3244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algn="l" defTabSz="914400">
              <a:defRPr sz="2300" b="0"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r>
              <a:rPr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Lindsey Blackmore</a:t>
            </a:r>
          </a:p>
        </p:txBody>
      </p:sp>
      <p:sp>
        <p:nvSpPr>
          <p:cNvPr id="13" name="Rectangle 16">
            <a:extLst>
              <a:ext uri="{FF2B5EF4-FFF2-40B4-BE49-F238E27FC236}">
                <a16:creationId xmlns:a16="http://schemas.microsoft.com/office/drawing/2014/main" id="{3A47F6F8-229A-0D4B-ABA1-AF4EB315D8C7}"/>
              </a:ext>
            </a:extLst>
          </p:cNvPr>
          <p:cNvSpPr txBox="1"/>
          <p:nvPr/>
        </p:nvSpPr>
        <p:spPr>
          <a:xfrm>
            <a:off x="1370355" y="4074866"/>
            <a:ext cx="2328570" cy="3244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algn="l" defTabSz="914400">
              <a:defRPr sz="2300" b="0"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r>
              <a:rPr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Zachary Abraham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C379C1-48F7-9649-B141-3B9F8D69D93B}"/>
              </a:ext>
            </a:extLst>
          </p:cNvPr>
          <p:cNvSpPr txBox="1"/>
          <p:nvPr/>
        </p:nvSpPr>
        <p:spPr>
          <a:xfrm>
            <a:off x="10916356" y="6434667"/>
            <a:ext cx="722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25553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 9">
            <a:extLst>
              <a:ext uri="{FF2B5EF4-FFF2-40B4-BE49-F238E27FC236}">
                <a16:creationId xmlns:a16="http://schemas.microsoft.com/office/drawing/2014/main" id="{A28DD4E5-75BC-0148-9E38-B79490A2E33A}"/>
              </a:ext>
            </a:extLst>
          </p:cNvPr>
          <p:cNvSpPr>
            <a:spLocks noChangeAspect="1"/>
          </p:cNvSpPr>
          <p:nvPr/>
        </p:nvSpPr>
        <p:spPr>
          <a:xfrm rot="1800000">
            <a:off x="5257761" y="1960075"/>
            <a:ext cx="1498521" cy="1347636"/>
          </a:xfrm>
          <a:custGeom>
            <a:avLst/>
            <a:gdLst>
              <a:gd name="connsiteX0" fmla="*/ 366614 w 1483434"/>
              <a:gd name="connsiteY0" fmla="*/ 27139 h 1334067"/>
              <a:gd name="connsiteX1" fmla="*/ 370920 w 1483434"/>
              <a:gd name="connsiteY1" fmla="*/ 24802 h 1334067"/>
              <a:gd name="connsiteX2" fmla="*/ 375104 w 1483434"/>
              <a:gd name="connsiteY2" fmla="*/ 22237 h 1334067"/>
              <a:gd name="connsiteX3" fmla="*/ 376837 w 1483434"/>
              <a:gd name="connsiteY3" fmla="*/ 21590 h 1334067"/>
              <a:gd name="connsiteX4" fmla="*/ 393606 w 1483434"/>
              <a:gd name="connsiteY4" fmla="*/ 12488 h 1334067"/>
              <a:gd name="connsiteX5" fmla="*/ 455457 w 1483434"/>
              <a:gd name="connsiteY5" fmla="*/ 1 h 1334067"/>
              <a:gd name="connsiteX6" fmla="*/ 1027977 w 1483434"/>
              <a:gd name="connsiteY6" fmla="*/ 0 h 1334067"/>
              <a:gd name="connsiteX7" fmla="*/ 1089830 w 1483434"/>
              <a:gd name="connsiteY7" fmla="*/ 12488 h 1334067"/>
              <a:gd name="connsiteX8" fmla="*/ 1106598 w 1483434"/>
              <a:gd name="connsiteY8" fmla="*/ 21590 h 1334067"/>
              <a:gd name="connsiteX9" fmla="*/ 1108330 w 1483434"/>
              <a:gd name="connsiteY9" fmla="*/ 22237 h 1334067"/>
              <a:gd name="connsiteX10" fmla="*/ 1112511 w 1483434"/>
              <a:gd name="connsiteY10" fmla="*/ 24800 h 1334067"/>
              <a:gd name="connsiteX11" fmla="*/ 1116821 w 1483434"/>
              <a:gd name="connsiteY11" fmla="*/ 27138 h 1334067"/>
              <a:gd name="connsiteX12" fmla="*/ 1118248 w 1483434"/>
              <a:gd name="connsiteY12" fmla="*/ 28316 h 1334067"/>
              <a:gd name="connsiteX13" fmla="*/ 1134515 w 1483434"/>
              <a:gd name="connsiteY13" fmla="*/ 38287 h 1334067"/>
              <a:gd name="connsiteX14" fmla="*/ 1176255 w 1483434"/>
              <a:gd name="connsiteY14" fmla="*/ 85609 h 1334067"/>
              <a:gd name="connsiteX15" fmla="*/ 1462515 w 1483434"/>
              <a:gd name="connsiteY15" fmla="*/ 581426 h 1334067"/>
              <a:gd name="connsiteX16" fmla="*/ 1482627 w 1483434"/>
              <a:gd name="connsiteY16" fmla="*/ 641235 h 1334067"/>
              <a:gd name="connsiteX17" fmla="*/ 1483128 w 1483434"/>
              <a:gd name="connsiteY17" fmla="*/ 660307 h 1334067"/>
              <a:gd name="connsiteX18" fmla="*/ 1483434 w 1483434"/>
              <a:gd name="connsiteY18" fmla="*/ 662132 h 1334067"/>
              <a:gd name="connsiteX19" fmla="*/ 1483306 w 1483434"/>
              <a:gd name="connsiteY19" fmla="*/ 667037 h 1334067"/>
              <a:gd name="connsiteX20" fmla="*/ 1483434 w 1483434"/>
              <a:gd name="connsiteY20" fmla="*/ 671936 h 1334067"/>
              <a:gd name="connsiteX21" fmla="*/ 1483129 w 1483434"/>
              <a:gd name="connsiteY21" fmla="*/ 673758 h 1334067"/>
              <a:gd name="connsiteX22" fmla="*/ 1482627 w 1483434"/>
              <a:gd name="connsiteY22" fmla="*/ 692833 h 1334067"/>
              <a:gd name="connsiteX23" fmla="*/ 1462515 w 1483434"/>
              <a:gd name="connsiteY23" fmla="*/ 752642 h 1334067"/>
              <a:gd name="connsiteX24" fmla="*/ 1415777 w 1483434"/>
              <a:gd name="connsiteY24" fmla="*/ 833595 h 1334067"/>
              <a:gd name="connsiteX25" fmla="*/ 1378871 w 1483434"/>
              <a:gd name="connsiteY25" fmla="*/ 810973 h 1334067"/>
              <a:gd name="connsiteX26" fmla="*/ 835773 w 1483434"/>
              <a:gd name="connsiteY26" fmla="*/ 829944 h 1334067"/>
              <a:gd name="connsiteX27" fmla="*/ 547795 w 1483434"/>
              <a:gd name="connsiteY27" fmla="*/ 1290795 h 1334067"/>
              <a:gd name="connsiteX28" fmla="*/ 548934 w 1483434"/>
              <a:gd name="connsiteY28" fmla="*/ 1334067 h 1334067"/>
              <a:gd name="connsiteX29" fmla="*/ 455457 w 1483434"/>
              <a:gd name="connsiteY29" fmla="*/ 1334067 h 1334067"/>
              <a:gd name="connsiteX30" fmla="*/ 366614 w 1483434"/>
              <a:gd name="connsiteY30" fmla="*/ 1306928 h 1334067"/>
              <a:gd name="connsiteX31" fmla="*/ 361404 w 1483434"/>
              <a:gd name="connsiteY31" fmla="*/ 1302630 h 1334067"/>
              <a:gd name="connsiteX32" fmla="*/ 348921 w 1483434"/>
              <a:gd name="connsiteY32" fmla="*/ 1295780 h 1334067"/>
              <a:gd name="connsiteX33" fmla="*/ 307180 w 1483434"/>
              <a:gd name="connsiteY33" fmla="*/ 1248458 h 1334067"/>
              <a:gd name="connsiteX34" fmla="*/ 20920 w 1483434"/>
              <a:gd name="connsiteY34" fmla="*/ 752641 h 1334067"/>
              <a:gd name="connsiteX35" fmla="*/ 808 w 1483434"/>
              <a:gd name="connsiteY35" fmla="*/ 692833 h 1334067"/>
              <a:gd name="connsiteX36" fmla="*/ 306 w 1483434"/>
              <a:gd name="connsiteY36" fmla="*/ 673761 h 1334067"/>
              <a:gd name="connsiteX37" fmla="*/ 0 w 1483434"/>
              <a:gd name="connsiteY37" fmla="*/ 671935 h 1334067"/>
              <a:gd name="connsiteX38" fmla="*/ 129 w 1483434"/>
              <a:gd name="connsiteY38" fmla="*/ 667029 h 1334067"/>
              <a:gd name="connsiteX39" fmla="*/ 0 w 1483434"/>
              <a:gd name="connsiteY39" fmla="*/ 662132 h 1334067"/>
              <a:gd name="connsiteX40" fmla="*/ 307 w 1483434"/>
              <a:gd name="connsiteY40" fmla="*/ 660309 h 1334067"/>
              <a:gd name="connsiteX41" fmla="*/ 809 w 1483434"/>
              <a:gd name="connsiteY41" fmla="*/ 641234 h 1334067"/>
              <a:gd name="connsiteX42" fmla="*/ 20921 w 1483434"/>
              <a:gd name="connsiteY42" fmla="*/ 581426 h 1334067"/>
              <a:gd name="connsiteX43" fmla="*/ 307180 w 1483434"/>
              <a:gd name="connsiteY43" fmla="*/ 85609 h 1334067"/>
              <a:gd name="connsiteX44" fmla="*/ 348920 w 1483434"/>
              <a:gd name="connsiteY44" fmla="*/ 38287 h 1334067"/>
              <a:gd name="connsiteX45" fmla="*/ 365188 w 1483434"/>
              <a:gd name="connsiteY45" fmla="*/ 28315 h 1334067"/>
              <a:gd name="connsiteX46" fmla="*/ 366614 w 1483434"/>
              <a:gd name="connsiteY46" fmla="*/ 27139 h 1334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483434" h="1334067">
                <a:moveTo>
                  <a:pt x="366614" y="27139"/>
                </a:moveTo>
                <a:lnTo>
                  <a:pt x="370920" y="24802"/>
                </a:lnTo>
                <a:lnTo>
                  <a:pt x="375104" y="22237"/>
                </a:lnTo>
                <a:lnTo>
                  <a:pt x="376837" y="21590"/>
                </a:lnTo>
                <a:lnTo>
                  <a:pt x="393606" y="12488"/>
                </a:lnTo>
                <a:cubicBezTo>
                  <a:pt x="412616" y="4448"/>
                  <a:pt x="433518" y="1"/>
                  <a:pt x="455457" y="1"/>
                </a:cubicBezTo>
                <a:lnTo>
                  <a:pt x="1027977" y="0"/>
                </a:lnTo>
                <a:cubicBezTo>
                  <a:pt x="1049916" y="1"/>
                  <a:pt x="1070818" y="4448"/>
                  <a:pt x="1089830" y="12488"/>
                </a:cubicBezTo>
                <a:lnTo>
                  <a:pt x="1106598" y="21590"/>
                </a:lnTo>
                <a:lnTo>
                  <a:pt x="1108330" y="22237"/>
                </a:lnTo>
                <a:lnTo>
                  <a:pt x="1112511" y="24800"/>
                </a:lnTo>
                <a:lnTo>
                  <a:pt x="1116821" y="27138"/>
                </a:lnTo>
                <a:lnTo>
                  <a:pt x="1118248" y="28316"/>
                </a:lnTo>
                <a:lnTo>
                  <a:pt x="1134515" y="38287"/>
                </a:lnTo>
                <a:cubicBezTo>
                  <a:pt x="1150984" y="50731"/>
                  <a:pt x="1165285" y="66609"/>
                  <a:pt x="1176255" y="85609"/>
                </a:cubicBezTo>
                <a:lnTo>
                  <a:pt x="1462515" y="581426"/>
                </a:lnTo>
                <a:cubicBezTo>
                  <a:pt x="1473485" y="600426"/>
                  <a:pt x="1480085" y="620750"/>
                  <a:pt x="1482627" y="641235"/>
                </a:cubicBezTo>
                <a:lnTo>
                  <a:pt x="1483128" y="660307"/>
                </a:lnTo>
                <a:lnTo>
                  <a:pt x="1483434" y="662132"/>
                </a:lnTo>
                <a:lnTo>
                  <a:pt x="1483306" y="667037"/>
                </a:lnTo>
                <a:lnTo>
                  <a:pt x="1483434" y="671936"/>
                </a:lnTo>
                <a:lnTo>
                  <a:pt x="1483129" y="673758"/>
                </a:lnTo>
                <a:lnTo>
                  <a:pt x="1482627" y="692833"/>
                </a:lnTo>
                <a:cubicBezTo>
                  <a:pt x="1480084" y="713317"/>
                  <a:pt x="1473485" y="733642"/>
                  <a:pt x="1462515" y="752642"/>
                </a:cubicBezTo>
                <a:lnTo>
                  <a:pt x="1415777" y="833595"/>
                </a:lnTo>
                <a:lnTo>
                  <a:pt x="1378871" y="810973"/>
                </a:lnTo>
                <a:cubicBezTo>
                  <a:pt x="1211856" y="729667"/>
                  <a:pt x="1008749" y="730076"/>
                  <a:pt x="835773" y="829944"/>
                </a:cubicBezTo>
                <a:cubicBezTo>
                  <a:pt x="662797" y="929811"/>
                  <a:pt x="560889" y="1105502"/>
                  <a:pt x="547795" y="1290795"/>
                </a:cubicBezTo>
                <a:lnTo>
                  <a:pt x="548934" y="1334067"/>
                </a:lnTo>
                <a:lnTo>
                  <a:pt x="455457" y="1334067"/>
                </a:lnTo>
                <a:cubicBezTo>
                  <a:pt x="422548" y="1334067"/>
                  <a:pt x="391975" y="1324062"/>
                  <a:pt x="366614" y="1306928"/>
                </a:cubicBezTo>
                <a:lnTo>
                  <a:pt x="361404" y="1302630"/>
                </a:lnTo>
                <a:lnTo>
                  <a:pt x="348921" y="1295780"/>
                </a:lnTo>
                <a:cubicBezTo>
                  <a:pt x="332451" y="1283337"/>
                  <a:pt x="318150" y="1267459"/>
                  <a:pt x="307180" y="1248458"/>
                </a:cubicBezTo>
                <a:lnTo>
                  <a:pt x="20920" y="752641"/>
                </a:lnTo>
                <a:cubicBezTo>
                  <a:pt x="9950" y="733641"/>
                  <a:pt x="3350" y="713317"/>
                  <a:pt x="808" y="692833"/>
                </a:cubicBezTo>
                <a:lnTo>
                  <a:pt x="306" y="673761"/>
                </a:lnTo>
                <a:lnTo>
                  <a:pt x="0" y="671935"/>
                </a:lnTo>
                <a:lnTo>
                  <a:pt x="129" y="667029"/>
                </a:lnTo>
                <a:lnTo>
                  <a:pt x="0" y="662132"/>
                </a:lnTo>
                <a:lnTo>
                  <a:pt x="307" y="660309"/>
                </a:lnTo>
                <a:lnTo>
                  <a:pt x="809" y="641234"/>
                </a:lnTo>
                <a:cubicBezTo>
                  <a:pt x="3350" y="620751"/>
                  <a:pt x="9950" y="600426"/>
                  <a:pt x="20921" y="581426"/>
                </a:cubicBezTo>
                <a:lnTo>
                  <a:pt x="307180" y="85609"/>
                </a:lnTo>
                <a:cubicBezTo>
                  <a:pt x="318150" y="66609"/>
                  <a:pt x="332451" y="50730"/>
                  <a:pt x="348920" y="38287"/>
                </a:cubicBezTo>
                <a:lnTo>
                  <a:pt x="365188" y="28315"/>
                </a:lnTo>
                <a:lnTo>
                  <a:pt x="366614" y="27139"/>
                </a:lnTo>
                <a:close/>
              </a:path>
            </a:pathLst>
          </a:cu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400" dirty="0">
              <a:cs typeface="+mn-ea"/>
            </a:endParaRPr>
          </a:p>
        </p:txBody>
      </p:sp>
      <p:sp>
        <p:nvSpPr>
          <p:cNvPr id="38" name="任意多边形 8">
            <a:extLst>
              <a:ext uri="{FF2B5EF4-FFF2-40B4-BE49-F238E27FC236}">
                <a16:creationId xmlns:a16="http://schemas.microsoft.com/office/drawing/2014/main" id="{0F7CC07F-C838-E24A-A7EC-1A4D0EBFAFBD}"/>
              </a:ext>
            </a:extLst>
          </p:cNvPr>
          <p:cNvSpPr>
            <a:spLocks noChangeAspect="1"/>
          </p:cNvSpPr>
          <p:nvPr/>
        </p:nvSpPr>
        <p:spPr>
          <a:xfrm rot="1800000">
            <a:off x="4564988" y="3166007"/>
            <a:ext cx="1498521" cy="1347635"/>
          </a:xfrm>
          <a:custGeom>
            <a:avLst/>
            <a:gdLst>
              <a:gd name="connsiteX0" fmla="*/ 366614 w 1483434"/>
              <a:gd name="connsiteY0" fmla="*/ 27137 h 1334066"/>
              <a:gd name="connsiteX1" fmla="*/ 370920 w 1483434"/>
              <a:gd name="connsiteY1" fmla="*/ 24800 h 1334066"/>
              <a:gd name="connsiteX2" fmla="*/ 375104 w 1483434"/>
              <a:gd name="connsiteY2" fmla="*/ 22236 h 1334066"/>
              <a:gd name="connsiteX3" fmla="*/ 376838 w 1483434"/>
              <a:gd name="connsiteY3" fmla="*/ 21589 h 1334066"/>
              <a:gd name="connsiteX4" fmla="*/ 393606 w 1483434"/>
              <a:gd name="connsiteY4" fmla="*/ 12487 h 1334066"/>
              <a:gd name="connsiteX5" fmla="*/ 455457 w 1483434"/>
              <a:gd name="connsiteY5" fmla="*/ 0 h 1334066"/>
              <a:gd name="connsiteX6" fmla="*/ 547081 w 1483434"/>
              <a:gd name="connsiteY6" fmla="*/ 0 h 1334066"/>
              <a:gd name="connsiteX7" fmla="*/ 547761 w 1483434"/>
              <a:gd name="connsiteY7" fmla="*/ 25841 h 1334066"/>
              <a:gd name="connsiteX8" fmla="*/ 620998 w 1483434"/>
              <a:gd name="connsiteY8" fmla="*/ 243637 h 1334066"/>
              <a:gd name="connsiteX9" fmla="*/ 1304572 w 1483434"/>
              <a:gd name="connsiteY9" fmla="*/ 503564 h 1334066"/>
              <a:gd name="connsiteX10" fmla="*/ 1394246 w 1483434"/>
              <a:gd name="connsiteY10" fmla="*/ 463180 h 1334066"/>
              <a:gd name="connsiteX11" fmla="*/ 1462515 w 1483434"/>
              <a:gd name="connsiteY11" fmla="*/ 581424 h 1334066"/>
              <a:gd name="connsiteX12" fmla="*/ 1482627 w 1483434"/>
              <a:gd name="connsiteY12" fmla="*/ 641233 h 1334066"/>
              <a:gd name="connsiteX13" fmla="*/ 1483128 w 1483434"/>
              <a:gd name="connsiteY13" fmla="*/ 660306 h 1334066"/>
              <a:gd name="connsiteX14" fmla="*/ 1483434 w 1483434"/>
              <a:gd name="connsiteY14" fmla="*/ 662130 h 1334066"/>
              <a:gd name="connsiteX15" fmla="*/ 1483306 w 1483434"/>
              <a:gd name="connsiteY15" fmla="*/ 667036 h 1334066"/>
              <a:gd name="connsiteX16" fmla="*/ 1483434 w 1483434"/>
              <a:gd name="connsiteY16" fmla="*/ 671935 h 1334066"/>
              <a:gd name="connsiteX17" fmla="*/ 1483129 w 1483434"/>
              <a:gd name="connsiteY17" fmla="*/ 673757 h 1334066"/>
              <a:gd name="connsiteX18" fmla="*/ 1482627 w 1483434"/>
              <a:gd name="connsiteY18" fmla="*/ 692831 h 1334066"/>
              <a:gd name="connsiteX19" fmla="*/ 1462515 w 1483434"/>
              <a:gd name="connsiteY19" fmla="*/ 752641 h 1334066"/>
              <a:gd name="connsiteX20" fmla="*/ 1176256 w 1483434"/>
              <a:gd name="connsiteY20" fmla="*/ 1248457 h 1334066"/>
              <a:gd name="connsiteX21" fmla="*/ 1134515 w 1483434"/>
              <a:gd name="connsiteY21" fmla="*/ 1295779 h 1334066"/>
              <a:gd name="connsiteX22" fmla="*/ 1118247 w 1483434"/>
              <a:gd name="connsiteY22" fmla="*/ 1305751 h 1334066"/>
              <a:gd name="connsiteX23" fmla="*/ 1116820 w 1483434"/>
              <a:gd name="connsiteY23" fmla="*/ 1306926 h 1334066"/>
              <a:gd name="connsiteX24" fmla="*/ 1112514 w 1483434"/>
              <a:gd name="connsiteY24" fmla="*/ 1309265 h 1334066"/>
              <a:gd name="connsiteX25" fmla="*/ 1108331 w 1483434"/>
              <a:gd name="connsiteY25" fmla="*/ 1311829 h 1334066"/>
              <a:gd name="connsiteX26" fmla="*/ 1106598 w 1483434"/>
              <a:gd name="connsiteY26" fmla="*/ 1312476 h 1334066"/>
              <a:gd name="connsiteX27" fmla="*/ 1089829 w 1483434"/>
              <a:gd name="connsiteY27" fmla="*/ 1321578 h 1334066"/>
              <a:gd name="connsiteX28" fmla="*/ 1027977 w 1483434"/>
              <a:gd name="connsiteY28" fmla="*/ 1334065 h 1334066"/>
              <a:gd name="connsiteX29" fmla="*/ 455457 w 1483434"/>
              <a:gd name="connsiteY29" fmla="*/ 1334066 h 1334066"/>
              <a:gd name="connsiteX30" fmla="*/ 366614 w 1483434"/>
              <a:gd name="connsiteY30" fmla="*/ 1306927 h 1334066"/>
              <a:gd name="connsiteX31" fmla="*/ 361404 w 1483434"/>
              <a:gd name="connsiteY31" fmla="*/ 1302629 h 1334066"/>
              <a:gd name="connsiteX32" fmla="*/ 348921 w 1483434"/>
              <a:gd name="connsiteY32" fmla="*/ 1295779 h 1334066"/>
              <a:gd name="connsiteX33" fmla="*/ 307180 w 1483434"/>
              <a:gd name="connsiteY33" fmla="*/ 1248457 h 1334066"/>
              <a:gd name="connsiteX34" fmla="*/ 20920 w 1483434"/>
              <a:gd name="connsiteY34" fmla="*/ 752640 h 1334066"/>
              <a:gd name="connsiteX35" fmla="*/ 809 w 1483434"/>
              <a:gd name="connsiteY35" fmla="*/ 692832 h 1334066"/>
              <a:gd name="connsiteX36" fmla="*/ 306 w 1483434"/>
              <a:gd name="connsiteY36" fmla="*/ 673759 h 1334066"/>
              <a:gd name="connsiteX37" fmla="*/ 0 w 1483434"/>
              <a:gd name="connsiteY37" fmla="*/ 671934 h 1334066"/>
              <a:gd name="connsiteX38" fmla="*/ 129 w 1483434"/>
              <a:gd name="connsiteY38" fmla="*/ 667029 h 1334066"/>
              <a:gd name="connsiteX39" fmla="*/ 0 w 1483434"/>
              <a:gd name="connsiteY39" fmla="*/ 662130 h 1334066"/>
              <a:gd name="connsiteX40" fmla="*/ 307 w 1483434"/>
              <a:gd name="connsiteY40" fmla="*/ 660308 h 1334066"/>
              <a:gd name="connsiteX41" fmla="*/ 809 w 1483434"/>
              <a:gd name="connsiteY41" fmla="*/ 641233 h 1334066"/>
              <a:gd name="connsiteX42" fmla="*/ 20921 w 1483434"/>
              <a:gd name="connsiteY42" fmla="*/ 581424 h 1334066"/>
              <a:gd name="connsiteX43" fmla="*/ 307180 w 1483434"/>
              <a:gd name="connsiteY43" fmla="*/ 85608 h 1334066"/>
              <a:gd name="connsiteX44" fmla="*/ 348920 w 1483434"/>
              <a:gd name="connsiteY44" fmla="*/ 38286 h 1334066"/>
              <a:gd name="connsiteX45" fmla="*/ 365188 w 1483434"/>
              <a:gd name="connsiteY45" fmla="*/ 28314 h 1334066"/>
              <a:gd name="connsiteX46" fmla="*/ 366614 w 1483434"/>
              <a:gd name="connsiteY46" fmla="*/ 27137 h 1334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483434" h="1334066">
                <a:moveTo>
                  <a:pt x="366614" y="27137"/>
                </a:moveTo>
                <a:lnTo>
                  <a:pt x="370920" y="24800"/>
                </a:lnTo>
                <a:lnTo>
                  <a:pt x="375104" y="22236"/>
                </a:lnTo>
                <a:lnTo>
                  <a:pt x="376838" y="21589"/>
                </a:lnTo>
                <a:lnTo>
                  <a:pt x="393606" y="12487"/>
                </a:lnTo>
                <a:cubicBezTo>
                  <a:pt x="412616" y="4446"/>
                  <a:pt x="433518" y="0"/>
                  <a:pt x="455457" y="0"/>
                </a:cubicBezTo>
                <a:lnTo>
                  <a:pt x="547081" y="0"/>
                </a:lnTo>
                <a:lnTo>
                  <a:pt x="547761" y="25841"/>
                </a:lnTo>
                <a:cubicBezTo>
                  <a:pt x="557017" y="100435"/>
                  <a:pt x="581051" y="174446"/>
                  <a:pt x="620998" y="243637"/>
                </a:cubicBezTo>
                <a:cubicBezTo>
                  <a:pt x="760813" y="485804"/>
                  <a:pt x="1049240" y="588675"/>
                  <a:pt x="1304572" y="503564"/>
                </a:cubicBezTo>
                <a:lnTo>
                  <a:pt x="1394246" y="463180"/>
                </a:lnTo>
                <a:lnTo>
                  <a:pt x="1462515" y="581424"/>
                </a:lnTo>
                <a:cubicBezTo>
                  <a:pt x="1473485" y="600425"/>
                  <a:pt x="1480085" y="620749"/>
                  <a:pt x="1482627" y="641233"/>
                </a:cubicBezTo>
                <a:lnTo>
                  <a:pt x="1483128" y="660306"/>
                </a:lnTo>
                <a:lnTo>
                  <a:pt x="1483434" y="662130"/>
                </a:lnTo>
                <a:lnTo>
                  <a:pt x="1483306" y="667036"/>
                </a:lnTo>
                <a:lnTo>
                  <a:pt x="1483434" y="671935"/>
                </a:lnTo>
                <a:lnTo>
                  <a:pt x="1483129" y="673757"/>
                </a:lnTo>
                <a:lnTo>
                  <a:pt x="1482627" y="692831"/>
                </a:lnTo>
                <a:cubicBezTo>
                  <a:pt x="1480084" y="713316"/>
                  <a:pt x="1473485" y="733640"/>
                  <a:pt x="1462515" y="752641"/>
                </a:cubicBezTo>
                <a:lnTo>
                  <a:pt x="1176256" y="1248457"/>
                </a:lnTo>
                <a:cubicBezTo>
                  <a:pt x="1165285" y="1267457"/>
                  <a:pt x="1150984" y="1283335"/>
                  <a:pt x="1134515" y="1295779"/>
                </a:cubicBezTo>
                <a:lnTo>
                  <a:pt x="1118247" y="1305751"/>
                </a:lnTo>
                <a:lnTo>
                  <a:pt x="1116820" y="1306926"/>
                </a:lnTo>
                <a:lnTo>
                  <a:pt x="1112514" y="1309265"/>
                </a:lnTo>
                <a:lnTo>
                  <a:pt x="1108331" y="1311829"/>
                </a:lnTo>
                <a:lnTo>
                  <a:pt x="1106598" y="1312476"/>
                </a:lnTo>
                <a:lnTo>
                  <a:pt x="1089829" y="1321578"/>
                </a:lnTo>
                <a:cubicBezTo>
                  <a:pt x="1070818" y="1329619"/>
                  <a:pt x="1049917" y="1334065"/>
                  <a:pt x="1027977" y="1334065"/>
                </a:cubicBezTo>
                <a:lnTo>
                  <a:pt x="455457" y="1334066"/>
                </a:lnTo>
                <a:cubicBezTo>
                  <a:pt x="422548" y="1334066"/>
                  <a:pt x="391975" y="1324061"/>
                  <a:pt x="366614" y="1306927"/>
                </a:cubicBezTo>
                <a:lnTo>
                  <a:pt x="361404" y="1302629"/>
                </a:lnTo>
                <a:lnTo>
                  <a:pt x="348921" y="1295779"/>
                </a:lnTo>
                <a:cubicBezTo>
                  <a:pt x="332451" y="1283335"/>
                  <a:pt x="318150" y="1267458"/>
                  <a:pt x="307180" y="1248457"/>
                </a:cubicBezTo>
                <a:lnTo>
                  <a:pt x="20920" y="752640"/>
                </a:lnTo>
                <a:cubicBezTo>
                  <a:pt x="9950" y="733640"/>
                  <a:pt x="3350" y="713316"/>
                  <a:pt x="809" y="692832"/>
                </a:cubicBezTo>
                <a:lnTo>
                  <a:pt x="306" y="673759"/>
                </a:lnTo>
                <a:lnTo>
                  <a:pt x="0" y="671934"/>
                </a:lnTo>
                <a:lnTo>
                  <a:pt x="129" y="667029"/>
                </a:lnTo>
                <a:lnTo>
                  <a:pt x="0" y="662130"/>
                </a:lnTo>
                <a:lnTo>
                  <a:pt x="307" y="660308"/>
                </a:lnTo>
                <a:lnTo>
                  <a:pt x="809" y="641233"/>
                </a:lnTo>
                <a:cubicBezTo>
                  <a:pt x="3350" y="620749"/>
                  <a:pt x="9950" y="600424"/>
                  <a:pt x="20921" y="581424"/>
                </a:cubicBezTo>
                <a:lnTo>
                  <a:pt x="307180" y="85608"/>
                </a:lnTo>
                <a:cubicBezTo>
                  <a:pt x="318150" y="66607"/>
                  <a:pt x="332451" y="50729"/>
                  <a:pt x="348920" y="38286"/>
                </a:cubicBezTo>
                <a:lnTo>
                  <a:pt x="365188" y="28314"/>
                </a:lnTo>
                <a:lnTo>
                  <a:pt x="366614" y="27137"/>
                </a:lnTo>
                <a:close/>
              </a:path>
            </a:pathLst>
          </a:custGeom>
          <a:solidFill>
            <a:srgbClr val="8FA4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400">
              <a:cs typeface="+mn-ea"/>
            </a:endParaRPr>
          </a:p>
        </p:txBody>
      </p:sp>
      <p:sp>
        <p:nvSpPr>
          <p:cNvPr id="39" name="任意多边形 7">
            <a:extLst>
              <a:ext uri="{FF2B5EF4-FFF2-40B4-BE49-F238E27FC236}">
                <a16:creationId xmlns:a16="http://schemas.microsoft.com/office/drawing/2014/main" id="{31F4CBF7-5512-A84C-B2BD-4F4D6DDC46C9}"/>
              </a:ext>
            </a:extLst>
          </p:cNvPr>
          <p:cNvSpPr>
            <a:spLocks noChangeAspect="1"/>
          </p:cNvSpPr>
          <p:nvPr/>
        </p:nvSpPr>
        <p:spPr>
          <a:xfrm rot="1800000">
            <a:off x="6175709" y="3226342"/>
            <a:ext cx="1257180" cy="1347636"/>
          </a:xfrm>
          <a:custGeom>
            <a:avLst/>
            <a:gdLst>
              <a:gd name="connsiteX0" fmla="*/ 127702 w 1244522"/>
              <a:gd name="connsiteY0" fmla="*/ 27138 h 1334067"/>
              <a:gd name="connsiteX1" fmla="*/ 132008 w 1244522"/>
              <a:gd name="connsiteY1" fmla="*/ 24801 h 1334067"/>
              <a:gd name="connsiteX2" fmla="*/ 136192 w 1244522"/>
              <a:gd name="connsiteY2" fmla="*/ 22236 h 1334067"/>
              <a:gd name="connsiteX3" fmla="*/ 137926 w 1244522"/>
              <a:gd name="connsiteY3" fmla="*/ 21590 h 1334067"/>
              <a:gd name="connsiteX4" fmla="*/ 154694 w 1244522"/>
              <a:gd name="connsiteY4" fmla="*/ 12487 h 1334067"/>
              <a:gd name="connsiteX5" fmla="*/ 216545 w 1244522"/>
              <a:gd name="connsiteY5" fmla="*/ 0 h 1334067"/>
              <a:gd name="connsiteX6" fmla="*/ 789065 w 1244522"/>
              <a:gd name="connsiteY6" fmla="*/ 0 h 1334067"/>
              <a:gd name="connsiteX7" fmla="*/ 850917 w 1244522"/>
              <a:gd name="connsiteY7" fmla="*/ 12487 h 1334067"/>
              <a:gd name="connsiteX8" fmla="*/ 867686 w 1244522"/>
              <a:gd name="connsiteY8" fmla="*/ 21589 h 1334067"/>
              <a:gd name="connsiteX9" fmla="*/ 869418 w 1244522"/>
              <a:gd name="connsiteY9" fmla="*/ 22236 h 1334067"/>
              <a:gd name="connsiteX10" fmla="*/ 873599 w 1244522"/>
              <a:gd name="connsiteY10" fmla="*/ 24799 h 1334067"/>
              <a:gd name="connsiteX11" fmla="*/ 877909 w 1244522"/>
              <a:gd name="connsiteY11" fmla="*/ 27138 h 1334067"/>
              <a:gd name="connsiteX12" fmla="*/ 879335 w 1244522"/>
              <a:gd name="connsiteY12" fmla="*/ 28315 h 1334067"/>
              <a:gd name="connsiteX13" fmla="*/ 895603 w 1244522"/>
              <a:gd name="connsiteY13" fmla="*/ 38286 h 1334067"/>
              <a:gd name="connsiteX14" fmla="*/ 937343 w 1244522"/>
              <a:gd name="connsiteY14" fmla="*/ 85608 h 1334067"/>
              <a:gd name="connsiteX15" fmla="*/ 1223603 w 1244522"/>
              <a:gd name="connsiteY15" fmla="*/ 581425 h 1334067"/>
              <a:gd name="connsiteX16" fmla="*/ 1243715 w 1244522"/>
              <a:gd name="connsiteY16" fmla="*/ 641234 h 1334067"/>
              <a:gd name="connsiteX17" fmla="*/ 1244216 w 1244522"/>
              <a:gd name="connsiteY17" fmla="*/ 660306 h 1334067"/>
              <a:gd name="connsiteX18" fmla="*/ 1244522 w 1244522"/>
              <a:gd name="connsiteY18" fmla="*/ 662131 h 1334067"/>
              <a:gd name="connsiteX19" fmla="*/ 1244394 w 1244522"/>
              <a:gd name="connsiteY19" fmla="*/ 667036 h 1334067"/>
              <a:gd name="connsiteX20" fmla="*/ 1244522 w 1244522"/>
              <a:gd name="connsiteY20" fmla="*/ 671935 h 1334067"/>
              <a:gd name="connsiteX21" fmla="*/ 1244216 w 1244522"/>
              <a:gd name="connsiteY21" fmla="*/ 673757 h 1334067"/>
              <a:gd name="connsiteX22" fmla="*/ 1243714 w 1244522"/>
              <a:gd name="connsiteY22" fmla="*/ 692832 h 1334067"/>
              <a:gd name="connsiteX23" fmla="*/ 1223603 w 1244522"/>
              <a:gd name="connsiteY23" fmla="*/ 752641 h 1334067"/>
              <a:gd name="connsiteX24" fmla="*/ 937344 w 1244522"/>
              <a:gd name="connsiteY24" fmla="*/ 1248458 h 1334067"/>
              <a:gd name="connsiteX25" fmla="*/ 895603 w 1244522"/>
              <a:gd name="connsiteY25" fmla="*/ 1295779 h 1334067"/>
              <a:gd name="connsiteX26" fmla="*/ 879335 w 1244522"/>
              <a:gd name="connsiteY26" fmla="*/ 1305751 h 1334067"/>
              <a:gd name="connsiteX27" fmla="*/ 877908 w 1244522"/>
              <a:gd name="connsiteY27" fmla="*/ 1306927 h 1334067"/>
              <a:gd name="connsiteX28" fmla="*/ 873602 w 1244522"/>
              <a:gd name="connsiteY28" fmla="*/ 1309266 h 1334067"/>
              <a:gd name="connsiteX29" fmla="*/ 869419 w 1244522"/>
              <a:gd name="connsiteY29" fmla="*/ 1311829 h 1334067"/>
              <a:gd name="connsiteX30" fmla="*/ 867686 w 1244522"/>
              <a:gd name="connsiteY30" fmla="*/ 1312477 h 1334067"/>
              <a:gd name="connsiteX31" fmla="*/ 850917 w 1244522"/>
              <a:gd name="connsiteY31" fmla="*/ 1321579 h 1334067"/>
              <a:gd name="connsiteX32" fmla="*/ 789065 w 1244522"/>
              <a:gd name="connsiteY32" fmla="*/ 1334066 h 1334067"/>
              <a:gd name="connsiteX33" fmla="*/ 216545 w 1244522"/>
              <a:gd name="connsiteY33" fmla="*/ 1334067 h 1334067"/>
              <a:gd name="connsiteX34" fmla="*/ 127702 w 1244522"/>
              <a:gd name="connsiteY34" fmla="*/ 1306927 h 1334067"/>
              <a:gd name="connsiteX35" fmla="*/ 122492 w 1244522"/>
              <a:gd name="connsiteY35" fmla="*/ 1302629 h 1334067"/>
              <a:gd name="connsiteX36" fmla="*/ 110008 w 1244522"/>
              <a:gd name="connsiteY36" fmla="*/ 1295779 h 1334067"/>
              <a:gd name="connsiteX37" fmla="*/ 68268 w 1244522"/>
              <a:gd name="connsiteY37" fmla="*/ 1248457 h 1334067"/>
              <a:gd name="connsiteX38" fmla="*/ 0 w 1244522"/>
              <a:gd name="connsiteY38" fmla="*/ 1130213 h 1334067"/>
              <a:gd name="connsiteX39" fmla="*/ 79808 w 1244522"/>
              <a:gd name="connsiteY39" fmla="*/ 1072746 h 1334067"/>
              <a:gd name="connsiteX40" fmla="*/ 196492 w 1244522"/>
              <a:gd name="connsiteY40" fmla="*/ 350790 h 1334067"/>
              <a:gd name="connsiteX41" fmla="*/ 44494 w 1244522"/>
              <a:gd name="connsiteY41" fmla="*/ 178467 h 1334067"/>
              <a:gd name="connsiteX42" fmla="*/ 22455 w 1244522"/>
              <a:gd name="connsiteY42" fmla="*/ 164958 h 1334067"/>
              <a:gd name="connsiteX43" fmla="*/ 68268 w 1244522"/>
              <a:gd name="connsiteY43" fmla="*/ 85608 h 1334067"/>
              <a:gd name="connsiteX44" fmla="*/ 110008 w 1244522"/>
              <a:gd name="connsiteY44" fmla="*/ 38286 h 1334067"/>
              <a:gd name="connsiteX45" fmla="*/ 126276 w 1244522"/>
              <a:gd name="connsiteY45" fmla="*/ 28314 h 1334067"/>
              <a:gd name="connsiteX46" fmla="*/ 127702 w 1244522"/>
              <a:gd name="connsiteY46" fmla="*/ 27138 h 1334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244522" h="1334067">
                <a:moveTo>
                  <a:pt x="127702" y="27138"/>
                </a:moveTo>
                <a:lnTo>
                  <a:pt x="132008" y="24801"/>
                </a:lnTo>
                <a:lnTo>
                  <a:pt x="136192" y="22236"/>
                </a:lnTo>
                <a:lnTo>
                  <a:pt x="137926" y="21590"/>
                </a:lnTo>
                <a:lnTo>
                  <a:pt x="154694" y="12487"/>
                </a:lnTo>
                <a:cubicBezTo>
                  <a:pt x="173704" y="4447"/>
                  <a:pt x="194606" y="0"/>
                  <a:pt x="216545" y="0"/>
                </a:cubicBezTo>
                <a:lnTo>
                  <a:pt x="789065" y="0"/>
                </a:lnTo>
                <a:cubicBezTo>
                  <a:pt x="811004" y="0"/>
                  <a:pt x="831906" y="4447"/>
                  <a:pt x="850917" y="12487"/>
                </a:cubicBezTo>
                <a:lnTo>
                  <a:pt x="867686" y="21589"/>
                </a:lnTo>
                <a:lnTo>
                  <a:pt x="869418" y="22236"/>
                </a:lnTo>
                <a:lnTo>
                  <a:pt x="873599" y="24799"/>
                </a:lnTo>
                <a:lnTo>
                  <a:pt x="877909" y="27138"/>
                </a:lnTo>
                <a:lnTo>
                  <a:pt x="879335" y="28315"/>
                </a:lnTo>
                <a:lnTo>
                  <a:pt x="895603" y="38286"/>
                </a:lnTo>
                <a:cubicBezTo>
                  <a:pt x="912072" y="50730"/>
                  <a:pt x="926373" y="66608"/>
                  <a:pt x="937343" y="85608"/>
                </a:cubicBezTo>
                <a:lnTo>
                  <a:pt x="1223603" y="581425"/>
                </a:lnTo>
                <a:cubicBezTo>
                  <a:pt x="1234573" y="600426"/>
                  <a:pt x="1241173" y="620749"/>
                  <a:pt x="1243715" y="641234"/>
                </a:cubicBezTo>
                <a:lnTo>
                  <a:pt x="1244216" y="660306"/>
                </a:lnTo>
                <a:lnTo>
                  <a:pt x="1244522" y="662131"/>
                </a:lnTo>
                <a:lnTo>
                  <a:pt x="1244394" y="667036"/>
                </a:lnTo>
                <a:lnTo>
                  <a:pt x="1244522" y="671935"/>
                </a:lnTo>
                <a:lnTo>
                  <a:pt x="1244216" y="673757"/>
                </a:lnTo>
                <a:lnTo>
                  <a:pt x="1243714" y="692832"/>
                </a:lnTo>
                <a:cubicBezTo>
                  <a:pt x="1241172" y="713316"/>
                  <a:pt x="1234573" y="733641"/>
                  <a:pt x="1223603" y="752641"/>
                </a:cubicBezTo>
                <a:lnTo>
                  <a:pt x="937344" y="1248458"/>
                </a:lnTo>
                <a:cubicBezTo>
                  <a:pt x="926373" y="1267458"/>
                  <a:pt x="912072" y="1283336"/>
                  <a:pt x="895603" y="1295779"/>
                </a:cubicBezTo>
                <a:lnTo>
                  <a:pt x="879335" y="1305751"/>
                </a:lnTo>
                <a:lnTo>
                  <a:pt x="877908" y="1306927"/>
                </a:lnTo>
                <a:lnTo>
                  <a:pt x="873602" y="1309266"/>
                </a:lnTo>
                <a:lnTo>
                  <a:pt x="869419" y="1311829"/>
                </a:lnTo>
                <a:lnTo>
                  <a:pt x="867686" y="1312477"/>
                </a:lnTo>
                <a:lnTo>
                  <a:pt x="850917" y="1321579"/>
                </a:lnTo>
                <a:cubicBezTo>
                  <a:pt x="831906" y="1329619"/>
                  <a:pt x="811005" y="1334065"/>
                  <a:pt x="789065" y="1334066"/>
                </a:cubicBezTo>
                <a:lnTo>
                  <a:pt x="216545" y="1334067"/>
                </a:lnTo>
                <a:cubicBezTo>
                  <a:pt x="183636" y="1334066"/>
                  <a:pt x="153063" y="1324061"/>
                  <a:pt x="127702" y="1306927"/>
                </a:cubicBezTo>
                <a:lnTo>
                  <a:pt x="122492" y="1302629"/>
                </a:lnTo>
                <a:lnTo>
                  <a:pt x="110008" y="1295779"/>
                </a:lnTo>
                <a:cubicBezTo>
                  <a:pt x="93539" y="1283336"/>
                  <a:pt x="79238" y="1267458"/>
                  <a:pt x="68268" y="1248457"/>
                </a:cubicBezTo>
                <a:lnTo>
                  <a:pt x="0" y="1130213"/>
                </a:lnTo>
                <a:lnTo>
                  <a:pt x="79808" y="1072746"/>
                </a:lnTo>
                <a:cubicBezTo>
                  <a:pt x="281183" y="894178"/>
                  <a:pt x="336307" y="592957"/>
                  <a:pt x="196492" y="350790"/>
                </a:cubicBezTo>
                <a:cubicBezTo>
                  <a:pt x="156545" y="281599"/>
                  <a:pt x="104466" y="223780"/>
                  <a:pt x="44494" y="178467"/>
                </a:cubicBezTo>
                <a:lnTo>
                  <a:pt x="22455" y="164958"/>
                </a:lnTo>
                <a:lnTo>
                  <a:pt x="68268" y="85608"/>
                </a:lnTo>
                <a:cubicBezTo>
                  <a:pt x="79238" y="66608"/>
                  <a:pt x="93539" y="50729"/>
                  <a:pt x="110008" y="38286"/>
                </a:cubicBezTo>
                <a:lnTo>
                  <a:pt x="126276" y="28314"/>
                </a:lnTo>
                <a:lnTo>
                  <a:pt x="127702" y="27138"/>
                </a:lnTo>
                <a:close/>
              </a:path>
            </a:pathLst>
          </a:custGeom>
          <a:solidFill>
            <a:srgbClr val="8FA4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400">
              <a:cs typeface="+mn-ea"/>
            </a:endParaRPr>
          </a:p>
        </p:txBody>
      </p:sp>
      <p:sp>
        <p:nvSpPr>
          <p:cNvPr id="40" name="TextBox 6">
            <a:extLst>
              <a:ext uri="{FF2B5EF4-FFF2-40B4-BE49-F238E27FC236}">
                <a16:creationId xmlns:a16="http://schemas.microsoft.com/office/drawing/2014/main" id="{C3FD4C65-FB4C-B242-8431-BD51B4F46F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5770" y="2007828"/>
            <a:ext cx="3645964" cy="1326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Lay strong foundations with progress that helps future sub teams scale the application 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zh-CN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TextBox 6">
            <a:extLst>
              <a:ext uri="{FF2B5EF4-FFF2-40B4-BE49-F238E27FC236}">
                <a16:creationId xmlns:a16="http://schemas.microsoft.com/office/drawing/2014/main" id="{F001C9B7-0F0C-EF40-8A29-6EC450EBC0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817" y="3850052"/>
            <a:ext cx="3735656" cy="1231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Ensure that the application is scalable beyond OMSA and benefits all undergraduate/graduate courses at GT and beyond</a:t>
            </a:r>
          </a:p>
        </p:txBody>
      </p:sp>
      <p:sp>
        <p:nvSpPr>
          <p:cNvPr id="26" name="文本框 40">
            <a:extLst>
              <a:ext uri="{FF2B5EF4-FFF2-40B4-BE49-F238E27FC236}">
                <a16:creationId xmlns:a16="http://schemas.microsoft.com/office/drawing/2014/main" id="{A147A67F-4C8E-4E4B-A45B-8593CAC7CA13}"/>
              </a:ext>
            </a:extLst>
          </p:cNvPr>
          <p:cNvSpPr txBox="1"/>
          <p:nvPr/>
        </p:nvSpPr>
        <p:spPr>
          <a:xfrm>
            <a:off x="5088798" y="1327500"/>
            <a:ext cx="19272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FOUNDATION</a:t>
            </a:r>
          </a:p>
        </p:txBody>
      </p:sp>
      <p:sp>
        <p:nvSpPr>
          <p:cNvPr id="27" name="文本框 40">
            <a:extLst>
              <a:ext uri="{FF2B5EF4-FFF2-40B4-BE49-F238E27FC236}">
                <a16:creationId xmlns:a16="http://schemas.microsoft.com/office/drawing/2014/main" id="{A8700125-4A7E-9444-8B48-9460BBF56887}"/>
              </a:ext>
            </a:extLst>
          </p:cNvPr>
          <p:cNvSpPr txBox="1"/>
          <p:nvPr/>
        </p:nvSpPr>
        <p:spPr>
          <a:xfrm>
            <a:off x="3395159" y="3382908"/>
            <a:ext cx="9605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SCALE</a:t>
            </a:r>
          </a:p>
        </p:txBody>
      </p:sp>
      <p:sp>
        <p:nvSpPr>
          <p:cNvPr id="28" name="文本框 40">
            <a:extLst>
              <a:ext uri="{FF2B5EF4-FFF2-40B4-BE49-F238E27FC236}">
                <a16:creationId xmlns:a16="http://schemas.microsoft.com/office/drawing/2014/main" id="{8124512E-B753-3249-96A7-7E1277D75E91}"/>
              </a:ext>
            </a:extLst>
          </p:cNvPr>
          <p:cNvSpPr txBox="1"/>
          <p:nvPr/>
        </p:nvSpPr>
        <p:spPr>
          <a:xfrm>
            <a:off x="7560801" y="3407717"/>
            <a:ext cx="11779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IMPACT</a:t>
            </a:r>
          </a:p>
        </p:txBody>
      </p:sp>
      <p:sp>
        <p:nvSpPr>
          <p:cNvPr id="30" name="Rectangle 9">
            <a:extLst>
              <a:ext uri="{FF2B5EF4-FFF2-40B4-BE49-F238E27FC236}">
                <a16:creationId xmlns:a16="http://schemas.microsoft.com/office/drawing/2014/main" id="{1D95A07E-F57C-7043-B67A-EDF4F862F41B}"/>
              </a:ext>
            </a:extLst>
          </p:cNvPr>
          <p:cNvSpPr txBox="1"/>
          <p:nvPr/>
        </p:nvSpPr>
        <p:spPr>
          <a:xfrm>
            <a:off x="3622013" y="4816229"/>
            <a:ext cx="5460339" cy="5520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l" defTabSz="1300480">
              <a:lnSpc>
                <a:spcPct val="150000"/>
              </a:lnSpc>
              <a:defRPr sz="2000" b="0"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endParaRPr sz="2667" dirty="0"/>
          </a:p>
        </p:txBody>
      </p:sp>
      <p:sp>
        <p:nvSpPr>
          <p:cNvPr id="31" name="TextBox 6">
            <a:extLst>
              <a:ext uri="{FF2B5EF4-FFF2-40B4-BE49-F238E27FC236}">
                <a16:creationId xmlns:a16="http://schemas.microsoft.com/office/drawing/2014/main" id="{BCDE112C-4642-5F4D-9129-E4BD5AFC2D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3735" y="3900160"/>
            <a:ext cx="3735656" cy="1508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Develop tools to help instructors understand students better through real-time reports which ultimately resulting in improving student academic performance </a:t>
            </a:r>
          </a:p>
        </p:txBody>
      </p:sp>
      <p:sp>
        <p:nvSpPr>
          <p:cNvPr id="33" name="Rectangle 15">
            <a:extLst>
              <a:ext uri="{FF2B5EF4-FFF2-40B4-BE49-F238E27FC236}">
                <a16:creationId xmlns:a16="http://schemas.microsoft.com/office/drawing/2014/main" id="{BF0C3496-1EBF-D040-85F5-51AB330FD80C}"/>
              </a:ext>
            </a:extLst>
          </p:cNvPr>
          <p:cNvSpPr txBox="1"/>
          <p:nvPr/>
        </p:nvSpPr>
        <p:spPr>
          <a:xfrm>
            <a:off x="5869617" y="2034763"/>
            <a:ext cx="413953" cy="6894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numCol="1" anchor="t">
            <a:noAutofit/>
          </a:bodyPr>
          <a:lstStyle>
            <a:lvl1pPr algn="l" defTabSz="914400">
              <a:defRPr sz="4500" b="0">
                <a:solidFill>
                  <a:srgbClr val="FFFFFF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r>
              <a:rPr sz="4667" b="1" dirty="0"/>
              <a:t>1</a:t>
            </a:r>
          </a:p>
        </p:txBody>
      </p:sp>
      <p:sp>
        <p:nvSpPr>
          <p:cNvPr id="34" name="Rectangle 15">
            <a:extLst>
              <a:ext uri="{FF2B5EF4-FFF2-40B4-BE49-F238E27FC236}">
                <a16:creationId xmlns:a16="http://schemas.microsoft.com/office/drawing/2014/main" id="{471C5C45-BC52-644B-B9BA-9D8D6782FF41}"/>
              </a:ext>
            </a:extLst>
          </p:cNvPr>
          <p:cNvSpPr txBox="1"/>
          <p:nvPr/>
        </p:nvSpPr>
        <p:spPr>
          <a:xfrm>
            <a:off x="5084566" y="3561916"/>
            <a:ext cx="413953" cy="6894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numCol="1" anchor="t">
            <a:noAutofit/>
          </a:bodyPr>
          <a:lstStyle>
            <a:lvl1pPr algn="l" defTabSz="914400">
              <a:defRPr sz="4500" b="0">
                <a:solidFill>
                  <a:srgbClr val="FFFFFF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r>
              <a:rPr lang="en-US" sz="4667" b="1" dirty="0"/>
              <a:t>2</a:t>
            </a:r>
            <a:endParaRPr sz="4667" b="1" dirty="0"/>
          </a:p>
        </p:txBody>
      </p:sp>
      <p:sp>
        <p:nvSpPr>
          <p:cNvPr id="35" name="Rectangle 15">
            <a:extLst>
              <a:ext uri="{FF2B5EF4-FFF2-40B4-BE49-F238E27FC236}">
                <a16:creationId xmlns:a16="http://schemas.microsoft.com/office/drawing/2014/main" id="{C9447CC8-D8B1-014C-A492-0EFA9DE905CC}"/>
              </a:ext>
            </a:extLst>
          </p:cNvPr>
          <p:cNvSpPr txBox="1"/>
          <p:nvPr/>
        </p:nvSpPr>
        <p:spPr>
          <a:xfrm>
            <a:off x="6631318" y="3539857"/>
            <a:ext cx="413953" cy="6894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numCol="1" anchor="t">
            <a:noAutofit/>
          </a:bodyPr>
          <a:lstStyle>
            <a:lvl1pPr algn="l" defTabSz="914400">
              <a:defRPr sz="4500" b="0">
                <a:solidFill>
                  <a:srgbClr val="FFFFFF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r>
              <a:rPr lang="en-US" sz="4667" b="1" dirty="0"/>
              <a:t>3</a:t>
            </a:r>
            <a:endParaRPr sz="4667" b="1" dirty="0"/>
          </a:p>
        </p:txBody>
      </p:sp>
      <p:sp>
        <p:nvSpPr>
          <p:cNvPr id="36" name="AutoShape 112">
            <a:extLst>
              <a:ext uri="{FF2B5EF4-FFF2-40B4-BE49-F238E27FC236}">
                <a16:creationId xmlns:a16="http://schemas.microsoft.com/office/drawing/2014/main" id="{F8861869-F261-354E-B847-932B3776FAE4}"/>
              </a:ext>
            </a:extLst>
          </p:cNvPr>
          <p:cNvSpPr>
            <a:spLocks/>
          </p:cNvSpPr>
          <p:nvPr/>
        </p:nvSpPr>
        <p:spPr bwMode="auto">
          <a:xfrm>
            <a:off x="5683178" y="3032408"/>
            <a:ext cx="683340" cy="680329"/>
          </a:xfrm>
          <a:custGeom>
            <a:avLst/>
            <a:gdLst>
              <a:gd name="T0" fmla="*/ 10510 w 21020"/>
              <a:gd name="T1" fmla="*/ 10800 h 21600"/>
              <a:gd name="T2" fmla="*/ 10510 w 21020"/>
              <a:gd name="T3" fmla="*/ 10800 h 21600"/>
              <a:gd name="T4" fmla="*/ 10510 w 21020"/>
              <a:gd name="T5" fmla="*/ 10800 h 21600"/>
              <a:gd name="T6" fmla="*/ 10510 w 2102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020" h="21600">
                <a:moveTo>
                  <a:pt x="18846" y="7946"/>
                </a:moveTo>
                <a:lnTo>
                  <a:pt x="17740" y="9091"/>
                </a:lnTo>
                <a:cubicBezTo>
                  <a:pt x="17740" y="8939"/>
                  <a:pt x="17758" y="8792"/>
                  <a:pt x="17744" y="8636"/>
                </a:cubicBezTo>
                <a:cubicBezTo>
                  <a:pt x="17629" y="7331"/>
                  <a:pt x="17036" y="6068"/>
                  <a:pt x="16074" y="5080"/>
                </a:cubicBezTo>
                <a:cubicBezTo>
                  <a:pt x="15004" y="3980"/>
                  <a:pt x="13585" y="3348"/>
                  <a:pt x="12180" y="3345"/>
                </a:cubicBezTo>
                <a:lnTo>
                  <a:pt x="13268" y="2218"/>
                </a:lnTo>
                <a:cubicBezTo>
                  <a:pt x="13812" y="1659"/>
                  <a:pt x="14572" y="1350"/>
                  <a:pt x="15403" y="1350"/>
                </a:cubicBezTo>
                <a:cubicBezTo>
                  <a:pt x="16460" y="1350"/>
                  <a:pt x="17546" y="1840"/>
                  <a:pt x="18381" y="2696"/>
                </a:cubicBezTo>
                <a:cubicBezTo>
                  <a:pt x="19165" y="3500"/>
                  <a:pt x="19631" y="4499"/>
                  <a:pt x="19698" y="5510"/>
                </a:cubicBezTo>
                <a:cubicBezTo>
                  <a:pt x="19760" y="6453"/>
                  <a:pt x="19457" y="7317"/>
                  <a:pt x="18846" y="7946"/>
                </a:cubicBezTo>
                <a:moveTo>
                  <a:pt x="5828" y="19329"/>
                </a:moveTo>
                <a:cubicBezTo>
                  <a:pt x="5813" y="18424"/>
                  <a:pt x="5454" y="17481"/>
                  <a:pt x="4730" y="16739"/>
                </a:cubicBezTo>
                <a:cubicBezTo>
                  <a:pt x="4046" y="16034"/>
                  <a:pt x="3150" y="15628"/>
                  <a:pt x="2257" y="15592"/>
                </a:cubicBezTo>
                <a:lnTo>
                  <a:pt x="2911" y="13157"/>
                </a:lnTo>
                <a:cubicBezTo>
                  <a:pt x="2959" y="12995"/>
                  <a:pt x="3052" y="12835"/>
                  <a:pt x="3168" y="12695"/>
                </a:cubicBezTo>
                <a:cubicBezTo>
                  <a:pt x="4485" y="11726"/>
                  <a:pt x="6512" y="12012"/>
                  <a:pt x="7920" y="13460"/>
                </a:cubicBezTo>
                <a:cubicBezTo>
                  <a:pt x="9409" y="14990"/>
                  <a:pt x="9639" y="17230"/>
                  <a:pt x="8492" y="18568"/>
                </a:cubicBezTo>
                <a:cubicBezTo>
                  <a:pt x="8416" y="18609"/>
                  <a:pt x="8339" y="18648"/>
                  <a:pt x="8256" y="18675"/>
                </a:cubicBezTo>
                <a:cubicBezTo>
                  <a:pt x="8256" y="18675"/>
                  <a:pt x="5828" y="19329"/>
                  <a:pt x="5828" y="19329"/>
                </a:cubicBezTo>
                <a:close/>
                <a:moveTo>
                  <a:pt x="2737" y="20164"/>
                </a:moveTo>
                <a:cubicBezTo>
                  <a:pt x="2665" y="20181"/>
                  <a:pt x="2443" y="20239"/>
                  <a:pt x="2291" y="20249"/>
                </a:cubicBezTo>
                <a:cubicBezTo>
                  <a:pt x="1751" y="20244"/>
                  <a:pt x="1313" y="19792"/>
                  <a:pt x="1313" y="19237"/>
                </a:cubicBezTo>
                <a:cubicBezTo>
                  <a:pt x="1321" y="19124"/>
                  <a:pt x="1365" y="18929"/>
                  <a:pt x="1380" y="18857"/>
                </a:cubicBezTo>
                <a:lnTo>
                  <a:pt x="2071" y="16283"/>
                </a:lnTo>
                <a:cubicBezTo>
                  <a:pt x="2822" y="16261"/>
                  <a:pt x="3630" y="16562"/>
                  <a:pt x="4265" y="17215"/>
                </a:cubicBezTo>
                <a:cubicBezTo>
                  <a:pt x="4911" y="17878"/>
                  <a:pt x="5214" y="18725"/>
                  <a:pt x="5181" y="19504"/>
                </a:cubicBezTo>
                <a:cubicBezTo>
                  <a:pt x="5181" y="19504"/>
                  <a:pt x="2737" y="20164"/>
                  <a:pt x="2737" y="20164"/>
                </a:cubicBezTo>
                <a:close/>
                <a:moveTo>
                  <a:pt x="6888" y="11179"/>
                </a:moveTo>
                <a:cubicBezTo>
                  <a:pt x="6280" y="10927"/>
                  <a:pt x="5642" y="10783"/>
                  <a:pt x="5004" y="10774"/>
                </a:cubicBezTo>
                <a:lnTo>
                  <a:pt x="10063" y="5536"/>
                </a:lnTo>
                <a:cubicBezTo>
                  <a:pt x="10838" y="4759"/>
                  <a:pt x="11966" y="4536"/>
                  <a:pt x="13077" y="4819"/>
                </a:cubicBezTo>
                <a:cubicBezTo>
                  <a:pt x="13077" y="4819"/>
                  <a:pt x="6888" y="11179"/>
                  <a:pt x="6888" y="11179"/>
                </a:cubicBezTo>
                <a:close/>
                <a:moveTo>
                  <a:pt x="9717" y="13672"/>
                </a:moveTo>
                <a:cubicBezTo>
                  <a:pt x="9473" y="13258"/>
                  <a:pt x="9194" y="12859"/>
                  <a:pt x="8848" y="12505"/>
                </a:cubicBezTo>
                <a:cubicBezTo>
                  <a:pt x="8447" y="12093"/>
                  <a:pt x="7986" y="11770"/>
                  <a:pt x="7507" y="11498"/>
                </a:cubicBezTo>
                <a:lnTo>
                  <a:pt x="13767" y="5064"/>
                </a:lnTo>
                <a:cubicBezTo>
                  <a:pt x="14259" y="5288"/>
                  <a:pt x="14729" y="5607"/>
                  <a:pt x="15145" y="6035"/>
                </a:cubicBezTo>
                <a:cubicBezTo>
                  <a:pt x="15500" y="6398"/>
                  <a:pt x="15775" y="6806"/>
                  <a:pt x="15987" y="7229"/>
                </a:cubicBezTo>
                <a:cubicBezTo>
                  <a:pt x="15987" y="7229"/>
                  <a:pt x="9717" y="13672"/>
                  <a:pt x="9717" y="13672"/>
                </a:cubicBezTo>
                <a:close/>
                <a:moveTo>
                  <a:pt x="10519" y="16061"/>
                </a:moveTo>
                <a:cubicBezTo>
                  <a:pt x="10465" y="15452"/>
                  <a:pt x="10298" y="14854"/>
                  <a:pt x="10047" y="14288"/>
                </a:cubicBezTo>
                <a:lnTo>
                  <a:pt x="16257" y="7906"/>
                </a:lnTo>
                <a:cubicBezTo>
                  <a:pt x="16637" y="9140"/>
                  <a:pt x="16442" y="10429"/>
                  <a:pt x="15610" y="11284"/>
                </a:cubicBezTo>
                <a:cubicBezTo>
                  <a:pt x="15604" y="11290"/>
                  <a:pt x="15598" y="11293"/>
                  <a:pt x="15593" y="11298"/>
                </a:cubicBezTo>
                <a:lnTo>
                  <a:pt x="15602" y="11306"/>
                </a:lnTo>
                <a:lnTo>
                  <a:pt x="10525" y="16565"/>
                </a:lnTo>
                <a:cubicBezTo>
                  <a:pt x="10527" y="16397"/>
                  <a:pt x="10534" y="16232"/>
                  <a:pt x="10519" y="16061"/>
                </a:cubicBezTo>
                <a:moveTo>
                  <a:pt x="19308" y="1741"/>
                </a:moveTo>
                <a:cubicBezTo>
                  <a:pt x="18228" y="632"/>
                  <a:pt x="16805" y="0"/>
                  <a:pt x="15403" y="0"/>
                </a:cubicBezTo>
                <a:cubicBezTo>
                  <a:pt x="14220" y="0"/>
                  <a:pt x="13131" y="450"/>
                  <a:pt x="12335" y="1266"/>
                </a:cubicBezTo>
                <a:lnTo>
                  <a:pt x="9138" y="4577"/>
                </a:lnTo>
                <a:cubicBezTo>
                  <a:pt x="9129" y="4585"/>
                  <a:pt x="9118" y="4592"/>
                  <a:pt x="9108" y="4602"/>
                </a:cubicBezTo>
                <a:cubicBezTo>
                  <a:pt x="9103" y="4608"/>
                  <a:pt x="9100" y="4614"/>
                  <a:pt x="9095" y="4620"/>
                </a:cubicBezTo>
                <a:lnTo>
                  <a:pt x="9096" y="4621"/>
                </a:lnTo>
                <a:lnTo>
                  <a:pt x="2310" y="11647"/>
                </a:lnTo>
                <a:cubicBezTo>
                  <a:pt x="1998" y="11966"/>
                  <a:pt x="1771" y="12364"/>
                  <a:pt x="1645" y="12797"/>
                </a:cubicBezTo>
                <a:lnTo>
                  <a:pt x="102" y="18541"/>
                </a:lnTo>
                <a:cubicBezTo>
                  <a:pt x="100" y="18557"/>
                  <a:pt x="0" y="19008"/>
                  <a:pt x="0" y="19237"/>
                </a:cubicBezTo>
                <a:cubicBezTo>
                  <a:pt x="0" y="20541"/>
                  <a:pt x="1030" y="21599"/>
                  <a:pt x="2302" y="21599"/>
                </a:cubicBezTo>
                <a:cubicBezTo>
                  <a:pt x="2554" y="21599"/>
                  <a:pt x="3044" y="21475"/>
                  <a:pt x="3062" y="21473"/>
                </a:cubicBezTo>
                <a:lnTo>
                  <a:pt x="8630" y="19969"/>
                </a:lnTo>
                <a:cubicBezTo>
                  <a:pt x="9054" y="19839"/>
                  <a:pt x="9439" y="19604"/>
                  <a:pt x="9750" y="19283"/>
                </a:cubicBezTo>
                <a:lnTo>
                  <a:pt x="19776" y="8899"/>
                </a:lnTo>
                <a:cubicBezTo>
                  <a:pt x="21600" y="7023"/>
                  <a:pt x="21394" y="3881"/>
                  <a:pt x="19308" y="1741"/>
                </a:cubicBezTo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txBody>
          <a:bodyPr lIns="25400" tIns="25400" rIns="25400" bIns="25400" anchor="ctr"/>
          <a:lstStyle/>
          <a:p>
            <a:pPr algn="ctr" defTabSz="304792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000" kern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" charset="0"/>
              <a:sym typeface="Gill Sans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97DFA0D-A6CA-BF44-8862-D1089D25F23C}"/>
              </a:ext>
            </a:extLst>
          </p:cNvPr>
          <p:cNvGrpSpPr/>
          <p:nvPr/>
        </p:nvGrpSpPr>
        <p:grpSpPr>
          <a:xfrm>
            <a:off x="634317" y="349805"/>
            <a:ext cx="1293176" cy="1101623"/>
            <a:chOff x="821781" y="303754"/>
            <a:chExt cx="1496395" cy="1299101"/>
          </a:xfrm>
        </p:grpSpPr>
        <p:sp>
          <p:nvSpPr>
            <p:cNvPr id="21" name="椭圆 51">
              <a:extLst>
                <a:ext uri="{FF2B5EF4-FFF2-40B4-BE49-F238E27FC236}">
                  <a16:creationId xmlns:a16="http://schemas.microsoft.com/office/drawing/2014/main" id="{CCEF0447-6804-A946-B476-3C973796780B}"/>
                </a:ext>
              </a:extLst>
            </p:cNvPr>
            <p:cNvSpPr/>
            <p:nvPr/>
          </p:nvSpPr>
          <p:spPr>
            <a:xfrm>
              <a:off x="1019075" y="303754"/>
              <a:ext cx="1299101" cy="1299101"/>
            </a:xfrm>
            <a:prstGeom prst="ellipse">
              <a:avLst/>
            </a:prstGeom>
            <a:solidFill>
              <a:srgbClr val="D4E6F1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rgbClr val="523A2C"/>
                </a:solidFill>
              </a:endParaRPr>
            </a:p>
          </p:txBody>
        </p:sp>
        <p:sp>
          <p:nvSpPr>
            <p:cNvPr id="22" name="椭圆 52">
              <a:extLst>
                <a:ext uri="{FF2B5EF4-FFF2-40B4-BE49-F238E27FC236}">
                  <a16:creationId xmlns:a16="http://schemas.microsoft.com/office/drawing/2014/main" id="{D15B1765-5FD5-EF49-870B-B8690F308976}"/>
                </a:ext>
              </a:extLst>
            </p:cNvPr>
            <p:cNvSpPr/>
            <p:nvPr/>
          </p:nvSpPr>
          <p:spPr>
            <a:xfrm>
              <a:off x="821781" y="1040074"/>
              <a:ext cx="524547" cy="524547"/>
            </a:xfrm>
            <a:prstGeom prst="ellipse">
              <a:avLst/>
            </a:prstGeom>
            <a:solidFill>
              <a:srgbClr val="8FA4B7"/>
            </a:solidFill>
            <a:ln>
              <a:noFill/>
            </a:ln>
            <a:effectLst>
              <a:reflection stA="40000" endPos="30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rgbClr val="523A2C"/>
                </a:solidFill>
              </a:endParaRPr>
            </a:p>
          </p:txBody>
        </p:sp>
      </p:grpSp>
      <p:sp>
        <p:nvSpPr>
          <p:cNvPr id="23" name="TextBox 6">
            <a:extLst>
              <a:ext uri="{FF2B5EF4-FFF2-40B4-BE49-F238E27FC236}">
                <a16:creationId xmlns:a16="http://schemas.microsoft.com/office/drawing/2014/main" id="{C576676D-504B-0F44-A5C5-A7075543C9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754988" y="610999"/>
            <a:ext cx="6189504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  <a:sp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70302020209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Recap: Goals</a:t>
            </a:r>
            <a:endParaRPr lang="zh-CN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70302020209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33C94F-D390-5A48-AFAC-4732A1C9B43D}"/>
              </a:ext>
            </a:extLst>
          </p:cNvPr>
          <p:cNvSpPr txBox="1"/>
          <p:nvPr/>
        </p:nvSpPr>
        <p:spPr>
          <a:xfrm>
            <a:off x="10916356" y="6434667"/>
            <a:ext cx="722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37857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727A52D1-C32B-214A-82F8-E6F37B80839F}"/>
              </a:ext>
            </a:extLst>
          </p:cNvPr>
          <p:cNvGrpSpPr/>
          <p:nvPr/>
        </p:nvGrpSpPr>
        <p:grpSpPr>
          <a:xfrm>
            <a:off x="634317" y="349805"/>
            <a:ext cx="1293176" cy="1101623"/>
            <a:chOff x="821781" y="303754"/>
            <a:chExt cx="1496395" cy="1299101"/>
          </a:xfrm>
        </p:grpSpPr>
        <p:sp>
          <p:nvSpPr>
            <p:cNvPr id="22" name="椭圆 51">
              <a:extLst>
                <a:ext uri="{FF2B5EF4-FFF2-40B4-BE49-F238E27FC236}">
                  <a16:creationId xmlns:a16="http://schemas.microsoft.com/office/drawing/2014/main" id="{B1A093A8-ECCF-E342-A0D2-03CE1E8CC545}"/>
                </a:ext>
              </a:extLst>
            </p:cNvPr>
            <p:cNvSpPr/>
            <p:nvPr/>
          </p:nvSpPr>
          <p:spPr>
            <a:xfrm>
              <a:off x="1019075" y="303754"/>
              <a:ext cx="1299101" cy="1299101"/>
            </a:xfrm>
            <a:prstGeom prst="ellipse">
              <a:avLst/>
            </a:prstGeom>
            <a:solidFill>
              <a:srgbClr val="D4E6F1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rgbClr val="523A2C"/>
                </a:solidFill>
              </a:endParaRPr>
            </a:p>
          </p:txBody>
        </p:sp>
        <p:sp>
          <p:nvSpPr>
            <p:cNvPr id="23" name="椭圆 52">
              <a:extLst>
                <a:ext uri="{FF2B5EF4-FFF2-40B4-BE49-F238E27FC236}">
                  <a16:creationId xmlns:a16="http://schemas.microsoft.com/office/drawing/2014/main" id="{E12B1266-099E-8249-8D35-E283B92D848B}"/>
                </a:ext>
              </a:extLst>
            </p:cNvPr>
            <p:cNvSpPr/>
            <p:nvPr/>
          </p:nvSpPr>
          <p:spPr>
            <a:xfrm>
              <a:off x="821781" y="1040074"/>
              <a:ext cx="524547" cy="524547"/>
            </a:xfrm>
            <a:prstGeom prst="ellipse">
              <a:avLst/>
            </a:prstGeom>
            <a:solidFill>
              <a:srgbClr val="8FA4B7"/>
            </a:solidFill>
            <a:ln>
              <a:noFill/>
            </a:ln>
            <a:effectLst>
              <a:reflection stA="40000" endPos="30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rgbClr val="523A2C"/>
                </a:solidFill>
              </a:endParaRPr>
            </a:p>
          </p:txBody>
        </p:sp>
      </p:grpSp>
      <p:sp>
        <p:nvSpPr>
          <p:cNvPr id="24" name="TextBox 6">
            <a:extLst>
              <a:ext uri="{FF2B5EF4-FFF2-40B4-BE49-F238E27FC236}">
                <a16:creationId xmlns:a16="http://schemas.microsoft.com/office/drawing/2014/main" id="{E8850623-02C0-4147-B266-1F9AC0FAF5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4408" y="623059"/>
            <a:ext cx="6506392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  <a:sp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70302020209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Phase 1: Data Collection (Completed)</a:t>
            </a:r>
            <a:endParaRPr lang="zh-CN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70302020209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B41E5D-6284-4944-8210-9CD97CBF0825}"/>
              </a:ext>
            </a:extLst>
          </p:cNvPr>
          <p:cNvSpPr txBox="1"/>
          <p:nvPr/>
        </p:nvSpPr>
        <p:spPr>
          <a:xfrm>
            <a:off x="7241511" y="2658446"/>
            <a:ext cx="3415115" cy="400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Montserrat" charset="0"/>
                <a:cs typeface="Calibri" panose="020F0502020204030204" pitchFamily="34" charset="0"/>
              </a:rPr>
              <a:t>Fall 2018  and Spring 2019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68729E2-8D94-3946-8D4B-44E10A32812B}"/>
              </a:ext>
            </a:extLst>
          </p:cNvPr>
          <p:cNvGrpSpPr/>
          <p:nvPr/>
        </p:nvGrpSpPr>
        <p:grpSpPr>
          <a:xfrm>
            <a:off x="634318" y="2014467"/>
            <a:ext cx="5432335" cy="3312223"/>
            <a:chOff x="5898415" y="1976415"/>
            <a:chExt cx="5654530" cy="3255020"/>
          </a:xfrm>
        </p:grpSpPr>
        <p:sp>
          <p:nvSpPr>
            <p:cNvPr id="15" name="Freeform 45">
              <a:extLst>
                <a:ext uri="{FF2B5EF4-FFF2-40B4-BE49-F238E27FC236}">
                  <a16:creationId xmlns:a16="http://schemas.microsoft.com/office/drawing/2014/main" id="{368D845C-424D-5048-98E2-BAB1B8B7F4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8415" y="5105745"/>
              <a:ext cx="2848207" cy="125690"/>
            </a:xfrm>
            <a:custGeom>
              <a:avLst/>
              <a:gdLst>
                <a:gd name="T0" fmla="*/ 0 w 885"/>
                <a:gd name="T1" fmla="*/ 16 h 39"/>
                <a:gd name="T2" fmla="*/ 78 w 885"/>
                <a:gd name="T3" fmla="*/ 39 h 39"/>
                <a:gd name="T4" fmla="*/ 885 w 885"/>
                <a:gd name="T5" fmla="*/ 39 h 39"/>
                <a:gd name="T6" fmla="*/ 885 w 885"/>
                <a:gd name="T7" fmla="*/ 0 h 39"/>
                <a:gd name="T8" fmla="*/ 0 w 885"/>
                <a:gd name="T9" fmla="*/ 0 h 39"/>
                <a:gd name="T10" fmla="*/ 0 w 885"/>
                <a:gd name="T11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85" h="39">
                  <a:moveTo>
                    <a:pt x="0" y="16"/>
                  </a:moveTo>
                  <a:cubicBezTo>
                    <a:pt x="0" y="23"/>
                    <a:pt x="30" y="39"/>
                    <a:pt x="78" y="39"/>
                  </a:cubicBezTo>
                  <a:cubicBezTo>
                    <a:pt x="126" y="39"/>
                    <a:pt x="885" y="39"/>
                    <a:pt x="885" y="39"/>
                  </a:cubicBezTo>
                  <a:cubicBezTo>
                    <a:pt x="885" y="0"/>
                    <a:pt x="885" y="0"/>
                    <a:pt x="885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6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id-ID" sz="1200">
                <a:latin typeface="Roboto Light"/>
              </a:endParaRPr>
            </a:p>
          </p:txBody>
        </p:sp>
        <p:sp>
          <p:nvSpPr>
            <p:cNvPr id="16" name="Freeform 46">
              <a:extLst>
                <a:ext uri="{FF2B5EF4-FFF2-40B4-BE49-F238E27FC236}">
                  <a16:creationId xmlns:a16="http://schemas.microsoft.com/office/drawing/2014/main" id="{4B55AD35-C7B1-0C40-97C2-4793EC56EFB8}"/>
                </a:ext>
              </a:extLst>
            </p:cNvPr>
            <p:cNvSpPr>
              <a:spLocks/>
            </p:cNvSpPr>
            <p:nvPr/>
          </p:nvSpPr>
          <p:spPr bwMode="auto">
            <a:xfrm>
              <a:off x="8704736" y="5105745"/>
              <a:ext cx="2848207" cy="125690"/>
            </a:xfrm>
            <a:custGeom>
              <a:avLst/>
              <a:gdLst>
                <a:gd name="T0" fmla="*/ 884 w 884"/>
                <a:gd name="T1" fmla="*/ 16 h 39"/>
                <a:gd name="T2" fmla="*/ 806 w 884"/>
                <a:gd name="T3" fmla="*/ 39 h 39"/>
                <a:gd name="T4" fmla="*/ 0 w 884"/>
                <a:gd name="T5" fmla="*/ 39 h 39"/>
                <a:gd name="T6" fmla="*/ 0 w 884"/>
                <a:gd name="T7" fmla="*/ 0 h 39"/>
                <a:gd name="T8" fmla="*/ 884 w 884"/>
                <a:gd name="T9" fmla="*/ 0 h 39"/>
                <a:gd name="T10" fmla="*/ 884 w 884"/>
                <a:gd name="T11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84" h="39">
                  <a:moveTo>
                    <a:pt x="884" y="16"/>
                  </a:moveTo>
                  <a:cubicBezTo>
                    <a:pt x="884" y="23"/>
                    <a:pt x="854" y="39"/>
                    <a:pt x="806" y="39"/>
                  </a:cubicBezTo>
                  <a:cubicBezTo>
                    <a:pt x="758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84" y="0"/>
                    <a:pt x="884" y="0"/>
                    <a:pt x="884" y="0"/>
                  </a:cubicBezTo>
                  <a:lnTo>
                    <a:pt x="884" y="16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id-ID" sz="1200">
                <a:latin typeface="Roboto Light"/>
              </a:endParaRPr>
            </a:p>
          </p:txBody>
        </p:sp>
        <p:sp>
          <p:nvSpPr>
            <p:cNvPr id="17" name="Freeform 47">
              <a:extLst>
                <a:ext uri="{FF2B5EF4-FFF2-40B4-BE49-F238E27FC236}">
                  <a16:creationId xmlns:a16="http://schemas.microsoft.com/office/drawing/2014/main" id="{FBCF5D51-C39E-D440-ACA2-893578CE134F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5812" y="1976415"/>
              <a:ext cx="4581618" cy="3138999"/>
            </a:xfrm>
            <a:custGeom>
              <a:avLst/>
              <a:gdLst>
                <a:gd name="T0" fmla="*/ 1378 w 1423"/>
                <a:gd name="T1" fmla="*/ 0 h 974"/>
                <a:gd name="T2" fmla="*/ 45 w 1423"/>
                <a:gd name="T3" fmla="*/ 0 h 974"/>
                <a:gd name="T4" fmla="*/ 0 w 1423"/>
                <a:gd name="T5" fmla="*/ 45 h 974"/>
                <a:gd name="T6" fmla="*/ 0 w 1423"/>
                <a:gd name="T7" fmla="*/ 218 h 974"/>
                <a:gd name="T8" fmla="*/ 0 w 1423"/>
                <a:gd name="T9" fmla="*/ 929 h 974"/>
                <a:gd name="T10" fmla="*/ 45 w 1423"/>
                <a:gd name="T11" fmla="*/ 974 h 974"/>
                <a:gd name="T12" fmla="*/ 1378 w 1423"/>
                <a:gd name="T13" fmla="*/ 974 h 974"/>
                <a:gd name="T14" fmla="*/ 1423 w 1423"/>
                <a:gd name="T15" fmla="*/ 929 h 974"/>
                <a:gd name="T16" fmla="*/ 1423 w 1423"/>
                <a:gd name="T17" fmla="*/ 45 h 974"/>
                <a:gd name="T18" fmla="*/ 1378 w 1423"/>
                <a:gd name="T19" fmla="*/ 0 h 9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23" h="974">
                  <a:moveTo>
                    <a:pt x="1378" y="0"/>
                  </a:moveTo>
                  <a:cubicBezTo>
                    <a:pt x="45" y="0"/>
                    <a:pt x="45" y="0"/>
                    <a:pt x="45" y="0"/>
                  </a:cubicBezTo>
                  <a:cubicBezTo>
                    <a:pt x="20" y="0"/>
                    <a:pt x="0" y="20"/>
                    <a:pt x="0" y="45"/>
                  </a:cubicBezTo>
                  <a:cubicBezTo>
                    <a:pt x="0" y="218"/>
                    <a:pt x="0" y="218"/>
                    <a:pt x="0" y="218"/>
                  </a:cubicBezTo>
                  <a:cubicBezTo>
                    <a:pt x="0" y="929"/>
                    <a:pt x="0" y="929"/>
                    <a:pt x="0" y="929"/>
                  </a:cubicBezTo>
                  <a:cubicBezTo>
                    <a:pt x="0" y="954"/>
                    <a:pt x="20" y="974"/>
                    <a:pt x="45" y="974"/>
                  </a:cubicBezTo>
                  <a:cubicBezTo>
                    <a:pt x="1378" y="974"/>
                    <a:pt x="1378" y="974"/>
                    <a:pt x="1378" y="974"/>
                  </a:cubicBezTo>
                  <a:cubicBezTo>
                    <a:pt x="1403" y="974"/>
                    <a:pt x="1423" y="954"/>
                    <a:pt x="1423" y="929"/>
                  </a:cubicBezTo>
                  <a:cubicBezTo>
                    <a:pt x="1423" y="45"/>
                    <a:pt x="1423" y="45"/>
                    <a:pt x="1423" y="45"/>
                  </a:cubicBezTo>
                  <a:cubicBezTo>
                    <a:pt x="1423" y="20"/>
                    <a:pt x="1403" y="0"/>
                    <a:pt x="1378" y="0"/>
                  </a:cubicBezTo>
                  <a:close/>
                </a:path>
              </a:pathLst>
            </a:custGeom>
            <a:solidFill>
              <a:srgbClr val="D2D3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id-ID" sz="1200">
                <a:latin typeface="Roboto Light"/>
              </a:endParaRPr>
            </a:p>
          </p:txBody>
        </p:sp>
        <p:sp>
          <p:nvSpPr>
            <p:cNvPr id="18" name="Rectangle 50">
              <a:extLst>
                <a:ext uri="{FF2B5EF4-FFF2-40B4-BE49-F238E27FC236}">
                  <a16:creationId xmlns:a16="http://schemas.microsoft.com/office/drawing/2014/main" id="{76D5B68F-B228-C34A-9F16-47123823B2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8415" y="5054180"/>
              <a:ext cx="5654530" cy="10312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id-ID" sz="1200">
                <a:latin typeface="Roboto Light"/>
              </a:endParaRPr>
            </a:p>
          </p:txBody>
        </p:sp>
        <p:sp>
          <p:nvSpPr>
            <p:cNvPr id="19" name="Freeform 51">
              <a:extLst>
                <a:ext uri="{FF2B5EF4-FFF2-40B4-BE49-F238E27FC236}">
                  <a16:creationId xmlns:a16="http://schemas.microsoft.com/office/drawing/2014/main" id="{2C7C0452-24A8-A54B-9F77-E89A30BE3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8318101" y="5054180"/>
              <a:ext cx="811932" cy="58010"/>
            </a:xfrm>
            <a:custGeom>
              <a:avLst/>
              <a:gdLst>
                <a:gd name="T0" fmla="*/ 0 w 252"/>
                <a:gd name="T1" fmla="*/ 0 h 18"/>
                <a:gd name="T2" fmla="*/ 22 w 252"/>
                <a:gd name="T3" fmla="*/ 18 h 18"/>
                <a:gd name="T4" fmla="*/ 230 w 252"/>
                <a:gd name="T5" fmla="*/ 18 h 18"/>
                <a:gd name="T6" fmla="*/ 252 w 252"/>
                <a:gd name="T7" fmla="*/ 0 h 18"/>
                <a:gd name="T8" fmla="*/ 0 w 252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2" h="18">
                  <a:moveTo>
                    <a:pt x="0" y="0"/>
                  </a:moveTo>
                  <a:cubicBezTo>
                    <a:pt x="2" y="10"/>
                    <a:pt x="11" y="18"/>
                    <a:pt x="22" y="18"/>
                  </a:cubicBezTo>
                  <a:cubicBezTo>
                    <a:pt x="230" y="18"/>
                    <a:pt x="230" y="18"/>
                    <a:pt x="230" y="18"/>
                  </a:cubicBezTo>
                  <a:cubicBezTo>
                    <a:pt x="241" y="18"/>
                    <a:pt x="250" y="10"/>
                    <a:pt x="25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B3B4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id-ID" sz="1200">
                <a:latin typeface="Roboto Light"/>
              </a:endParaRPr>
            </a:p>
          </p:txBody>
        </p:sp>
        <p:sp>
          <p:nvSpPr>
            <p:cNvPr id="20" name="Rectangle 52">
              <a:extLst>
                <a:ext uri="{FF2B5EF4-FFF2-40B4-BE49-F238E27FC236}">
                  <a16:creationId xmlns:a16="http://schemas.microsoft.com/office/drawing/2014/main" id="{572F2B98-82D8-284F-B1F9-D4DCAB70B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23354" y="2189119"/>
              <a:ext cx="4249758" cy="268458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id-ID" sz="1200">
                <a:latin typeface="Roboto Light"/>
              </a:endParaRPr>
            </a:p>
          </p:txBody>
        </p:sp>
        <p:sp>
          <p:nvSpPr>
            <p:cNvPr id="25" name="Oval 54">
              <a:extLst>
                <a:ext uri="{FF2B5EF4-FFF2-40B4-BE49-F238E27FC236}">
                  <a16:creationId xmlns:a16="http://schemas.microsoft.com/office/drawing/2014/main" id="{253CCB54-4252-0049-AA70-10DC0549AE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0847" y="2076321"/>
              <a:ext cx="48330" cy="48343"/>
            </a:xfrm>
            <a:prstGeom prst="ellipse">
              <a:avLst/>
            </a:prstGeom>
            <a:solidFill>
              <a:srgbClr val="2C2C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id-ID" sz="1200">
                <a:latin typeface="Roboto Light"/>
              </a:endParaRPr>
            </a:p>
          </p:txBody>
        </p:sp>
        <p:sp>
          <p:nvSpPr>
            <p:cNvPr id="27" name="Oval 56">
              <a:extLst>
                <a:ext uri="{FF2B5EF4-FFF2-40B4-BE49-F238E27FC236}">
                  <a16:creationId xmlns:a16="http://schemas.microsoft.com/office/drawing/2014/main" id="{6D496EAA-0122-824E-8AE2-13C94E14C6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30511" y="2079544"/>
              <a:ext cx="28999" cy="3222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id-ID" sz="1200">
                <a:latin typeface="Roboto Light"/>
              </a:endParaRPr>
            </a:p>
          </p:txBody>
        </p:sp>
        <p:sp>
          <p:nvSpPr>
            <p:cNvPr id="28" name="Oval 57">
              <a:extLst>
                <a:ext uri="{FF2B5EF4-FFF2-40B4-BE49-F238E27FC236}">
                  <a16:creationId xmlns:a16="http://schemas.microsoft.com/office/drawing/2014/main" id="{8C65A363-39D7-1E4B-BA57-8E3231132A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36955" y="2089212"/>
              <a:ext cx="16111" cy="16115"/>
            </a:xfrm>
            <a:prstGeom prst="ellipse">
              <a:avLst/>
            </a:prstGeom>
            <a:solidFill>
              <a:srgbClr val="2C99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id-ID" sz="1200">
                <a:latin typeface="Roboto Light"/>
              </a:endParaRPr>
            </a:p>
          </p:txBody>
        </p:sp>
        <p:sp>
          <p:nvSpPr>
            <p:cNvPr id="29" name="Freeform 58">
              <a:extLst>
                <a:ext uri="{FF2B5EF4-FFF2-40B4-BE49-F238E27FC236}">
                  <a16:creationId xmlns:a16="http://schemas.microsoft.com/office/drawing/2014/main" id="{898C7F61-2B5E-B441-893D-EE9AE8F8B08F}"/>
                </a:ext>
              </a:extLst>
            </p:cNvPr>
            <p:cNvSpPr>
              <a:spLocks/>
            </p:cNvSpPr>
            <p:nvPr/>
          </p:nvSpPr>
          <p:spPr bwMode="auto">
            <a:xfrm>
              <a:off x="8743399" y="2092436"/>
              <a:ext cx="3223" cy="6446"/>
            </a:xfrm>
            <a:custGeom>
              <a:avLst/>
              <a:gdLst>
                <a:gd name="T0" fmla="*/ 1 w 1"/>
                <a:gd name="T1" fmla="*/ 1 h 2"/>
                <a:gd name="T2" fmla="*/ 1 w 1"/>
                <a:gd name="T3" fmla="*/ 2 h 2"/>
                <a:gd name="T4" fmla="*/ 0 w 1"/>
                <a:gd name="T5" fmla="*/ 1 h 2"/>
                <a:gd name="T6" fmla="*/ 1 w 1"/>
                <a:gd name="T7" fmla="*/ 0 h 2"/>
                <a:gd name="T8" fmla="*/ 1 w 1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1"/>
                  </a:moveTo>
                  <a:lnTo>
                    <a:pt x="1" y="2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id-ID" sz="1200">
                <a:latin typeface="Roboto Light"/>
              </a:endParaRP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C605D8E0-C671-CA4B-8C15-17AD9E1F1C4E}"/>
              </a:ext>
            </a:extLst>
          </p:cNvPr>
          <p:cNvSpPr txBox="1"/>
          <p:nvPr/>
        </p:nvSpPr>
        <p:spPr>
          <a:xfrm>
            <a:off x="7276585" y="3301653"/>
            <a:ext cx="3415115" cy="400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Montserrat" charset="0"/>
                <a:cs typeface="Calibri" panose="020F0502020204030204" pitchFamily="34" charset="0"/>
              </a:rPr>
              <a:t>OMSA and Verified Learners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A8605EE-490E-8540-AFCB-8083CB03CC44}"/>
              </a:ext>
            </a:extLst>
          </p:cNvPr>
          <p:cNvSpPr txBox="1"/>
          <p:nvPr/>
        </p:nvSpPr>
        <p:spPr>
          <a:xfrm>
            <a:off x="7270519" y="3963769"/>
            <a:ext cx="3415115" cy="400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Montserrat" charset="0"/>
                <a:cs typeface="Calibri" panose="020F0502020204030204" pitchFamily="34" charset="0"/>
              </a:rPr>
              <a:t>Python Piazza API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749EB2-115F-AB4F-8C43-5DD9B3298AA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2751" y="2232322"/>
            <a:ext cx="4112236" cy="2684373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E0C07CB4-0DBF-5B43-812D-D2422178ED25}"/>
              </a:ext>
            </a:extLst>
          </p:cNvPr>
          <p:cNvSpPr txBox="1"/>
          <p:nvPr/>
        </p:nvSpPr>
        <p:spPr>
          <a:xfrm>
            <a:off x="7843561" y="1934489"/>
            <a:ext cx="3415115" cy="46166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Montserrat" charset="0"/>
                <a:cs typeface="Calibri" panose="020F0502020204030204" pitchFamily="34" charset="0"/>
              </a:rPr>
              <a:t>ISYE 6501 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0BDE88B-56BA-5B40-A5E7-1A060A4FE890}"/>
              </a:ext>
            </a:extLst>
          </p:cNvPr>
          <p:cNvGrpSpPr/>
          <p:nvPr/>
        </p:nvGrpSpPr>
        <p:grpSpPr>
          <a:xfrm>
            <a:off x="5000480" y="3471499"/>
            <a:ext cx="1127491" cy="2479184"/>
            <a:chOff x="11310673" y="5484775"/>
            <a:chExt cx="2665091" cy="5532635"/>
          </a:xfrm>
        </p:grpSpPr>
        <p:sp>
          <p:nvSpPr>
            <p:cNvPr id="34" name="Oval 61">
              <a:extLst>
                <a:ext uri="{FF2B5EF4-FFF2-40B4-BE49-F238E27FC236}">
                  <a16:creationId xmlns:a16="http://schemas.microsoft.com/office/drawing/2014/main" id="{BD60CBEB-52A1-9446-B046-5C94DAB545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07558" y="5750705"/>
              <a:ext cx="77812" cy="7783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id-ID" sz="1200">
                <a:latin typeface="Roboto Light"/>
              </a:endParaRPr>
            </a:p>
          </p:txBody>
        </p:sp>
        <p:sp>
          <p:nvSpPr>
            <p:cNvPr id="33" name="Freeform 59">
              <a:extLst>
                <a:ext uri="{FF2B5EF4-FFF2-40B4-BE49-F238E27FC236}">
                  <a16:creationId xmlns:a16="http://schemas.microsoft.com/office/drawing/2014/main" id="{44C346A8-0C98-854E-9077-0CBC94FBE5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0673" y="5484775"/>
              <a:ext cx="2665091" cy="5532635"/>
            </a:xfrm>
            <a:custGeom>
              <a:avLst/>
              <a:gdLst>
                <a:gd name="T0" fmla="*/ 411 w 411"/>
                <a:gd name="T1" fmla="*/ 811 h 853"/>
                <a:gd name="T2" fmla="*/ 370 w 411"/>
                <a:gd name="T3" fmla="*/ 853 h 853"/>
                <a:gd name="T4" fmla="*/ 42 w 411"/>
                <a:gd name="T5" fmla="*/ 853 h 853"/>
                <a:gd name="T6" fmla="*/ 0 w 411"/>
                <a:gd name="T7" fmla="*/ 811 h 853"/>
                <a:gd name="T8" fmla="*/ 0 w 411"/>
                <a:gd name="T9" fmla="*/ 42 h 853"/>
                <a:gd name="T10" fmla="*/ 42 w 411"/>
                <a:gd name="T11" fmla="*/ 0 h 853"/>
                <a:gd name="T12" fmla="*/ 370 w 411"/>
                <a:gd name="T13" fmla="*/ 0 h 853"/>
                <a:gd name="T14" fmla="*/ 411 w 411"/>
                <a:gd name="T15" fmla="*/ 42 h 853"/>
                <a:gd name="T16" fmla="*/ 411 w 411"/>
                <a:gd name="T17" fmla="*/ 811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1" h="853">
                  <a:moveTo>
                    <a:pt x="411" y="811"/>
                  </a:moveTo>
                  <a:cubicBezTo>
                    <a:pt x="411" y="834"/>
                    <a:pt x="392" y="853"/>
                    <a:pt x="370" y="853"/>
                  </a:cubicBezTo>
                  <a:cubicBezTo>
                    <a:pt x="42" y="853"/>
                    <a:pt x="42" y="853"/>
                    <a:pt x="42" y="853"/>
                  </a:cubicBezTo>
                  <a:cubicBezTo>
                    <a:pt x="19" y="853"/>
                    <a:pt x="0" y="834"/>
                    <a:pt x="0" y="811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70" y="0"/>
                    <a:pt x="370" y="0"/>
                    <a:pt x="370" y="0"/>
                  </a:cubicBezTo>
                  <a:cubicBezTo>
                    <a:pt x="392" y="0"/>
                    <a:pt x="411" y="19"/>
                    <a:pt x="411" y="42"/>
                  </a:cubicBezTo>
                  <a:lnTo>
                    <a:pt x="411" y="811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id-ID" sz="1200">
                <a:latin typeface="Roboto Light"/>
              </a:endParaRPr>
            </a:p>
          </p:txBody>
        </p:sp>
        <p:sp>
          <p:nvSpPr>
            <p:cNvPr id="35" name="Oval 62">
              <a:extLst>
                <a:ext uri="{FF2B5EF4-FFF2-40B4-BE49-F238E27FC236}">
                  <a16:creationId xmlns:a16="http://schemas.microsoft.com/office/drawing/2014/main" id="{10EAF0E9-24F8-9546-832A-C7620DC6C9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3495" y="5776649"/>
              <a:ext cx="19455" cy="1946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id-ID" sz="1200">
                <a:latin typeface="Roboto Light"/>
              </a:endParaRPr>
            </a:p>
          </p:txBody>
        </p:sp>
        <p:sp>
          <p:nvSpPr>
            <p:cNvPr id="36" name="Oval 63">
              <a:extLst>
                <a:ext uri="{FF2B5EF4-FFF2-40B4-BE49-F238E27FC236}">
                  <a16:creationId xmlns:a16="http://schemas.microsoft.com/office/drawing/2014/main" id="{0D301F6C-5BBB-CF44-A91B-E08C95C683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07558" y="5744216"/>
              <a:ext cx="77812" cy="7783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id-ID" sz="1200">
                <a:latin typeface="Roboto Light"/>
              </a:endParaRPr>
            </a:p>
          </p:txBody>
        </p:sp>
        <p:sp>
          <p:nvSpPr>
            <p:cNvPr id="37" name="Oval 64">
              <a:extLst>
                <a:ext uri="{FF2B5EF4-FFF2-40B4-BE49-F238E27FC236}">
                  <a16:creationId xmlns:a16="http://schemas.microsoft.com/office/drawing/2014/main" id="{F0686AB6-2309-DE4A-B071-18868BDED4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3495" y="5770161"/>
              <a:ext cx="19455" cy="1946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id-ID" sz="1200">
                <a:latin typeface="Roboto Light"/>
              </a:endParaRPr>
            </a:p>
          </p:txBody>
        </p:sp>
        <p:sp>
          <p:nvSpPr>
            <p:cNvPr id="38" name="Oval 65">
              <a:extLst>
                <a:ext uri="{FF2B5EF4-FFF2-40B4-BE49-F238E27FC236}">
                  <a16:creationId xmlns:a16="http://schemas.microsoft.com/office/drawing/2014/main" id="{388B5FC7-A665-4741-9036-E155F3DBA5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20526" y="5757189"/>
              <a:ext cx="51875" cy="5188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id-ID" sz="1200">
                <a:latin typeface="Roboto Light"/>
              </a:endParaRPr>
            </a:p>
          </p:txBody>
        </p:sp>
        <p:sp>
          <p:nvSpPr>
            <p:cNvPr id="39" name="Oval 66">
              <a:extLst>
                <a:ext uri="{FF2B5EF4-FFF2-40B4-BE49-F238E27FC236}">
                  <a16:creationId xmlns:a16="http://schemas.microsoft.com/office/drawing/2014/main" id="{D4A12134-F443-684E-A605-6FFCD88E54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20526" y="5757189"/>
              <a:ext cx="51875" cy="5188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id-ID" sz="1200">
                <a:latin typeface="Roboto Light"/>
              </a:endParaRPr>
            </a:p>
          </p:txBody>
        </p:sp>
        <p:sp>
          <p:nvSpPr>
            <p:cNvPr id="40" name="Oval 67">
              <a:extLst>
                <a:ext uri="{FF2B5EF4-FFF2-40B4-BE49-F238E27FC236}">
                  <a16:creationId xmlns:a16="http://schemas.microsoft.com/office/drawing/2014/main" id="{D4D67F30-9583-A547-8C40-2A50BBF2EC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3495" y="5770161"/>
              <a:ext cx="25937" cy="2594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id-ID" sz="1200">
                <a:latin typeface="Roboto Light"/>
              </a:endParaRPr>
            </a:p>
          </p:txBody>
        </p:sp>
        <p:sp>
          <p:nvSpPr>
            <p:cNvPr id="41" name="Oval 68">
              <a:extLst>
                <a:ext uri="{FF2B5EF4-FFF2-40B4-BE49-F238E27FC236}">
                  <a16:creationId xmlns:a16="http://schemas.microsoft.com/office/drawing/2014/main" id="{E241335A-6360-D744-967D-E159439E8C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3495" y="5770161"/>
              <a:ext cx="25937" cy="2594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id-ID" sz="1200">
                <a:latin typeface="Roboto Light"/>
              </a:endParaRPr>
            </a:p>
          </p:txBody>
        </p:sp>
        <p:sp>
          <p:nvSpPr>
            <p:cNvPr id="42" name="Freeform 69">
              <a:extLst>
                <a:ext uri="{FF2B5EF4-FFF2-40B4-BE49-F238E27FC236}">
                  <a16:creationId xmlns:a16="http://schemas.microsoft.com/office/drawing/2014/main" id="{4A066EA8-9AA3-A948-BBB8-8A23B64BF0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9982" y="5776649"/>
              <a:ext cx="6486" cy="6488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id-ID" sz="1200">
                <a:latin typeface="Roboto Light"/>
              </a:endParaRPr>
            </a:p>
          </p:txBody>
        </p:sp>
        <p:sp>
          <p:nvSpPr>
            <p:cNvPr id="43" name="Freeform 70">
              <a:extLst>
                <a:ext uri="{FF2B5EF4-FFF2-40B4-BE49-F238E27FC236}">
                  <a16:creationId xmlns:a16="http://schemas.microsoft.com/office/drawing/2014/main" id="{D5660026-D057-5E42-BF2B-EEDBAB7022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9982" y="5776649"/>
              <a:ext cx="6486" cy="6488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id-ID" sz="1200">
                <a:latin typeface="Roboto Light"/>
              </a:endParaRPr>
            </a:p>
          </p:txBody>
        </p:sp>
        <p:sp>
          <p:nvSpPr>
            <p:cNvPr id="44" name="Oval 71">
              <a:extLst>
                <a:ext uri="{FF2B5EF4-FFF2-40B4-BE49-F238E27FC236}">
                  <a16:creationId xmlns:a16="http://schemas.microsoft.com/office/drawing/2014/main" id="{BBD55225-61EC-614B-9EED-F34296489E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32481" y="10433658"/>
              <a:ext cx="421488" cy="42159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id-ID" sz="1200">
                <a:latin typeface="Roboto Light"/>
              </a:endParaRPr>
            </a:p>
          </p:txBody>
        </p:sp>
        <p:sp>
          <p:nvSpPr>
            <p:cNvPr id="45" name="Freeform 72">
              <a:extLst>
                <a:ext uri="{FF2B5EF4-FFF2-40B4-BE49-F238E27FC236}">
                  <a16:creationId xmlns:a16="http://schemas.microsoft.com/office/drawing/2014/main" id="{05E06A75-5865-604D-A96D-096CEB5EA6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36231" y="10537435"/>
              <a:ext cx="213987" cy="214043"/>
            </a:xfrm>
            <a:custGeom>
              <a:avLst/>
              <a:gdLst>
                <a:gd name="T0" fmla="*/ 31 w 33"/>
                <a:gd name="T1" fmla="*/ 22 h 33"/>
                <a:gd name="T2" fmla="*/ 29 w 33"/>
                <a:gd name="T3" fmla="*/ 22 h 33"/>
                <a:gd name="T4" fmla="*/ 22 w 33"/>
                <a:gd name="T5" fmla="*/ 29 h 33"/>
                <a:gd name="T6" fmla="*/ 11 w 33"/>
                <a:gd name="T7" fmla="*/ 29 h 33"/>
                <a:gd name="T8" fmla="*/ 4 w 33"/>
                <a:gd name="T9" fmla="*/ 22 h 33"/>
                <a:gd name="T10" fmla="*/ 4 w 33"/>
                <a:gd name="T11" fmla="*/ 11 h 33"/>
                <a:gd name="T12" fmla="*/ 11 w 33"/>
                <a:gd name="T13" fmla="*/ 4 h 33"/>
                <a:gd name="T14" fmla="*/ 22 w 33"/>
                <a:gd name="T15" fmla="*/ 4 h 33"/>
                <a:gd name="T16" fmla="*/ 29 w 33"/>
                <a:gd name="T17" fmla="*/ 11 h 33"/>
                <a:gd name="T18" fmla="*/ 29 w 33"/>
                <a:gd name="T19" fmla="*/ 22 h 33"/>
                <a:gd name="T20" fmla="*/ 31 w 33"/>
                <a:gd name="T21" fmla="*/ 22 h 33"/>
                <a:gd name="T22" fmla="*/ 33 w 33"/>
                <a:gd name="T23" fmla="*/ 22 h 33"/>
                <a:gd name="T24" fmla="*/ 33 w 33"/>
                <a:gd name="T25" fmla="*/ 11 h 33"/>
                <a:gd name="T26" fmla="*/ 22 w 33"/>
                <a:gd name="T27" fmla="*/ 0 h 33"/>
                <a:gd name="T28" fmla="*/ 11 w 33"/>
                <a:gd name="T29" fmla="*/ 0 h 33"/>
                <a:gd name="T30" fmla="*/ 0 w 33"/>
                <a:gd name="T31" fmla="*/ 11 h 33"/>
                <a:gd name="T32" fmla="*/ 0 w 33"/>
                <a:gd name="T33" fmla="*/ 22 h 33"/>
                <a:gd name="T34" fmla="*/ 11 w 33"/>
                <a:gd name="T35" fmla="*/ 33 h 33"/>
                <a:gd name="T36" fmla="*/ 22 w 33"/>
                <a:gd name="T37" fmla="*/ 33 h 33"/>
                <a:gd name="T38" fmla="*/ 33 w 33"/>
                <a:gd name="T39" fmla="*/ 22 h 33"/>
                <a:gd name="T40" fmla="*/ 31 w 33"/>
                <a:gd name="T41" fmla="*/ 2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3" h="33">
                  <a:moveTo>
                    <a:pt x="31" y="22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29" y="26"/>
                    <a:pt x="26" y="29"/>
                    <a:pt x="22" y="29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7" y="29"/>
                    <a:pt x="4" y="26"/>
                    <a:pt x="4" y="22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4" y="7"/>
                    <a:pt x="7" y="4"/>
                    <a:pt x="11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6" y="4"/>
                    <a:pt x="29" y="7"/>
                    <a:pt x="29" y="11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3" y="5"/>
                    <a:pt x="28" y="0"/>
                    <a:pt x="22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8"/>
                    <a:pt x="5" y="33"/>
                    <a:pt x="11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33"/>
                    <a:pt x="33" y="28"/>
                    <a:pt x="33" y="22"/>
                  </a:cubicBezTo>
                  <a:lnTo>
                    <a:pt x="31" y="22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id-ID" sz="1200">
                <a:latin typeface="Roboto Light"/>
              </a:endParaRPr>
            </a:p>
          </p:txBody>
        </p:sp>
        <p:sp>
          <p:nvSpPr>
            <p:cNvPr id="46" name="Rectangle 73">
              <a:extLst>
                <a:ext uri="{FF2B5EF4-FFF2-40B4-BE49-F238E27FC236}">
                  <a16:creationId xmlns:a16="http://schemas.microsoft.com/office/drawing/2014/main" id="{38B6F7DC-C5CB-3E4B-8B7C-87E4E18439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05205" y="6302021"/>
              <a:ext cx="2282509" cy="40019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id-ID" sz="1200">
                <a:latin typeface="Roboto Light"/>
              </a:endParaRPr>
            </a:p>
          </p:txBody>
        </p:sp>
        <p:sp>
          <p:nvSpPr>
            <p:cNvPr id="47" name="Freeform 75">
              <a:extLst>
                <a:ext uri="{FF2B5EF4-FFF2-40B4-BE49-F238E27FC236}">
                  <a16:creationId xmlns:a16="http://schemas.microsoft.com/office/drawing/2014/main" id="{84775E0C-C8C3-CD43-B410-FB54BE4EFA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5450" y="5938799"/>
              <a:ext cx="473364" cy="110266"/>
            </a:xfrm>
            <a:custGeom>
              <a:avLst/>
              <a:gdLst>
                <a:gd name="T0" fmla="*/ 8 w 73"/>
                <a:gd name="T1" fmla="*/ 17 h 17"/>
                <a:gd name="T2" fmla="*/ 0 w 73"/>
                <a:gd name="T3" fmla="*/ 9 h 17"/>
                <a:gd name="T4" fmla="*/ 8 w 73"/>
                <a:gd name="T5" fmla="*/ 0 h 17"/>
                <a:gd name="T6" fmla="*/ 65 w 73"/>
                <a:gd name="T7" fmla="*/ 0 h 17"/>
                <a:gd name="T8" fmla="*/ 73 w 73"/>
                <a:gd name="T9" fmla="*/ 9 h 17"/>
                <a:gd name="T10" fmla="*/ 65 w 73"/>
                <a:gd name="T11" fmla="*/ 17 h 17"/>
                <a:gd name="T12" fmla="*/ 8 w 73"/>
                <a:gd name="T13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3" h="17">
                  <a:moveTo>
                    <a:pt x="8" y="17"/>
                  </a:moveTo>
                  <a:cubicBezTo>
                    <a:pt x="3" y="17"/>
                    <a:pt x="0" y="13"/>
                    <a:pt x="0" y="9"/>
                  </a:cubicBezTo>
                  <a:cubicBezTo>
                    <a:pt x="0" y="4"/>
                    <a:pt x="3" y="0"/>
                    <a:pt x="8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70" y="0"/>
                    <a:pt x="73" y="4"/>
                    <a:pt x="73" y="9"/>
                  </a:cubicBezTo>
                  <a:cubicBezTo>
                    <a:pt x="73" y="13"/>
                    <a:pt x="70" y="17"/>
                    <a:pt x="65" y="17"/>
                  </a:cubicBezTo>
                  <a:lnTo>
                    <a:pt x="8" y="17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id-ID" sz="1200">
                <a:latin typeface="Roboto Light"/>
              </a:endParaRPr>
            </a:p>
          </p:txBody>
        </p:sp>
        <p:sp>
          <p:nvSpPr>
            <p:cNvPr id="48" name="Freeform 76">
              <a:extLst>
                <a:ext uri="{FF2B5EF4-FFF2-40B4-BE49-F238E27FC236}">
                  <a16:creationId xmlns:a16="http://schemas.microsoft.com/office/drawing/2014/main" id="{C5D37A97-7321-D34F-BCC7-F8E22AAAC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71388" y="5971232"/>
              <a:ext cx="421488" cy="45405"/>
            </a:xfrm>
            <a:custGeom>
              <a:avLst/>
              <a:gdLst>
                <a:gd name="T0" fmla="*/ 65 w 65"/>
                <a:gd name="T1" fmla="*/ 4 h 7"/>
                <a:gd name="T2" fmla="*/ 61 w 65"/>
                <a:gd name="T3" fmla="*/ 7 h 7"/>
                <a:gd name="T4" fmla="*/ 4 w 65"/>
                <a:gd name="T5" fmla="*/ 7 h 7"/>
                <a:gd name="T6" fmla="*/ 0 w 65"/>
                <a:gd name="T7" fmla="*/ 4 h 7"/>
                <a:gd name="T8" fmla="*/ 4 w 65"/>
                <a:gd name="T9" fmla="*/ 0 h 7"/>
                <a:gd name="T10" fmla="*/ 61 w 65"/>
                <a:gd name="T11" fmla="*/ 0 h 7"/>
                <a:gd name="T12" fmla="*/ 65 w 65"/>
                <a:gd name="T13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" h="7">
                  <a:moveTo>
                    <a:pt x="65" y="4"/>
                  </a:moveTo>
                  <a:cubicBezTo>
                    <a:pt x="65" y="6"/>
                    <a:pt x="63" y="7"/>
                    <a:pt x="61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2" y="7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3" y="0"/>
                    <a:pt x="65" y="2"/>
                    <a:pt x="65" y="4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id-ID" sz="1200">
                <a:latin typeface="Roboto Light"/>
              </a:endParaRPr>
            </a:p>
          </p:txBody>
        </p:sp>
        <p:sp>
          <p:nvSpPr>
            <p:cNvPr id="49" name="Oval 77">
              <a:extLst>
                <a:ext uri="{FF2B5EF4-FFF2-40B4-BE49-F238E27FC236}">
                  <a16:creationId xmlns:a16="http://schemas.microsoft.com/office/drawing/2014/main" id="{ED864754-5FD5-6C49-908B-6A4AE5B99C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89824" y="5958259"/>
              <a:ext cx="71331" cy="7134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id-ID" sz="1200">
                <a:latin typeface="Roboto Light"/>
              </a:endParaRPr>
            </a:p>
          </p:txBody>
        </p:sp>
      </p:grpSp>
      <p:pic>
        <p:nvPicPr>
          <p:cNvPr id="58" name="Picture 57">
            <a:extLst>
              <a:ext uri="{FF2B5EF4-FFF2-40B4-BE49-F238E27FC236}">
                <a16:creationId xmlns:a16="http://schemas.microsoft.com/office/drawing/2014/main" id="{15323088-6329-5C44-80BB-D064C75CEA1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7130" y="3846427"/>
            <a:ext cx="961284" cy="1796173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918230CD-3805-5944-B41D-9F6775AFDA81}"/>
              </a:ext>
            </a:extLst>
          </p:cNvPr>
          <p:cNvSpPr txBox="1"/>
          <p:nvPr/>
        </p:nvSpPr>
        <p:spPr>
          <a:xfrm>
            <a:off x="7241511" y="4579136"/>
            <a:ext cx="3415115" cy="400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Montserrat" charset="0"/>
                <a:cs typeface="Calibri" panose="020F0502020204030204" pitchFamily="34" charset="0"/>
              </a:rPr>
              <a:t>JSON File  - 5623 Posts</a:t>
            </a:r>
          </a:p>
        </p:txBody>
      </p:sp>
      <p:sp>
        <p:nvSpPr>
          <p:cNvPr id="66" name="椭圆 82">
            <a:extLst>
              <a:ext uri="{FF2B5EF4-FFF2-40B4-BE49-F238E27FC236}">
                <a16:creationId xmlns:a16="http://schemas.microsoft.com/office/drawing/2014/main" id="{844BD2B8-23E8-4546-968B-D36313F68399}"/>
              </a:ext>
            </a:extLst>
          </p:cNvPr>
          <p:cNvSpPr>
            <a:spLocks noChangeAspect="1"/>
          </p:cNvSpPr>
          <p:nvPr/>
        </p:nvSpPr>
        <p:spPr>
          <a:xfrm>
            <a:off x="6865779" y="2840363"/>
            <a:ext cx="182880" cy="182880"/>
          </a:xfrm>
          <a:prstGeom prst="ellipse">
            <a:avLst/>
          </a:prstGeom>
          <a:solidFill>
            <a:srgbClr val="8FA4B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400" dirty="0"/>
          </a:p>
        </p:txBody>
      </p:sp>
      <p:sp>
        <p:nvSpPr>
          <p:cNvPr id="67" name="椭圆 82">
            <a:extLst>
              <a:ext uri="{FF2B5EF4-FFF2-40B4-BE49-F238E27FC236}">
                <a16:creationId xmlns:a16="http://schemas.microsoft.com/office/drawing/2014/main" id="{C8A45367-8124-C449-A3A6-2738A230EDE9}"/>
              </a:ext>
            </a:extLst>
          </p:cNvPr>
          <p:cNvSpPr>
            <a:spLocks noChangeAspect="1"/>
          </p:cNvSpPr>
          <p:nvPr/>
        </p:nvSpPr>
        <p:spPr>
          <a:xfrm>
            <a:off x="6882985" y="3429079"/>
            <a:ext cx="182880" cy="182880"/>
          </a:xfrm>
          <a:prstGeom prst="ellipse">
            <a:avLst/>
          </a:prstGeom>
          <a:solidFill>
            <a:srgbClr val="8FA4B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400" dirty="0"/>
          </a:p>
        </p:txBody>
      </p:sp>
      <p:sp>
        <p:nvSpPr>
          <p:cNvPr id="68" name="椭圆 82">
            <a:extLst>
              <a:ext uri="{FF2B5EF4-FFF2-40B4-BE49-F238E27FC236}">
                <a16:creationId xmlns:a16="http://schemas.microsoft.com/office/drawing/2014/main" id="{1C4A7FC4-B6AF-3446-8FC5-FB084D9C88D2}"/>
              </a:ext>
            </a:extLst>
          </p:cNvPr>
          <p:cNvSpPr>
            <a:spLocks noChangeAspect="1"/>
          </p:cNvSpPr>
          <p:nvPr/>
        </p:nvSpPr>
        <p:spPr>
          <a:xfrm>
            <a:off x="6882985" y="4041904"/>
            <a:ext cx="182880" cy="182880"/>
          </a:xfrm>
          <a:prstGeom prst="ellipse">
            <a:avLst/>
          </a:prstGeom>
          <a:solidFill>
            <a:srgbClr val="8FA4B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400" dirty="0"/>
          </a:p>
        </p:txBody>
      </p:sp>
      <p:sp>
        <p:nvSpPr>
          <p:cNvPr id="69" name="椭圆 82">
            <a:extLst>
              <a:ext uri="{FF2B5EF4-FFF2-40B4-BE49-F238E27FC236}">
                <a16:creationId xmlns:a16="http://schemas.microsoft.com/office/drawing/2014/main" id="{F5FBAF65-FAB5-6A41-9163-C638BD5041DC}"/>
              </a:ext>
            </a:extLst>
          </p:cNvPr>
          <p:cNvSpPr>
            <a:spLocks noChangeAspect="1"/>
          </p:cNvSpPr>
          <p:nvPr/>
        </p:nvSpPr>
        <p:spPr>
          <a:xfrm>
            <a:off x="6882985" y="4650205"/>
            <a:ext cx="182880" cy="182880"/>
          </a:xfrm>
          <a:prstGeom prst="ellipse">
            <a:avLst/>
          </a:prstGeom>
          <a:solidFill>
            <a:srgbClr val="8FA4B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4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0EA22E2-3A95-5943-922C-77FC0F08D3CD}"/>
              </a:ext>
            </a:extLst>
          </p:cNvPr>
          <p:cNvSpPr txBox="1"/>
          <p:nvPr/>
        </p:nvSpPr>
        <p:spPr>
          <a:xfrm>
            <a:off x="10916356" y="6434667"/>
            <a:ext cx="722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22447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311FC4BB-1679-F041-A94E-724F8D62172B}"/>
              </a:ext>
            </a:extLst>
          </p:cNvPr>
          <p:cNvSpPr txBox="1"/>
          <p:nvPr/>
        </p:nvSpPr>
        <p:spPr>
          <a:xfrm>
            <a:off x="1223095" y="3131011"/>
            <a:ext cx="3415115" cy="400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Montserrat" charset="0"/>
                <a:cs typeface="Calibri" panose="020F0502020204030204" pitchFamily="34" charset="0"/>
              </a:rPr>
              <a:t>Data Engineering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2080D1-4E18-F84C-8387-CA4BE20FD660}"/>
              </a:ext>
            </a:extLst>
          </p:cNvPr>
          <p:cNvSpPr txBox="1"/>
          <p:nvPr/>
        </p:nvSpPr>
        <p:spPr>
          <a:xfrm>
            <a:off x="4882422" y="3136047"/>
            <a:ext cx="3415115" cy="400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Montserrat" charset="0"/>
                <a:cs typeface="Calibri" panose="020F0502020204030204" pitchFamily="34" charset="0"/>
              </a:rPr>
              <a:t>NLP Analysis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C608449-35DA-F54E-A30E-25C2F2F57D95}"/>
              </a:ext>
            </a:extLst>
          </p:cNvPr>
          <p:cNvSpPr txBox="1"/>
          <p:nvPr/>
        </p:nvSpPr>
        <p:spPr>
          <a:xfrm>
            <a:off x="7962183" y="3130939"/>
            <a:ext cx="3415115" cy="400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Montserrat" charset="0"/>
                <a:cs typeface="Calibri" panose="020F0502020204030204" pitchFamily="34" charset="0"/>
              </a:rPr>
              <a:t>Statistical Visualization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2F435ED-2B34-6B45-89C6-B3E73D7B86D3}"/>
              </a:ext>
            </a:extLst>
          </p:cNvPr>
          <p:cNvGrpSpPr/>
          <p:nvPr/>
        </p:nvGrpSpPr>
        <p:grpSpPr>
          <a:xfrm>
            <a:off x="1087629" y="3731981"/>
            <a:ext cx="2828793" cy="365032"/>
            <a:chOff x="647005" y="2823316"/>
            <a:chExt cx="2827867" cy="427885"/>
          </a:xfrm>
        </p:grpSpPr>
        <p:sp>
          <p:nvSpPr>
            <p:cNvPr id="30" name="圆角矩形 1">
              <a:extLst>
                <a:ext uri="{FF2B5EF4-FFF2-40B4-BE49-F238E27FC236}">
                  <a16:creationId xmlns:a16="http://schemas.microsoft.com/office/drawing/2014/main" id="{7E7FE5E6-88E5-3A4B-9E43-34881EE74047}"/>
                </a:ext>
              </a:extLst>
            </p:cNvPr>
            <p:cNvSpPr/>
            <p:nvPr/>
          </p:nvSpPr>
          <p:spPr>
            <a:xfrm>
              <a:off x="647005" y="2844801"/>
              <a:ext cx="2827867" cy="406400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8FA4B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rgbClr val="523A2C"/>
                </a:solidFill>
              </a:endParaRPr>
            </a:p>
          </p:txBody>
        </p:sp>
        <p:sp>
          <p:nvSpPr>
            <p:cNvPr id="31" name="圆角矩形 2">
              <a:extLst>
                <a:ext uri="{FF2B5EF4-FFF2-40B4-BE49-F238E27FC236}">
                  <a16:creationId xmlns:a16="http://schemas.microsoft.com/office/drawing/2014/main" id="{FDBFC442-2356-E246-9179-4957169912A3}"/>
                </a:ext>
              </a:extLst>
            </p:cNvPr>
            <p:cNvSpPr/>
            <p:nvPr/>
          </p:nvSpPr>
          <p:spPr>
            <a:xfrm>
              <a:off x="647005" y="2844801"/>
              <a:ext cx="2433895" cy="406399"/>
            </a:xfrm>
            <a:prstGeom prst="roundRect">
              <a:avLst>
                <a:gd name="adj" fmla="val 50000"/>
              </a:avLst>
            </a:prstGeom>
            <a:solidFill>
              <a:srgbClr val="8FA4B7"/>
            </a:solidFill>
            <a:ln>
              <a:noFill/>
            </a:ln>
            <a:effectLst>
              <a:reflection stA="40000" endPos="30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rgbClr val="523A2C"/>
                </a:solidFill>
              </a:endParaRPr>
            </a:p>
          </p:txBody>
        </p:sp>
        <p:sp>
          <p:nvSpPr>
            <p:cNvPr id="32" name="文本框 25">
              <a:extLst>
                <a:ext uri="{FF2B5EF4-FFF2-40B4-BE49-F238E27FC236}">
                  <a16:creationId xmlns:a16="http://schemas.microsoft.com/office/drawing/2014/main" id="{EBCF0F86-581E-254C-92D6-95250D83C82E}"/>
                </a:ext>
              </a:extLst>
            </p:cNvPr>
            <p:cNvSpPr txBox="1"/>
            <p:nvPr/>
          </p:nvSpPr>
          <p:spPr>
            <a:xfrm>
              <a:off x="2577635" y="2823316"/>
              <a:ext cx="541958" cy="3968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80%</a:t>
              </a:r>
              <a:endPara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8" name="组合 17">
            <a:extLst>
              <a:ext uri="{FF2B5EF4-FFF2-40B4-BE49-F238E27FC236}">
                <a16:creationId xmlns:a16="http://schemas.microsoft.com/office/drawing/2014/main" id="{2D483930-402B-E349-B78C-AED593E0C4B0}"/>
              </a:ext>
            </a:extLst>
          </p:cNvPr>
          <p:cNvGrpSpPr/>
          <p:nvPr/>
        </p:nvGrpSpPr>
        <p:grpSpPr>
          <a:xfrm>
            <a:off x="8865532" y="2298934"/>
            <a:ext cx="963083" cy="588433"/>
            <a:chOff x="979488" y="2314575"/>
            <a:chExt cx="722312" cy="441325"/>
          </a:xfrm>
          <a:solidFill>
            <a:srgbClr val="374552"/>
          </a:solidFill>
        </p:grpSpPr>
        <p:sp>
          <p:nvSpPr>
            <p:cNvPr id="49" name="Freeform 84">
              <a:extLst>
                <a:ext uri="{FF2B5EF4-FFF2-40B4-BE49-F238E27FC236}">
                  <a16:creationId xmlns:a16="http://schemas.microsoft.com/office/drawing/2014/main" id="{2DCC9FFB-1E80-1942-8775-7D0F1E21FC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7750" y="2692400"/>
              <a:ext cx="87312" cy="63500"/>
            </a:xfrm>
            <a:custGeom>
              <a:avLst/>
              <a:gdLst>
                <a:gd name="T0" fmla="*/ 34 w 34"/>
                <a:gd name="T1" fmla="*/ 21 h 25"/>
                <a:gd name="T2" fmla="*/ 34 w 34"/>
                <a:gd name="T3" fmla="*/ 0 h 25"/>
                <a:gd name="T4" fmla="*/ 1 w 34"/>
                <a:gd name="T5" fmla="*/ 25 h 25"/>
                <a:gd name="T6" fmla="*/ 31 w 34"/>
                <a:gd name="T7" fmla="*/ 25 h 25"/>
                <a:gd name="T8" fmla="*/ 34 w 34"/>
                <a:gd name="T9" fmla="*/ 2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5">
                  <a:moveTo>
                    <a:pt x="34" y="21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4" y="0"/>
                    <a:pt x="0" y="25"/>
                    <a:pt x="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3" y="25"/>
                    <a:pt x="34" y="23"/>
                    <a:pt x="34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cs typeface="+mn-ea"/>
              </a:endParaRPr>
            </a:p>
          </p:txBody>
        </p:sp>
        <p:sp>
          <p:nvSpPr>
            <p:cNvPr id="50" name="Freeform 85">
              <a:extLst>
                <a:ext uri="{FF2B5EF4-FFF2-40B4-BE49-F238E27FC236}">
                  <a16:creationId xmlns:a16="http://schemas.microsoft.com/office/drawing/2014/main" id="{F955F31D-B5CD-754B-B20C-DA913D8E1A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3638" y="2600325"/>
              <a:ext cx="93662" cy="155575"/>
            </a:xfrm>
            <a:custGeom>
              <a:avLst/>
              <a:gdLst>
                <a:gd name="T0" fmla="*/ 33 w 37"/>
                <a:gd name="T1" fmla="*/ 61 h 61"/>
                <a:gd name="T2" fmla="*/ 37 w 37"/>
                <a:gd name="T3" fmla="*/ 57 h 61"/>
                <a:gd name="T4" fmla="*/ 37 w 37"/>
                <a:gd name="T5" fmla="*/ 0 h 61"/>
                <a:gd name="T6" fmla="*/ 1 w 37"/>
                <a:gd name="T7" fmla="*/ 27 h 61"/>
                <a:gd name="T8" fmla="*/ 0 w 37"/>
                <a:gd name="T9" fmla="*/ 28 h 61"/>
                <a:gd name="T10" fmla="*/ 0 w 37"/>
                <a:gd name="T11" fmla="*/ 57 h 61"/>
                <a:gd name="T12" fmla="*/ 3 w 37"/>
                <a:gd name="T13" fmla="*/ 61 h 61"/>
                <a:gd name="T14" fmla="*/ 33 w 37"/>
                <a:gd name="T15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61">
                  <a:moveTo>
                    <a:pt x="33" y="61"/>
                  </a:moveTo>
                  <a:cubicBezTo>
                    <a:pt x="35" y="61"/>
                    <a:pt x="37" y="59"/>
                    <a:pt x="37" y="57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9"/>
                    <a:pt x="1" y="61"/>
                    <a:pt x="3" y="61"/>
                  </a:cubicBezTo>
                  <a:lnTo>
                    <a:pt x="33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cs typeface="+mn-ea"/>
              </a:endParaRPr>
            </a:p>
          </p:txBody>
        </p:sp>
        <p:sp>
          <p:nvSpPr>
            <p:cNvPr id="51" name="Freeform 86">
              <a:extLst>
                <a:ext uri="{FF2B5EF4-FFF2-40B4-BE49-F238E27FC236}">
                  <a16:creationId xmlns:a16="http://schemas.microsoft.com/office/drawing/2014/main" id="{8A31113E-3589-A647-BB91-DA1321D1B5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2700" y="2525713"/>
              <a:ext cx="95250" cy="230187"/>
            </a:xfrm>
            <a:custGeom>
              <a:avLst/>
              <a:gdLst>
                <a:gd name="T0" fmla="*/ 34 w 37"/>
                <a:gd name="T1" fmla="*/ 90 h 90"/>
                <a:gd name="T2" fmla="*/ 37 w 37"/>
                <a:gd name="T3" fmla="*/ 86 h 90"/>
                <a:gd name="T4" fmla="*/ 37 w 37"/>
                <a:gd name="T5" fmla="*/ 11 h 90"/>
                <a:gd name="T6" fmla="*/ 27 w 37"/>
                <a:gd name="T7" fmla="*/ 0 h 90"/>
                <a:gd name="T8" fmla="*/ 12 w 37"/>
                <a:gd name="T9" fmla="*/ 12 h 90"/>
                <a:gd name="T10" fmla="*/ 0 w 37"/>
                <a:gd name="T11" fmla="*/ 21 h 90"/>
                <a:gd name="T12" fmla="*/ 0 w 37"/>
                <a:gd name="T13" fmla="*/ 86 h 90"/>
                <a:gd name="T14" fmla="*/ 4 w 37"/>
                <a:gd name="T15" fmla="*/ 90 h 90"/>
                <a:gd name="T16" fmla="*/ 34 w 37"/>
                <a:gd name="T17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90">
                  <a:moveTo>
                    <a:pt x="34" y="90"/>
                  </a:moveTo>
                  <a:cubicBezTo>
                    <a:pt x="35" y="90"/>
                    <a:pt x="37" y="88"/>
                    <a:pt x="37" y="86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88"/>
                    <a:pt x="2" y="90"/>
                    <a:pt x="4" y="90"/>
                  </a:cubicBezTo>
                  <a:lnTo>
                    <a:pt x="34" y="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cs typeface="+mn-ea"/>
              </a:endParaRPr>
            </a:p>
          </p:txBody>
        </p:sp>
        <p:sp>
          <p:nvSpPr>
            <p:cNvPr id="52" name="Freeform 87">
              <a:extLst>
                <a:ext uri="{FF2B5EF4-FFF2-40B4-BE49-F238E27FC236}">
                  <a16:creationId xmlns:a16="http://schemas.microsoft.com/office/drawing/2014/main" id="{5F51BB7D-CDC6-C848-81AA-AAAE9F6606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4938" y="2562225"/>
              <a:ext cx="92075" cy="193675"/>
            </a:xfrm>
            <a:custGeom>
              <a:avLst/>
              <a:gdLst>
                <a:gd name="T0" fmla="*/ 33 w 36"/>
                <a:gd name="T1" fmla="*/ 76 h 76"/>
                <a:gd name="T2" fmla="*/ 36 w 36"/>
                <a:gd name="T3" fmla="*/ 72 h 76"/>
                <a:gd name="T4" fmla="*/ 36 w 36"/>
                <a:gd name="T5" fmla="*/ 0 h 76"/>
                <a:gd name="T6" fmla="*/ 22 w 36"/>
                <a:gd name="T7" fmla="*/ 11 h 76"/>
                <a:gd name="T8" fmla="*/ 18 w 36"/>
                <a:gd name="T9" fmla="*/ 14 h 76"/>
                <a:gd name="T10" fmla="*/ 5 w 36"/>
                <a:gd name="T11" fmla="*/ 13 h 76"/>
                <a:gd name="T12" fmla="*/ 4 w 36"/>
                <a:gd name="T13" fmla="*/ 12 h 76"/>
                <a:gd name="T14" fmla="*/ 0 w 36"/>
                <a:gd name="T15" fmla="*/ 8 h 76"/>
                <a:gd name="T16" fmla="*/ 0 w 36"/>
                <a:gd name="T17" fmla="*/ 72 h 76"/>
                <a:gd name="T18" fmla="*/ 3 w 36"/>
                <a:gd name="T19" fmla="*/ 76 h 76"/>
                <a:gd name="T20" fmla="*/ 33 w 36"/>
                <a:gd name="T21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76">
                  <a:moveTo>
                    <a:pt x="33" y="76"/>
                  </a:moveTo>
                  <a:cubicBezTo>
                    <a:pt x="35" y="76"/>
                    <a:pt x="36" y="74"/>
                    <a:pt x="36" y="72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4" y="17"/>
                    <a:pt x="9" y="17"/>
                    <a:pt x="5" y="13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4"/>
                    <a:pt x="1" y="76"/>
                    <a:pt x="3" y="76"/>
                  </a:cubicBezTo>
                  <a:lnTo>
                    <a:pt x="33" y="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cs typeface="+mn-ea"/>
              </a:endParaRPr>
            </a:p>
          </p:txBody>
        </p:sp>
        <p:sp>
          <p:nvSpPr>
            <p:cNvPr id="53" name="Freeform 88">
              <a:extLst>
                <a:ext uri="{FF2B5EF4-FFF2-40B4-BE49-F238E27FC236}">
                  <a16:creationId xmlns:a16="http://schemas.microsoft.com/office/drawing/2014/main" id="{9E684DEE-0F05-7E4E-80EC-7D7B8BC01E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5588" y="2465388"/>
              <a:ext cx="95250" cy="290512"/>
            </a:xfrm>
            <a:custGeom>
              <a:avLst/>
              <a:gdLst>
                <a:gd name="T0" fmla="*/ 33 w 37"/>
                <a:gd name="T1" fmla="*/ 114 h 114"/>
                <a:gd name="T2" fmla="*/ 37 w 37"/>
                <a:gd name="T3" fmla="*/ 110 h 114"/>
                <a:gd name="T4" fmla="*/ 37 w 37"/>
                <a:gd name="T5" fmla="*/ 0 h 114"/>
                <a:gd name="T6" fmla="*/ 15 w 37"/>
                <a:gd name="T7" fmla="*/ 18 h 114"/>
                <a:gd name="T8" fmla="*/ 0 w 37"/>
                <a:gd name="T9" fmla="*/ 29 h 114"/>
                <a:gd name="T10" fmla="*/ 0 w 37"/>
                <a:gd name="T11" fmla="*/ 110 h 114"/>
                <a:gd name="T12" fmla="*/ 3 w 37"/>
                <a:gd name="T13" fmla="*/ 114 h 114"/>
                <a:gd name="T14" fmla="*/ 33 w 37"/>
                <a:gd name="T15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114">
                  <a:moveTo>
                    <a:pt x="33" y="114"/>
                  </a:moveTo>
                  <a:cubicBezTo>
                    <a:pt x="35" y="114"/>
                    <a:pt x="37" y="112"/>
                    <a:pt x="37" y="11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0" y="112"/>
                    <a:pt x="1" y="114"/>
                    <a:pt x="3" y="114"/>
                  </a:cubicBezTo>
                  <a:lnTo>
                    <a:pt x="33" y="1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cs typeface="+mn-ea"/>
              </a:endParaRPr>
            </a:p>
          </p:txBody>
        </p:sp>
        <p:sp>
          <p:nvSpPr>
            <p:cNvPr id="54" name="Freeform 89">
              <a:extLst>
                <a:ext uri="{FF2B5EF4-FFF2-40B4-BE49-F238E27FC236}">
                  <a16:creationId xmlns:a16="http://schemas.microsoft.com/office/drawing/2014/main" id="{15F7C9B6-5E54-4541-96AC-467F588C1655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488" y="2314575"/>
              <a:ext cx="722312" cy="420687"/>
            </a:xfrm>
            <a:custGeom>
              <a:avLst/>
              <a:gdLst>
                <a:gd name="T0" fmla="*/ 283 w 283"/>
                <a:gd name="T1" fmla="*/ 10 h 165"/>
                <a:gd name="T2" fmla="*/ 280 w 283"/>
                <a:gd name="T3" fmla="*/ 3 h 165"/>
                <a:gd name="T4" fmla="*/ 273 w 283"/>
                <a:gd name="T5" fmla="*/ 0 h 165"/>
                <a:gd name="T6" fmla="*/ 263 w 283"/>
                <a:gd name="T7" fmla="*/ 0 h 165"/>
                <a:gd name="T8" fmla="*/ 229 w 283"/>
                <a:gd name="T9" fmla="*/ 0 h 165"/>
                <a:gd name="T10" fmla="*/ 225 w 283"/>
                <a:gd name="T11" fmla="*/ 1 h 165"/>
                <a:gd name="T12" fmla="*/ 225 w 283"/>
                <a:gd name="T13" fmla="*/ 1 h 165"/>
                <a:gd name="T14" fmla="*/ 219 w 283"/>
                <a:gd name="T15" fmla="*/ 10 h 165"/>
                <a:gd name="T16" fmla="*/ 225 w 283"/>
                <a:gd name="T17" fmla="*/ 19 h 165"/>
                <a:gd name="T18" fmla="*/ 229 w 283"/>
                <a:gd name="T19" fmla="*/ 20 h 165"/>
                <a:gd name="T20" fmla="*/ 240 w 283"/>
                <a:gd name="T21" fmla="*/ 20 h 165"/>
                <a:gd name="T22" fmla="*/ 246 w 283"/>
                <a:gd name="T23" fmla="*/ 20 h 165"/>
                <a:gd name="T24" fmla="*/ 235 w 283"/>
                <a:gd name="T25" fmla="*/ 28 h 165"/>
                <a:gd name="T26" fmla="*/ 216 w 283"/>
                <a:gd name="T27" fmla="*/ 45 h 165"/>
                <a:gd name="T28" fmla="*/ 205 w 283"/>
                <a:gd name="T29" fmla="*/ 54 h 165"/>
                <a:gd name="T30" fmla="*/ 190 w 283"/>
                <a:gd name="T31" fmla="*/ 66 h 165"/>
                <a:gd name="T32" fmla="*/ 181 w 283"/>
                <a:gd name="T33" fmla="*/ 73 h 165"/>
                <a:gd name="T34" fmla="*/ 171 w 283"/>
                <a:gd name="T35" fmla="*/ 63 h 165"/>
                <a:gd name="T36" fmla="*/ 167 w 283"/>
                <a:gd name="T37" fmla="*/ 59 h 165"/>
                <a:gd name="T38" fmla="*/ 156 w 283"/>
                <a:gd name="T39" fmla="*/ 48 h 165"/>
                <a:gd name="T40" fmla="*/ 154 w 283"/>
                <a:gd name="T41" fmla="*/ 46 h 165"/>
                <a:gd name="T42" fmla="*/ 141 w 283"/>
                <a:gd name="T43" fmla="*/ 45 h 165"/>
                <a:gd name="T44" fmla="*/ 131 w 283"/>
                <a:gd name="T45" fmla="*/ 53 h 165"/>
                <a:gd name="T46" fmla="*/ 119 w 283"/>
                <a:gd name="T47" fmla="*/ 62 h 165"/>
                <a:gd name="T48" fmla="*/ 112 w 283"/>
                <a:gd name="T49" fmla="*/ 67 h 165"/>
                <a:gd name="T50" fmla="*/ 108 w 283"/>
                <a:gd name="T51" fmla="*/ 70 h 165"/>
                <a:gd name="T52" fmla="*/ 71 w 283"/>
                <a:gd name="T53" fmla="*/ 98 h 165"/>
                <a:gd name="T54" fmla="*/ 70 w 283"/>
                <a:gd name="T55" fmla="*/ 98 h 165"/>
                <a:gd name="T56" fmla="*/ 59 w 283"/>
                <a:gd name="T57" fmla="*/ 107 h 165"/>
                <a:gd name="T58" fmla="*/ 11 w 283"/>
                <a:gd name="T59" fmla="*/ 142 h 165"/>
                <a:gd name="T60" fmla="*/ 6 w 283"/>
                <a:gd name="T61" fmla="*/ 147 h 165"/>
                <a:gd name="T62" fmla="*/ 4 w 283"/>
                <a:gd name="T63" fmla="*/ 160 h 165"/>
                <a:gd name="T64" fmla="*/ 13 w 283"/>
                <a:gd name="T65" fmla="*/ 164 h 165"/>
                <a:gd name="T66" fmla="*/ 17 w 283"/>
                <a:gd name="T67" fmla="*/ 162 h 165"/>
                <a:gd name="T68" fmla="*/ 59 w 283"/>
                <a:gd name="T69" fmla="*/ 131 h 165"/>
                <a:gd name="T70" fmla="*/ 70 w 283"/>
                <a:gd name="T71" fmla="*/ 123 h 165"/>
                <a:gd name="T72" fmla="*/ 71 w 283"/>
                <a:gd name="T73" fmla="*/ 122 h 165"/>
                <a:gd name="T74" fmla="*/ 108 w 283"/>
                <a:gd name="T75" fmla="*/ 94 h 165"/>
                <a:gd name="T76" fmla="*/ 112 w 283"/>
                <a:gd name="T77" fmla="*/ 91 h 165"/>
                <a:gd name="T78" fmla="*/ 119 w 283"/>
                <a:gd name="T79" fmla="*/ 86 h 165"/>
                <a:gd name="T80" fmla="*/ 131 w 283"/>
                <a:gd name="T81" fmla="*/ 77 h 165"/>
                <a:gd name="T82" fmla="*/ 146 w 283"/>
                <a:gd name="T83" fmla="*/ 65 h 165"/>
                <a:gd name="T84" fmla="*/ 156 w 283"/>
                <a:gd name="T85" fmla="*/ 76 h 165"/>
                <a:gd name="T86" fmla="*/ 167 w 283"/>
                <a:gd name="T87" fmla="*/ 87 h 165"/>
                <a:gd name="T88" fmla="*/ 171 w 283"/>
                <a:gd name="T89" fmla="*/ 91 h 165"/>
                <a:gd name="T90" fmla="*/ 173 w 283"/>
                <a:gd name="T91" fmla="*/ 93 h 165"/>
                <a:gd name="T92" fmla="*/ 186 w 283"/>
                <a:gd name="T93" fmla="*/ 94 h 165"/>
                <a:gd name="T94" fmla="*/ 190 w 283"/>
                <a:gd name="T95" fmla="*/ 90 h 165"/>
                <a:gd name="T96" fmla="*/ 205 w 283"/>
                <a:gd name="T97" fmla="*/ 79 h 165"/>
                <a:gd name="T98" fmla="*/ 216 w 283"/>
                <a:gd name="T99" fmla="*/ 70 h 165"/>
                <a:gd name="T100" fmla="*/ 231 w 283"/>
                <a:gd name="T101" fmla="*/ 58 h 165"/>
                <a:gd name="T102" fmla="*/ 263 w 283"/>
                <a:gd name="T103" fmla="*/ 31 h 165"/>
                <a:gd name="T104" fmla="*/ 264 w 283"/>
                <a:gd name="T105" fmla="*/ 31 h 165"/>
                <a:gd name="T106" fmla="*/ 264 w 283"/>
                <a:gd name="T107" fmla="*/ 53 h 165"/>
                <a:gd name="T108" fmla="*/ 274 w 283"/>
                <a:gd name="T109" fmla="*/ 62 h 165"/>
                <a:gd name="T110" fmla="*/ 283 w 283"/>
                <a:gd name="T111" fmla="*/ 53 h 165"/>
                <a:gd name="T112" fmla="*/ 283 w 283"/>
                <a:gd name="T113" fmla="*/ 1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83" h="165">
                  <a:moveTo>
                    <a:pt x="283" y="10"/>
                  </a:moveTo>
                  <a:cubicBezTo>
                    <a:pt x="283" y="7"/>
                    <a:pt x="282" y="5"/>
                    <a:pt x="280" y="3"/>
                  </a:cubicBezTo>
                  <a:cubicBezTo>
                    <a:pt x="278" y="1"/>
                    <a:pt x="276" y="0"/>
                    <a:pt x="273" y="0"/>
                  </a:cubicBezTo>
                  <a:cubicBezTo>
                    <a:pt x="263" y="0"/>
                    <a:pt x="263" y="0"/>
                    <a:pt x="263" y="0"/>
                  </a:cubicBezTo>
                  <a:cubicBezTo>
                    <a:pt x="229" y="0"/>
                    <a:pt x="229" y="0"/>
                    <a:pt x="229" y="0"/>
                  </a:cubicBezTo>
                  <a:cubicBezTo>
                    <a:pt x="227" y="0"/>
                    <a:pt x="226" y="1"/>
                    <a:pt x="225" y="1"/>
                  </a:cubicBezTo>
                  <a:cubicBezTo>
                    <a:pt x="225" y="1"/>
                    <a:pt x="225" y="1"/>
                    <a:pt x="225" y="1"/>
                  </a:cubicBezTo>
                  <a:cubicBezTo>
                    <a:pt x="221" y="3"/>
                    <a:pt x="219" y="6"/>
                    <a:pt x="219" y="10"/>
                  </a:cubicBezTo>
                  <a:cubicBezTo>
                    <a:pt x="219" y="14"/>
                    <a:pt x="222" y="18"/>
                    <a:pt x="225" y="19"/>
                  </a:cubicBezTo>
                  <a:cubicBezTo>
                    <a:pt x="226" y="20"/>
                    <a:pt x="227" y="20"/>
                    <a:pt x="229" y="20"/>
                  </a:cubicBezTo>
                  <a:cubicBezTo>
                    <a:pt x="240" y="20"/>
                    <a:pt x="240" y="20"/>
                    <a:pt x="240" y="20"/>
                  </a:cubicBezTo>
                  <a:cubicBezTo>
                    <a:pt x="246" y="20"/>
                    <a:pt x="246" y="20"/>
                    <a:pt x="246" y="20"/>
                  </a:cubicBezTo>
                  <a:cubicBezTo>
                    <a:pt x="235" y="28"/>
                    <a:pt x="235" y="28"/>
                    <a:pt x="235" y="28"/>
                  </a:cubicBezTo>
                  <a:cubicBezTo>
                    <a:pt x="216" y="45"/>
                    <a:pt x="216" y="45"/>
                    <a:pt x="216" y="45"/>
                  </a:cubicBezTo>
                  <a:cubicBezTo>
                    <a:pt x="205" y="54"/>
                    <a:pt x="205" y="54"/>
                    <a:pt x="205" y="54"/>
                  </a:cubicBezTo>
                  <a:cubicBezTo>
                    <a:pt x="190" y="66"/>
                    <a:pt x="190" y="66"/>
                    <a:pt x="190" y="66"/>
                  </a:cubicBezTo>
                  <a:cubicBezTo>
                    <a:pt x="181" y="73"/>
                    <a:pt x="181" y="73"/>
                    <a:pt x="181" y="73"/>
                  </a:cubicBezTo>
                  <a:cubicBezTo>
                    <a:pt x="171" y="63"/>
                    <a:pt x="171" y="63"/>
                    <a:pt x="171" y="63"/>
                  </a:cubicBezTo>
                  <a:cubicBezTo>
                    <a:pt x="167" y="59"/>
                    <a:pt x="167" y="59"/>
                    <a:pt x="167" y="59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1" y="42"/>
                    <a:pt x="145" y="42"/>
                    <a:pt x="141" y="45"/>
                  </a:cubicBezTo>
                  <a:cubicBezTo>
                    <a:pt x="131" y="53"/>
                    <a:pt x="131" y="53"/>
                    <a:pt x="131" y="53"/>
                  </a:cubicBezTo>
                  <a:cubicBezTo>
                    <a:pt x="119" y="62"/>
                    <a:pt x="119" y="62"/>
                    <a:pt x="119" y="62"/>
                  </a:cubicBezTo>
                  <a:cubicBezTo>
                    <a:pt x="112" y="67"/>
                    <a:pt x="112" y="67"/>
                    <a:pt x="112" y="67"/>
                  </a:cubicBezTo>
                  <a:cubicBezTo>
                    <a:pt x="108" y="70"/>
                    <a:pt x="108" y="70"/>
                    <a:pt x="108" y="70"/>
                  </a:cubicBezTo>
                  <a:cubicBezTo>
                    <a:pt x="71" y="98"/>
                    <a:pt x="71" y="98"/>
                    <a:pt x="71" y="98"/>
                  </a:cubicBezTo>
                  <a:cubicBezTo>
                    <a:pt x="70" y="98"/>
                    <a:pt x="70" y="98"/>
                    <a:pt x="70" y="98"/>
                  </a:cubicBezTo>
                  <a:cubicBezTo>
                    <a:pt x="59" y="107"/>
                    <a:pt x="59" y="107"/>
                    <a:pt x="59" y="107"/>
                  </a:cubicBezTo>
                  <a:cubicBezTo>
                    <a:pt x="11" y="142"/>
                    <a:pt x="11" y="142"/>
                    <a:pt x="11" y="142"/>
                  </a:cubicBezTo>
                  <a:cubicBezTo>
                    <a:pt x="6" y="147"/>
                    <a:pt x="6" y="147"/>
                    <a:pt x="6" y="147"/>
                  </a:cubicBezTo>
                  <a:cubicBezTo>
                    <a:pt x="1" y="150"/>
                    <a:pt x="0" y="156"/>
                    <a:pt x="4" y="160"/>
                  </a:cubicBezTo>
                  <a:cubicBezTo>
                    <a:pt x="6" y="163"/>
                    <a:pt x="10" y="165"/>
                    <a:pt x="13" y="164"/>
                  </a:cubicBezTo>
                  <a:cubicBezTo>
                    <a:pt x="15" y="164"/>
                    <a:pt x="16" y="163"/>
                    <a:pt x="17" y="162"/>
                  </a:cubicBezTo>
                  <a:cubicBezTo>
                    <a:pt x="59" y="131"/>
                    <a:pt x="59" y="131"/>
                    <a:pt x="59" y="131"/>
                  </a:cubicBezTo>
                  <a:cubicBezTo>
                    <a:pt x="70" y="123"/>
                    <a:pt x="70" y="123"/>
                    <a:pt x="70" y="123"/>
                  </a:cubicBezTo>
                  <a:cubicBezTo>
                    <a:pt x="71" y="122"/>
                    <a:pt x="71" y="122"/>
                    <a:pt x="71" y="122"/>
                  </a:cubicBezTo>
                  <a:cubicBezTo>
                    <a:pt x="108" y="94"/>
                    <a:pt x="108" y="94"/>
                    <a:pt x="108" y="94"/>
                  </a:cubicBezTo>
                  <a:cubicBezTo>
                    <a:pt x="112" y="91"/>
                    <a:pt x="112" y="91"/>
                    <a:pt x="112" y="91"/>
                  </a:cubicBezTo>
                  <a:cubicBezTo>
                    <a:pt x="119" y="86"/>
                    <a:pt x="119" y="86"/>
                    <a:pt x="119" y="86"/>
                  </a:cubicBezTo>
                  <a:cubicBezTo>
                    <a:pt x="131" y="77"/>
                    <a:pt x="131" y="77"/>
                    <a:pt x="131" y="77"/>
                  </a:cubicBezTo>
                  <a:cubicBezTo>
                    <a:pt x="146" y="65"/>
                    <a:pt x="146" y="65"/>
                    <a:pt x="146" y="65"/>
                  </a:cubicBezTo>
                  <a:cubicBezTo>
                    <a:pt x="156" y="76"/>
                    <a:pt x="156" y="76"/>
                    <a:pt x="156" y="76"/>
                  </a:cubicBezTo>
                  <a:cubicBezTo>
                    <a:pt x="167" y="87"/>
                    <a:pt x="167" y="87"/>
                    <a:pt x="167" y="87"/>
                  </a:cubicBezTo>
                  <a:cubicBezTo>
                    <a:pt x="171" y="91"/>
                    <a:pt x="171" y="91"/>
                    <a:pt x="171" y="91"/>
                  </a:cubicBezTo>
                  <a:cubicBezTo>
                    <a:pt x="173" y="93"/>
                    <a:pt x="173" y="93"/>
                    <a:pt x="173" y="93"/>
                  </a:cubicBezTo>
                  <a:cubicBezTo>
                    <a:pt x="177" y="96"/>
                    <a:pt x="182" y="97"/>
                    <a:pt x="186" y="9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205" y="79"/>
                    <a:pt x="205" y="79"/>
                    <a:pt x="205" y="79"/>
                  </a:cubicBezTo>
                  <a:cubicBezTo>
                    <a:pt x="216" y="70"/>
                    <a:pt x="216" y="70"/>
                    <a:pt x="216" y="70"/>
                  </a:cubicBezTo>
                  <a:cubicBezTo>
                    <a:pt x="231" y="58"/>
                    <a:pt x="231" y="58"/>
                    <a:pt x="231" y="58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4" y="31"/>
                    <a:pt x="264" y="31"/>
                    <a:pt x="264" y="31"/>
                  </a:cubicBezTo>
                  <a:cubicBezTo>
                    <a:pt x="264" y="53"/>
                    <a:pt x="264" y="53"/>
                    <a:pt x="264" y="53"/>
                  </a:cubicBezTo>
                  <a:cubicBezTo>
                    <a:pt x="264" y="58"/>
                    <a:pt x="268" y="62"/>
                    <a:pt x="274" y="62"/>
                  </a:cubicBezTo>
                  <a:cubicBezTo>
                    <a:pt x="279" y="62"/>
                    <a:pt x="283" y="58"/>
                    <a:pt x="283" y="53"/>
                  </a:cubicBezTo>
                  <a:lnTo>
                    <a:pt x="283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cs typeface="+mn-ea"/>
              </a:endParaRPr>
            </a:p>
          </p:txBody>
        </p:sp>
      </p:grpSp>
      <p:pic>
        <p:nvPicPr>
          <p:cNvPr id="55" name="Graphic 54" descr="Research">
            <a:extLst>
              <a:ext uri="{FF2B5EF4-FFF2-40B4-BE49-F238E27FC236}">
                <a16:creationId xmlns:a16="http://schemas.microsoft.com/office/drawing/2014/main" id="{F3E112AE-55EA-F447-AE5B-2012E0D661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55045" y="2186524"/>
            <a:ext cx="757187" cy="757187"/>
          </a:xfrm>
          <a:prstGeom prst="rect">
            <a:avLst/>
          </a:prstGeom>
        </p:spPr>
      </p:pic>
      <p:pic>
        <p:nvPicPr>
          <p:cNvPr id="56" name="Graphic 55" descr="Head with gears">
            <a:extLst>
              <a:ext uri="{FF2B5EF4-FFF2-40B4-BE49-F238E27FC236}">
                <a16:creationId xmlns:a16="http://schemas.microsoft.com/office/drawing/2014/main" id="{C7C821A3-AA66-B743-AD9F-8B8FB9896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1651" y="2077535"/>
            <a:ext cx="899996" cy="899996"/>
          </a:xfrm>
          <a:prstGeom prst="rect">
            <a:avLst/>
          </a:prstGeom>
        </p:spPr>
      </p:pic>
      <p:grpSp>
        <p:nvGrpSpPr>
          <p:cNvPr id="57" name="Group 56">
            <a:extLst>
              <a:ext uri="{FF2B5EF4-FFF2-40B4-BE49-F238E27FC236}">
                <a16:creationId xmlns:a16="http://schemas.microsoft.com/office/drawing/2014/main" id="{EEB8C1C9-619E-BC4A-9982-67CF84EBD4B7}"/>
              </a:ext>
            </a:extLst>
          </p:cNvPr>
          <p:cNvGrpSpPr/>
          <p:nvPr/>
        </p:nvGrpSpPr>
        <p:grpSpPr>
          <a:xfrm>
            <a:off x="4497252" y="3743286"/>
            <a:ext cx="2828793" cy="346703"/>
            <a:chOff x="647005" y="2844801"/>
            <a:chExt cx="2827867" cy="406400"/>
          </a:xfrm>
        </p:grpSpPr>
        <p:sp>
          <p:nvSpPr>
            <p:cNvPr id="58" name="圆角矩形 1">
              <a:extLst>
                <a:ext uri="{FF2B5EF4-FFF2-40B4-BE49-F238E27FC236}">
                  <a16:creationId xmlns:a16="http://schemas.microsoft.com/office/drawing/2014/main" id="{F6B49FC5-04BC-2141-B484-EBC1D7118799}"/>
                </a:ext>
              </a:extLst>
            </p:cNvPr>
            <p:cNvSpPr/>
            <p:nvPr/>
          </p:nvSpPr>
          <p:spPr>
            <a:xfrm>
              <a:off x="647005" y="2844801"/>
              <a:ext cx="2827867" cy="406400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8FA4B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rgbClr val="523A2C"/>
                </a:solidFill>
              </a:endParaRPr>
            </a:p>
          </p:txBody>
        </p:sp>
        <p:sp>
          <p:nvSpPr>
            <p:cNvPr id="59" name="圆角矩形 2">
              <a:extLst>
                <a:ext uri="{FF2B5EF4-FFF2-40B4-BE49-F238E27FC236}">
                  <a16:creationId xmlns:a16="http://schemas.microsoft.com/office/drawing/2014/main" id="{56A53812-4202-A347-8D8F-22B5E0E7608D}"/>
                </a:ext>
              </a:extLst>
            </p:cNvPr>
            <p:cNvSpPr/>
            <p:nvPr/>
          </p:nvSpPr>
          <p:spPr>
            <a:xfrm>
              <a:off x="647005" y="2844801"/>
              <a:ext cx="1083718" cy="406399"/>
            </a:xfrm>
            <a:prstGeom prst="roundRect">
              <a:avLst>
                <a:gd name="adj" fmla="val 50000"/>
              </a:avLst>
            </a:prstGeom>
            <a:solidFill>
              <a:srgbClr val="8FA4B7"/>
            </a:solidFill>
            <a:ln>
              <a:solidFill>
                <a:srgbClr val="8FA4B7"/>
              </a:solidFill>
            </a:ln>
            <a:effectLst>
              <a:reflection stA="40000" endPos="30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rgbClr val="523A2C"/>
                </a:solidFill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E11EC406-C8AC-E246-9A19-7500DBF31147}"/>
              </a:ext>
            </a:extLst>
          </p:cNvPr>
          <p:cNvGrpSpPr/>
          <p:nvPr/>
        </p:nvGrpSpPr>
        <p:grpSpPr>
          <a:xfrm>
            <a:off x="7982418" y="3742374"/>
            <a:ext cx="2828793" cy="346703"/>
            <a:chOff x="647005" y="2844801"/>
            <a:chExt cx="2827867" cy="406400"/>
          </a:xfrm>
        </p:grpSpPr>
        <p:sp>
          <p:nvSpPr>
            <p:cNvPr id="62" name="圆角矩形 1">
              <a:extLst>
                <a:ext uri="{FF2B5EF4-FFF2-40B4-BE49-F238E27FC236}">
                  <a16:creationId xmlns:a16="http://schemas.microsoft.com/office/drawing/2014/main" id="{5B6351E6-A5F8-D248-84F8-D505D92CBD53}"/>
                </a:ext>
              </a:extLst>
            </p:cNvPr>
            <p:cNvSpPr/>
            <p:nvPr/>
          </p:nvSpPr>
          <p:spPr>
            <a:xfrm>
              <a:off x="647005" y="2844801"/>
              <a:ext cx="2827867" cy="406400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8FA4B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rgbClr val="523A2C"/>
                </a:solidFill>
              </a:endParaRPr>
            </a:p>
          </p:txBody>
        </p:sp>
        <p:sp>
          <p:nvSpPr>
            <p:cNvPr id="63" name="圆角矩形 2">
              <a:extLst>
                <a:ext uri="{FF2B5EF4-FFF2-40B4-BE49-F238E27FC236}">
                  <a16:creationId xmlns:a16="http://schemas.microsoft.com/office/drawing/2014/main" id="{5955FC58-0899-C44E-9D51-7F03E52AF932}"/>
                </a:ext>
              </a:extLst>
            </p:cNvPr>
            <p:cNvSpPr/>
            <p:nvPr/>
          </p:nvSpPr>
          <p:spPr>
            <a:xfrm>
              <a:off x="647006" y="2844801"/>
              <a:ext cx="482892" cy="406399"/>
            </a:xfrm>
            <a:prstGeom prst="roundRect">
              <a:avLst>
                <a:gd name="adj" fmla="val 50000"/>
              </a:avLst>
            </a:prstGeom>
            <a:solidFill>
              <a:srgbClr val="8FA4B7"/>
            </a:solidFill>
            <a:ln>
              <a:solidFill>
                <a:srgbClr val="8FA4B7"/>
              </a:solidFill>
            </a:ln>
            <a:effectLst>
              <a:reflection stA="40000" endPos="30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rgbClr val="523A2C"/>
                </a:solidFill>
              </a:endParaRPr>
            </a:p>
          </p:txBody>
        </p:sp>
      </p:grpSp>
      <p:sp>
        <p:nvSpPr>
          <p:cNvPr id="65" name="文本框 25">
            <a:extLst>
              <a:ext uri="{FF2B5EF4-FFF2-40B4-BE49-F238E27FC236}">
                <a16:creationId xmlns:a16="http://schemas.microsoft.com/office/drawing/2014/main" id="{382790A2-09B5-5A45-BE18-590C1CC45EA5}"/>
              </a:ext>
            </a:extLst>
          </p:cNvPr>
          <p:cNvSpPr txBox="1"/>
          <p:nvPr/>
        </p:nvSpPr>
        <p:spPr>
          <a:xfrm>
            <a:off x="5085888" y="3746282"/>
            <a:ext cx="5421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30%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6" name="文本框 25">
            <a:extLst>
              <a:ext uri="{FF2B5EF4-FFF2-40B4-BE49-F238E27FC236}">
                <a16:creationId xmlns:a16="http://schemas.microsoft.com/office/drawing/2014/main" id="{EE668B4D-70A6-D04D-A0E2-8221220EEA70}"/>
              </a:ext>
            </a:extLst>
          </p:cNvPr>
          <p:cNvSpPr txBox="1"/>
          <p:nvPr/>
        </p:nvSpPr>
        <p:spPr>
          <a:xfrm>
            <a:off x="8001070" y="3734158"/>
            <a:ext cx="5421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15%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BD1310-312C-F949-9822-0DBE8564CCA1}"/>
              </a:ext>
            </a:extLst>
          </p:cNvPr>
          <p:cNvSpPr/>
          <p:nvPr/>
        </p:nvSpPr>
        <p:spPr>
          <a:xfrm>
            <a:off x="961872" y="4420125"/>
            <a:ext cx="287213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cs typeface="Calibri" panose="020F0502020204030204" pitchFamily="34" charset="0"/>
              </a:rPr>
              <a:t>Visualized the Python JSON blob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EE7342-8FFC-6A41-97B4-DF003FDECF64}"/>
              </a:ext>
            </a:extLst>
          </p:cNvPr>
          <p:cNvSpPr/>
          <p:nvPr/>
        </p:nvSpPr>
        <p:spPr>
          <a:xfrm>
            <a:off x="938359" y="4817582"/>
            <a:ext cx="298767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cs typeface="Calibri" panose="020F0502020204030204" pitchFamily="34" charset="0"/>
              </a:rPr>
              <a:t>Extracted text data from JSON file</a:t>
            </a:r>
          </a:p>
          <a:p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cs typeface="Calibri" panose="020F0502020204030204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74A61CC-E5F7-264C-97D4-B9C1BF423614}"/>
              </a:ext>
            </a:extLst>
          </p:cNvPr>
          <p:cNvSpPr/>
          <p:nvPr/>
        </p:nvSpPr>
        <p:spPr>
          <a:xfrm>
            <a:off x="4580163" y="4395573"/>
            <a:ext cx="59693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cs typeface="Calibri" panose="020F0502020204030204" pitchFamily="34" charset="0"/>
              </a:rPr>
              <a:t>Performed basic sentiment analysis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F286B2-9AF8-0C41-BC1F-4EA9A5392B40}"/>
              </a:ext>
            </a:extLst>
          </p:cNvPr>
          <p:cNvSpPr/>
          <p:nvPr/>
        </p:nvSpPr>
        <p:spPr>
          <a:xfrm>
            <a:off x="951294" y="5228659"/>
            <a:ext cx="16423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Cleaned text data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372DBFF-12B8-184C-B3FE-334418E794C5}"/>
              </a:ext>
            </a:extLst>
          </p:cNvPr>
          <p:cNvSpPr/>
          <p:nvPr/>
        </p:nvSpPr>
        <p:spPr>
          <a:xfrm>
            <a:off x="4586319" y="4817127"/>
            <a:ext cx="357777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cs typeface="Calibri" panose="020F0502020204030204" pitchFamily="34" charset="0"/>
              </a:rPr>
              <a:t>Identified the posts with negative</a:t>
            </a:r>
          </a:p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cs typeface="Calibri" panose="020F0502020204030204" pitchFamily="34" charset="0"/>
              </a:rPr>
              <a:t>sentiment and words with top frequency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EA7EB13-BC5A-914B-87E4-D48B41865373}"/>
              </a:ext>
            </a:extLst>
          </p:cNvPr>
          <p:cNvSpPr/>
          <p:nvPr/>
        </p:nvSpPr>
        <p:spPr>
          <a:xfrm>
            <a:off x="8026470" y="4383449"/>
            <a:ext cx="35769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Statistical analysis and representation of </a:t>
            </a:r>
          </a:p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sentiment analysis results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761619D-792D-6841-95B4-CA3743AADEAB}"/>
              </a:ext>
            </a:extLst>
          </p:cNvPr>
          <p:cNvGrpSpPr/>
          <p:nvPr/>
        </p:nvGrpSpPr>
        <p:grpSpPr>
          <a:xfrm>
            <a:off x="634317" y="349805"/>
            <a:ext cx="1293176" cy="1101623"/>
            <a:chOff x="821781" y="303754"/>
            <a:chExt cx="1496395" cy="1299101"/>
          </a:xfrm>
        </p:grpSpPr>
        <p:sp>
          <p:nvSpPr>
            <p:cNvPr id="38" name="椭圆 51">
              <a:extLst>
                <a:ext uri="{FF2B5EF4-FFF2-40B4-BE49-F238E27FC236}">
                  <a16:creationId xmlns:a16="http://schemas.microsoft.com/office/drawing/2014/main" id="{BCA051B0-E209-A14D-BEFF-663E5E4186F6}"/>
                </a:ext>
              </a:extLst>
            </p:cNvPr>
            <p:cNvSpPr/>
            <p:nvPr/>
          </p:nvSpPr>
          <p:spPr>
            <a:xfrm>
              <a:off x="1019075" y="303754"/>
              <a:ext cx="1299101" cy="1299101"/>
            </a:xfrm>
            <a:prstGeom prst="ellipse">
              <a:avLst/>
            </a:prstGeom>
            <a:solidFill>
              <a:srgbClr val="D4E6F1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rgbClr val="523A2C"/>
                </a:solidFill>
              </a:endParaRPr>
            </a:p>
          </p:txBody>
        </p:sp>
        <p:sp>
          <p:nvSpPr>
            <p:cNvPr id="39" name="椭圆 52">
              <a:extLst>
                <a:ext uri="{FF2B5EF4-FFF2-40B4-BE49-F238E27FC236}">
                  <a16:creationId xmlns:a16="http://schemas.microsoft.com/office/drawing/2014/main" id="{A173B923-B275-2144-9823-F76F0A3E5223}"/>
                </a:ext>
              </a:extLst>
            </p:cNvPr>
            <p:cNvSpPr/>
            <p:nvPr/>
          </p:nvSpPr>
          <p:spPr>
            <a:xfrm>
              <a:off x="821781" y="1040074"/>
              <a:ext cx="524547" cy="524547"/>
            </a:xfrm>
            <a:prstGeom prst="ellipse">
              <a:avLst/>
            </a:prstGeom>
            <a:solidFill>
              <a:srgbClr val="8FA4B7"/>
            </a:solidFill>
            <a:ln>
              <a:noFill/>
            </a:ln>
            <a:effectLst>
              <a:reflection stA="40000" endPos="30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rgbClr val="523A2C"/>
                </a:solidFill>
              </a:endParaRPr>
            </a:p>
          </p:txBody>
        </p:sp>
      </p:grpSp>
      <p:sp>
        <p:nvSpPr>
          <p:cNvPr id="40" name="TextBox 6">
            <a:extLst>
              <a:ext uri="{FF2B5EF4-FFF2-40B4-BE49-F238E27FC236}">
                <a16:creationId xmlns:a16="http://schemas.microsoft.com/office/drawing/2014/main" id="{929F8742-0DFB-9D47-99F9-A4F4CB5EB7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6608" y="623059"/>
            <a:ext cx="4327123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  <a:sp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70302020209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Phase 2: Data Analysis</a:t>
            </a:r>
            <a:endParaRPr lang="zh-CN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703020202090204" pitchFamily="34" charset="0"/>
              <a:cs typeface="Tahoma" panose="020B060403050404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687F74D-0262-0A44-9A31-5C38BF1B6C13}"/>
              </a:ext>
            </a:extLst>
          </p:cNvPr>
          <p:cNvSpPr txBox="1"/>
          <p:nvPr/>
        </p:nvSpPr>
        <p:spPr>
          <a:xfrm>
            <a:off x="10916356" y="6434667"/>
            <a:ext cx="722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431432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7BD1310-312C-F949-9822-0DBE8564CCA1}"/>
              </a:ext>
            </a:extLst>
          </p:cNvPr>
          <p:cNvSpPr/>
          <p:nvPr/>
        </p:nvSpPr>
        <p:spPr>
          <a:xfrm>
            <a:off x="1087628" y="4940687"/>
            <a:ext cx="27801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Determine how to store results</a:t>
            </a:r>
          </a:p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from NLP analysis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74A61CC-E5F7-264C-97D4-B9C1BF423614}"/>
              </a:ext>
            </a:extLst>
          </p:cNvPr>
          <p:cNvSpPr/>
          <p:nvPr/>
        </p:nvSpPr>
        <p:spPr>
          <a:xfrm>
            <a:off x="4484329" y="4356256"/>
            <a:ext cx="59693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Perform topic and similarity analysis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372DBFF-12B8-184C-B3FE-334418E794C5}"/>
              </a:ext>
            </a:extLst>
          </p:cNvPr>
          <p:cNvSpPr/>
          <p:nvPr/>
        </p:nvSpPr>
        <p:spPr>
          <a:xfrm>
            <a:off x="4497252" y="4747851"/>
            <a:ext cx="648613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Test quality of data to determine </a:t>
            </a:r>
          </a:p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if trained models are viable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7AAA730-8064-8444-9C41-E5586C47DBD4}"/>
              </a:ext>
            </a:extLst>
          </p:cNvPr>
          <p:cNvSpPr/>
          <p:nvPr/>
        </p:nvSpPr>
        <p:spPr>
          <a:xfrm>
            <a:off x="1087628" y="4334103"/>
            <a:ext cx="278204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Extract more information from </a:t>
            </a:r>
          </a:p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JSON file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4DE94E-82D4-CB40-A1B4-4D3C599247AB}"/>
              </a:ext>
            </a:extLst>
          </p:cNvPr>
          <p:cNvSpPr/>
          <p:nvPr/>
        </p:nvSpPr>
        <p:spPr>
          <a:xfrm>
            <a:off x="8001499" y="4392115"/>
            <a:ext cx="333803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Perform more basic statistical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DCDC0E-D5EF-D84E-8177-E3BCC0E1C5C7}"/>
              </a:ext>
            </a:extLst>
          </p:cNvPr>
          <p:cNvSpPr/>
          <p:nvPr/>
        </p:nvSpPr>
        <p:spPr>
          <a:xfrm>
            <a:off x="7997454" y="4783710"/>
            <a:ext cx="30169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Perform statistical analysis on NLP</a:t>
            </a:r>
          </a:p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parameters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245BDF9-D011-8B49-9902-727CFAE2CB43}"/>
              </a:ext>
            </a:extLst>
          </p:cNvPr>
          <p:cNvGrpSpPr/>
          <p:nvPr/>
        </p:nvGrpSpPr>
        <p:grpSpPr>
          <a:xfrm>
            <a:off x="634317" y="349805"/>
            <a:ext cx="1293176" cy="1101623"/>
            <a:chOff x="821781" y="303754"/>
            <a:chExt cx="1496395" cy="1299101"/>
          </a:xfrm>
        </p:grpSpPr>
        <p:sp>
          <p:nvSpPr>
            <p:cNvPr id="38" name="椭圆 51">
              <a:extLst>
                <a:ext uri="{FF2B5EF4-FFF2-40B4-BE49-F238E27FC236}">
                  <a16:creationId xmlns:a16="http://schemas.microsoft.com/office/drawing/2014/main" id="{56A3BF40-981D-3646-A9E9-53FAC59ADA1E}"/>
                </a:ext>
              </a:extLst>
            </p:cNvPr>
            <p:cNvSpPr/>
            <p:nvPr/>
          </p:nvSpPr>
          <p:spPr>
            <a:xfrm>
              <a:off x="1019075" y="303754"/>
              <a:ext cx="1299101" cy="1299101"/>
            </a:xfrm>
            <a:prstGeom prst="ellipse">
              <a:avLst/>
            </a:prstGeom>
            <a:solidFill>
              <a:srgbClr val="D4E6F1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rgbClr val="523A2C"/>
                </a:solidFill>
              </a:endParaRPr>
            </a:p>
          </p:txBody>
        </p:sp>
        <p:sp>
          <p:nvSpPr>
            <p:cNvPr id="39" name="椭圆 52">
              <a:extLst>
                <a:ext uri="{FF2B5EF4-FFF2-40B4-BE49-F238E27FC236}">
                  <a16:creationId xmlns:a16="http://schemas.microsoft.com/office/drawing/2014/main" id="{231870FB-F209-C244-AA0F-54190D70E247}"/>
                </a:ext>
              </a:extLst>
            </p:cNvPr>
            <p:cNvSpPr/>
            <p:nvPr/>
          </p:nvSpPr>
          <p:spPr>
            <a:xfrm>
              <a:off x="821781" y="1040074"/>
              <a:ext cx="524547" cy="524547"/>
            </a:xfrm>
            <a:prstGeom prst="ellipse">
              <a:avLst/>
            </a:prstGeom>
            <a:solidFill>
              <a:srgbClr val="8FA4B7"/>
            </a:solidFill>
            <a:ln>
              <a:noFill/>
            </a:ln>
            <a:effectLst>
              <a:reflection stA="40000" endPos="30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rgbClr val="523A2C"/>
                </a:solidFill>
              </a:endParaRPr>
            </a:p>
          </p:txBody>
        </p:sp>
      </p:grpSp>
      <p:sp>
        <p:nvSpPr>
          <p:cNvPr id="40" name="TextBox 6">
            <a:extLst>
              <a:ext uri="{FF2B5EF4-FFF2-40B4-BE49-F238E27FC236}">
                <a16:creationId xmlns:a16="http://schemas.microsoft.com/office/drawing/2014/main" id="{13B429AD-92B2-5A4E-88B9-E2818D95B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665" y="623059"/>
            <a:ext cx="4327123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  <a:sp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70302020209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Phase 2: Remaining Steps</a:t>
            </a:r>
            <a:endParaRPr lang="zh-CN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703020202090204" pitchFamily="34" charset="0"/>
              <a:cs typeface="Tahoma" panose="020B060403050404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777F69B-9DA4-3446-BC3A-D42A46E6AB20}"/>
              </a:ext>
            </a:extLst>
          </p:cNvPr>
          <p:cNvSpPr txBox="1"/>
          <p:nvPr/>
        </p:nvSpPr>
        <p:spPr>
          <a:xfrm>
            <a:off x="1223095" y="3131011"/>
            <a:ext cx="3415115" cy="400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Montserrat" charset="0"/>
                <a:cs typeface="Calibri" panose="020F0502020204030204" pitchFamily="34" charset="0"/>
              </a:rPr>
              <a:t>Data Engineering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140393E-2689-5B4A-AC72-9BC29E8EC6CA}"/>
              </a:ext>
            </a:extLst>
          </p:cNvPr>
          <p:cNvSpPr txBox="1"/>
          <p:nvPr/>
        </p:nvSpPr>
        <p:spPr>
          <a:xfrm>
            <a:off x="4882422" y="3136047"/>
            <a:ext cx="3415115" cy="400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Montserrat" charset="0"/>
                <a:cs typeface="Calibri" panose="020F0502020204030204" pitchFamily="34" charset="0"/>
              </a:rPr>
              <a:t>NLP Analysis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5BB677C-11AA-B242-BF55-857969B3EBB9}"/>
              </a:ext>
            </a:extLst>
          </p:cNvPr>
          <p:cNvSpPr txBox="1"/>
          <p:nvPr/>
        </p:nvSpPr>
        <p:spPr>
          <a:xfrm>
            <a:off x="7962183" y="3130939"/>
            <a:ext cx="3415115" cy="400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Montserrat" charset="0"/>
                <a:cs typeface="Calibri" panose="020F0502020204030204" pitchFamily="34" charset="0"/>
              </a:rPr>
              <a:t>Statistical Visualization</a:t>
            </a:r>
          </a:p>
        </p:txBody>
      </p:sp>
      <p:grpSp>
        <p:nvGrpSpPr>
          <p:cNvPr id="60" name="组合 17">
            <a:extLst>
              <a:ext uri="{FF2B5EF4-FFF2-40B4-BE49-F238E27FC236}">
                <a16:creationId xmlns:a16="http://schemas.microsoft.com/office/drawing/2014/main" id="{B8EDFA47-B8A1-7C4F-AB4D-BBD12E31C419}"/>
              </a:ext>
            </a:extLst>
          </p:cNvPr>
          <p:cNvGrpSpPr/>
          <p:nvPr/>
        </p:nvGrpSpPr>
        <p:grpSpPr>
          <a:xfrm>
            <a:off x="8865532" y="2298934"/>
            <a:ext cx="963083" cy="588433"/>
            <a:chOff x="979488" y="2314575"/>
            <a:chExt cx="722312" cy="441325"/>
          </a:xfrm>
          <a:solidFill>
            <a:srgbClr val="374552"/>
          </a:solidFill>
        </p:grpSpPr>
        <p:sp>
          <p:nvSpPr>
            <p:cNvPr id="64" name="Freeform 84">
              <a:extLst>
                <a:ext uri="{FF2B5EF4-FFF2-40B4-BE49-F238E27FC236}">
                  <a16:creationId xmlns:a16="http://schemas.microsoft.com/office/drawing/2014/main" id="{5685047B-C43B-D844-BD68-51272C6D39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7750" y="2692400"/>
              <a:ext cx="87312" cy="63500"/>
            </a:xfrm>
            <a:custGeom>
              <a:avLst/>
              <a:gdLst>
                <a:gd name="T0" fmla="*/ 34 w 34"/>
                <a:gd name="T1" fmla="*/ 21 h 25"/>
                <a:gd name="T2" fmla="*/ 34 w 34"/>
                <a:gd name="T3" fmla="*/ 0 h 25"/>
                <a:gd name="T4" fmla="*/ 1 w 34"/>
                <a:gd name="T5" fmla="*/ 25 h 25"/>
                <a:gd name="T6" fmla="*/ 31 w 34"/>
                <a:gd name="T7" fmla="*/ 25 h 25"/>
                <a:gd name="T8" fmla="*/ 34 w 34"/>
                <a:gd name="T9" fmla="*/ 2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5">
                  <a:moveTo>
                    <a:pt x="34" y="21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4" y="0"/>
                    <a:pt x="0" y="25"/>
                    <a:pt x="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3" y="25"/>
                    <a:pt x="34" y="23"/>
                    <a:pt x="34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cs typeface="+mn-ea"/>
              </a:endParaRPr>
            </a:p>
          </p:txBody>
        </p:sp>
        <p:sp>
          <p:nvSpPr>
            <p:cNvPr id="67" name="Freeform 85">
              <a:extLst>
                <a:ext uri="{FF2B5EF4-FFF2-40B4-BE49-F238E27FC236}">
                  <a16:creationId xmlns:a16="http://schemas.microsoft.com/office/drawing/2014/main" id="{94D488E1-6DF5-F443-9BDB-73FD444115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3638" y="2600325"/>
              <a:ext cx="93662" cy="155575"/>
            </a:xfrm>
            <a:custGeom>
              <a:avLst/>
              <a:gdLst>
                <a:gd name="T0" fmla="*/ 33 w 37"/>
                <a:gd name="T1" fmla="*/ 61 h 61"/>
                <a:gd name="T2" fmla="*/ 37 w 37"/>
                <a:gd name="T3" fmla="*/ 57 h 61"/>
                <a:gd name="T4" fmla="*/ 37 w 37"/>
                <a:gd name="T5" fmla="*/ 0 h 61"/>
                <a:gd name="T6" fmla="*/ 1 w 37"/>
                <a:gd name="T7" fmla="*/ 27 h 61"/>
                <a:gd name="T8" fmla="*/ 0 w 37"/>
                <a:gd name="T9" fmla="*/ 28 h 61"/>
                <a:gd name="T10" fmla="*/ 0 w 37"/>
                <a:gd name="T11" fmla="*/ 57 h 61"/>
                <a:gd name="T12" fmla="*/ 3 w 37"/>
                <a:gd name="T13" fmla="*/ 61 h 61"/>
                <a:gd name="T14" fmla="*/ 33 w 37"/>
                <a:gd name="T15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61">
                  <a:moveTo>
                    <a:pt x="33" y="61"/>
                  </a:moveTo>
                  <a:cubicBezTo>
                    <a:pt x="35" y="61"/>
                    <a:pt x="37" y="59"/>
                    <a:pt x="37" y="57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9"/>
                    <a:pt x="1" y="61"/>
                    <a:pt x="3" y="61"/>
                  </a:cubicBezTo>
                  <a:lnTo>
                    <a:pt x="33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cs typeface="+mn-ea"/>
              </a:endParaRPr>
            </a:p>
          </p:txBody>
        </p:sp>
        <p:sp>
          <p:nvSpPr>
            <p:cNvPr id="68" name="Freeform 86">
              <a:extLst>
                <a:ext uri="{FF2B5EF4-FFF2-40B4-BE49-F238E27FC236}">
                  <a16:creationId xmlns:a16="http://schemas.microsoft.com/office/drawing/2014/main" id="{1F61BE09-1B08-3B4A-A9A7-86FBD5C62B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2700" y="2525713"/>
              <a:ext cx="95250" cy="230187"/>
            </a:xfrm>
            <a:custGeom>
              <a:avLst/>
              <a:gdLst>
                <a:gd name="T0" fmla="*/ 34 w 37"/>
                <a:gd name="T1" fmla="*/ 90 h 90"/>
                <a:gd name="T2" fmla="*/ 37 w 37"/>
                <a:gd name="T3" fmla="*/ 86 h 90"/>
                <a:gd name="T4" fmla="*/ 37 w 37"/>
                <a:gd name="T5" fmla="*/ 11 h 90"/>
                <a:gd name="T6" fmla="*/ 27 w 37"/>
                <a:gd name="T7" fmla="*/ 0 h 90"/>
                <a:gd name="T8" fmla="*/ 12 w 37"/>
                <a:gd name="T9" fmla="*/ 12 h 90"/>
                <a:gd name="T10" fmla="*/ 0 w 37"/>
                <a:gd name="T11" fmla="*/ 21 h 90"/>
                <a:gd name="T12" fmla="*/ 0 w 37"/>
                <a:gd name="T13" fmla="*/ 86 h 90"/>
                <a:gd name="T14" fmla="*/ 4 w 37"/>
                <a:gd name="T15" fmla="*/ 90 h 90"/>
                <a:gd name="T16" fmla="*/ 34 w 37"/>
                <a:gd name="T17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90">
                  <a:moveTo>
                    <a:pt x="34" y="90"/>
                  </a:moveTo>
                  <a:cubicBezTo>
                    <a:pt x="35" y="90"/>
                    <a:pt x="37" y="88"/>
                    <a:pt x="37" y="86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88"/>
                    <a:pt x="2" y="90"/>
                    <a:pt x="4" y="90"/>
                  </a:cubicBezTo>
                  <a:lnTo>
                    <a:pt x="34" y="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cs typeface="+mn-ea"/>
              </a:endParaRPr>
            </a:p>
          </p:txBody>
        </p:sp>
        <p:sp>
          <p:nvSpPr>
            <p:cNvPr id="70" name="Freeform 87">
              <a:extLst>
                <a:ext uri="{FF2B5EF4-FFF2-40B4-BE49-F238E27FC236}">
                  <a16:creationId xmlns:a16="http://schemas.microsoft.com/office/drawing/2014/main" id="{C4A8E9B6-2380-8A4F-8BDC-65C924C222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4938" y="2562225"/>
              <a:ext cx="92075" cy="193675"/>
            </a:xfrm>
            <a:custGeom>
              <a:avLst/>
              <a:gdLst>
                <a:gd name="T0" fmla="*/ 33 w 36"/>
                <a:gd name="T1" fmla="*/ 76 h 76"/>
                <a:gd name="T2" fmla="*/ 36 w 36"/>
                <a:gd name="T3" fmla="*/ 72 h 76"/>
                <a:gd name="T4" fmla="*/ 36 w 36"/>
                <a:gd name="T5" fmla="*/ 0 h 76"/>
                <a:gd name="T6" fmla="*/ 22 w 36"/>
                <a:gd name="T7" fmla="*/ 11 h 76"/>
                <a:gd name="T8" fmla="*/ 18 w 36"/>
                <a:gd name="T9" fmla="*/ 14 h 76"/>
                <a:gd name="T10" fmla="*/ 5 w 36"/>
                <a:gd name="T11" fmla="*/ 13 h 76"/>
                <a:gd name="T12" fmla="*/ 4 w 36"/>
                <a:gd name="T13" fmla="*/ 12 h 76"/>
                <a:gd name="T14" fmla="*/ 0 w 36"/>
                <a:gd name="T15" fmla="*/ 8 h 76"/>
                <a:gd name="T16" fmla="*/ 0 w 36"/>
                <a:gd name="T17" fmla="*/ 72 h 76"/>
                <a:gd name="T18" fmla="*/ 3 w 36"/>
                <a:gd name="T19" fmla="*/ 76 h 76"/>
                <a:gd name="T20" fmla="*/ 33 w 36"/>
                <a:gd name="T21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76">
                  <a:moveTo>
                    <a:pt x="33" y="76"/>
                  </a:moveTo>
                  <a:cubicBezTo>
                    <a:pt x="35" y="76"/>
                    <a:pt x="36" y="74"/>
                    <a:pt x="36" y="72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4" y="17"/>
                    <a:pt x="9" y="17"/>
                    <a:pt x="5" y="13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4"/>
                    <a:pt x="1" y="76"/>
                    <a:pt x="3" y="76"/>
                  </a:cubicBezTo>
                  <a:lnTo>
                    <a:pt x="33" y="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cs typeface="+mn-ea"/>
              </a:endParaRPr>
            </a:p>
          </p:txBody>
        </p:sp>
        <p:sp>
          <p:nvSpPr>
            <p:cNvPr id="71" name="Freeform 88">
              <a:extLst>
                <a:ext uri="{FF2B5EF4-FFF2-40B4-BE49-F238E27FC236}">
                  <a16:creationId xmlns:a16="http://schemas.microsoft.com/office/drawing/2014/main" id="{EA688364-DEEE-D242-8210-6F8B89FCAF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5588" y="2465388"/>
              <a:ext cx="95250" cy="290512"/>
            </a:xfrm>
            <a:custGeom>
              <a:avLst/>
              <a:gdLst>
                <a:gd name="T0" fmla="*/ 33 w 37"/>
                <a:gd name="T1" fmla="*/ 114 h 114"/>
                <a:gd name="T2" fmla="*/ 37 w 37"/>
                <a:gd name="T3" fmla="*/ 110 h 114"/>
                <a:gd name="T4" fmla="*/ 37 w 37"/>
                <a:gd name="T5" fmla="*/ 0 h 114"/>
                <a:gd name="T6" fmla="*/ 15 w 37"/>
                <a:gd name="T7" fmla="*/ 18 h 114"/>
                <a:gd name="T8" fmla="*/ 0 w 37"/>
                <a:gd name="T9" fmla="*/ 29 h 114"/>
                <a:gd name="T10" fmla="*/ 0 w 37"/>
                <a:gd name="T11" fmla="*/ 110 h 114"/>
                <a:gd name="T12" fmla="*/ 3 w 37"/>
                <a:gd name="T13" fmla="*/ 114 h 114"/>
                <a:gd name="T14" fmla="*/ 33 w 37"/>
                <a:gd name="T15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114">
                  <a:moveTo>
                    <a:pt x="33" y="114"/>
                  </a:moveTo>
                  <a:cubicBezTo>
                    <a:pt x="35" y="114"/>
                    <a:pt x="37" y="112"/>
                    <a:pt x="37" y="11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0" y="112"/>
                    <a:pt x="1" y="114"/>
                    <a:pt x="3" y="114"/>
                  </a:cubicBezTo>
                  <a:lnTo>
                    <a:pt x="33" y="1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cs typeface="+mn-ea"/>
              </a:endParaRPr>
            </a:p>
          </p:txBody>
        </p:sp>
        <p:sp>
          <p:nvSpPr>
            <p:cNvPr id="73" name="Freeform 89">
              <a:extLst>
                <a:ext uri="{FF2B5EF4-FFF2-40B4-BE49-F238E27FC236}">
                  <a16:creationId xmlns:a16="http://schemas.microsoft.com/office/drawing/2014/main" id="{6622C7CC-1822-864B-839D-DFC3167A3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488" y="2314575"/>
              <a:ext cx="722312" cy="420687"/>
            </a:xfrm>
            <a:custGeom>
              <a:avLst/>
              <a:gdLst>
                <a:gd name="T0" fmla="*/ 283 w 283"/>
                <a:gd name="T1" fmla="*/ 10 h 165"/>
                <a:gd name="T2" fmla="*/ 280 w 283"/>
                <a:gd name="T3" fmla="*/ 3 h 165"/>
                <a:gd name="T4" fmla="*/ 273 w 283"/>
                <a:gd name="T5" fmla="*/ 0 h 165"/>
                <a:gd name="T6" fmla="*/ 263 w 283"/>
                <a:gd name="T7" fmla="*/ 0 h 165"/>
                <a:gd name="T8" fmla="*/ 229 w 283"/>
                <a:gd name="T9" fmla="*/ 0 h 165"/>
                <a:gd name="T10" fmla="*/ 225 w 283"/>
                <a:gd name="T11" fmla="*/ 1 h 165"/>
                <a:gd name="T12" fmla="*/ 225 w 283"/>
                <a:gd name="T13" fmla="*/ 1 h 165"/>
                <a:gd name="T14" fmla="*/ 219 w 283"/>
                <a:gd name="T15" fmla="*/ 10 h 165"/>
                <a:gd name="T16" fmla="*/ 225 w 283"/>
                <a:gd name="T17" fmla="*/ 19 h 165"/>
                <a:gd name="T18" fmla="*/ 229 w 283"/>
                <a:gd name="T19" fmla="*/ 20 h 165"/>
                <a:gd name="T20" fmla="*/ 240 w 283"/>
                <a:gd name="T21" fmla="*/ 20 h 165"/>
                <a:gd name="T22" fmla="*/ 246 w 283"/>
                <a:gd name="T23" fmla="*/ 20 h 165"/>
                <a:gd name="T24" fmla="*/ 235 w 283"/>
                <a:gd name="T25" fmla="*/ 28 h 165"/>
                <a:gd name="T26" fmla="*/ 216 w 283"/>
                <a:gd name="T27" fmla="*/ 45 h 165"/>
                <a:gd name="T28" fmla="*/ 205 w 283"/>
                <a:gd name="T29" fmla="*/ 54 h 165"/>
                <a:gd name="T30" fmla="*/ 190 w 283"/>
                <a:gd name="T31" fmla="*/ 66 h 165"/>
                <a:gd name="T32" fmla="*/ 181 w 283"/>
                <a:gd name="T33" fmla="*/ 73 h 165"/>
                <a:gd name="T34" fmla="*/ 171 w 283"/>
                <a:gd name="T35" fmla="*/ 63 h 165"/>
                <a:gd name="T36" fmla="*/ 167 w 283"/>
                <a:gd name="T37" fmla="*/ 59 h 165"/>
                <a:gd name="T38" fmla="*/ 156 w 283"/>
                <a:gd name="T39" fmla="*/ 48 h 165"/>
                <a:gd name="T40" fmla="*/ 154 w 283"/>
                <a:gd name="T41" fmla="*/ 46 h 165"/>
                <a:gd name="T42" fmla="*/ 141 w 283"/>
                <a:gd name="T43" fmla="*/ 45 h 165"/>
                <a:gd name="T44" fmla="*/ 131 w 283"/>
                <a:gd name="T45" fmla="*/ 53 h 165"/>
                <a:gd name="T46" fmla="*/ 119 w 283"/>
                <a:gd name="T47" fmla="*/ 62 h 165"/>
                <a:gd name="T48" fmla="*/ 112 w 283"/>
                <a:gd name="T49" fmla="*/ 67 h 165"/>
                <a:gd name="T50" fmla="*/ 108 w 283"/>
                <a:gd name="T51" fmla="*/ 70 h 165"/>
                <a:gd name="T52" fmla="*/ 71 w 283"/>
                <a:gd name="T53" fmla="*/ 98 h 165"/>
                <a:gd name="T54" fmla="*/ 70 w 283"/>
                <a:gd name="T55" fmla="*/ 98 h 165"/>
                <a:gd name="T56" fmla="*/ 59 w 283"/>
                <a:gd name="T57" fmla="*/ 107 h 165"/>
                <a:gd name="T58" fmla="*/ 11 w 283"/>
                <a:gd name="T59" fmla="*/ 142 h 165"/>
                <a:gd name="T60" fmla="*/ 6 w 283"/>
                <a:gd name="T61" fmla="*/ 147 h 165"/>
                <a:gd name="T62" fmla="*/ 4 w 283"/>
                <a:gd name="T63" fmla="*/ 160 h 165"/>
                <a:gd name="T64" fmla="*/ 13 w 283"/>
                <a:gd name="T65" fmla="*/ 164 h 165"/>
                <a:gd name="T66" fmla="*/ 17 w 283"/>
                <a:gd name="T67" fmla="*/ 162 h 165"/>
                <a:gd name="T68" fmla="*/ 59 w 283"/>
                <a:gd name="T69" fmla="*/ 131 h 165"/>
                <a:gd name="T70" fmla="*/ 70 w 283"/>
                <a:gd name="T71" fmla="*/ 123 h 165"/>
                <a:gd name="T72" fmla="*/ 71 w 283"/>
                <a:gd name="T73" fmla="*/ 122 h 165"/>
                <a:gd name="T74" fmla="*/ 108 w 283"/>
                <a:gd name="T75" fmla="*/ 94 h 165"/>
                <a:gd name="T76" fmla="*/ 112 w 283"/>
                <a:gd name="T77" fmla="*/ 91 h 165"/>
                <a:gd name="T78" fmla="*/ 119 w 283"/>
                <a:gd name="T79" fmla="*/ 86 h 165"/>
                <a:gd name="T80" fmla="*/ 131 w 283"/>
                <a:gd name="T81" fmla="*/ 77 h 165"/>
                <a:gd name="T82" fmla="*/ 146 w 283"/>
                <a:gd name="T83" fmla="*/ 65 h 165"/>
                <a:gd name="T84" fmla="*/ 156 w 283"/>
                <a:gd name="T85" fmla="*/ 76 h 165"/>
                <a:gd name="T86" fmla="*/ 167 w 283"/>
                <a:gd name="T87" fmla="*/ 87 h 165"/>
                <a:gd name="T88" fmla="*/ 171 w 283"/>
                <a:gd name="T89" fmla="*/ 91 h 165"/>
                <a:gd name="T90" fmla="*/ 173 w 283"/>
                <a:gd name="T91" fmla="*/ 93 h 165"/>
                <a:gd name="T92" fmla="*/ 186 w 283"/>
                <a:gd name="T93" fmla="*/ 94 h 165"/>
                <a:gd name="T94" fmla="*/ 190 w 283"/>
                <a:gd name="T95" fmla="*/ 90 h 165"/>
                <a:gd name="T96" fmla="*/ 205 w 283"/>
                <a:gd name="T97" fmla="*/ 79 h 165"/>
                <a:gd name="T98" fmla="*/ 216 w 283"/>
                <a:gd name="T99" fmla="*/ 70 h 165"/>
                <a:gd name="T100" fmla="*/ 231 w 283"/>
                <a:gd name="T101" fmla="*/ 58 h 165"/>
                <a:gd name="T102" fmla="*/ 263 w 283"/>
                <a:gd name="T103" fmla="*/ 31 h 165"/>
                <a:gd name="T104" fmla="*/ 264 w 283"/>
                <a:gd name="T105" fmla="*/ 31 h 165"/>
                <a:gd name="T106" fmla="*/ 264 w 283"/>
                <a:gd name="T107" fmla="*/ 53 h 165"/>
                <a:gd name="T108" fmla="*/ 274 w 283"/>
                <a:gd name="T109" fmla="*/ 62 h 165"/>
                <a:gd name="T110" fmla="*/ 283 w 283"/>
                <a:gd name="T111" fmla="*/ 53 h 165"/>
                <a:gd name="T112" fmla="*/ 283 w 283"/>
                <a:gd name="T113" fmla="*/ 1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83" h="165">
                  <a:moveTo>
                    <a:pt x="283" y="10"/>
                  </a:moveTo>
                  <a:cubicBezTo>
                    <a:pt x="283" y="7"/>
                    <a:pt x="282" y="5"/>
                    <a:pt x="280" y="3"/>
                  </a:cubicBezTo>
                  <a:cubicBezTo>
                    <a:pt x="278" y="1"/>
                    <a:pt x="276" y="0"/>
                    <a:pt x="273" y="0"/>
                  </a:cubicBezTo>
                  <a:cubicBezTo>
                    <a:pt x="263" y="0"/>
                    <a:pt x="263" y="0"/>
                    <a:pt x="263" y="0"/>
                  </a:cubicBezTo>
                  <a:cubicBezTo>
                    <a:pt x="229" y="0"/>
                    <a:pt x="229" y="0"/>
                    <a:pt x="229" y="0"/>
                  </a:cubicBezTo>
                  <a:cubicBezTo>
                    <a:pt x="227" y="0"/>
                    <a:pt x="226" y="1"/>
                    <a:pt x="225" y="1"/>
                  </a:cubicBezTo>
                  <a:cubicBezTo>
                    <a:pt x="225" y="1"/>
                    <a:pt x="225" y="1"/>
                    <a:pt x="225" y="1"/>
                  </a:cubicBezTo>
                  <a:cubicBezTo>
                    <a:pt x="221" y="3"/>
                    <a:pt x="219" y="6"/>
                    <a:pt x="219" y="10"/>
                  </a:cubicBezTo>
                  <a:cubicBezTo>
                    <a:pt x="219" y="14"/>
                    <a:pt x="222" y="18"/>
                    <a:pt x="225" y="19"/>
                  </a:cubicBezTo>
                  <a:cubicBezTo>
                    <a:pt x="226" y="20"/>
                    <a:pt x="227" y="20"/>
                    <a:pt x="229" y="20"/>
                  </a:cubicBezTo>
                  <a:cubicBezTo>
                    <a:pt x="240" y="20"/>
                    <a:pt x="240" y="20"/>
                    <a:pt x="240" y="20"/>
                  </a:cubicBezTo>
                  <a:cubicBezTo>
                    <a:pt x="246" y="20"/>
                    <a:pt x="246" y="20"/>
                    <a:pt x="246" y="20"/>
                  </a:cubicBezTo>
                  <a:cubicBezTo>
                    <a:pt x="235" y="28"/>
                    <a:pt x="235" y="28"/>
                    <a:pt x="235" y="28"/>
                  </a:cubicBezTo>
                  <a:cubicBezTo>
                    <a:pt x="216" y="45"/>
                    <a:pt x="216" y="45"/>
                    <a:pt x="216" y="45"/>
                  </a:cubicBezTo>
                  <a:cubicBezTo>
                    <a:pt x="205" y="54"/>
                    <a:pt x="205" y="54"/>
                    <a:pt x="205" y="54"/>
                  </a:cubicBezTo>
                  <a:cubicBezTo>
                    <a:pt x="190" y="66"/>
                    <a:pt x="190" y="66"/>
                    <a:pt x="190" y="66"/>
                  </a:cubicBezTo>
                  <a:cubicBezTo>
                    <a:pt x="181" y="73"/>
                    <a:pt x="181" y="73"/>
                    <a:pt x="181" y="73"/>
                  </a:cubicBezTo>
                  <a:cubicBezTo>
                    <a:pt x="171" y="63"/>
                    <a:pt x="171" y="63"/>
                    <a:pt x="171" y="63"/>
                  </a:cubicBezTo>
                  <a:cubicBezTo>
                    <a:pt x="167" y="59"/>
                    <a:pt x="167" y="59"/>
                    <a:pt x="167" y="59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1" y="42"/>
                    <a:pt x="145" y="42"/>
                    <a:pt x="141" y="45"/>
                  </a:cubicBezTo>
                  <a:cubicBezTo>
                    <a:pt x="131" y="53"/>
                    <a:pt x="131" y="53"/>
                    <a:pt x="131" y="53"/>
                  </a:cubicBezTo>
                  <a:cubicBezTo>
                    <a:pt x="119" y="62"/>
                    <a:pt x="119" y="62"/>
                    <a:pt x="119" y="62"/>
                  </a:cubicBezTo>
                  <a:cubicBezTo>
                    <a:pt x="112" y="67"/>
                    <a:pt x="112" y="67"/>
                    <a:pt x="112" y="67"/>
                  </a:cubicBezTo>
                  <a:cubicBezTo>
                    <a:pt x="108" y="70"/>
                    <a:pt x="108" y="70"/>
                    <a:pt x="108" y="70"/>
                  </a:cubicBezTo>
                  <a:cubicBezTo>
                    <a:pt x="71" y="98"/>
                    <a:pt x="71" y="98"/>
                    <a:pt x="71" y="98"/>
                  </a:cubicBezTo>
                  <a:cubicBezTo>
                    <a:pt x="70" y="98"/>
                    <a:pt x="70" y="98"/>
                    <a:pt x="70" y="98"/>
                  </a:cubicBezTo>
                  <a:cubicBezTo>
                    <a:pt x="59" y="107"/>
                    <a:pt x="59" y="107"/>
                    <a:pt x="59" y="107"/>
                  </a:cubicBezTo>
                  <a:cubicBezTo>
                    <a:pt x="11" y="142"/>
                    <a:pt x="11" y="142"/>
                    <a:pt x="11" y="142"/>
                  </a:cubicBezTo>
                  <a:cubicBezTo>
                    <a:pt x="6" y="147"/>
                    <a:pt x="6" y="147"/>
                    <a:pt x="6" y="147"/>
                  </a:cubicBezTo>
                  <a:cubicBezTo>
                    <a:pt x="1" y="150"/>
                    <a:pt x="0" y="156"/>
                    <a:pt x="4" y="160"/>
                  </a:cubicBezTo>
                  <a:cubicBezTo>
                    <a:pt x="6" y="163"/>
                    <a:pt x="10" y="165"/>
                    <a:pt x="13" y="164"/>
                  </a:cubicBezTo>
                  <a:cubicBezTo>
                    <a:pt x="15" y="164"/>
                    <a:pt x="16" y="163"/>
                    <a:pt x="17" y="162"/>
                  </a:cubicBezTo>
                  <a:cubicBezTo>
                    <a:pt x="59" y="131"/>
                    <a:pt x="59" y="131"/>
                    <a:pt x="59" y="131"/>
                  </a:cubicBezTo>
                  <a:cubicBezTo>
                    <a:pt x="70" y="123"/>
                    <a:pt x="70" y="123"/>
                    <a:pt x="70" y="123"/>
                  </a:cubicBezTo>
                  <a:cubicBezTo>
                    <a:pt x="71" y="122"/>
                    <a:pt x="71" y="122"/>
                    <a:pt x="71" y="122"/>
                  </a:cubicBezTo>
                  <a:cubicBezTo>
                    <a:pt x="108" y="94"/>
                    <a:pt x="108" y="94"/>
                    <a:pt x="108" y="94"/>
                  </a:cubicBezTo>
                  <a:cubicBezTo>
                    <a:pt x="112" y="91"/>
                    <a:pt x="112" y="91"/>
                    <a:pt x="112" y="91"/>
                  </a:cubicBezTo>
                  <a:cubicBezTo>
                    <a:pt x="119" y="86"/>
                    <a:pt x="119" y="86"/>
                    <a:pt x="119" y="86"/>
                  </a:cubicBezTo>
                  <a:cubicBezTo>
                    <a:pt x="131" y="77"/>
                    <a:pt x="131" y="77"/>
                    <a:pt x="131" y="77"/>
                  </a:cubicBezTo>
                  <a:cubicBezTo>
                    <a:pt x="146" y="65"/>
                    <a:pt x="146" y="65"/>
                    <a:pt x="146" y="65"/>
                  </a:cubicBezTo>
                  <a:cubicBezTo>
                    <a:pt x="156" y="76"/>
                    <a:pt x="156" y="76"/>
                    <a:pt x="156" y="76"/>
                  </a:cubicBezTo>
                  <a:cubicBezTo>
                    <a:pt x="167" y="87"/>
                    <a:pt x="167" y="87"/>
                    <a:pt x="167" y="87"/>
                  </a:cubicBezTo>
                  <a:cubicBezTo>
                    <a:pt x="171" y="91"/>
                    <a:pt x="171" y="91"/>
                    <a:pt x="171" y="91"/>
                  </a:cubicBezTo>
                  <a:cubicBezTo>
                    <a:pt x="173" y="93"/>
                    <a:pt x="173" y="93"/>
                    <a:pt x="173" y="93"/>
                  </a:cubicBezTo>
                  <a:cubicBezTo>
                    <a:pt x="177" y="96"/>
                    <a:pt x="182" y="97"/>
                    <a:pt x="186" y="9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205" y="79"/>
                    <a:pt x="205" y="79"/>
                    <a:pt x="205" y="79"/>
                  </a:cubicBezTo>
                  <a:cubicBezTo>
                    <a:pt x="216" y="70"/>
                    <a:pt x="216" y="70"/>
                    <a:pt x="216" y="70"/>
                  </a:cubicBezTo>
                  <a:cubicBezTo>
                    <a:pt x="231" y="58"/>
                    <a:pt x="231" y="58"/>
                    <a:pt x="231" y="58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4" y="31"/>
                    <a:pt x="264" y="31"/>
                    <a:pt x="264" y="31"/>
                  </a:cubicBezTo>
                  <a:cubicBezTo>
                    <a:pt x="264" y="53"/>
                    <a:pt x="264" y="53"/>
                    <a:pt x="264" y="53"/>
                  </a:cubicBezTo>
                  <a:cubicBezTo>
                    <a:pt x="264" y="58"/>
                    <a:pt x="268" y="62"/>
                    <a:pt x="274" y="62"/>
                  </a:cubicBezTo>
                  <a:cubicBezTo>
                    <a:pt x="279" y="62"/>
                    <a:pt x="283" y="58"/>
                    <a:pt x="283" y="53"/>
                  </a:cubicBezTo>
                  <a:lnTo>
                    <a:pt x="283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>
                <a:cs typeface="+mn-ea"/>
              </a:endParaRPr>
            </a:p>
          </p:txBody>
        </p:sp>
      </p:grpSp>
      <p:pic>
        <p:nvPicPr>
          <p:cNvPr id="74" name="Graphic 73" descr="Research">
            <a:extLst>
              <a:ext uri="{FF2B5EF4-FFF2-40B4-BE49-F238E27FC236}">
                <a16:creationId xmlns:a16="http://schemas.microsoft.com/office/drawing/2014/main" id="{0582C26D-5705-B94D-9A7A-82CD9F58F7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55045" y="2186524"/>
            <a:ext cx="757187" cy="757187"/>
          </a:xfrm>
          <a:prstGeom prst="rect">
            <a:avLst/>
          </a:prstGeom>
        </p:spPr>
      </p:pic>
      <p:pic>
        <p:nvPicPr>
          <p:cNvPr id="75" name="Graphic 74" descr="Head with gears">
            <a:extLst>
              <a:ext uri="{FF2B5EF4-FFF2-40B4-BE49-F238E27FC236}">
                <a16:creationId xmlns:a16="http://schemas.microsoft.com/office/drawing/2014/main" id="{1C781638-2D2E-794B-9AD0-627436195F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1651" y="2077535"/>
            <a:ext cx="899996" cy="899996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BB7386C9-BAD7-B34A-8074-FDE9DE18F751}"/>
              </a:ext>
            </a:extLst>
          </p:cNvPr>
          <p:cNvSpPr txBox="1"/>
          <p:nvPr/>
        </p:nvSpPr>
        <p:spPr>
          <a:xfrm>
            <a:off x="10916356" y="6434667"/>
            <a:ext cx="722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DF07BF4-91CB-F245-BFF6-4C78EC17D262}"/>
              </a:ext>
            </a:extLst>
          </p:cNvPr>
          <p:cNvGrpSpPr/>
          <p:nvPr/>
        </p:nvGrpSpPr>
        <p:grpSpPr>
          <a:xfrm>
            <a:off x="1087629" y="3731981"/>
            <a:ext cx="2828793" cy="365032"/>
            <a:chOff x="647005" y="2823316"/>
            <a:chExt cx="2827867" cy="427885"/>
          </a:xfrm>
        </p:grpSpPr>
        <p:sp>
          <p:nvSpPr>
            <p:cNvPr id="50" name="圆角矩形 1">
              <a:extLst>
                <a:ext uri="{FF2B5EF4-FFF2-40B4-BE49-F238E27FC236}">
                  <a16:creationId xmlns:a16="http://schemas.microsoft.com/office/drawing/2014/main" id="{1CEAE437-3867-E14D-9D57-882074740174}"/>
                </a:ext>
              </a:extLst>
            </p:cNvPr>
            <p:cNvSpPr/>
            <p:nvPr/>
          </p:nvSpPr>
          <p:spPr>
            <a:xfrm>
              <a:off x="647005" y="2844801"/>
              <a:ext cx="2827867" cy="406400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8FA4B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rgbClr val="523A2C"/>
                </a:solidFill>
              </a:endParaRPr>
            </a:p>
          </p:txBody>
        </p:sp>
        <p:sp>
          <p:nvSpPr>
            <p:cNvPr id="51" name="圆角矩形 2">
              <a:extLst>
                <a:ext uri="{FF2B5EF4-FFF2-40B4-BE49-F238E27FC236}">
                  <a16:creationId xmlns:a16="http://schemas.microsoft.com/office/drawing/2014/main" id="{CC3C425A-FB40-DF4C-B576-3963292804DB}"/>
                </a:ext>
              </a:extLst>
            </p:cNvPr>
            <p:cNvSpPr/>
            <p:nvPr/>
          </p:nvSpPr>
          <p:spPr>
            <a:xfrm>
              <a:off x="647005" y="2844801"/>
              <a:ext cx="2433895" cy="406399"/>
            </a:xfrm>
            <a:prstGeom prst="roundRect">
              <a:avLst>
                <a:gd name="adj" fmla="val 50000"/>
              </a:avLst>
            </a:prstGeom>
            <a:solidFill>
              <a:srgbClr val="8FA4B7"/>
            </a:solidFill>
            <a:ln>
              <a:noFill/>
            </a:ln>
            <a:effectLst>
              <a:reflection stA="40000" endPos="30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rgbClr val="523A2C"/>
                </a:solidFill>
              </a:endParaRPr>
            </a:p>
          </p:txBody>
        </p:sp>
        <p:sp>
          <p:nvSpPr>
            <p:cNvPr id="52" name="文本框 25">
              <a:extLst>
                <a:ext uri="{FF2B5EF4-FFF2-40B4-BE49-F238E27FC236}">
                  <a16:creationId xmlns:a16="http://schemas.microsoft.com/office/drawing/2014/main" id="{6313DB38-EFE4-7140-84BB-0B7DA7487FF9}"/>
                </a:ext>
              </a:extLst>
            </p:cNvPr>
            <p:cNvSpPr txBox="1"/>
            <p:nvPr/>
          </p:nvSpPr>
          <p:spPr>
            <a:xfrm>
              <a:off x="2577635" y="2823316"/>
              <a:ext cx="541958" cy="3968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80%</a:t>
              </a:r>
              <a:endPara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4DB595F-2756-7B4A-B44B-FD99B38FA5CB}"/>
              </a:ext>
            </a:extLst>
          </p:cNvPr>
          <p:cNvGrpSpPr/>
          <p:nvPr/>
        </p:nvGrpSpPr>
        <p:grpSpPr>
          <a:xfrm>
            <a:off x="4497252" y="3743286"/>
            <a:ext cx="2828793" cy="346703"/>
            <a:chOff x="647005" y="2844801"/>
            <a:chExt cx="2827867" cy="406400"/>
          </a:xfrm>
        </p:grpSpPr>
        <p:sp>
          <p:nvSpPr>
            <p:cNvPr id="54" name="圆角矩形 1">
              <a:extLst>
                <a:ext uri="{FF2B5EF4-FFF2-40B4-BE49-F238E27FC236}">
                  <a16:creationId xmlns:a16="http://schemas.microsoft.com/office/drawing/2014/main" id="{8A1D86D3-4C05-CA4A-9D97-8E3CFB3B6976}"/>
                </a:ext>
              </a:extLst>
            </p:cNvPr>
            <p:cNvSpPr/>
            <p:nvPr/>
          </p:nvSpPr>
          <p:spPr>
            <a:xfrm>
              <a:off x="647005" y="2844801"/>
              <a:ext cx="2827867" cy="406400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8FA4B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rgbClr val="523A2C"/>
                </a:solidFill>
              </a:endParaRPr>
            </a:p>
          </p:txBody>
        </p:sp>
        <p:sp>
          <p:nvSpPr>
            <p:cNvPr id="55" name="圆角矩形 2">
              <a:extLst>
                <a:ext uri="{FF2B5EF4-FFF2-40B4-BE49-F238E27FC236}">
                  <a16:creationId xmlns:a16="http://schemas.microsoft.com/office/drawing/2014/main" id="{55C8449D-FCE8-E04B-9495-5EA629D7832F}"/>
                </a:ext>
              </a:extLst>
            </p:cNvPr>
            <p:cNvSpPr/>
            <p:nvPr/>
          </p:nvSpPr>
          <p:spPr>
            <a:xfrm>
              <a:off x="647005" y="2844801"/>
              <a:ext cx="1083718" cy="406399"/>
            </a:xfrm>
            <a:prstGeom prst="roundRect">
              <a:avLst>
                <a:gd name="adj" fmla="val 50000"/>
              </a:avLst>
            </a:prstGeom>
            <a:solidFill>
              <a:srgbClr val="8FA4B7"/>
            </a:solidFill>
            <a:ln>
              <a:solidFill>
                <a:srgbClr val="8FA4B7"/>
              </a:solidFill>
            </a:ln>
            <a:effectLst>
              <a:reflection stA="40000" endPos="30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rgbClr val="523A2C"/>
                </a:solidFill>
              </a:endParaRPr>
            </a:p>
          </p:txBody>
        </p:sp>
      </p:grpSp>
      <p:sp>
        <p:nvSpPr>
          <p:cNvPr id="59" name="文本框 25">
            <a:extLst>
              <a:ext uri="{FF2B5EF4-FFF2-40B4-BE49-F238E27FC236}">
                <a16:creationId xmlns:a16="http://schemas.microsoft.com/office/drawing/2014/main" id="{3457C845-6D56-8343-ABEB-44707B6E649D}"/>
              </a:ext>
            </a:extLst>
          </p:cNvPr>
          <p:cNvSpPr txBox="1"/>
          <p:nvPr/>
        </p:nvSpPr>
        <p:spPr>
          <a:xfrm>
            <a:off x="5039189" y="3750310"/>
            <a:ext cx="542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30%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6BCD952-F2D8-9242-878A-5D6029506983}"/>
              </a:ext>
            </a:extLst>
          </p:cNvPr>
          <p:cNvGrpSpPr/>
          <p:nvPr/>
        </p:nvGrpSpPr>
        <p:grpSpPr>
          <a:xfrm>
            <a:off x="7982418" y="3742374"/>
            <a:ext cx="2828793" cy="346703"/>
            <a:chOff x="647005" y="2844801"/>
            <a:chExt cx="2827867" cy="406400"/>
          </a:xfrm>
        </p:grpSpPr>
        <p:sp>
          <p:nvSpPr>
            <p:cNvPr id="62" name="圆角矩形 1">
              <a:extLst>
                <a:ext uri="{FF2B5EF4-FFF2-40B4-BE49-F238E27FC236}">
                  <a16:creationId xmlns:a16="http://schemas.microsoft.com/office/drawing/2014/main" id="{CC3F6460-9781-854F-8D52-EDCC50E47421}"/>
                </a:ext>
              </a:extLst>
            </p:cNvPr>
            <p:cNvSpPr/>
            <p:nvPr/>
          </p:nvSpPr>
          <p:spPr>
            <a:xfrm>
              <a:off x="647005" y="2844801"/>
              <a:ext cx="2827867" cy="406400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8FA4B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rgbClr val="523A2C"/>
                </a:solidFill>
              </a:endParaRPr>
            </a:p>
          </p:txBody>
        </p:sp>
        <p:sp>
          <p:nvSpPr>
            <p:cNvPr id="63" name="圆角矩形 2">
              <a:extLst>
                <a:ext uri="{FF2B5EF4-FFF2-40B4-BE49-F238E27FC236}">
                  <a16:creationId xmlns:a16="http://schemas.microsoft.com/office/drawing/2014/main" id="{ACFA8C23-A5D5-1C4A-8109-72146140EF3A}"/>
                </a:ext>
              </a:extLst>
            </p:cNvPr>
            <p:cNvSpPr/>
            <p:nvPr/>
          </p:nvSpPr>
          <p:spPr>
            <a:xfrm>
              <a:off x="647006" y="2844801"/>
              <a:ext cx="482892" cy="406399"/>
            </a:xfrm>
            <a:prstGeom prst="roundRect">
              <a:avLst>
                <a:gd name="adj" fmla="val 50000"/>
              </a:avLst>
            </a:prstGeom>
            <a:solidFill>
              <a:srgbClr val="8FA4B7"/>
            </a:solidFill>
            <a:ln>
              <a:solidFill>
                <a:srgbClr val="8FA4B7"/>
              </a:solidFill>
            </a:ln>
            <a:effectLst>
              <a:reflection stA="40000" endPos="30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rgbClr val="523A2C"/>
                </a:solidFill>
              </a:endParaRPr>
            </a:p>
          </p:txBody>
        </p:sp>
      </p:grpSp>
      <p:sp>
        <p:nvSpPr>
          <p:cNvPr id="85" name="文本框 25">
            <a:extLst>
              <a:ext uri="{FF2B5EF4-FFF2-40B4-BE49-F238E27FC236}">
                <a16:creationId xmlns:a16="http://schemas.microsoft.com/office/drawing/2014/main" id="{D9744EFF-EF59-B444-9FCB-A273E563A487}"/>
              </a:ext>
            </a:extLst>
          </p:cNvPr>
          <p:cNvSpPr txBox="1"/>
          <p:nvPr/>
        </p:nvSpPr>
        <p:spPr>
          <a:xfrm>
            <a:off x="8001070" y="3734158"/>
            <a:ext cx="5421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15%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0328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727A52D1-C32B-214A-82F8-E6F37B80839F}"/>
              </a:ext>
            </a:extLst>
          </p:cNvPr>
          <p:cNvGrpSpPr/>
          <p:nvPr/>
        </p:nvGrpSpPr>
        <p:grpSpPr>
          <a:xfrm>
            <a:off x="634317" y="349805"/>
            <a:ext cx="1293176" cy="1101623"/>
            <a:chOff x="821781" y="303754"/>
            <a:chExt cx="1496395" cy="1299101"/>
          </a:xfrm>
        </p:grpSpPr>
        <p:sp>
          <p:nvSpPr>
            <p:cNvPr id="22" name="椭圆 51">
              <a:extLst>
                <a:ext uri="{FF2B5EF4-FFF2-40B4-BE49-F238E27FC236}">
                  <a16:creationId xmlns:a16="http://schemas.microsoft.com/office/drawing/2014/main" id="{B1A093A8-ECCF-E342-A0D2-03CE1E8CC545}"/>
                </a:ext>
              </a:extLst>
            </p:cNvPr>
            <p:cNvSpPr/>
            <p:nvPr/>
          </p:nvSpPr>
          <p:spPr>
            <a:xfrm>
              <a:off x="1019075" y="303754"/>
              <a:ext cx="1299101" cy="1299101"/>
            </a:xfrm>
            <a:prstGeom prst="ellipse">
              <a:avLst/>
            </a:prstGeom>
            <a:solidFill>
              <a:srgbClr val="D4E6F1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rgbClr val="523A2C"/>
                </a:solidFill>
              </a:endParaRPr>
            </a:p>
          </p:txBody>
        </p:sp>
        <p:sp>
          <p:nvSpPr>
            <p:cNvPr id="23" name="椭圆 52">
              <a:extLst>
                <a:ext uri="{FF2B5EF4-FFF2-40B4-BE49-F238E27FC236}">
                  <a16:creationId xmlns:a16="http://schemas.microsoft.com/office/drawing/2014/main" id="{E12B1266-099E-8249-8D35-E283B92D848B}"/>
                </a:ext>
              </a:extLst>
            </p:cNvPr>
            <p:cNvSpPr/>
            <p:nvPr/>
          </p:nvSpPr>
          <p:spPr>
            <a:xfrm>
              <a:off x="821781" y="1040074"/>
              <a:ext cx="524547" cy="524547"/>
            </a:xfrm>
            <a:prstGeom prst="ellipse">
              <a:avLst/>
            </a:prstGeom>
            <a:solidFill>
              <a:srgbClr val="8FA4B7"/>
            </a:solidFill>
            <a:ln>
              <a:noFill/>
            </a:ln>
            <a:effectLst>
              <a:reflection stA="40000" endPos="30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rgbClr val="523A2C"/>
                </a:solidFill>
              </a:endParaRPr>
            </a:p>
          </p:txBody>
        </p:sp>
      </p:grpSp>
      <p:sp>
        <p:nvSpPr>
          <p:cNvPr id="24" name="TextBox 6">
            <a:extLst>
              <a:ext uri="{FF2B5EF4-FFF2-40B4-BE49-F238E27FC236}">
                <a16:creationId xmlns:a16="http://schemas.microsoft.com/office/drawing/2014/main" id="{E8850623-02C0-4147-B266-1F9AC0FAF5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877" y="638333"/>
            <a:ext cx="6189504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  <a:sp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70302020209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Phase 3: Scaling the Project</a:t>
            </a:r>
            <a:endParaRPr lang="zh-CN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703020202090204" pitchFamily="34" charset="0"/>
              <a:cs typeface="Tahoma" panose="020B0604030504040204" pitchFamily="34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143B708-96C6-C848-A897-E8D831EC7A2B}"/>
              </a:ext>
            </a:extLst>
          </p:cNvPr>
          <p:cNvGrpSpPr/>
          <p:nvPr/>
        </p:nvGrpSpPr>
        <p:grpSpPr>
          <a:xfrm>
            <a:off x="1406237" y="2452563"/>
            <a:ext cx="9641948" cy="2443605"/>
            <a:chOff x="1054677" y="1839422"/>
            <a:chExt cx="7231461" cy="1832703"/>
          </a:xfrm>
        </p:grpSpPr>
        <p:sp>
          <p:nvSpPr>
            <p:cNvPr id="2" name="任意多边形 16">
              <a:extLst>
                <a:ext uri="{FF2B5EF4-FFF2-40B4-BE49-F238E27FC236}">
                  <a16:creationId xmlns:a16="http://schemas.microsoft.com/office/drawing/2014/main" id="{96778C1C-B83D-C34E-A5B9-2E5C5443C71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927668" y="1839422"/>
              <a:ext cx="1682255" cy="1613705"/>
            </a:xfrm>
            <a:custGeom>
              <a:avLst/>
              <a:gdLst>
                <a:gd name="connsiteX0" fmla="*/ 973472 w 3097546"/>
                <a:gd name="connsiteY0" fmla="*/ 2971324 h 2971325"/>
                <a:gd name="connsiteX1" fmla="*/ 973615 w 3097546"/>
                <a:gd name="connsiteY1" fmla="*/ 2971324 h 2971325"/>
                <a:gd name="connsiteX2" fmla="*/ 973472 w 3097546"/>
                <a:gd name="connsiteY2" fmla="*/ 2971325 h 2971325"/>
                <a:gd name="connsiteX3" fmla="*/ 497241 w 3097546"/>
                <a:gd name="connsiteY3" fmla="*/ 0 h 2971325"/>
                <a:gd name="connsiteX4" fmla="*/ 1945450 w 3097546"/>
                <a:gd name="connsiteY4" fmla="*/ 0 h 2971325"/>
                <a:gd name="connsiteX5" fmla="*/ 2101907 w 3097546"/>
                <a:gd name="connsiteY5" fmla="*/ 31587 h 2971325"/>
                <a:gd name="connsiteX6" fmla="*/ 2144325 w 3097546"/>
                <a:gd name="connsiteY6" fmla="*/ 54612 h 2971325"/>
                <a:gd name="connsiteX7" fmla="*/ 2148708 w 3097546"/>
                <a:gd name="connsiteY7" fmla="*/ 56247 h 2971325"/>
                <a:gd name="connsiteX8" fmla="*/ 2159283 w 3097546"/>
                <a:gd name="connsiteY8" fmla="*/ 62729 h 2971325"/>
                <a:gd name="connsiteX9" fmla="*/ 2170183 w 3097546"/>
                <a:gd name="connsiteY9" fmla="*/ 68647 h 2971325"/>
                <a:gd name="connsiteX10" fmla="*/ 2173792 w 3097546"/>
                <a:gd name="connsiteY10" fmla="*/ 71624 h 2971325"/>
                <a:gd name="connsiteX11" fmla="*/ 2214942 w 3097546"/>
                <a:gd name="connsiteY11" fmla="*/ 96847 h 2971325"/>
                <a:gd name="connsiteX12" fmla="*/ 2320524 w 3097546"/>
                <a:gd name="connsiteY12" fmla="*/ 216549 h 2971325"/>
                <a:gd name="connsiteX13" fmla="*/ 3044629 w 3097546"/>
                <a:gd name="connsiteY13" fmla="*/ 1470735 h 2971325"/>
                <a:gd name="connsiteX14" fmla="*/ 3095503 w 3097546"/>
                <a:gd name="connsiteY14" fmla="*/ 1622024 h 2971325"/>
                <a:gd name="connsiteX15" fmla="*/ 3096771 w 3097546"/>
                <a:gd name="connsiteY15" fmla="*/ 1670269 h 2971325"/>
                <a:gd name="connsiteX16" fmla="*/ 3097546 w 3097546"/>
                <a:gd name="connsiteY16" fmla="*/ 1674884 h 2971325"/>
                <a:gd name="connsiteX17" fmla="*/ 3097220 w 3097546"/>
                <a:gd name="connsiteY17" fmla="*/ 1687291 h 2971325"/>
                <a:gd name="connsiteX18" fmla="*/ 3097546 w 3097546"/>
                <a:gd name="connsiteY18" fmla="*/ 1699683 h 2971325"/>
                <a:gd name="connsiteX19" fmla="*/ 3096773 w 3097546"/>
                <a:gd name="connsiteY19" fmla="*/ 1704294 h 2971325"/>
                <a:gd name="connsiteX20" fmla="*/ 3095503 w 3097546"/>
                <a:gd name="connsiteY20" fmla="*/ 1752543 h 2971325"/>
                <a:gd name="connsiteX21" fmla="*/ 3044630 w 3097546"/>
                <a:gd name="connsiteY21" fmla="*/ 1903833 h 2971325"/>
                <a:gd name="connsiteX22" fmla="*/ 2436415 w 3097546"/>
                <a:gd name="connsiteY22" fmla="*/ 2957292 h 2971325"/>
                <a:gd name="connsiteX23" fmla="*/ 1821328 w 3097546"/>
                <a:gd name="connsiteY23" fmla="*/ 2963192 h 2971325"/>
                <a:gd name="connsiteX24" fmla="*/ 1871821 w 3097546"/>
                <a:gd name="connsiteY24" fmla="*/ 2947519 h 2971325"/>
                <a:gd name="connsiteX25" fmla="*/ 1903787 w 3097546"/>
                <a:gd name="connsiteY25" fmla="*/ 2930168 h 2971325"/>
                <a:gd name="connsiteX26" fmla="*/ 1907091 w 3097546"/>
                <a:gd name="connsiteY26" fmla="*/ 2928933 h 2971325"/>
                <a:gd name="connsiteX27" fmla="*/ 1915066 w 3097546"/>
                <a:gd name="connsiteY27" fmla="*/ 2924047 h 2971325"/>
                <a:gd name="connsiteX28" fmla="*/ 1923276 w 3097546"/>
                <a:gd name="connsiteY28" fmla="*/ 2919589 h 2971325"/>
                <a:gd name="connsiteX29" fmla="*/ 1925994 w 3097546"/>
                <a:gd name="connsiteY29" fmla="*/ 2917347 h 2971325"/>
                <a:gd name="connsiteX30" fmla="*/ 1957007 w 3097546"/>
                <a:gd name="connsiteY30" fmla="*/ 2898336 h 2971325"/>
                <a:gd name="connsiteX31" fmla="*/ 2036578 w 3097546"/>
                <a:gd name="connsiteY31" fmla="*/ 2808126 h 2971325"/>
                <a:gd name="connsiteX32" fmla="*/ 2582285 w 3097546"/>
                <a:gd name="connsiteY32" fmla="*/ 1862935 h 2971325"/>
                <a:gd name="connsiteX33" fmla="*/ 2620624 w 3097546"/>
                <a:gd name="connsiteY33" fmla="*/ 1748918 h 2971325"/>
                <a:gd name="connsiteX34" fmla="*/ 2621582 w 3097546"/>
                <a:gd name="connsiteY34" fmla="*/ 1712556 h 2971325"/>
                <a:gd name="connsiteX35" fmla="*/ 2622164 w 3097546"/>
                <a:gd name="connsiteY35" fmla="*/ 1709081 h 2971325"/>
                <a:gd name="connsiteX36" fmla="*/ 2621918 w 3097546"/>
                <a:gd name="connsiteY36" fmla="*/ 1699742 h 2971325"/>
                <a:gd name="connsiteX37" fmla="*/ 2622164 w 3097546"/>
                <a:gd name="connsiteY37" fmla="*/ 1690392 h 2971325"/>
                <a:gd name="connsiteX38" fmla="*/ 2621580 w 3097546"/>
                <a:gd name="connsiteY38" fmla="*/ 1686914 h 2971325"/>
                <a:gd name="connsiteX39" fmla="*/ 2620624 w 3097546"/>
                <a:gd name="connsiteY39" fmla="*/ 1650555 h 2971325"/>
                <a:gd name="connsiteX40" fmla="*/ 2582284 w 3097546"/>
                <a:gd name="connsiteY40" fmla="*/ 1536539 h 2971325"/>
                <a:gd name="connsiteX41" fmla="*/ 2516496 w 3097546"/>
                <a:gd name="connsiteY41" fmla="*/ 1422591 h 2971325"/>
                <a:gd name="connsiteX42" fmla="*/ 2463411 w 3097546"/>
                <a:gd name="connsiteY42" fmla="*/ 1451404 h 2971325"/>
                <a:gd name="connsiteX43" fmla="*/ 2293796 w 3097546"/>
                <a:gd name="connsiteY43" fmla="*/ 1485648 h 2971325"/>
                <a:gd name="connsiteX44" fmla="*/ 1858042 w 3097546"/>
                <a:gd name="connsiteY44" fmla="*/ 1049894 h 2971325"/>
                <a:gd name="connsiteX45" fmla="*/ 2050162 w 3097546"/>
                <a:gd name="connsiteY45" fmla="*/ 688560 h 2971325"/>
                <a:gd name="connsiteX46" fmla="*/ 2082553 w 3097546"/>
                <a:gd name="connsiteY46" fmla="*/ 670979 h 2971325"/>
                <a:gd name="connsiteX47" fmla="*/ 2036577 w 3097546"/>
                <a:gd name="connsiteY47" fmla="*/ 591347 h 2971325"/>
                <a:gd name="connsiteX48" fmla="*/ 1957007 w 3097546"/>
                <a:gd name="connsiteY48" fmla="*/ 501136 h 2971325"/>
                <a:gd name="connsiteX49" fmla="*/ 1925995 w 3097546"/>
                <a:gd name="connsiteY49" fmla="*/ 482127 h 2971325"/>
                <a:gd name="connsiteX50" fmla="*/ 1923276 w 3097546"/>
                <a:gd name="connsiteY50" fmla="*/ 479883 h 2971325"/>
                <a:gd name="connsiteX51" fmla="*/ 1915061 w 3097546"/>
                <a:gd name="connsiteY51" fmla="*/ 475424 h 2971325"/>
                <a:gd name="connsiteX52" fmla="*/ 1907091 w 3097546"/>
                <a:gd name="connsiteY52" fmla="*/ 470538 h 2971325"/>
                <a:gd name="connsiteX53" fmla="*/ 1903788 w 3097546"/>
                <a:gd name="connsiteY53" fmla="*/ 469306 h 2971325"/>
                <a:gd name="connsiteX54" fmla="*/ 1871821 w 3097546"/>
                <a:gd name="connsiteY54" fmla="*/ 451954 h 2971325"/>
                <a:gd name="connsiteX55" fmla="*/ 1753910 w 3097546"/>
                <a:gd name="connsiteY55" fmla="*/ 428149 h 2971325"/>
                <a:gd name="connsiteX56" fmla="*/ 662496 w 3097546"/>
                <a:gd name="connsiteY56" fmla="*/ 428149 h 2971325"/>
                <a:gd name="connsiteX57" fmla="*/ 662486 w 3097546"/>
                <a:gd name="connsiteY57" fmla="*/ 428150 h 2971325"/>
                <a:gd name="connsiteX58" fmla="*/ 0 w 3097546"/>
                <a:gd name="connsiteY58" fmla="*/ 428150 h 2971325"/>
                <a:gd name="connsiteX59" fmla="*/ 122168 w 3097546"/>
                <a:gd name="connsiteY59" fmla="*/ 216549 h 2971325"/>
                <a:gd name="connsiteX60" fmla="*/ 227751 w 3097546"/>
                <a:gd name="connsiteY60" fmla="*/ 96847 h 2971325"/>
                <a:gd name="connsiteX61" fmla="*/ 268903 w 3097546"/>
                <a:gd name="connsiteY61" fmla="*/ 71622 h 2971325"/>
                <a:gd name="connsiteX62" fmla="*/ 272508 w 3097546"/>
                <a:gd name="connsiteY62" fmla="*/ 68647 h 2971325"/>
                <a:gd name="connsiteX63" fmla="*/ 283400 w 3097546"/>
                <a:gd name="connsiteY63" fmla="*/ 62735 h 2971325"/>
                <a:gd name="connsiteX64" fmla="*/ 293983 w 3097546"/>
                <a:gd name="connsiteY64" fmla="*/ 56247 h 2971325"/>
                <a:gd name="connsiteX65" fmla="*/ 298370 w 3097546"/>
                <a:gd name="connsiteY65" fmla="*/ 54610 h 2971325"/>
                <a:gd name="connsiteX66" fmla="*/ 340784 w 3097546"/>
                <a:gd name="connsiteY66" fmla="*/ 31587 h 2971325"/>
                <a:gd name="connsiteX67" fmla="*/ 497241 w 3097546"/>
                <a:gd name="connsiteY67" fmla="*/ 0 h 2971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3097546" h="2971325">
                  <a:moveTo>
                    <a:pt x="973472" y="2971324"/>
                  </a:moveTo>
                  <a:lnTo>
                    <a:pt x="973615" y="2971324"/>
                  </a:lnTo>
                  <a:lnTo>
                    <a:pt x="973472" y="2971325"/>
                  </a:lnTo>
                  <a:close/>
                  <a:moveTo>
                    <a:pt x="497241" y="0"/>
                  </a:moveTo>
                  <a:lnTo>
                    <a:pt x="1945450" y="0"/>
                  </a:lnTo>
                  <a:cubicBezTo>
                    <a:pt x="2000947" y="0"/>
                    <a:pt x="2053818" y="11248"/>
                    <a:pt x="2101907" y="31587"/>
                  </a:cubicBezTo>
                  <a:lnTo>
                    <a:pt x="2144325" y="54612"/>
                  </a:lnTo>
                  <a:lnTo>
                    <a:pt x="2148708" y="56247"/>
                  </a:lnTo>
                  <a:lnTo>
                    <a:pt x="2159283" y="62729"/>
                  </a:lnTo>
                  <a:lnTo>
                    <a:pt x="2170183" y="68647"/>
                  </a:lnTo>
                  <a:lnTo>
                    <a:pt x="2173792" y="71624"/>
                  </a:lnTo>
                  <a:lnTo>
                    <a:pt x="2214942" y="96847"/>
                  </a:lnTo>
                  <a:cubicBezTo>
                    <a:pt x="2256599" y="128322"/>
                    <a:pt x="2292775" y="168488"/>
                    <a:pt x="2320524" y="216549"/>
                  </a:cubicBezTo>
                  <a:lnTo>
                    <a:pt x="3044629" y="1470735"/>
                  </a:lnTo>
                  <a:cubicBezTo>
                    <a:pt x="3072379" y="1518798"/>
                    <a:pt x="3089073" y="1570208"/>
                    <a:pt x="3095503" y="1622024"/>
                  </a:cubicBezTo>
                  <a:lnTo>
                    <a:pt x="3096771" y="1670269"/>
                  </a:lnTo>
                  <a:lnTo>
                    <a:pt x="3097546" y="1674884"/>
                  </a:lnTo>
                  <a:lnTo>
                    <a:pt x="3097220" y="1687291"/>
                  </a:lnTo>
                  <a:lnTo>
                    <a:pt x="3097546" y="1699683"/>
                  </a:lnTo>
                  <a:lnTo>
                    <a:pt x="3096773" y="1704294"/>
                  </a:lnTo>
                  <a:lnTo>
                    <a:pt x="3095503" y="1752543"/>
                  </a:lnTo>
                  <a:cubicBezTo>
                    <a:pt x="3089073" y="1804360"/>
                    <a:pt x="3072379" y="1855770"/>
                    <a:pt x="3044630" y="1903833"/>
                  </a:cubicBezTo>
                  <a:lnTo>
                    <a:pt x="2436415" y="2957292"/>
                  </a:lnTo>
                  <a:lnTo>
                    <a:pt x="1821328" y="2963192"/>
                  </a:lnTo>
                  <a:lnTo>
                    <a:pt x="1871821" y="2947519"/>
                  </a:lnTo>
                  <a:lnTo>
                    <a:pt x="1903787" y="2930168"/>
                  </a:lnTo>
                  <a:lnTo>
                    <a:pt x="1907091" y="2928933"/>
                  </a:lnTo>
                  <a:lnTo>
                    <a:pt x="1915066" y="2924047"/>
                  </a:lnTo>
                  <a:lnTo>
                    <a:pt x="1923276" y="2919589"/>
                  </a:lnTo>
                  <a:lnTo>
                    <a:pt x="1925994" y="2917347"/>
                  </a:lnTo>
                  <a:lnTo>
                    <a:pt x="1957007" y="2898336"/>
                  </a:lnTo>
                  <a:cubicBezTo>
                    <a:pt x="1988402" y="2874615"/>
                    <a:pt x="2015665" y="2844347"/>
                    <a:pt x="2036578" y="2808126"/>
                  </a:cubicBezTo>
                  <a:lnTo>
                    <a:pt x="2582285" y="1862935"/>
                  </a:lnTo>
                  <a:cubicBezTo>
                    <a:pt x="2603197" y="1826713"/>
                    <a:pt x="2615778" y="1787969"/>
                    <a:pt x="2620624" y="1748918"/>
                  </a:cubicBezTo>
                  <a:lnTo>
                    <a:pt x="2621582" y="1712556"/>
                  </a:lnTo>
                  <a:lnTo>
                    <a:pt x="2622164" y="1709081"/>
                  </a:lnTo>
                  <a:lnTo>
                    <a:pt x="2621918" y="1699742"/>
                  </a:lnTo>
                  <a:lnTo>
                    <a:pt x="2622164" y="1690392"/>
                  </a:lnTo>
                  <a:lnTo>
                    <a:pt x="2621580" y="1686914"/>
                  </a:lnTo>
                  <a:lnTo>
                    <a:pt x="2620624" y="1650555"/>
                  </a:lnTo>
                  <a:cubicBezTo>
                    <a:pt x="2615778" y="1611505"/>
                    <a:pt x="2603197" y="1572761"/>
                    <a:pt x="2582284" y="1536539"/>
                  </a:cubicBezTo>
                  <a:lnTo>
                    <a:pt x="2516496" y="1422591"/>
                  </a:lnTo>
                  <a:lnTo>
                    <a:pt x="2463411" y="1451404"/>
                  </a:lnTo>
                  <a:cubicBezTo>
                    <a:pt x="2411278" y="1473455"/>
                    <a:pt x="2353961" y="1485648"/>
                    <a:pt x="2293796" y="1485648"/>
                  </a:cubicBezTo>
                  <a:cubicBezTo>
                    <a:pt x="2053136" y="1485648"/>
                    <a:pt x="1858042" y="1290554"/>
                    <a:pt x="1858042" y="1049894"/>
                  </a:cubicBezTo>
                  <a:cubicBezTo>
                    <a:pt x="1858042" y="899482"/>
                    <a:pt x="1934251" y="766868"/>
                    <a:pt x="2050162" y="688560"/>
                  </a:cubicBezTo>
                  <a:lnTo>
                    <a:pt x="2082553" y="670979"/>
                  </a:lnTo>
                  <a:lnTo>
                    <a:pt x="2036577" y="591347"/>
                  </a:lnTo>
                  <a:cubicBezTo>
                    <a:pt x="2015665" y="555126"/>
                    <a:pt x="1988401" y="524857"/>
                    <a:pt x="1957007" y="501136"/>
                  </a:cubicBezTo>
                  <a:lnTo>
                    <a:pt x="1925995" y="482127"/>
                  </a:lnTo>
                  <a:lnTo>
                    <a:pt x="1923276" y="479883"/>
                  </a:lnTo>
                  <a:lnTo>
                    <a:pt x="1915061" y="475424"/>
                  </a:lnTo>
                  <a:lnTo>
                    <a:pt x="1907091" y="470538"/>
                  </a:lnTo>
                  <a:lnTo>
                    <a:pt x="1903788" y="469306"/>
                  </a:lnTo>
                  <a:lnTo>
                    <a:pt x="1871821" y="451954"/>
                  </a:lnTo>
                  <a:cubicBezTo>
                    <a:pt x="1835579" y="436626"/>
                    <a:pt x="1795734" y="428149"/>
                    <a:pt x="1753910" y="428149"/>
                  </a:cubicBezTo>
                  <a:lnTo>
                    <a:pt x="662496" y="428149"/>
                  </a:lnTo>
                  <a:lnTo>
                    <a:pt x="662486" y="428150"/>
                  </a:lnTo>
                  <a:lnTo>
                    <a:pt x="0" y="428150"/>
                  </a:lnTo>
                  <a:lnTo>
                    <a:pt x="122168" y="216549"/>
                  </a:lnTo>
                  <a:cubicBezTo>
                    <a:pt x="149916" y="168486"/>
                    <a:pt x="186091" y="128322"/>
                    <a:pt x="227751" y="96847"/>
                  </a:cubicBezTo>
                  <a:lnTo>
                    <a:pt x="268903" y="71622"/>
                  </a:lnTo>
                  <a:lnTo>
                    <a:pt x="272508" y="68647"/>
                  </a:lnTo>
                  <a:lnTo>
                    <a:pt x="283400" y="62735"/>
                  </a:lnTo>
                  <a:lnTo>
                    <a:pt x="293983" y="56247"/>
                  </a:lnTo>
                  <a:lnTo>
                    <a:pt x="298370" y="54610"/>
                  </a:lnTo>
                  <a:lnTo>
                    <a:pt x="340784" y="31587"/>
                  </a:lnTo>
                  <a:cubicBezTo>
                    <a:pt x="388872" y="11248"/>
                    <a:pt x="441744" y="0"/>
                    <a:pt x="497241" y="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400">
                <a:cs typeface="+mn-ea"/>
              </a:endParaRPr>
            </a:p>
          </p:txBody>
        </p:sp>
        <p:sp>
          <p:nvSpPr>
            <p:cNvPr id="3" name="TextBox 6">
              <a:extLst>
                <a:ext uri="{FF2B5EF4-FFF2-40B4-BE49-F238E27FC236}">
                  <a16:creationId xmlns:a16="http://schemas.microsoft.com/office/drawing/2014/main" id="{6D21621D-29A2-7747-AF9C-A431E7832B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7092" y="2184609"/>
              <a:ext cx="80850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  <a:sp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dirty="0">
                  <a:solidFill>
                    <a:schemeClr val="bg1"/>
                  </a:solidFill>
                  <a:latin typeface="Impact" pitchFamily="34" charset="0"/>
                  <a:cs typeface="+mn-ea"/>
                </a:rPr>
                <a:t>B</a:t>
              </a:r>
              <a:endParaRPr lang="zh-CN" altLang="en-US" sz="2400" dirty="0">
                <a:solidFill>
                  <a:schemeClr val="bg1"/>
                </a:solidFill>
                <a:latin typeface="Impact" pitchFamily="34" charset="0"/>
                <a:cs typeface="+mn-ea"/>
              </a:endParaRPr>
            </a:p>
          </p:txBody>
        </p:sp>
        <p:sp>
          <p:nvSpPr>
            <p:cNvPr id="4" name="任意多边形 17">
              <a:extLst>
                <a:ext uri="{FF2B5EF4-FFF2-40B4-BE49-F238E27FC236}">
                  <a16:creationId xmlns:a16="http://schemas.microsoft.com/office/drawing/2014/main" id="{3B1F3BAB-407E-C346-8F16-0F9E8B56AA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72021" y="2071947"/>
              <a:ext cx="1678847" cy="1600178"/>
            </a:xfrm>
            <a:custGeom>
              <a:avLst/>
              <a:gdLst>
                <a:gd name="connsiteX0" fmla="*/ 654855 w 3091270"/>
                <a:gd name="connsiteY0" fmla="*/ 0 h 2946417"/>
                <a:gd name="connsiteX1" fmla="*/ 1317341 w 3091270"/>
                <a:gd name="connsiteY1" fmla="*/ 0 h 2946417"/>
                <a:gd name="connsiteX2" fmla="*/ 1256302 w 3091270"/>
                <a:gd name="connsiteY2" fmla="*/ 6154 h 2946417"/>
                <a:gd name="connsiteX3" fmla="*/ 1199441 w 3091270"/>
                <a:gd name="connsiteY3" fmla="*/ 23804 h 2946417"/>
                <a:gd name="connsiteX4" fmla="*/ 1167476 w 3091270"/>
                <a:gd name="connsiteY4" fmla="*/ 41155 h 2946417"/>
                <a:gd name="connsiteX5" fmla="*/ 1164170 w 3091270"/>
                <a:gd name="connsiteY5" fmla="*/ 42388 h 2946417"/>
                <a:gd name="connsiteX6" fmla="*/ 1156194 w 3091270"/>
                <a:gd name="connsiteY6" fmla="*/ 47278 h 2946417"/>
                <a:gd name="connsiteX7" fmla="*/ 1147985 w 3091270"/>
                <a:gd name="connsiteY7" fmla="*/ 51733 h 2946417"/>
                <a:gd name="connsiteX8" fmla="*/ 1145269 w 3091270"/>
                <a:gd name="connsiteY8" fmla="*/ 53975 h 2946417"/>
                <a:gd name="connsiteX9" fmla="*/ 1114256 w 3091270"/>
                <a:gd name="connsiteY9" fmla="*/ 72986 h 2946417"/>
                <a:gd name="connsiteX10" fmla="*/ 1034685 w 3091270"/>
                <a:gd name="connsiteY10" fmla="*/ 163197 h 2946417"/>
                <a:gd name="connsiteX11" fmla="*/ 488977 w 3091270"/>
                <a:gd name="connsiteY11" fmla="*/ 1108389 h 2946417"/>
                <a:gd name="connsiteX12" fmla="*/ 450638 w 3091270"/>
                <a:gd name="connsiteY12" fmla="*/ 1222404 h 2946417"/>
                <a:gd name="connsiteX13" fmla="*/ 449681 w 3091270"/>
                <a:gd name="connsiteY13" fmla="*/ 1258768 h 2946417"/>
                <a:gd name="connsiteX14" fmla="*/ 449097 w 3091270"/>
                <a:gd name="connsiteY14" fmla="*/ 1262242 h 2946417"/>
                <a:gd name="connsiteX15" fmla="*/ 449343 w 3091270"/>
                <a:gd name="connsiteY15" fmla="*/ 1271579 h 2946417"/>
                <a:gd name="connsiteX16" fmla="*/ 449097 w 3091270"/>
                <a:gd name="connsiteY16" fmla="*/ 1280930 h 2946417"/>
                <a:gd name="connsiteX17" fmla="*/ 449681 w 3091270"/>
                <a:gd name="connsiteY17" fmla="*/ 1284410 h 2946417"/>
                <a:gd name="connsiteX18" fmla="*/ 450638 w 3091270"/>
                <a:gd name="connsiteY18" fmla="*/ 1320768 h 2946417"/>
                <a:gd name="connsiteX19" fmla="*/ 488977 w 3091270"/>
                <a:gd name="connsiteY19" fmla="*/ 1434783 h 2946417"/>
                <a:gd name="connsiteX20" fmla="*/ 550718 w 3091270"/>
                <a:gd name="connsiteY20" fmla="*/ 1541722 h 2946417"/>
                <a:gd name="connsiteX21" fmla="*/ 566649 w 3091270"/>
                <a:gd name="connsiteY21" fmla="*/ 1528578 h 2946417"/>
                <a:gd name="connsiteX22" fmla="*/ 810283 w 3091270"/>
                <a:gd name="connsiteY22" fmla="*/ 1454158 h 2946417"/>
                <a:gd name="connsiteX23" fmla="*/ 1246037 w 3091270"/>
                <a:gd name="connsiteY23" fmla="*/ 1889912 h 2946417"/>
                <a:gd name="connsiteX24" fmla="*/ 1053917 w 3091270"/>
                <a:gd name="connsiteY24" fmla="*/ 2251246 h 2946417"/>
                <a:gd name="connsiteX25" fmla="*/ 982685 w 3091270"/>
                <a:gd name="connsiteY25" fmla="*/ 2289910 h 2946417"/>
                <a:gd name="connsiteX26" fmla="*/ 1034685 w 3091270"/>
                <a:gd name="connsiteY26" fmla="*/ 2379976 h 2946417"/>
                <a:gd name="connsiteX27" fmla="*/ 1114256 w 3091270"/>
                <a:gd name="connsiteY27" fmla="*/ 2470186 h 2946417"/>
                <a:gd name="connsiteX28" fmla="*/ 1138054 w 3091270"/>
                <a:gd name="connsiteY28" fmla="*/ 2483246 h 2946417"/>
                <a:gd name="connsiteX29" fmla="*/ 1147985 w 3091270"/>
                <a:gd name="connsiteY29" fmla="*/ 2491439 h 2946417"/>
                <a:gd name="connsiteX30" fmla="*/ 1317351 w 3091270"/>
                <a:gd name="connsiteY30" fmla="*/ 2543174 h 2946417"/>
                <a:gd name="connsiteX31" fmla="*/ 1628326 w 3091270"/>
                <a:gd name="connsiteY31" fmla="*/ 2543174 h 2946417"/>
                <a:gd name="connsiteX32" fmla="*/ 1628327 w 3091270"/>
                <a:gd name="connsiteY32" fmla="*/ 2543175 h 2946417"/>
                <a:gd name="connsiteX33" fmla="*/ 1628470 w 3091270"/>
                <a:gd name="connsiteY33" fmla="*/ 2543174 h 2946417"/>
                <a:gd name="connsiteX34" fmla="*/ 2408765 w 3091270"/>
                <a:gd name="connsiteY34" fmla="*/ 2543173 h 2946417"/>
                <a:gd name="connsiteX35" fmla="*/ 2469815 w 3091270"/>
                <a:gd name="connsiteY35" fmla="*/ 2537019 h 2946417"/>
                <a:gd name="connsiteX36" fmla="*/ 2476183 w 3091270"/>
                <a:gd name="connsiteY36" fmla="*/ 2535042 h 2946417"/>
                <a:gd name="connsiteX37" fmla="*/ 3091270 w 3091270"/>
                <a:gd name="connsiteY37" fmla="*/ 2529142 h 2946417"/>
                <a:gd name="connsiteX38" fmla="*/ 2975380 w 3091270"/>
                <a:gd name="connsiteY38" fmla="*/ 2729868 h 2946417"/>
                <a:gd name="connsiteX39" fmla="*/ 2869797 w 3091270"/>
                <a:gd name="connsiteY39" fmla="*/ 2849569 h 2946417"/>
                <a:gd name="connsiteX40" fmla="*/ 2828645 w 3091270"/>
                <a:gd name="connsiteY40" fmla="*/ 2874794 h 2946417"/>
                <a:gd name="connsiteX41" fmla="*/ 2825038 w 3091270"/>
                <a:gd name="connsiteY41" fmla="*/ 2877769 h 2946417"/>
                <a:gd name="connsiteX42" fmla="*/ 2814145 w 3091270"/>
                <a:gd name="connsiteY42" fmla="*/ 2883684 h 2946417"/>
                <a:gd name="connsiteX43" fmla="*/ 2803563 w 3091270"/>
                <a:gd name="connsiteY43" fmla="*/ 2890168 h 2946417"/>
                <a:gd name="connsiteX44" fmla="*/ 2799178 w 3091270"/>
                <a:gd name="connsiteY44" fmla="*/ 2891807 h 2946417"/>
                <a:gd name="connsiteX45" fmla="*/ 2756762 w 3091270"/>
                <a:gd name="connsiteY45" fmla="*/ 2914830 h 2946417"/>
                <a:gd name="connsiteX46" fmla="*/ 2600305 w 3091270"/>
                <a:gd name="connsiteY46" fmla="*/ 2946415 h 2946417"/>
                <a:gd name="connsiteX47" fmla="*/ 1152096 w 3091270"/>
                <a:gd name="connsiteY47" fmla="*/ 2946417 h 2946417"/>
                <a:gd name="connsiteX48" fmla="*/ 927363 w 3091270"/>
                <a:gd name="connsiteY48" fmla="*/ 2877769 h 2946417"/>
                <a:gd name="connsiteX49" fmla="*/ 914185 w 3091270"/>
                <a:gd name="connsiteY49" fmla="*/ 2866898 h 2946417"/>
                <a:gd name="connsiteX50" fmla="*/ 882606 w 3091270"/>
                <a:gd name="connsiteY50" fmla="*/ 2849569 h 2946417"/>
                <a:gd name="connsiteX51" fmla="*/ 777023 w 3091270"/>
                <a:gd name="connsiteY51" fmla="*/ 2729868 h 2946417"/>
                <a:gd name="connsiteX52" fmla="*/ 52918 w 3091270"/>
                <a:gd name="connsiteY52" fmla="*/ 1475681 h 2946417"/>
                <a:gd name="connsiteX53" fmla="*/ 2045 w 3091270"/>
                <a:gd name="connsiteY53" fmla="*/ 1324393 h 2946417"/>
                <a:gd name="connsiteX54" fmla="*/ 775 w 3091270"/>
                <a:gd name="connsiteY54" fmla="*/ 1276149 h 2946417"/>
                <a:gd name="connsiteX55" fmla="*/ 0 w 3091270"/>
                <a:gd name="connsiteY55" fmla="*/ 1271532 h 2946417"/>
                <a:gd name="connsiteX56" fmla="*/ 326 w 3091270"/>
                <a:gd name="connsiteY56" fmla="*/ 1259123 h 2946417"/>
                <a:gd name="connsiteX57" fmla="*/ 0 w 3091270"/>
                <a:gd name="connsiteY57" fmla="*/ 1246734 h 2946417"/>
                <a:gd name="connsiteX58" fmla="*/ 775 w 3091270"/>
                <a:gd name="connsiteY58" fmla="*/ 1242124 h 2946417"/>
                <a:gd name="connsiteX59" fmla="*/ 2045 w 3091270"/>
                <a:gd name="connsiteY59" fmla="*/ 1193872 h 2946417"/>
                <a:gd name="connsiteX60" fmla="*/ 52918 w 3091270"/>
                <a:gd name="connsiteY60" fmla="*/ 1042585 h 2946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3091270" h="2946417">
                  <a:moveTo>
                    <a:pt x="654855" y="0"/>
                  </a:moveTo>
                  <a:lnTo>
                    <a:pt x="1317341" y="0"/>
                  </a:lnTo>
                  <a:lnTo>
                    <a:pt x="1256302" y="6154"/>
                  </a:lnTo>
                  <a:cubicBezTo>
                    <a:pt x="1236583" y="10189"/>
                    <a:pt x="1217561" y="16140"/>
                    <a:pt x="1199441" y="23804"/>
                  </a:cubicBezTo>
                  <a:lnTo>
                    <a:pt x="1167476" y="41155"/>
                  </a:lnTo>
                  <a:lnTo>
                    <a:pt x="1164170" y="42388"/>
                  </a:lnTo>
                  <a:lnTo>
                    <a:pt x="1156194" y="47278"/>
                  </a:lnTo>
                  <a:lnTo>
                    <a:pt x="1147985" y="51733"/>
                  </a:lnTo>
                  <a:lnTo>
                    <a:pt x="1145269" y="53975"/>
                  </a:lnTo>
                  <a:lnTo>
                    <a:pt x="1114256" y="72986"/>
                  </a:lnTo>
                  <a:cubicBezTo>
                    <a:pt x="1082859" y="96707"/>
                    <a:pt x="1055597" y="126975"/>
                    <a:pt x="1034685" y="163197"/>
                  </a:cubicBezTo>
                  <a:lnTo>
                    <a:pt x="488977" y="1108389"/>
                  </a:lnTo>
                  <a:cubicBezTo>
                    <a:pt x="468064" y="1144609"/>
                    <a:pt x="455483" y="1183355"/>
                    <a:pt x="450638" y="1222404"/>
                  </a:cubicBezTo>
                  <a:lnTo>
                    <a:pt x="449681" y="1258768"/>
                  </a:lnTo>
                  <a:lnTo>
                    <a:pt x="449097" y="1262242"/>
                  </a:lnTo>
                  <a:lnTo>
                    <a:pt x="449343" y="1271579"/>
                  </a:lnTo>
                  <a:lnTo>
                    <a:pt x="449097" y="1280930"/>
                  </a:lnTo>
                  <a:lnTo>
                    <a:pt x="449681" y="1284410"/>
                  </a:lnTo>
                  <a:lnTo>
                    <a:pt x="450638" y="1320768"/>
                  </a:lnTo>
                  <a:cubicBezTo>
                    <a:pt x="455483" y="1359817"/>
                    <a:pt x="468065" y="1398563"/>
                    <a:pt x="488977" y="1434783"/>
                  </a:cubicBezTo>
                  <a:lnTo>
                    <a:pt x="550718" y="1541722"/>
                  </a:lnTo>
                  <a:lnTo>
                    <a:pt x="566649" y="1528578"/>
                  </a:lnTo>
                  <a:cubicBezTo>
                    <a:pt x="636196" y="1481593"/>
                    <a:pt x="720036" y="1454158"/>
                    <a:pt x="810283" y="1454158"/>
                  </a:cubicBezTo>
                  <a:cubicBezTo>
                    <a:pt x="1050943" y="1454158"/>
                    <a:pt x="1246037" y="1649252"/>
                    <a:pt x="1246037" y="1889912"/>
                  </a:cubicBezTo>
                  <a:cubicBezTo>
                    <a:pt x="1246037" y="2040325"/>
                    <a:pt x="1169829" y="2172938"/>
                    <a:pt x="1053917" y="2251246"/>
                  </a:cubicBezTo>
                  <a:lnTo>
                    <a:pt x="982685" y="2289910"/>
                  </a:lnTo>
                  <a:lnTo>
                    <a:pt x="1034685" y="2379976"/>
                  </a:lnTo>
                  <a:cubicBezTo>
                    <a:pt x="1055597" y="2416197"/>
                    <a:pt x="1082860" y="2446465"/>
                    <a:pt x="1114256" y="2470186"/>
                  </a:cubicBezTo>
                  <a:lnTo>
                    <a:pt x="1138054" y="2483246"/>
                  </a:lnTo>
                  <a:lnTo>
                    <a:pt x="1147985" y="2491439"/>
                  </a:lnTo>
                  <a:cubicBezTo>
                    <a:pt x="1196332" y="2524102"/>
                    <a:pt x="1254615" y="2543174"/>
                    <a:pt x="1317351" y="2543174"/>
                  </a:cubicBezTo>
                  <a:lnTo>
                    <a:pt x="1628326" y="2543174"/>
                  </a:lnTo>
                  <a:lnTo>
                    <a:pt x="1628327" y="2543175"/>
                  </a:lnTo>
                  <a:lnTo>
                    <a:pt x="1628470" y="2543174"/>
                  </a:lnTo>
                  <a:lnTo>
                    <a:pt x="2408765" y="2543173"/>
                  </a:lnTo>
                  <a:cubicBezTo>
                    <a:pt x="2429678" y="2543173"/>
                    <a:pt x="2450095" y="2541054"/>
                    <a:pt x="2469815" y="2537019"/>
                  </a:cubicBezTo>
                  <a:lnTo>
                    <a:pt x="2476183" y="2535042"/>
                  </a:lnTo>
                  <a:lnTo>
                    <a:pt x="3091270" y="2529142"/>
                  </a:lnTo>
                  <a:lnTo>
                    <a:pt x="2975380" y="2729868"/>
                  </a:lnTo>
                  <a:cubicBezTo>
                    <a:pt x="2947630" y="2777929"/>
                    <a:pt x="2911456" y="2818093"/>
                    <a:pt x="2869797" y="2849569"/>
                  </a:cubicBezTo>
                  <a:lnTo>
                    <a:pt x="2828645" y="2874794"/>
                  </a:lnTo>
                  <a:lnTo>
                    <a:pt x="2825038" y="2877769"/>
                  </a:lnTo>
                  <a:lnTo>
                    <a:pt x="2814145" y="2883684"/>
                  </a:lnTo>
                  <a:lnTo>
                    <a:pt x="2803563" y="2890168"/>
                  </a:lnTo>
                  <a:lnTo>
                    <a:pt x="2799178" y="2891807"/>
                  </a:lnTo>
                  <a:lnTo>
                    <a:pt x="2756762" y="2914830"/>
                  </a:lnTo>
                  <a:cubicBezTo>
                    <a:pt x="2708674" y="2935169"/>
                    <a:pt x="2655804" y="2946415"/>
                    <a:pt x="2600305" y="2946415"/>
                  </a:cubicBezTo>
                  <a:lnTo>
                    <a:pt x="1152096" y="2946417"/>
                  </a:lnTo>
                  <a:cubicBezTo>
                    <a:pt x="1068851" y="2946417"/>
                    <a:pt x="991514" y="2921110"/>
                    <a:pt x="927363" y="2877769"/>
                  </a:cubicBezTo>
                  <a:lnTo>
                    <a:pt x="914185" y="2866898"/>
                  </a:lnTo>
                  <a:lnTo>
                    <a:pt x="882606" y="2849569"/>
                  </a:lnTo>
                  <a:cubicBezTo>
                    <a:pt x="840947" y="2818093"/>
                    <a:pt x="804771" y="2777929"/>
                    <a:pt x="777023" y="2729868"/>
                  </a:cubicBezTo>
                  <a:lnTo>
                    <a:pt x="52918" y="1475681"/>
                  </a:lnTo>
                  <a:cubicBezTo>
                    <a:pt x="25169" y="1427620"/>
                    <a:pt x="8474" y="1376208"/>
                    <a:pt x="2045" y="1324393"/>
                  </a:cubicBezTo>
                  <a:lnTo>
                    <a:pt x="775" y="1276149"/>
                  </a:lnTo>
                  <a:lnTo>
                    <a:pt x="0" y="1271532"/>
                  </a:lnTo>
                  <a:lnTo>
                    <a:pt x="326" y="1259123"/>
                  </a:lnTo>
                  <a:lnTo>
                    <a:pt x="0" y="1246734"/>
                  </a:lnTo>
                  <a:lnTo>
                    <a:pt x="775" y="1242124"/>
                  </a:lnTo>
                  <a:lnTo>
                    <a:pt x="2045" y="1193872"/>
                  </a:lnTo>
                  <a:cubicBezTo>
                    <a:pt x="8474" y="1142058"/>
                    <a:pt x="25168" y="1090646"/>
                    <a:pt x="52918" y="1042585"/>
                  </a:cubicBezTo>
                  <a:close/>
                </a:path>
              </a:pathLst>
            </a:custGeom>
            <a:solidFill>
              <a:srgbClr val="5771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400">
                <a:cs typeface="+mn-ea"/>
              </a:endParaRPr>
            </a:p>
          </p:txBody>
        </p:sp>
        <p:sp>
          <p:nvSpPr>
            <p:cNvPr id="5" name="TextBox 6">
              <a:extLst>
                <a:ext uri="{FF2B5EF4-FFF2-40B4-BE49-F238E27FC236}">
                  <a16:creationId xmlns:a16="http://schemas.microsoft.com/office/drawing/2014/main" id="{4C594385-ECFD-F34A-B9FC-BD3A1A66B9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2937" y="2870129"/>
              <a:ext cx="80850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  <a:spAutoFit/>
            </a:bodyPr>
            <a:lstStyle/>
            <a:p>
              <a:pPr algn="ctr" defTabSz="121917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dirty="0">
                  <a:solidFill>
                    <a:schemeClr val="bg1"/>
                  </a:solidFill>
                  <a:latin typeface="Impact" pitchFamily="34" charset="0"/>
                  <a:cs typeface="+mn-ea"/>
                </a:rPr>
                <a:t>A</a:t>
              </a:r>
              <a:endParaRPr lang="zh-CN" altLang="en-US" sz="2400" dirty="0">
                <a:solidFill>
                  <a:schemeClr val="bg1"/>
                </a:solidFill>
                <a:latin typeface="Impact" pitchFamily="34" charset="0"/>
                <a:cs typeface="+mn-ea"/>
              </a:endParaRPr>
            </a:p>
          </p:txBody>
        </p:sp>
        <p:cxnSp>
          <p:nvCxnSpPr>
            <p:cNvPr id="15" name="直接连接符 30">
              <a:extLst>
                <a:ext uri="{FF2B5EF4-FFF2-40B4-BE49-F238E27FC236}">
                  <a16:creationId xmlns:a16="http://schemas.microsoft.com/office/drawing/2014/main" id="{44ACC539-275D-084E-8C43-5FBB64954BD3}"/>
                </a:ext>
              </a:extLst>
            </p:cNvPr>
            <p:cNvCxnSpPr/>
            <p:nvPr/>
          </p:nvCxnSpPr>
          <p:spPr>
            <a:xfrm>
              <a:off x="5441911" y="2408849"/>
              <a:ext cx="2285664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6">
              <a:extLst>
                <a:ext uri="{FF2B5EF4-FFF2-40B4-BE49-F238E27FC236}">
                  <a16:creationId xmlns:a16="http://schemas.microsoft.com/office/drawing/2014/main" id="{6A5C9C2B-C717-2749-9742-B1DAB464CD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0986" y="2415441"/>
              <a:ext cx="2575152" cy="1095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  <a:spAutoFit/>
            </a:bodyPr>
            <a:lstStyle/>
            <a:p>
              <a:pPr defTabSz="1733930">
                <a:lnSpc>
                  <a:spcPct val="150000"/>
                </a:lnSpc>
                <a:buSzPct val="100000"/>
                <a:defRPr sz="2300" b="0"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Web App with or without LTI  Desktop App</a:t>
              </a:r>
            </a:p>
            <a:p>
              <a:pPr defTabSz="1733930">
                <a:lnSpc>
                  <a:spcPct val="150000"/>
                </a:lnSpc>
                <a:buSzPct val="100000"/>
                <a:defRPr sz="2300" b="0"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Command Line Tool</a:t>
              </a:r>
            </a:p>
          </p:txBody>
        </p:sp>
        <p:sp>
          <p:nvSpPr>
            <p:cNvPr id="17" name="TextBox 6">
              <a:extLst>
                <a:ext uri="{FF2B5EF4-FFF2-40B4-BE49-F238E27FC236}">
                  <a16:creationId xmlns:a16="http://schemas.microsoft.com/office/drawing/2014/main" id="{72D66034-38EB-264B-967C-FCDDD4C241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4677" y="1883073"/>
              <a:ext cx="2542215" cy="1095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  <a:spAutoFit/>
            </a:bodyPr>
            <a:lstStyle/>
            <a:p>
              <a: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An easy to use, scalable application to perform sentiment analysis on posts </a:t>
              </a:r>
              <a:endPara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8" name="直接连接符 38">
              <a:extLst>
                <a:ext uri="{FF2B5EF4-FFF2-40B4-BE49-F238E27FC236}">
                  <a16:creationId xmlns:a16="http://schemas.microsoft.com/office/drawing/2014/main" id="{930520D2-9385-2848-A688-FD3841AB3D52}"/>
                </a:ext>
              </a:extLst>
            </p:cNvPr>
            <p:cNvCxnSpPr>
              <a:cxnSpLocks/>
            </p:cNvCxnSpPr>
            <p:nvPr/>
          </p:nvCxnSpPr>
          <p:spPr>
            <a:xfrm>
              <a:off x="1054677" y="3177188"/>
              <a:ext cx="2727332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矩形 31">
              <a:extLst>
                <a:ext uri="{FF2B5EF4-FFF2-40B4-BE49-F238E27FC236}">
                  <a16:creationId xmlns:a16="http://schemas.microsoft.com/office/drawing/2014/main" id="{84BA07E2-9DE7-3A48-9E48-2C71797AA25B}"/>
                </a:ext>
              </a:extLst>
            </p:cNvPr>
            <p:cNvSpPr/>
            <p:nvPr/>
          </p:nvSpPr>
          <p:spPr>
            <a:xfrm>
              <a:off x="1476058" y="3253072"/>
              <a:ext cx="1225336" cy="34624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Deliverable</a:t>
              </a:r>
              <a:endPara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A127B00B-D66F-6A4F-ACAB-FD69E03EE5EA}"/>
              </a:ext>
            </a:extLst>
          </p:cNvPr>
          <p:cNvSpPr txBox="1"/>
          <p:nvPr/>
        </p:nvSpPr>
        <p:spPr>
          <a:xfrm>
            <a:off x="8077671" y="2637552"/>
            <a:ext cx="1421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Platforms</a:t>
            </a:r>
          </a:p>
        </p:txBody>
      </p:sp>
      <p:grpSp>
        <p:nvGrpSpPr>
          <p:cNvPr id="74" name="组合 30">
            <a:extLst>
              <a:ext uri="{FF2B5EF4-FFF2-40B4-BE49-F238E27FC236}">
                <a16:creationId xmlns:a16="http://schemas.microsoft.com/office/drawing/2014/main" id="{EC0F633C-457B-0642-B899-9DE4D1037C5A}"/>
              </a:ext>
            </a:extLst>
          </p:cNvPr>
          <p:cNvGrpSpPr/>
          <p:nvPr/>
        </p:nvGrpSpPr>
        <p:grpSpPr>
          <a:xfrm>
            <a:off x="5661857" y="3245524"/>
            <a:ext cx="921607" cy="674155"/>
            <a:chOff x="896938" y="3490913"/>
            <a:chExt cx="782637" cy="546100"/>
          </a:xfrm>
          <a:solidFill>
            <a:schemeClr val="accent3">
              <a:lumMod val="75000"/>
            </a:schemeClr>
          </a:solidFill>
        </p:grpSpPr>
        <p:sp>
          <p:nvSpPr>
            <p:cNvPr id="75" name="Freeform 90">
              <a:extLst>
                <a:ext uri="{FF2B5EF4-FFF2-40B4-BE49-F238E27FC236}">
                  <a16:creationId xmlns:a16="http://schemas.microsoft.com/office/drawing/2014/main" id="{03E387F6-37A0-6047-BCA6-33665C919E8D}"/>
                </a:ext>
              </a:extLst>
            </p:cNvPr>
            <p:cNvSpPr>
              <a:spLocks/>
            </p:cNvSpPr>
            <p:nvPr/>
          </p:nvSpPr>
          <p:spPr bwMode="auto">
            <a:xfrm>
              <a:off x="896938" y="3998913"/>
              <a:ext cx="782637" cy="38100"/>
            </a:xfrm>
            <a:custGeom>
              <a:avLst/>
              <a:gdLst>
                <a:gd name="T0" fmla="*/ 305 w 306"/>
                <a:gd name="T1" fmla="*/ 0 h 15"/>
                <a:gd name="T2" fmla="*/ 1 w 306"/>
                <a:gd name="T3" fmla="*/ 0 h 15"/>
                <a:gd name="T4" fmla="*/ 0 w 306"/>
                <a:gd name="T5" fmla="*/ 4 h 15"/>
                <a:gd name="T6" fmla="*/ 10 w 306"/>
                <a:gd name="T7" fmla="*/ 15 h 15"/>
                <a:gd name="T8" fmla="*/ 296 w 306"/>
                <a:gd name="T9" fmla="*/ 15 h 15"/>
                <a:gd name="T10" fmla="*/ 306 w 306"/>
                <a:gd name="T11" fmla="*/ 4 h 15"/>
                <a:gd name="T12" fmla="*/ 305 w 306"/>
                <a:gd name="T1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6" h="15">
                  <a:moveTo>
                    <a:pt x="305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2"/>
                    <a:pt x="0" y="3"/>
                    <a:pt x="0" y="4"/>
                  </a:cubicBezTo>
                  <a:cubicBezTo>
                    <a:pt x="0" y="10"/>
                    <a:pt x="5" y="15"/>
                    <a:pt x="10" y="15"/>
                  </a:cubicBezTo>
                  <a:cubicBezTo>
                    <a:pt x="296" y="15"/>
                    <a:pt x="296" y="15"/>
                    <a:pt x="296" y="15"/>
                  </a:cubicBezTo>
                  <a:cubicBezTo>
                    <a:pt x="301" y="15"/>
                    <a:pt x="306" y="10"/>
                    <a:pt x="306" y="4"/>
                  </a:cubicBezTo>
                  <a:cubicBezTo>
                    <a:pt x="306" y="3"/>
                    <a:pt x="305" y="2"/>
                    <a:pt x="30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/>
            </a:p>
          </p:txBody>
        </p:sp>
        <p:sp>
          <p:nvSpPr>
            <p:cNvPr id="76" name="Freeform 91">
              <a:extLst>
                <a:ext uri="{FF2B5EF4-FFF2-40B4-BE49-F238E27FC236}">
                  <a16:creationId xmlns:a16="http://schemas.microsoft.com/office/drawing/2014/main" id="{7F784D96-63C3-924D-AC01-84DC3E4F0A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4725" y="3490913"/>
              <a:ext cx="627062" cy="398462"/>
            </a:xfrm>
            <a:custGeom>
              <a:avLst/>
              <a:gdLst>
                <a:gd name="T0" fmla="*/ 0 w 246"/>
                <a:gd name="T1" fmla="*/ 156 h 156"/>
                <a:gd name="T2" fmla="*/ 246 w 246"/>
                <a:gd name="T3" fmla="*/ 156 h 156"/>
                <a:gd name="T4" fmla="*/ 246 w 246"/>
                <a:gd name="T5" fmla="*/ 152 h 156"/>
                <a:gd name="T6" fmla="*/ 246 w 246"/>
                <a:gd name="T7" fmla="*/ 149 h 156"/>
                <a:gd name="T8" fmla="*/ 246 w 246"/>
                <a:gd name="T9" fmla="*/ 20 h 156"/>
                <a:gd name="T10" fmla="*/ 226 w 246"/>
                <a:gd name="T11" fmla="*/ 0 h 156"/>
                <a:gd name="T12" fmla="*/ 20 w 246"/>
                <a:gd name="T13" fmla="*/ 0 h 156"/>
                <a:gd name="T14" fmla="*/ 0 w 246"/>
                <a:gd name="T15" fmla="*/ 20 h 156"/>
                <a:gd name="T16" fmla="*/ 0 w 246"/>
                <a:gd name="T17" fmla="*/ 155 h 156"/>
                <a:gd name="T18" fmla="*/ 0 w 246"/>
                <a:gd name="T19" fmla="*/ 155 h 156"/>
                <a:gd name="T20" fmla="*/ 0 w 246"/>
                <a:gd name="T21" fmla="*/ 156 h 156"/>
                <a:gd name="T22" fmla="*/ 15 w 246"/>
                <a:gd name="T23" fmla="*/ 22 h 156"/>
                <a:gd name="T24" fmla="*/ 22 w 246"/>
                <a:gd name="T25" fmla="*/ 15 h 156"/>
                <a:gd name="T26" fmla="*/ 224 w 246"/>
                <a:gd name="T27" fmla="*/ 15 h 156"/>
                <a:gd name="T28" fmla="*/ 231 w 246"/>
                <a:gd name="T29" fmla="*/ 22 h 156"/>
                <a:gd name="T30" fmla="*/ 231 w 246"/>
                <a:gd name="T31" fmla="*/ 141 h 156"/>
                <a:gd name="T32" fmla="*/ 15 w 246"/>
                <a:gd name="T33" fmla="*/ 141 h 156"/>
                <a:gd name="T34" fmla="*/ 15 w 246"/>
                <a:gd name="T35" fmla="*/ 22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46" h="156">
                  <a:moveTo>
                    <a:pt x="0" y="156"/>
                  </a:moveTo>
                  <a:cubicBezTo>
                    <a:pt x="246" y="156"/>
                    <a:pt x="246" y="156"/>
                    <a:pt x="246" y="156"/>
                  </a:cubicBezTo>
                  <a:cubicBezTo>
                    <a:pt x="246" y="152"/>
                    <a:pt x="246" y="152"/>
                    <a:pt x="246" y="152"/>
                  </a:cubicBezTo>
                  <a:cubicBezTo>
                    <a:pt x="246" y="149"/>
                    <a:pt x="246" y="149"/>
                    <a:pt x="246" y="149"/>
                  </a:cubicBezTo>
                  <a:cubicBezTo>
                    <a:pt x="246" y="20"/>
                    <a:pt x="246" y="20"/>
                    <a:pt x="246" y="20"/>
                  </a:cubicBezTo>
                  <a:cubicBezTo>
                    <a:pt x="246" y="9"/>
                    <a:pt x="237" y="0"/>
                    <a:pt x="226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155"/>
                    <a:pt x="0" y="155"/>
                    <a:pt x="0" y="155"/>
                  </a:cubicBezTo>
                  <a:cubicBezTo>
                    <a:pt x="0" y="155"/>
                    <a:pt x="0" y="155"/>
                    <a:pt x="0" y="155"/>
                  </a:cubicBezTo>
                  <a:lnTo>
                    <a:pt x="0" y="156"/>
                  </a:lnTo>
                  <a:close/>
                  <a:moveTo>
                    <a:pt x="15" y="22"/>
                  </a:moveTo>
                  <a:cubicBezTo>
                    <a:pt x="15" y="18"/>
                    <a:pt x="18" y="15"/>
                    <a:pt x="22" y="15"/>
                  </a:cubicBezTo>
                  <a:cubicBezTo>
                    <a:pt x="224" y="15"/>
                    <a:pt x="224" y="15"/>
                    <a:pt x="224" y="15"/>
                  </a:cubicBezTo>
                  <a:cubicBezTo>
                    <a:pt x="228" y="15"/>
                    <a:pt x="231" y="18"/>
                    <a:pt x="231" y="22"/>
                  </a:cubicBezTo>
                  <a:cubicBezTo>
                    <a:pt x="231" y="141"/>
                    <a:pt x="231" y="141"/>
                    <a:pt x="231" y="141"/>
                  </a:cubicBezTo>
                  <a:cubicBezTo>
                    <a:pt x="15" y="141"/>
                    <a:pt x="15" y="141"/>
                    <a:pt x="15" y="141"/>
                  </a:cubicBezTo>
                  <a:lnTo>
                    <a:pt x="15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/>
            </a:p>
          </p:txBody>
        </p:sp>
        <p:sp>
          <p:nvSpPr>
            <p:cNvPr id="77" name="Freeform 92">
              <a:extLst>
                <a:ext uri="{FF2B5EF4-FFF2-40B4-BE49-F238E27FC236}">
                  <a16:creationId xmlns:a16="http://schemas.microsoft.com/office/drawing/2014/main" id="{7A1506A4-36C2-7B4F-9C9B-67C301B485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1563" y="3565525"/>
              <a:ext cx="431800" cy="255587"/>
            </a:xfrm>
            <a:custGeom>
              <a:avLst/>
              <a:gdLst>
                <a:gd name="T0" fmla="*/ 162 w 169"/>
                <a:gd name="T1" fmla="*/ 0 h 100"/>
                <a:gd name="T2" fmla="*/ 126 w 169"/>
                <a:gd name="T3" fmla="*/ 7 h 100"/>
                <a:gd name="T4" fmla="*/ 122 w 169"/>
                <a:gd name="T5" fmla="*/ 13 h 100"/>
                <a:gd name="T6" fmla="*/ 128 w 169"/>
                <a:gd name="T7" fmla="*/ 17 h 100"/>
                <a:gd name="T8" fmla="*/ 144 w 169"/>
                <a:gd name="T9" fmla="*/ 15 h 100"/>
                <a:gd name="T10" fmla="*/ 145 w 169"/>
                <a:gd name="T11" fmla="*/ 15 h 100"/>
                <a:gd name="T12" fmla="*/ 92 w 169"/>
                <a:gd name="T13" fmla="*/ 74 h 100"/>
                <a:gd name="T14" fmla="*/ 55 w 169"/>
                <a:gd name="T15" fmla="*/ 42 h 100"/>
                <a:gd name="T16" fmla="*/ 46 w 169"/>
                <a:gd name="T17" fmla="*/ 43 h 100"/>
                <a:gd name="T18" fmla="*/ 3 w 169"/>
                <a:gd name="T19" fmla="*/ 87 h 100"/>
                <a:gd name="T20" fmla="*/ 3 w 169"/>
                <a:gd name="T21" fmla="*/ 97 h 100"/>
                <a:gd name="T22" fmla="*/ 12 w 169"/>
                <a:gd name="T23" fmla="*/ 97 h 100"/>
                <a:gd name="T24" fmla="*/ 51 w 169"/>
                <a:gd name="T25" fmla="*/ 57 h 100"/>
                <a:gd name="T26" fmla="*/ 88 w 169"/>
                <a:gd name="T27" fmla="*/ 89 h 100"/>
                <a:gd name="T28" fmla="*/ 97 w 169"/>
                <a:gd name="T29" fmla="*/ 88 h 100"/>
                <a:gd name="T30" fmla="*/ 155 w 169"/>
                <a:gd name="T31" fmla="*/ 24 h 100"/>
                <a:gd name="T32" fmla="*/ 156 w 169"/>
                <a:gd name="T33" fmla="*/ 24 h 100"/>
                <a:gd name="T34" fmla="*/ 153 w 169"/>
                <a:gd name="T35" fmla="*/ 42 h 100"/>
                <a:gd name="T36" fmla="*/ 158 w 169"/>
                <a:gd name="T37" fmla="*/ 48 h 100"/>
                <a:gd name="T38" fmla="*/ 164 w 169"/>
                <a:gd name="T39" fmla="*/ 43 h 100"/>
                <a:gd name="T40" fmla="*/ 169 w 169"/>
                <a:gd name="T41" fmla="*/ 6 h 100"/>
                <a:gd name="T42" fmla="*/ 167 w 169"/>
                <a:gd name="T43" fmla="*/ 1 h 100"/>
                <a:gd name="T44" fmla="*/ 162 w 169"/>
                <a:gd name="T45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9" h="100">
                  <a:moveTo>
                    <a:pt x="162" y="0"/>
                  </a:moveTo>
                  <a:cubicBezTo>
                    <a:pt x="126" y="7"/>
                    <a:pt x="126" y="7"/>
                    <a:pt x="126" y="7"/>
                  </a:cubicBezTo>
                  <a:cubicBezTo>
                    <a:pt x="124" y="7"/>
                    <a:pt x="122" y="10"/>
                    <a:pt x="122" y="13"/>
                  </a:cubicBezTo>
                  <a:cubicBezTo>
                    <a:pt x="123" y="16"/>
                    <a:pt x="125" y="18"/>
                    <a:pt x="128" y="17"/>
                  </a:cubicBezTo>
                  <a:cubicBezTo>
                    <a:pt x="144" y="15"/>
                    <a:pt x="144" y="15"/>
                    <a:pt x="144" y="15"/>
                  </a:cubicBezTo>
                  <a:cubicBezTo>
                    <a:pt x="145" y="15"/>
                    <a:pt x="145" y="15"/>
                    <a:pt x="145" y="15"/>
                  </a:cubicBezTo>
                  <a:cubicBezTo>
                    <a:pt x="92" y="74"/>
                    <a:pt x="92" y="74"/>
                    <a:pt x="92" y="74"/>
                  </a:cubicBezTo>
                  <a:cubicBezTo>
                    <a:pt x="55" y="42"/>
                    <a:pt x="55" y="42"/>
                    <a:pt x="55" y="42"/>
                  </a:cubicBezTo>
                  <a:cubicBezTo>
                    <a:pt x="52" y="40"/>
                    <a:pt x="48" y="40"/>
                    <a:pt x="46" y="43"/>
                  </a:cubicBezTo>
                  <a:cubicBezTo>
                    <a:pt x="3" y="87"/>
                    <a:pt x="3" y="87"/>
                    <a:pt x="3" y="87"/>
                  </a:cubicBezTo>
                  <a:cubicBezTo>
                    <a:pt x="0" y="90"/>
                    <a:pt x="0" y="94"/>
                    <a:pt x="3" y="97"/>
                  </a:cubicBezTo>
                  <a:cubicBezTo>
                    <a:pt x="5" y="100"/>
                    <a:pt x="10" y="100"/>
                    <a:pt x="12" y="97"/>
                  </a:cubicBezTo>
                  <a:cubicBezTo>
                    <a:pt x="51" y="57"/>
                    <a:pt x="51" y="57"/>
                    <a:pt x="51" y="57"/>
                  </a:cubicBezTo>
                  <a:cubicBezTo>
                    <a:pt x="88" y="89"/>
                    <a:pt x="88" y="89"/>
                    <a:pt x="88" y="89"/>
                  </a:cubicBezTo>
                  <a:cubicBezTo>
                    <a:pt x="91" y="91"/>
                    <a:pt x="95" y="91"/>
                    <a:pt x="97" y="88"/>
                  </a:cubicBezTo>
                  <a:cubicBezTo>
                    <a:pt x="155" y="24"/>
                    <a:pt x="155" y="24"/>
                    <a:pt x="155" y="24"/>
                  </a:cubicBezTo>
                  <a:cubicBezTo>
                    <a:pt x="156" y="24"/>
                    <a:pt x="156" y="24"/>
                    <a:pt x="156" y="24"/>
                  </a:cubicBezTo>
                  <a:cubicBezTo>
                    <a:pt x="153" y="42"/>
                    <a:pt x="153" y="42"/>
                    <a:pt x="153" y="42"/>
                  </a:cubicBezTo>
                  <a:cubicBezTo>
                    <a:pt x="153" y="45"/>
                    <a:pt x="155" y="48"/>
                    <a:pt x="158" y="48"/>
                  </a:cubicBezTo>
                  <a:cubicBezTo>
                    <a:pt x="161" y="48"/>
                    <a:pt x="163" y="46"/>
                    <a:pt x="164" y="43"/>
                  </a:cubicBezTo>
                  <a:cubicBezTo>
                    <a:pt x="169" y="6"/>
                    <a:pt x="169" y="6"/>
                    <a:pt x="169" y="6"/>
                  </a:cubicBezTo>
                  <a:cubicBezTo>
                    <a:pt x="169" y="4"/>
                    <a:pt x="168" y="3"/>
                    <a:pt x="167" y="1"/>
                  </a:cubicBezTo>
                  <a:cubicBezTo>
                    <a:pt x="166" y="0"/>
                    <a:pt x="164" y="0"/>
                    <a:pt x="16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/>
            </a:p>
          </p:txBody>
        </p:sp>
        <p:sp>
          <p:nvSpPr>
            <p:cNvPr id="78" name="Freeform 93">
              <a:extLst>
                <a:ext uri="{FF2B5EF4-FFF2-40B4-BE49-F238E27FC236}">
                  <a16:creationId xmlns:a16="http://schemas.microsoft.com/office/drawing/2014/main" id="{EE347428-948F-8242-9F2E-02A65D196F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2813" y="3902075"/>
              <a:ext cx="750887" cy="79375"/>
            </a:xfrm>
            <a:custGeom>
              <a:avLst/>
              <a:gdLst>
                <a:gd name="T0" fmla="*/ 434 w 473"/>
                <a:gd name="T1" fmla="*/ 0 h 50"/>
                <a:gd name="T2" fmla="*/ 39 w 473"/>
                <a:gd name="T3" fmla="*/ 0 h 50"/>
                <a:gd name="T4" fmla="*/ 0 w 473"/>
                <a:gd name="T5" fmla="*/ 50 h 50"/>
                <a:gd name="T6" fmla="*/ 473 w 473"/>
                <a:gd name="T7" fmla="*/ 50 h 50"/>
                <a:gd name="T8" fmla="*/ 434 w 473"/>
                <a:gd name="T9" fmla="*/ 0 h 50"/>
                <a:gd name="T10" fmla="*/ 190 w 473"/>
                <a:gd name="T11" fmla="*/ 40 h 50"/>
                <a:gd name="T12" fmla="*/ 195 w 473"/>
                <a:gd name="T13" fmla="*/ 32 h 50"/>
                <a:gd name="T14" fmla="*/ 278 w 473"/>
                <a:gd name="T15" fmla="*/ 32 h 50"/>
                <a:gd name="T16" fmla="*/ 283 w 473"/>
                <a:gd name="T17" fmla="*/ 40 h 50"/>
                <a:gd name="T18" fmla="*/ 190 w 473"/>
                <a:gd name="T19" fmla="*/ 40 h 50"/>
                <a:gd name="T20" fmla="*/ 61 w 473"/>
                <a:gd name="T21" fmla="*/ 23 h 50"/>
                <a:gd name="T22" fmla="*/ 71 w 473"/>
                <a:gd name="T23" fmla="*/ 12 h 50"/>
                <a:gd name="T24" fmla="*/ 402 w 473"/>
                <a:gd name="T25" fmla="*/ 12 h 50"/>
                <a:gd name="T26" fmla="*/ 412 w 473"/>
                <a:gd name="T27" fmla="*/ 23 h 50"/>
                <a:gd name="T28" fmla="*/ 61 w 473"/>
                <a:gd name="T29" fmla="*/ 23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73" h="50">
                  <a:moveTo>
                    <a:pt x="434" y="0"/>
                  </a:moveTo>
                  <a:lnTo>
                    <a:pt x="39" y="0"/>
                  </a:lnTo>
                  <a:lnTo>
                    <a:pt x="0" y="50"/>
                  </a:lnTo>
                  <a:lnTo>
                    <a:pt x="473" y="50"/>
                  </a:lnTo>
                  <a:lnTo>
                    <a:pt x="434" y="0"/>
                  </a:lnTo>
                  <a:close/>
                  <a:moveTo>
                    <a:pt x="190" y="40"/>
                  </a:moveTo>
                  <a:lnTo>
                    <a:pt x="195" y="32"/>
                  </a:lnTo>
                  <a:lnTo>
                    <a:pt x="278" y="32"/>
                  </a:lnTo>
                  <a:lnTo>
                    <a:pt x="283" y="40"/>
                  </a:lnTo>
                  <a:lnTo>
                    <a:pt x="190" y="40"/>
                  </a:lnTo>
                  <a:close/>
                  <a:moveTo>
                    <a:pt x="61" y="23"/>
                  </a:moveTo>
                  <a:lnTo>
                    <a:pt x="71" y="12"/>
                  </a:lnTo>
                  <a:lnTo>
                    <a:pt x="402" y="12"/>
                  </a:lnTo>
                  <a:lnTo>
                    <a:pt x="412" y="23"/>
                  </a:lnTo>
                  <a:lnTo>
                    <a:pt x="6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40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0EC4A256-1218-A044-94C8-08BDEE496EDC}"/>
              </a:ext>
            </a:extLst>
          </p:cNvPr>
          <p:cNvSpPr txBox="1"/>
          <p:nvPr/>
        </p:nvSpPr>
        <p:spPr>
          <a:xfrm>
            <a:off x="10916356" y="6434667"/>
            <a:ext cx="722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150510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089BF58-0380-5B40-A7BD-BFBBF847C3A4}"/>
              </a:ext>
            </a:extLst>
          </p:cNvPr>
          <p:cNvGrpSpPr/>
          <p:nvPr/>
        </p:nvGrpSpPr>
        <p:grpSpPr>
          <a:xfrm>
            <a:off x="1087629" y="2792504"/>
            <a:ext cx="3747081" cy="2504243"/>
            <a:chOff x="664254" y="2483701"/>
            <a:chExt cx="4140581" cy="2566853"/>
          </a:xfrm>
        </p:grpSpPr>
        <p:sp>
          <p:nvSpPr>
            <p:cNvPr id="3" name="Line 8">
              <a:extLst>
                <a:ext uri="{FF2B5EF4-FFF2-40B4-BE49-F238E27FC236}">
                  <a16:creationId xmlns:a16="http://schemas.microsoft.com/office/drawing/2014/main" id="{932E3207-6E5C-2F4C-8E5E-BC1264847D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78237" y="2491507"/>
              <a:ext cx="1600889" cy="1273"/>
            </a:xfrm>
            <a:prstGeom prst="line">
              <a:avLst/>
            </a:prstGeom>
            <a:solidFill>
              <a:srgbClr val="92D050"/>
            </a:solidFill>
            <a:ln w="6350" cap="flat">
              <a:solidFill>
                <a:srgbClr val="8FA4B7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162540" tIns="81271" rIns="162540" bIns="8127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67">
                <a:solidFill>
                  <a:prstClr val="black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4" name="Line 10">
              <a:extLst>
                <a:ext uri="{FF2B5EF4-FFF2-40B4-BE49-F238E27FC236}">
                  <a16:creationId xmlns:a16="http://schemas.microsoft.com/office/drawing/2014/main" id="{86CB30BA-7D23-B14D-89B4-D604A2A83F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80502" y="3306212"/>
              <a:ext cx="1424333" cy="1273"/>
            </a:xfrm>
            <a:prstGeom prst="line">
              <a:avLst/>
            </a:prstGeom>
            <a:solidFill>
              <a:srgbClr val="92D050"/>
            </a:solidFill>
            <a:ln w="6350" cap="flat">
              <a:solidFill>
                <a:srgbClr val="A6A6A6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162540" tIns="81271" rIns="162540" bIns="8127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67" dirty="0">
                <a:solidFill>
                  <a:prstClr val="black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5" name="Line 12">
              <a:extLst>
                <a:ext uri="{FF2B5EF4-FFF2-40B4-BE49-F238E27FC236}">
                  <a16:creationId xmlns:a16="http://schemas.microsoft.com/office/drawing/2014/main" id="{65E0C2F9-43C5-614C-B70F-2EC9EBE3C1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01060" y="4640259"/>
              <a:ext cx="615044" cy="1"/>
            </a:xfrm>
            <a:prstGeom prst="line">
              <a:avLst/>
            </a:prstGeom>
            <a:solidFill>
              <a:srgbClr val="92D050"/>
            </a:solidFill>
            <a:ln w="6350" cap="flat">
              <a:solidFill>
                <a:srgbClr val="8FA4B7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162540" tIns="81271" rIns="162540" bIns="8127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67" dirty="0">
                <a:solidFill>
                  <a:prstClr val="black"/>
                </a:solidFill>
                <a:latin typeface="Calibri"/>
                <a:ea typeface="微軟正黑體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0C2D2CA-ED3E-2245-973F-E469DE9E501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64254" y="2483701"/>
              <a:ext cx="3428414" cy="2566853"/>
              <a:chOff x="664254" y="2483701"/>
              <a:chExt cx="3428414" cy="2566853"/>
            </a:xfrm>
          </p:grpSpPr>
          <p:sp>
            <p:nvSpPr>
              <p:cNvPr id="7" name="Freeform 5">
                <a:extLst>
                  <a:ext uri="{FF2B5EF4-FFF2-40B4-BE49-F238E27FC236}">
                    <a16:creationId xmlns:a16="http://schemas.microsoft.com/office/drawing/2014/main" id="{4FA7F6C0-C480-4F4A-9249-7F3AAE6893A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4254" y="2483701"/>
                <a:ext cx="3003151" cy="2566853"/>
              </a:xfrm>
              <a:custGeom>
                <a:avLst/>
                <a:gdLst/>
                <a:ahLst/>
                <a:cxnLst>
                  <a:cxn ang="0">
                    <a:pos x="585" y="0"/>
                  </a:cxn>
                  <a:cxn ang="0">
                    <a:pos x="0" y="2016"/>
                  </a:cxn>
                  <a:cxn ang="0">
                    <a:pos x="1769" y="1749"/>
                  </a:cxn>
                  <a:cxn ang="0">
                    <a:pos x="585" y="0"/>
                  </a:cxn>
                  <a:cxn ang="0">
                    <a:pos x="624" y="254"/>
                  </a:cxn>
                  <a:cxn ang="0">
                    <a:pos x="1587" y="1683"/>
                  </a:cxn>
                  <a:cxn ang="0">
                    <a:pos x="149" y="1905"/>
                  </a:cxn>
                  <a:cxn ang="0">
                    <a:pos x="624" y="254"/>
                  </a:cxn>
                </a:cxnLst>
                <a:rect l="0" t="0" r="r" b="b"/>
                <a:pathLst>
                  <a:path w="1769" h="2016">
                    <a:moveTo>
                      <a:pt x="585" y="0"/>
                    </a:moveTo>
                    <a:lnTo>
                      <a:pt x="0" y="2016"/>
                    </a:lnTo>
                    <a:lnTo>
                      <a:pt x="1769" y="1749"/>
                    </a:lnTo>
                    <a:lnTo>
                      <a:pt x="585" y="0"/>
                    </a:lnTo>
                    <a:close/>
                    <a:moveTo>
                      <a:pt x="624" y="254"/>
                    </a:moveTo>
                    <a:lnTo>
                      <a:pt x="1587" y="1683"/>
                    </a:lnTo>
                    <a:lnTo>
                      <a:pt x="149" y="1905"/>
                    </a:lnTo>
                    <a:lnTo>
                      <a:pt x="624" y="254"/>
                    </a:lnTo>
                    <a:close/>
                  </a:path>
                </a:pathLst>
              </a:custGeom>
              <a:solidFill>
                <a:srgbClr val="8FA4B7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162540" tIns="81271" rIns="162540" bIns="81271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867" dirty="0">
                  <a:solidFill>
                    <a:prstClr val="black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8" name="Freeform 6">
                <a:extLst>
                  <a:ext uri="{FF2B5EF4-FFF2-40B4-BE49-F238E27FC236}">
                    <a16:creationId xmlns:a16="http://schemas.microsoft.com/office/drawing/2014/main" id="{910AEB69-A2AC-4541-8A1C-F72337AFF67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80825" y="2840208"/>
                <a:ext cx="2186579" cy="1870390"/>
              </a:xfrm>
              <a:custGeom>
                <a:avLst/>
                <a:gdLst/>
                <a:ahLst/>
                <a:cxnLst>
                  <a:cxn ang="0">
                    <a:pos x="839" y="0"/>
                  </a:cxn>
                  <a:cxn ang="0">
                    <a:pos x="0" y="1273"/>
                  </a:cxn>
                  <a:cxn ang="0">
                    <a:pos x="1288" y="1469"/>
                  </a:cxn>
                  <a:cxn ang="0">
                    <a:pos x="839" y="0"/>
                  </a:cxn>
                  <a:cxn ang="0">
                    <a:pos x="800" y="222"/>
                  </a:cxn>
                  <a:cxn ang="0">
                    <a:pos x="1145" y="1345"/>
                  </a:cxn>
                  <a:cxn ang="0">
                    <a:pos x="162" y="1195"/>
                  </a:cxn>
                  <a:cxn ang="0">
                    <a:pos x="800" y="222"/>
                  </a:cxn>
                </a:cxnLst>
                <a:rect l="0" t="0" r="r" b="b"/>
                <a:pathLst>
                  <a:path w="1288" h="1469">
                    <a:moveTo>
                      <a:pt x="839" y="0"/>
                    </a:moveTo>
                    <a:lnTo>
                      <a:pt x="0" y="1273"/>
                    </a:lnTo>
                    <a:lnTo>
                      <a:pt x="1288" y="1469"/>
                    </a:lnTo>
                    <a:lnTo>
                      <a:pt x="839" y="0"/>
                    </a:lnTo>
                    <a:close/>
                    <a:moveTo>
                      <a:pt x="800" y="222"/>
                    </a:moveTo>
                    <a:lnTo>
                      <a:pt x="1145" y="1345"/>
                    </a:lnTo>
                    <a:lnTo>
                      <a:pt x="162" y="1195"/>
                    </a:lnTo>
                    <a:lnTo>
                      <a:pt x="800" y="222"/>
                    </a:lnTo>
                    <a:close/>
                  </a:path>
                </a:pathLst>
              </a:custGeom>
              <a:solidFill>
                <a:srgbClr val="A6A6A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162540" tIns="81271" rIns="162540" bIns="81271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867">
                  <a:solidFill>
                    <a:prstClr val="black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9" name="Freeform 7">
                <a:extLst>
                  <a:ext uri="{FF2B5EF4-FFF2-40B4-BE49-F238E27FC236}">
                    <a16:creationId xmlns:a16="http://schemas.microsoft.com/office/drawing/2014/main" id="{D568B2E5-43A5-F042-96B1-D6BD4A9B8F0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415385" y="3355870"/>
                <a:ext cx="1677283" cy="1354728"/>
              </a:xfrm>
              <a:custGeom>
                <a:avLst/>
                <a:gdLst/>
                <a:ahLst/>
                <a:cxnLst>
                  <a:cxn ang="0">
                    <a:pos x="0" y="463"/>
                  </a:cxn>
                  <a:cxn ang="0">
                    <a:pos x="709" y="1064"/>
                  </a:cxn>
                  <a:cxn ang="0">
                    <a:pos x="988" y="0"/>
                  </a:cxn>
                  <a:cxn ang="0">
                    <a:pos x="0" y="463"/>
                  </a:cxn>
                  <a:cxn ang="0">
                    <a:pos x="663" y="914"/>
                  </a:cxn>
                  <a:cxn ang="0">
                    <a:pos x="149" y="483"/>
                  </a:cxn>
                  <a:cxn ang="0">
                    <a:pos x="865" y="144"/>
                  </a:cxn>
                  <a:cxn ang="0">
                    <a:pos x="663" y="914"/>
                  </a:cxn>
                </a:cxnLst>
                <a:rect l="0" t="0" r="r" b="b"/>
                <a:pathLst>
                  <a:path w="988" h="1064">
                    <a:moveTo>
                      <a:pt x="0" y="463"/>
                    </a:moveTo>
                    <a:lnTo>
                      <a:pt x="709" y="1064"/>
                    </a:lnTo>
                    <a:lnTo>
                      <a:pt x="988" y="0"/>
                    </a:lnTo>
                    <a:lnTo>
                      <a:pt x="0" y="463"/>
                    </a:lnTo>
                    <a:close/>
                    <a:moveTo>
                      <a:pt x="663" y="914"/>
                    </a:moveTo>
                    <a:lnTo>
                      <a:pt x="149" y="483"/>
                    </a:lnTo>
                    <a:lnTo>
                      <a:pt x="865" y="144"/>
                    </a:lnTo>
                    <a:lnTo>
                      <a:pt x="663" y="914"/>
                    </a:lnTo>
                    <a:close/>
                  </a:path>
                </a:pathLst>
              </a:custGeom>
              <a:solidFill>
                <a:srgbClr val="8FA4B7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162540" tIns="81271" rIns="162540" bIns="81271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 sz="1867" dirty="0">
                  <a:solidFill>
                    <a:prstClr val="black"/>
                  </a:solidFill>
                  <a:latin typeface="Calibri"/>
                  <a:ea typeface="微軟正黑體"/>
                </a:endParaRPr>
              </a:p>
            </p:txBody>
          </p:sp>
        </p:grpSp>
      </p:grpSp>
      <p:cxnSp>
        <p:nvCxnSpPr>
          <p:cNvPr id="10" name="直接连接符 43">
            <a:extLst>
              <a:ext uri="{FF2B5EF4-FFF2-40B4-BE49-F238E27FC236}">
                <a16:creationId xmlns:a16="http://schemas.microsoft.com/office/drawing/2014/main" id="{0898321A-2693-4D40-A083-9E174FCD0540}"/>
              </a:ext>
            </a:extLst>
          </p:cNvPr>
          <p:cNvCxnSpPr>
            <a:cxnSpLocks/>
          </p:cNvCxnSpPr>
          <p:nvPr/>
        </p:nvCxnSpPr>
        <p:spPr>
          <a:xfrm>
            <a:off x="4978605" y="2360797"/>
            <a:ext cx="0" cy="636423"/>
          </a:xfrm>
          <a:prstGeom prst="line">
            <a:avLst/>
          </a:prstGeom>
          <a:noFill/>
          <a:ln w="28575" cap="flat" cmpd="sng" algn="ctr">
            <a:solidFill>
              <a:srgbClr val="8FA4B7"/>
            </a:solidFill>
            <a:prstDash val="solid"/>
            <a:miter lim="800000"/>
          </a:ln>
          <a:effectLst/>
        </p:spPr>
      </p:cxnSp>
      <p:sp>
        <p:nvSpPr>
          <p:cNvPr id="11" name="文本框 24">
            <a:extLst>
              <a:ext uri="{FF2B5EF4-FFF2-40B4-BE49-F238E27FC236}">
                <a16:creationId xmlns:a16="http://schemas.microsoft.com/office/drawing/2014/main" id="{B5CF32DD-8CF3-FD4D-ADF8-63A2218C3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8435" y="2473313"/>
            <a:ext cx="5484349" cy="767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cs typeface="Calibri" panose="020F0502020204030204" pitchFamily="34" charset="0"/>
              </a:rPr>
              <a:t>Server for web app and LTI integration</a:t>
            </a:r>
          </a:p>
          <a:p>
            <a:pPr>
              <a:lnSpc>
                <a:spcPct val="130000"/>
              </a:lnSpc>
            </a:pPr>
            <a:endParaRPr lang="en-GB" altLang="zh-CN" sz="2000" dirty="0">
              <a:solidFill>
                <a:schemeClr val="tx1">
                  <a:lumMod val="50000"/>
                  <a:lumOff val="50000"/>
                </a:schemeClr>
              </a:solidFill>
              <a:ea typeface="微软雅黑" panose="020B0503020204020204" pitchFamily="34" charset="-122"/>
              <a:cs typeface="Calibri" panose="020F0502020204030204" pitchFamily="34" charset="0"/>
              <a:sym typeface="+mn-lt"/>
            </a:endParaRPr>
          </a:p>
        </p:txBody>
      </p:sp>
      <p:grpSp>
        <p:nvGrpSpPr>
          <p:cNvPr id="12" name="组合 46">
            <a:extLst>
              <a:ext uri="{FF2B5EF4-FFF2-40B4-BE49-F238E27FC236}">
                <a16:creationId xmlns:a16="http://schemas.microsoft.com/office/drawing/2014/main" id="{25969282-3410-2E4E-AB8C-EA33A2415101}"/>
              </a:ext>
            </a:extLst>
          </p:cNvPr>
          <p:cNvGrpSpPr/>
          <p:nvPr/>
        </p:nvGrpSpPr>
        <p:grpSpPr>
          <a:xfrm>
            <a:off x="4035018" y="2537889"/>
            <a:ext cx="505065" cy="492772"/>
            <a:chOff x="5747657" y="2305619"/>
            <a:chExt cx="556576" cy="556576"/>
          </a:xfrm>
        </p:grpSpPr>
        <p:sp>
          <p:nvSpPr>
            <p:cNvPr id="13" name="椭圆 26">
              <a:extLst>
                <a:ext uri="{FF2B5EF4-FFF2-40B4-BE49-F238E27FC236}">
                  <a16:creationId xmlns:a16="http://schemas.microsoft.com/office/drawing/2014/main" id="{A09802A1-0E08-3A40-A623-A86DA9A3AD67}"/>
                </a:ext>
              </a:extLst>
            </p:cNvPr>
            <p:cNvSpPr/>
            <p:nvPr/>
          </p:nvSpPr>
          <p:spPr bwMode="auto">
            <a:xfrm>
              <a:off x="5747657" y="2305619"/>
              <a:ext cx="556576" cy="556576"/>
            </a:xfrm>
            <a:prstGeom prst="ellipse">
              <a:avLst/>
            </a:prstGeom>
            <a:solidFill>
              <a:srgbClr val="8FA4B7"/>
            </a:solidFill>
            <a:ln w="57150" cap="flat" cmpd="sng" algn="ctr">
              <a:solidFill>
                <a:sysClr val="window" lastClr="FFFFFF"/>
              </a:solidFill>
              <a:prstDash val="solid"/>
            </a:ln>
            <a:effectLst>
              <a:outerShdw blurRad="381000" dist="1270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1219170">
                <a:lnSpc>
                  <a:spcPct val="130000"/>
                </a:lnSpc>
                <a:defRPr/>
              </a:pPr>
              <a:endParaRPr lang="en-US" sz="1400" kern="0" dirty="0">
                <a:solidFill>
                  <a:prstClr val="black">
                    <a:lumMod val="50000"/>
                    <a:lumOff val="50000"/>
                  </a:prstClr>
                </a:solidFill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4" name="燕尾形 48">
              <a:extLst>
                <a:ext uri="{FF2B5EF4-FFF2-40B4-BE49-F238E27FC236}">
                  <a16:creationId xmlns:a16="http://schemas.microsoft.com/office/drawing/2014/main" id="{3CB125E9-53FF-A84B-B50E-C32E82485E7A}"/>
                </a:ext>
              </a:extLst>
            </p:cNvPr>
            <p:cNvSpPr/>
            <p:nvPr/>
          </p:nvSpPr>
          <p:spPr>
            <a:xfrm>
              <a:off x="5932500" y="2446897"/>
              <a:ext cx="186890" cy="274020"/>
            </a:xfrm>
            <a:prstGeom prst="chevron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1867" kern="0">
                <a:solidFill>
                  <a:prstClr val="black"/>
                </a:solidFill>
                <a:latin typeface="Calibri"/>
                <a:ea typeface="微軟正黑體"/>
              </a:endParaRPr>
            </a:p>
          </p:txBody>
        </p:sp>
      </p:grpSp>
      <p:cxnSp>
        <p:nvCxnSpPr>
          <p:cNvPr id="15" name="直接连接符 49">
            <a:extLst>
              <a:ext uri="{FF2B5EF4-FFF2-40B4-BE49-F238E27FC236}">
                <a16:creationId xmlns:a16="http://schemas.microsoft.com/office/drawing/2014/main" id="{DC918467-4C45-5A45-B50E-E2D1A3559FD2}"/>
              </a:ext>
            </a:extLst>
          </p:cNvPr>
          <p:cNvCxnSpPr>
            <a:cxnSpLocks/>
          </p:cNvCxnSpPr>
          <p:nvPr/>
        </p:nvCxnSpPr>
        <p:spPr>
          <a:xfrm>
            <a:off x="5417129" y="4714986"/>
            <a:ext cx="0" cy="638679"/>
          </a:xfrm>
          <a:prstGeom prst="line">
            <a:avLst/>
          </a:prstGeom>
          <a:noFill/>
          <a:ln w="28575" cap="flat" cmpd="sng" algn="ctr">
            <a:solidFill>
              <a:srgbClr val="8FA4B7"/>
            </a:solidFill>
            <a:prstDash val="solid"/>
            <a:miter lim="800000"/>
          </a:ln>
          <a:effectLst/>
        </p:spPr>
      </p:cxnSp>
      <p:grpSp>
        <p:nvGrpSpPr>
          <p:cNvPr id="16" name="组合 52">
            <a:extLst>
              <a:ext uri="{FF2B5EF4-FFF2-40B4-BE49-F238E27FC236}">
                <a16:creationId xmlns:a16="http://schemas.microsoft.com/office/drawing/2014/main" id="{053BF814-6754-AD40-B34B-882026E69E5C}"/>
              </a:ext>
            </a:extLst>
          </p:cNvPr>
          <p:cNvGrpSpPr/>
          <p:nvPr/>
        </p:nvGrpSpPr>
        <p:grpSpPr>
          <a:xfrm>
            <a:off x="4679548" y="4768326"/>
            <a:ext cx="505065" cy="492772"/>
            <a:chOff x="5747657" y="2305619"/>
            <a:chExt cx="556576" cy="556576"/>
          </a:xfrm>
        </p:grpSpPr>
        <p:sp>
          <p:nvSpPr>
            <p:cNvPr id="17" name="椭圆 26">
              <a:extLst>
                <a:ext uri="{FF2B5EF4-FFF2-40B4-BE49-F238E27FC236}">
                  <a16:creationId xmlns:a16="http://schemas.microsoft.com/office/drawing/2014/main" id="{2934F747-8E53-5C4B-8E7E-60983D678F91}"/>
                </a:ext>
              </a:extLst>
            </p:cNvPr>
            <p:cNvSpPr/>
            <p:nvPr/>
          </p:nvSpPr>
          <p:spPr bwMode="auto">
            <a:xfrm>
              <a:off x="5747657" y="2305619"/>
              <a:ext cx="556576" cy="556576"/>
            </a:xfrm>
            <a:prstGeom prst="ellipse">
              <a:avLst/>
            </a:prstGeom>
            <a:solidFill>
              <a:srgbClr val="8FA4B7"/>
            </a:solidFill>
            <a:ln w="57150" cap="flat" cmpd="sng" algn="ctr">
              <a:solidFill>
                <a:sysClr val="window" lastClr="FFFFFF"/>
              </a:solidFill>
              <a:prstDash val="solid"/>
            </a:ln>
            <a:effectLst>
              <a:outerShdw blurRad="381000" dist="1270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1219170">
                <a:lnSpc>
                  <a:spcPct val="130000"/>
                </a:lnSpc>
                <a:defRPr/>
              </a:pPr>
              <a:endParaRPr lang="en-US" sz="1400" kern="0" dirty="0">
                <a:solidFill>
                  <a:prstClr val="black">
                    <a:lumMod val="50000"/>
                    <a:lumOff val="50000"/>
                  </a:prstClr>
                </a:solidFill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8" name="燕尾形 54">
              <a:extLst>
                <a:ext uri="{FF2B5EF4-FFF2-40B4-BE49-F238E27FC236}">
                  <a16:creationId xmlns:a16="http://schemas.microsoft.com/office/drawing/2014/main" id="{AE480CCB-45CD-C549-B270-EDBAFFBF3D6C}"/>
                </a:ext>
              </a:extLst>
            </p:cNvPr>
            <p:cNvSpPr/>
            <p:nvPr/>
          </p:nvSpPr>
          <p:spPr>
            <a:xfrm>
              <a:off x="5932500" y="2446897"/>
              <a:ext cx="186890" cy="274020"/>
            </a:xfrm>
            <a:prstGeom prst="chevron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1867" kern="0">
                <a:solidFill>
                  <a:prstClr val="black"/>
                </a:solidFill>
                <a:latin typeface="Calibri"/>
                <a:ea typeface="微軟正黑體"/>
              </a:endParaRPr>
            </a:p>
          </p:txBody>
        </p:sp>
      </p:grpSp>
      <p:cxnSp>
        <p:nvCxnSpPr>
          <p:cNvPr id="19" name="直接连接符 55">
            <a:extLst>
              <a:ext uri="{FF2B5EF4-FFF2-40B4-BE49-F238E27FC236}">
                <a16:creationId xmlns:a16="http://schemas.microsoft.com/office/drawing/2014/main" id="{D5DD6FD6-BB4E-3546-8BD5-6A9542C2615F}"/>
              </a:ext>
            </a:extLst>
          </p:cNvPr>
          <p:cNvCxnSpPr>
            <a:cxnSpLocks/>
          </p:cNvCxnSpPr>
          <p:nvPr/>
        </p:nvCxnSpPr>
        <p:spPr>
          <a:xfrm>
            <a:off x="6019600" y="3353725"/>
            <a:ext cx="0" cy="636423"/>
          </a:xfrm>
          <a:prstGeom prst="line">
            <a:avLst/>
          </a:prstGeom>
          <a:noFill/>
          <a:ln w="28575" cap="flat" cmpd="sng" algn="ctr">
            <a:solidFill>
              <a:schemeClr val="bg1">
                <a:lumMod val="65000"/>
              </a:schemeClr>
            </a:solidFill>
            <a:prstDash val="solid"/>
            <a:miter lim="800000"/>
          </a:ln>
          <a:effectLst/>
        </p:spPr>
      </p:cxnSp>
      <p:grpSp>
        <p:nvGrpSpPr>
          <p:cNvPr id="20" name="组合 58">
            <a:extLst>
              <a:ext uri="{FF2B5EF4-FFF2-40B4-BE49-F238E27FC236}">
                <a16:creationId xmlns:a16="http://schemas.microsoft.com/office/drawing/2014/main" id="{944E52D3-760A-E64D-B902-E3CDD9DC84C1}"/>
              </a:ext>
            </a:extLst>
          </p:cNvPr>
          <p:cNvGrpSpPr/>
          <p:nvPr/>
        </p:nvGrpSpPr>
        <p:grpSpPr>
          <a:xfrm>
            <a:off x="5258436" y="3412098"/>
            <a:ext cx="505065" cy="492772"/>
            <a:chOff x="5747657" y="2305619"/>
            <a:chExt cx="556576" cy="556576"/>
          </a:xfrm>
        </p:grpSpPr>
        <p:sp>
          <p:nvSpPr>
            <p:cNvPr id="21" name="椭圆 26">
              <a:extLst>
                <a:ext uri="{FF2B5EF4-FFF2-40B4-BE49-F238E27FC236}">
                  <a16:creationId xmlns:a16="http://schemas.microsoft.com/office/drawing/2014/main" id="{D7C97640-F1CA-2842-9B8E-64BE9A8C9F7B}"/>
                </a:ext>
              </a:extLst>
            </p:cNvPr>
            <p:cNvSpPr/>
            <p:nvPr/>
          </p:nvSpPr>
          <p:spPr bwMode="auto">
            <a:xfrm>
              <a:off x="5747657" y="2305619"/>
              <a:ext cx="556576" cy="556576"/>
            </a:xfrm>
            <a:prstGeom prst="ellipse">
              <a:avLst/>
            </a:prstGeom>
            <a:solidFill>
              <a:srgbClr val="A6A6A6"/>
            </a:solidFill>
            <a:ln w="57150" cap="flat" cmpd="sng" algn="ctr">
              <a:solidFill>
                <a:sysClr val="window" lastClr="FFFFFF"/>
              </a:solidFill>
              <a:prstDash val="solid"/>
            </a:ln>
            <a:effectLst>
              <a:outerShdw blurRad="381000" dist="1270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1219170">
                <a:lnSpc>
                  <a:spcPct val="130000"/>
                </a:lnSpc>
                <a:defRPr/>
              </a:pPr>
              <a:endParaRPr lang="en-US" sz="1400" kern="0" dirty="0">
                <a:solidFill>
                  <a:prstClr val="black">
                    <a:lumMod val="50000"/>
                    <a:lumOff val="50000"/>
                  </a:prstClr>
                </a:solidFill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2" name="燕尾形 60">
              <a:extLst>
                <a:ext uri="{FF2B5EF4-FFF2-40B4-BE49-F238E27FC236}">
                  <a16:creationId xmlns:a16="http://schemas.microsoft.com/office/drawing/2014/main" id="{C01F8703-03F0-A24B-ACCA-6313F18B77C0}"/>
                </a:ext>
              </a:extLst>
            </p:cNvPr>
            <p:cNvSpPr/>
            <p:nvPr/>
          </p:nvSpPr>
          <p:spPr>
            <a:xfrm>
              <a:off x="5932500" y="2446897"/>
              <a:ext cx="186890" cy="274020"/>
            </a:xfrm>
            <a:prstGeom prst="chevron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1867" kern="0">
                <a:solidFill>
                  <a:prstClr val="black"/>
                </a:solidFill>
                <a:latin typeface="Calibri"/>
                <a:ea typeface="微軟正黑體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D4346E7-49C0-0C41-9E5A-F8F9181CF476}"/>
              </a:ext>
            </a:extLst>
          </p:cNvPr>
          <p:cNvSpPr txBox="1"/>
          <p:nvPr/>
        </p:nvSpPr>
        <p:spPr>
          <a:xfrm>
            <a:off x="5234669" y="2091196"/>
            <a:ext cx="3707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Technical Aspect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991139-CE35-674C-A11D-D49B7558D6E2}"/>
              </a:ext>
            </a:extLst>
          </p:cNvPr>
          <p:cNvSpPr txBox="1"/>
          <p:nvPr/>
        </p:nvSpPr>
        <p:spPr>
          <a:xfrm>
            <a:off x="6285761" y="3118353"/>
            <a:ext cx="2289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Quality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E48F5E-201E-C541-AD69-F592CDE39AE5}"/>
              </a:ext>
            </a:extLst>
          </p:cNvPr>
          <p:cNvSpPr txBox="1"/>
          <p:nvPr/>
        </p:nvSpPr>
        <p:spPr>
          <a:xfrm>
            <a:off x="5709828" y="4527156"/>
            <a:ext cx="4243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Completion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11DABC5-FD93-C74C-A279-DB468897DC0A}"/>
              </a:ext>
            </a:extLst>
          </p:cNvPr>
          <p:cNvSpPr/>
          <p:nvPr/>
        </p:nvSpPr>
        <p:spPr>
          <a:xfrm>
            <a:off x="5688905" y="4932954"/>
            <a:ext cx="789225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Timeframe and transition into next semester</a:t>
            </a:r>
          </a:p>
          <a:p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2040AE7-C819-5B4D-8422-3983E1C53FF5}"/>
              </a:ext>
            </a:extLst>
          </p:cNvPr>
          <p:cNvSpPr/>
          <p:nvPr/>
        </p:nvSpPr>
        <p:spPr>
          <a:xfrm>
            <a:off x="6404448" y="3538063"/>
            <a:ext cx="8128000" cy="4205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133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50A1F4F-661B-174B-9D9E-66F38C2DF1DB}"/>
              </a:ext>
            </a:extLst>
          </p:cNvPr>
          <p:cNvGrpSpPr/>
          <p:nvPr/>
        </p:nvGrpSpPr>
        <p:grpSpPr>
          <a:xfrm>
            <a:off x="634317" y="349805"/>
            <a:ext cx="1293176" cy="1101623"/>
            <a:chOff x="821781" y="303754"/>
            <a:chExt cx="1496395" cy="1299101"/>
          </a:xfrm>
        </p:grpSpPr>
        <p:sp>
          <p:nvSpPr>
            <p:cNvPr id="29" name="椭圆 51">
              <a:extLst>
                <a:ext uri="{FF2B5EF4-FFF2-40B4-BE49-F238E27FC236}">
                  <a16:creationId xmlns:a16="http://schemas.microsoft.com/office/drawing/2014/main" id="{F5464C12-C376-6741-AAE6-CA646AA6C506}"/>
                </a:ext>
              </a:extLst>
            </p:cNvPr>
            <p:cNvSpPr/>
            <p:nvPr/>
          </p:nvSpPr>
          <p:spPr>
            <a:xfrm>
              <a:off x="1019075" y="303754"/>
              <a:ext cx="1299101" cy="1299101"/>
            </a:xfrm>
            <a:prstGeom prst="ellipse">
              <a:avLst/>
            </a:prstGeom>
            <a:solidFill>
              <a:srgbClr val="D4E6F1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rgbClr val="523A2C"/>
                </a:solidFill>
              </a:endParaRPr>
            </a:p>
          </p:txBody>
        </p:sp>
        <p:sp>
          <p:nvSpPr>
            <p:cNvPr id="30" name="椭圆 52">
              <a:extLst>
                <a:ext uri="{FF2B5EF4-FFF2-40B4-BE49-F238E27FC236}">
                  <a16:creationId xmlns:a16="http://schemas.microsoft.com/office/drawing/2014/main" id="{03EC533F-558A-0446-A1E1-68CA934B494F}"/>
                </a:ext>
              </a:extLst>
            </p:cNvPr>
            <p:cNvSpPr/>
            <p:nvPr/>
          </p:nvSpPr>
          <p:spPr>
            <a:xfrm>
              <a:off x="821781" y="1040074"/>
              <a:ext cx="524547" cy="524547"/>
            </a:xfrm>
            <a:prstGeom prst="ellipse">
              <a:avLst/>
            </a:prstGeom>
            <a:solidFill>
              <a:srgbClr val="8FA4B7"/>
            </a:solidFill>
            <a:ln>
              <a:noFill/>
            </a:ln>
            <a:effectLst>
              <a:reflection stA="40000" endPos="30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rgbClr val="523A2C"/>
                </a:solidFill>
              </a:endParaRPr>
            </a:p>
          </p:txBody>
        </p:sp>
      </p:grpSp>
      <p:sp>
        <p:nvSpPr>
          <p:cNvPr id="31" name="TextBox 6">
            <a:extLst>
              <a:ext uri="{FF2B5EF4-FFF2-40B4-BE49-F238E27FC236}">
                <a16:creationId xmlns:a16="http://schemas.microsoft.com/office/drawing/2014/main" id="{626B3FE0-8184-D740-8758-9188A7DAB7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055" y="633669"/>
            <a:ext cx="4601552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  <a:spAutoFit/>
          </a:bodyPr>
          <a:lstStyle/>
          <a:p>
            <a:pPr algn="ctr" defTabSz="121917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70302020209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Potential Challenges</a:t>
            </a:r>
            <a:endParaRPr lang="zh-CN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703020202090204" pitchFamily="34" charset="0"/>
              <a:cs typeface="Tahoma" panose="020B0604030504040204" pitchFamily="34" charset="0"/>
            </a:endParaRPr>
          </a:p>
        </p:txBody>
      </p:sp>
      <p:sp>
        <p:nvSpPr>
          <p:cNvPr id="38" name="文本框 24">
            <a:extLst>
              <a:ext uri="{FF2B5EF4-FFF2-40B4-BE49-F238E27FC236}">
                <a16:creationId xmlns:a16="http://schemas.microsoft.com/office/drawing/2014/main" id="{CBD4977A-5417-9841-93A2-06918571ED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8667" y="3517467"/>
            <a:ext cx="5484349" cy="767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cs typeface="Calibri" panose="020F0502020204030204" pitchFamily="34" charset="0"/>
              </a:rPr>
              <a:t> Meaningful results and viable models</a:t>
            </a:r>
          </a:p>
          <a:p>
            <a:pPr>
              <a:lnSpc>
                <a:spcPct val="130000"/>
              </a:lnSpc>
            </a:pPr>
            <a:endParaRPr lang="en-GB" altLang="zh-CN" sz="2000" dirty="0">
              <a:solidFill>
                <a:schemeClr val="tx1">
                  <a:lumMod val="50000"/>
                  <a:lumOff val="50000"/>
                </a:schemeClr>
              </a:solidFill>
              <a:ea typeface="微软雅黑" panose="020B0503020204020204" pitchFamily="34" charset="-122"/>
              <a:cs typeface="Calibri" panose="020F0502020204030204" pitchFamily="34" charset="0"/>
              <a:sym typeface="+mn-lt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6B10935-CCFC-3045-B57B-F9EC76C1159A}"/>
              </a:ext>
            </a:extLst>
          </p:cNvPr>
          <p:cNvSpPr txBox="1"/>
          <p:nvPr/>
        </p:nvSpPr>
        <p:spPr>
          <a:xfrm>
            <a:off x="10916356" y="6434667"/>
            <a:ext cx="722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329086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 11">
            <a:extLst>
              <a:ext uri="{FF2B5EF4-FFF2-40B4-BE49-F238E27FC236}">
                <a16:creationId xmlns:a16="http://schemas.microsoft.com/office/drawing/2014/main" id="{2900E33B-D844-6E43-A142-C0F312D436CD}"/>
              </a:ext>
            </a:extLst>
          </p:cNvPr>
          <p:cNvSpPr/>
          <p:nvPr/>
        </p:nvSpPr>
        <p:spPr>
          <a:xfrm>
            <a:off x="3627117" y="550681"/>
            <a:ext cx="8564883" cy="6307319"/>
          </a:xfrm>
          <a:custGeom>
            <a:avLst/>
            <a:gdLst>
              <a:gd name="connsiteX0" fmla="*/ 4052585 w 7495569"/>
              <a:gd name="connsiteY0" fmla="*/ 0 h 5760400"/>
              <a:gd name="connsiteX1" fmla="*/ 7413052 w 7495569"/>
              <a:gd name="connsiteY1" fmla="*/ 1786746 h 5760400"/>
              <a:gd name="connsiteX2" fmla="*/ 7495569 w 7495569"/>
              <a:gd name="connsiteY2" fmla="*/ 1922573 h 5760400"/>
              <a:gd name="connsiteX3" fmla="*/ 7495569 w 7495569"/>
              <a:gd name="connsiteY3" fmla="*/ 5760400 h 5760400"/>
              <a:gd name="connsiteX4" fmla="*/ 381273 w 7495569"/>
              <a:gd name="connsiteY4" fmla="*/ 5760400 h 5760400"/>
              <a:gd name="connsiteX5" fmla="*/ 318473 w 7495569"/>
              <a:gd name="connsiteY5" fmla="*/ 5630034 h 5760400"/>
              <a:gd name="connsiteX6" fmla="*/ 0 w 7495569"/>
              <a:gd name="connsiteY6" fmla="*/ 4052585 h 5760400"/>
              <a:gd name="connsiteX7" fmla="*/ 4052585 w 7495569"/>
              <a:gd name="connsiteY7" fmla="*/ 0 h 57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95569" h="5760400">
                <a:moveTo>
                  <a:pt x="4052585" y="0"/>
                </a:moveTo>
                <a:cubicBezTo>
                  <a:pt x="5451448" y="0"/>
                  <a:pt x="6684773" y="708752"/>
                  <a:pt x="7413052" y="1786746"/>
                </a:cubicBezTo>
                <a:lnTo>
                  <a:pt x="7495569" y="1922573"/>
                </a:lnTo>
                <a:lnTo>
                  <a:pt x="7495569" y="5760400"/>
                </a:lnTo>
                <a:lnTo>
                  <a:pt x="381273" y="5760400"/>
                </a:lnTo>
                <a:lnTo>
                  <a:pt x="318473" y="5630034"/>
                </a:lnTo>
                <a:cubicBezTo>
                  <a:pt x="113401" y="5145190"/>
                  <a:pt x="0" y="4612131"/>
                  <a:pt x="0" y="4052585"/>
                </a:cubicBezTo>
                <a:cubicBezTo>
                  <a:pt x="0" y="1814404"/>
                  <a:pt x="1814404" y="0"/>
                  <a:pt x="4052585" y="0"/>
                </a:cubicBez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anchor="ctr"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70302020209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椭圆 15">
            <a:extLst>
              <a:ext uri="{FF2B5EF4-FFF2-40B4-BE49-F238E27FC236}">
                <a16:creationId xmlns:a16="http://schemas.microsoft.com/office/drawing/2014/main" id="{768EC87C-49F0-9847-ABE1-B862C5CDF279}"/>
              </a:ext>
            </a:extLst>
          </p:cNvPr>
          <p:cNvSpPr/>
          <p:nvPr/>
        </p:nvSpPr>
        <p:spPr>
          <a:xfrm>
            <a:off x="2351986" y="550681"/>
            <a:ext cx="2305031" cy="230503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reflection stA="40000" endPos="3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8">
            <a:extLst>
              <a:ext uri="{FF2B5EF4-FFF2-40B4-BE49-F238E27FC236}">
                <a16:creationId xmlns:a16="http://schemas.microsoft.com/office/drawing/2014/main" id="{C0671541-0111-8945-BB7E-5F793C7E1B06}"/>
              </a:ext>
            </a:extLst>
          </p:cNvPr>
          <p:cNvGrpSpPr/>
          <p:nvPr/>
        </p:nvGrpSpPr>
        <p:grpSpPr>
          <a:xfrm>
            <a:off x="1902638" y="2550191"/>
            <a:ext cx="611041" cy="611041"/>
            <a:chOff x="9937750" y="2166942"/>
            <a:chExt cx="625475" cy="625475"/>
          </a:xfrm>
        </p:grpSpPr>
        <p:sp>
          <p:nvSpPr>
            <p:cNvPr id="14" name="椭圆 4">
              <a:extLst>
                <a:ext uri="{FF2B5EF4-FFF2-40B4-BE49-F238E27FC236}">
                  <a16:creationId xmlns:a16="http://schemas.microsoft.com/office/drawing/2014/main" id="{5117FB52-C186-1D46-9882-5F0D9E220A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37750" y="2166942"/>
              <a:ext cx="625475" cy="62547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395E8A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5" name="椭圆 5">
              <a:extLst>
                <a:ext uri="{FF2B5EF4-FFF2-40B4-BE49-F238E27FC236}">
                  <a16:creationId xmlns:a16="http://schemas.microsoft.com/office/drawing/2014/main" id="{F5F35EC1-F5E6-884E-A329-65DE83E960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1357" y="2290549"/>
              <a:ext cx="378260" cy="378260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395E8A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sp>
        <p:nvSpPr>
          <p:cNvPr id="16" name="TextBox 6">
            <a:extLst>
              <a:ext uri="{FF2B5EF4-FFF2-40B4-BE49-F238E27FC236}">
                <a16:creationId xmlns:a16="http://schemas.microsoft.com/office/drawing/2014/main" id="{EA4DFF27-C950-4B44-9488-C25424A8AB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2782" y="3122607"/>
            <a:ext cx="4795374" cy="146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6600" b="1" dirty="0">
                <a:solidFill>
                  <a:schemeClr val="bg1"/>
                </a:solidFill>
                <a:latin typeface="Trebuchet MS" panose="020B0703020202090204" pitchFamily="34" charset="0"/>
                <a:cs typeface="Calibri" panose="020F0502020204030204" pitchFamily="34" charset="0"/>
              </a:rPr>
              <a:t>Questions</a:t>
            </a:r>
            <a:endParaRPr lang="zh-CN" altLang="zh-CN" sz="6600" b="1" dirty="0">
              <a:solidFill>
                <a:schemeClr val="bg1"/>
              </a:solidFill>
              <a:latin typeface="Trebuchet MS" panose="020B070302020209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1D64B5-BACD-C946-B5FA-9437ECAB6359}"/>
              </a:ext>
            </a:extLst>
          </p:cNvPr>
          <p:cNvSpPr txBox="1"/>
          <p:nvPr/>
        </p:nvSpPr>
        <p:spPr>
          <a:xfrm>
            <a:off x="10916356" y="6434667"/>
            <a:ext cx="722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760906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282</Words>
  <Application>Microsoft Macintosh PowerPoint</Application>
  <PresentationFormat>Widescreen</PresentationFormat>
  <Paragraphs>79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22" baseType="lpstr">
      <vt:lpstr>微软雅黑</vt:lpstr>
      <vt:lpstr>宋体</vt:lpstr>
      <vt:lpstr>Arial</vt:lpstr>
      <vt:lpstr>Bernard MT Condensed</vt:lpstr>
      <vt:lpstr>Calibri</vt:lpstr>
      <vt:lpstr>Calibri Light</vt:lpstr>
      <vt:lpstr>Gill Sans</vt:lpstr>
      <vt:lpstr>Impact</vt:lpstr>
      <vt:lpstr>Montserrat Bold</vt:lpstr>
      <vt:lpstr>Montserrat Regular</vt:lpstr>
      <vt:lpstr>Roboto Light</vt:lpstr>
      <vt:lpstr>Tahoma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Jin, Jianan</dc:creator>
  <cp:lastModifiedBy>Dhakal, Attush</cp:lastModifiedBy>
  <cp:revision>18</cp:revision>
  <dcterms:created xsi:type="dcterms:W3CDTF">2019-10-08T23:47:38Z</dcterms:created>
  <dcterms:modified xsi:type="dcterms:W3CDTF">2019-10-09T14:49:43Z</dcterms:modified>
</cp:coreProperties>
</file>