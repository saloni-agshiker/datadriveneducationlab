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 id="2147483650"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Lst>
  <p:sldSz cy="6858000" cx="12192000"/>
  <p:notesSz cx="6858000" cy="9144000"/>
  <p:embeddedFontLst>
    <p:embeddedFont>
      <p:font typeface="Roboto"/>
      <p:regular r:id="rId35"/>
      <p:bold r:id="rId36"/>
      <p:italic r:id="rId37"/>
      <p:boldItalic r:id="rId38"/>
    </p:embeddedFont>
    <p:embeddedFont>
      <p:font typeface="Proxima Nova"/>
      <p:regular r:id="rId39"/>
      <p:bold r:id="rId40"/>
      <p:italic r:id="rId41"/>
      <p:boldItalic r:id="rId42"/>
    </p:embeddedFont>
    <p:embeddedFont>
      <p:font typeface="Roboto Condensed Light"/>
      <p:regular r:id="rId43"/>
      <p:bold r:id="rId44"/>
      <p:italic r:id="rId45"/>
      <p:boldItalic r:id="rId4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773">
          <p15:clr>
            <a:srgbClr val="000000"/>
          </p15:clr>
        </p15:guide>
        <p15:guide id="2" pos="244">
          <p15:clr>
            <a:srgbClr val="000000"/>
          </p15:clr>
        </p15:guide>
      </p15:sldGuideLst>
    </p:ext>
    <p:ext uri="http://customooxmlschemas.google.com/">
      <go:slidesCustomData xmlns:go="http://customooxmlschemas.google.com/" r:id="rId47" roundtripDataSignature="AMtx7mhTRqbQeAMwhj2/f796ZTpeeL97k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CCDC21C-B5D2-42E9-A99F-2F22E0119BDE}">
  <a:tblStyle styleId="{9CCDC21C-B5D2-42E9-A99F-2F22E0119BDE}"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773" orient="horz"/>
        <p:guide pos="244"/>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ProximaNova-bold.fntdata"/><Relationship Id="rId20" Type="http://schemas.openxmlformats.org/officeDocument/2006/relationships/slide" Target="slides/slide13.xml"/><Relationship Id="rId42" Type="http://schemas.openxmlformats.org/officeDocument/2006/relationships/font" Target="fonts/ProximaNova-boldItalic.fntdata"/><Relationship Id="rId41" Type="http://schemas.openxmlformats.org/officeDocument/2006/relationships/font" Target="fonts/ProximaNova-italic.fntdata"/><Relationship Id="rId22" Type="http://schemas.openxmlformats.org/officeDocument/2006/relationships/slide" Target="slides/slide15.xml"/><Relationship Id="rId44" Type="http://schemas.openxmlformats.org/officeDocument/2006/relationships/font" Target="fonts/RobotoCondensedLight-bold.fntdata"/><Relationship Id="rId21" Type="http://schemas.openxmlformats.org/officeDocument/2006/relationships/slide" Target="slides/slide14.xml"/><Relationship Id="rId43" Type="http://schemas.openxmlformats.org/officeDocument/2006/relationships/font" Target="fonts/RobotoCondensedLight-regular.fntdata"/><Relationship Id="rId24" Type="http://schemas.openxmlformats.org/officeDocument/2006/relationships/slide" Target="slides/slide17.xml"/><Relationship Id="rId46" Type="http://schemas.openxmlformats.org/officeDocument/2006/relationships/font" Target="fonts/RobotoCondensedLight-boldItalic.fntdata"/><Relationship Id="rId23" Type="http://schemas.openxmlformats.org/officeDocument/2006/relationships/slide" Target="slides/slide16.xml"/><Relationship Id="rId45" Type="http://schemas.openxmlformats.org/officeDocument/2006/relationships/font" Target="fonts/RobotoCondensedLight-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slide" Target="slides/slide19.xml"/><Relationship Id="rId25" Type="http://schemas.openxmlformats.org/officeDocument/2006/relationships/slide" Target="slides/slide18.xml"/><Relationship Id="rId47" Type="http://customschemas.google.com/relationships/presentationmetadata" Target="metadata"/><Relationship Id="rId28" Type="http://schemas.openxmlformats.org/officeDocument/2006/relationships/slide" Target="slides/slide21.xml"/><Relationship Id="rId27" Type="http://schemas.openxmlformats.org/officeDocument/2006/relationships/slide" Target="slides/slide20.xml"/><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slide" Target="slides/slide2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11" Type="http://schemas.openxmlformats.org/officeDocument/2006/relationships/slide" Target="slides/slide4.xml"/><Relationship Id="rId33" Type="http://schemas.openxmlformats.org/officeDocument/2006/relationships/slide" Target="slides/slide26.xml"/><Relationship Id="rId10" Type="http://schemas.openxmlformats.org/officeDocument/2006/relationships/slide" Target="slides/slide3.xml"/><Relationship Id="rId32" Type="http://schemas.openxmlformats.org/officeDocument/2006/relationships/slide" Target="slides/slide25.xml"/><Relationship Id="rId13" Type="http://schemas.openxmlformats.org/officeDocument/2006/relationships/slide" Target="slides/slide6.xml"/><Relationship Id="rId35" Type="http://schemas.openxmlformats.org/officeDocument/2006/relationships/font" Target="fonts/Roboto-regular.fntdata"/><Relationship Id="rId12" Type="http://schemas.openxmlformats.org/officeDocument/2006/relationships/slide" Target="slides/slide5.xml"/><Relationship Id="rId34" Type="http://schemas.openxmlformats.org/officeDocument/2006/relationships/slide" Target="slides/slide27.xml"/><Relationship Id="rId15" Type="http://schemas.openxmlformats.org/officeDocument/2006/relationships/slide" Target="slides/slide8.xml"/><Relationship Id="rId37" Type="http://schemas.openxmlformats.org/officeDocument/2006/relationships/font" Target="fonts/Roboto-italic.fntdata"/><Relationship Id="rId14" Type="http://schemas.openxmlformats.org/officeDocument/2006/relationships/slide" Target="slides/slide7.xml"/><Relationship Id="rId36" Type="http://schemas.openxmlformats.org/officeDocument/2006/relationships/font" Target="fonts/Roboto-bold.fntdata"/><Relationship Id="rId17" Type="http://schemas.openxmlformats.org/officeDocument/2006/relationships/slide" Target="slides/slide10.xml"/><Relationship Id="rId39" Type="http://schemas.openxmlformats.org/officeDocument/2006/relationships/font" Target="fonts/ProximaNova-regular.fntdata"/><Relationship Id="rId16" Type="http://schemas.openxmlformats.org/officeDocument/2006/relationships/slide" Target="slides/slide9.xml"/><Relationship Id="rId38" Type="http://schemas.openxmlformats.org/officeDocument/2006/relationships/font" Target="fonts/Roboto-boldItalic.fntdata"/><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Pratik</a:t>
            </a:r>
            <a:endParaRPr/>
          </a:p>
        </p:txBody>
      </p:sp>
      <p:sp>
        <p:nvSpPr>
          <p:cNvPr id="74" name="Google Shape;74;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15db474c58e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0" name="Google Shape;80;g15db474c58e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All</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9d48565bb2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1" name="Google Shape;101;g9d48565bb2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Pratik</a:t>
            </a:r>
            <a:endParaRPr/>
          </a:p>
          <a:p>
            <a:pPr indent="0" lvl="0" marL="0" rtl="0" algn="l">
              <a:lnSpc>
                <a:spcPct val="100000"/>
              </a:lnSpc>
              <a:spcBef>
                <a:spcPts val="0"/>
              </a:spcBef>
              <a:spcAft>
                <a:spcPts val="0"/>
              </a:spcAft>
              <a:buSzPts val="1100"/>
              <a:buNone/>
            </a:pPr>
            <a:r>
              <a:rPr lang="en-US"/>
              <a:t>Our focus for this semester is to create an MVP dashboard where instructors can get actionable insights on different aspects of their courses like difficulty of content, student sentiment on different topics covered in material and so on. We’re using data from Dr. Thad Starner’s online course on Artificial Intelligence. In addition, we’re using the community of inquiry framework to analyse the engagement level in the course using cognitive presence analysis, however that’s a small component of our work this semester.</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ba764dde3e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9" name="Google Shape;109;gba764dde3e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Pratik:</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f4b38d8802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6" name="Google Shape;116;gf4b38d8802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Pratik:</a:t>
            </a:r>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efbeba6a1c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3" name="Google Shape;123;gefbeba6a1c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Malav</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bea1223c9f_0_1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8" name="Google Shape;128;gbea1223c9f_0_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Malav</a:t>
            </a:r>
            <a:endParaRPr/>
          </a:p>
          <a:p>
            <a:pPr indent="0" lvl="0" marL="0" rtl="0" algn="l">
              <a:lnSpc>
                <a:spcPct val="100000"/>
              </a:lnSpc>
              <a:spcBef>
                <a:spcPts val="0"/>
              </a:spcBef>
              <a:spcAft>
                <a:spcPts val="0"/>
              </a:spcAft>
              <a:buSzPts val="1100"/>
              <a:buNone/>
            </a:pPr>
            <a:r>
              <a:rPr lang="en-US">
                <a:solidFill>
                  <a:schemeClr val="dk1"/>
                </a:solidFill>
              </a:rPr>
              <a:t>Our goal is to analyze student interaction with their peers and understand their engagement and performance in a classroom. One way this can be achieved is by creating a dashboard that could provide visuals about the sentiments and topic analysis from their interactions within the online learning community. Our team’s main goal for this semester is to deploy a functioning dashboard that could provide more valuable feedbacks to the professors and can help them structure their courses in the future. </a:t>
            </a:r>
            <a:endParaRPr/>
          </a:p>
          <a:p>
            <a:pPr indent="0" lvl="0" marL="0" rtl="0" algn="l">
              <a:lnSpc>
                <a:spcPct val="100000"/>
              </a:lnSpc>
              <a:spcBef>
                <a:spcPts val="110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efbeba6a1c_0_50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4" name="Google Shape;134;gefbeba6a1c_0_50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M</a:t>
            </a:r>
            <a:r>
              <a:rPr lang="en-US"/>
              <a:t>alav</a:t>
            </a:r>
            <a:endParaRPr/>
          </a:p>
          <a:p>
            <a:pPr indent="0" lvl="0" marL="0" rtl="0" algn="l">
              <a:lnSpc>
                <a:spcPct val="100000"/>
              </a:lnSpc>
              <a:spcBef>
                <a:spcPts val="0"/>
              </a:spcBef>
              <a:spcAft>
                <a:spcPts val="0"/>
              </a:spcAft>
              <a:buNone/>
            </a:pPr>
            <a:r>
              <a:rPr lang="en-US"/>
              <a:t>Our team is working and has worked on multiple topics to provide valuable insights to the professor. </a:t>
            </a:r>
            <a:r>
              <a:rPr lang="en-US">
                <a:solidFill>
                  <a:schemeClr val="dk1"/>
                </a:solidFill>
              </a:rPr>
              <a:t>We are using the data from Dr. Thad’s course. Now we’ll be going over our end goals for the semester and our progress for each of them. I’ll pass on to Harriet to explain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175b9171bdc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175b9171bd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Harriet</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15e2f3f4d0a_0_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5" name="Google Shape;155;g15e2f3f4d0a_0_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a:solidFill>
                  <a:schemeClr val="dk1"/>
                </a:solidFill>
              </a:rPr>
              <a:t>Harriet</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175b9171bdc_0_2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175b9171bdc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a:solidFill>
                  <a:schemeClr val="dk1"/>
                </a:solidFill>
              </a:rPr>
              <a:t>Harriet</a:t>
            </a:r>
            <a:endParaRPr/>
          </a:p>
          <a:p>
            <a:pPr indent="0" lvl="0" marL="0" rtl="0" algn="l">
              <a:spcBef>
                <a:spcPts val="0"/>
              </a:spcBef>
              <a:spcAft>
                <a:spcPts val="0"/>
              </a:spcAft>
              <a:buNone/>
            </a:pPr>
            <a:r>
              <a:rPr lang="en-US"/>
              <a:t>since it consists of authentic approaches based on collaboratively constructing knowledge in an online environment</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15e2f3f4d0a_0_1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3" name="Google Shape;173;g15e2f3f4d0a_0_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Jisan</a:t>
            </a:r>
            <a:endParaRPr/>
          </a:p>
          <a:p>
            <a:pPr indent="0" lvl="0" marL="0" rtl="0" algn="l">
              <a:lnSpc>
                <a:spcPct val="100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Aspect-based Sentiment Analaysis is a Machine Learning to identify and assign sentiment to aspects. In this model, we have to select multiple aspects. We considered that aspects can be test project quiz homework gradescope assignment for the first demo so that we can see students’ sentiment to class system. for example, if a text is like the example text, the sentiment is negative. Then, We could guess something wrong in gradescope, here is submission error. Basically it can describe the students’ current circumstance for multiple aspects at a time. Also I think for the future work we would like to change the aspects based on the output of the topic modeling so that we expect to display the sentiment for lecture content. This could be other option.</a:t>
            </a:r>
            <a:endParaRPr>
              <a:solidFill>
                <a:schemeClr val="dk1"/>
              </a:solidFill>
            </a:endParaRPr>
          </a:p>
          <a:p>
            <a:pPr indent="0" lvl="0" marL="0" rtl="0" algn="l">
              <a:lnSpc>
                <a:spcPct val="100000"/>
              </a:lnSpc>
              <a:spcBef>
                <a:spcPts val="1200"/>
              </a:spcBef>
              <a:spcAft>
                <a:spcPts val="0"/>
              </a:spcAft>
              <a:buSzPts val="1100"/>
              <a:buNone/>
            </a:pPr>
            <a:r>
              <a:rPr lang="en-US">
                <a:solidFill>
                  <a:schemeClr val="dk1"/>
                </a:solidFill>
              </a:rPr>
              <a:t>Aspect-based sentiment analysis is what we brought out this semester. It is a machine learning task that identifies and assigns sentiment to aspects, features, and topics that it has categorized in the body of data. It receives texts and aspects as inputs and returns the ratio on how positive, neutral, and negative they are. It is mostly used on evaluating reviews such as movie or restaurant review, but we are applying it on Piazza data. </a:t>
            </a:r>
            <a:endParaRPr>
              <a:solidFill>
                <a:schemeClr val="dk1"/>
              </a:solidFill>
            </a:endParaRPr>
          </a:p>
          <a:p>
            <a:pPr indent="0" lvl="0" marL="0" rtl="0" algn="l">
              <a:lnSpc>
                <a:spcPct val="100000"/>
              </a:lnSpc>
              <a:spcBef>
                <a:spcPts val="0"/>
              </a:spcBef>
              <a:spcAft>
                <a:spcPts val="0"/>
              </a:spcAft>
              <a:buSzPts val="1100"/>
              <a:buNone/>
            </a:pPr>
            <a:r>
              <a:t/>
            </a:r>
            <a:endParaRPr>
              <a:solidFill>
                <a:schemeClr val="dk1"/>
              </a:solidFill>
            </a:endParaRPr>
          </a:p>
          <a:p>
            <a:pPr indent="0" lvl="0" marL="0" rtl="0" algn="l">
              <a:lnSpc>
                <a:spcPct val="100000"/>
              </a:lnSpc>
              <a:spcBef>
                <a:spcPts val="0"/>
              </a:spcBef>
              <a:spcAft>
                <a:spcPts val="0"/>
              </a:spcAft>
              <a:buSzPts val="1100"/>
              <a:buNone/>
            </a:pPr>
            <a:r>
              <a:rPr lang="en-US">
                <a:solidFill>
                  <a:schemeClr val="dk1"/>
                </a:solidFill>
              </a:rPr>
              <a:t>The example you can see on the screen is one of the posts on Piazza for an AI class. It says that “I am not sure why the link is not active”, and when we put link as an aspect, then we can see that the output says negative, because the keyword “link” is being evaluated as negative.</a:t>
            </a:r>
            <a:endParaRPr>
              <a:solidFill>
                <a:schemeClr val="dk1"/>
              </a:solidFill>
            </a:endParaRPr>
          </a:p>
          <a:p>
            <a:pPr indent="0" lvl="0" marL="0" rtl="0" algn="l">
              <a:lnSpc>
                <a:spcPct val="100000"/>
              </a:lnSpc>
              <a:spcBef>
                <a:spcPts val="0"/>
              </a:spcBef>
              <a:spcAft>
                <a:spcPts val="0"/>
              </a:spcAft>
              <a:buSzPts val="1100"/>
              <a:buNone/>
            </a:pPr>
            <a:r>
              <a:t/>
            </a:r>
            <a:endParaRPr>
              <a:solidFill>
                <a:schemeClr val="dk1"/>
              </a:solidFill>
            </a:endParaRPr>
          </a:p>
          <a:p>
            <a:pPr indent="0" lvl="0" marL="0" rtl="0" algn="l">
              <a:lnSpc>
                <a:spcPct val="100000"/>
              </a:lnSpc>
              <a:spcBef>
                <a:spcPts val="0"/>
              </a:spcBef>
              <a:spcAft>
                <a:spcPts val="0"/>
              </a:spcAft>
              <a:buSzPts val="1100"/>
              <a:buNone/>
            </a:pPr>
            <a:r>
              <a:rPr lang="en-US">
                <a:solidFill>
                  <a:schemeClr val="dk1"/>
                </a:solidFill>
              </a:rPr>
              <a:t>We are planning on using our keywords from topic modeling as aspects, and we expect this to help collect students' opinions and evaluations on difficulty or teaching methods in respect of specific topics.</a:t>
            </a:r>
            <a:endParaRPr>
              <a:solidFill>
                <a:schemeClr val="dk1"/>
              </a:solidFill>
            </a:endParaRPr>
          </a:p>
          <a:p>
            <a:pPr indent="0" lvl="0" marL="0" rtl="0" algn="l">
              <a:lnSpc>
                <a:spcPct val="100000"/>
              </a:lnSpc>
              <a:spcBef>
                <a:spcPts val="0"/>
              </a:spcBef>
              <a:spcAft>
                <a:spcPts val="0"/>
              </a:spcAft>
              <a:buSzPts val="1100"/>
              <a:buNone/>
            </a:pPr>
            <a:r>
              <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a:solidFill>
                <a:schemeClr val="dk1"/>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15e2f3f4d0a_0_1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7" name="Google Shape;187;g15e2f3f4d0a_0_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Jisan</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US"/>
              <a:t>Our ultimate goal for this semester is to improve all topic modeling, cognitive presence, and aspect-based sentiment analysis and to actually build a pipeline from data science model to our web page dashboard. We are planning to generate our result as a .csv file to deliver our output to web-dev team.</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175b9171bdc_0_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175b9171bdc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Jisan</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175b9171bdc_0_2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08" name="Google Shape;208;g175b9171bdc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Malav</a:t>
            </a:r>
            <a:endParaRPr/>
          </a:p>
          <a:p>
            <a:pPr indent="0" lvl="0" marL="0" rtl="0" algn="l">
              <a:spcBef>
                <a:spcPts val="0"/>
              </a:spcBef>
              <a:spcAft>
                <a:spcPts val="0"/>
              </a:spcAft>
              <a:buNone/>
            </a:pPr>
            <a:r>
              <a:rPr lang="en-US"/>
              <a:t>We have started our work on the Python script. We were able to run the test data on the saved models (Cogitive Presence and Topic Modelling), and now our next step would be merge in the ABSA modeling as well. For now, the </a:t>
            </a:r>
            <a:r>
              <a:rPr lang="en-US"/>
              <a:t>script</a:t>
            </a:r>
            <a:r>
              <a:rPr lang="en-US"/>
              <a:t> is just generating textual data for individual models and not storing any visuals in our </a:t>
            </a:r>
            <a:r>
              <a:rPr lang="en-US"/>
              <a:t>system</a:t>
            </a:r>
            <a:r>
              <a:rPr lang="en-US"/>
              <a:t>. But, the next step would be to store visuals and provide them to the web-dev team. Since we don’t have new data, we had to split the dataset into 80:20. But, once we </a:t>
            </a:r>
            <a:r>
              <a:rPr lang="en-US"/>
              <a:t>deploy</a:t>
            </a:r>
            <a:r>
              <a:rPr lang="en-US"/>
              <a:t> it and the </a:t>
            </a:r>
            <a:r>
              <a:rPr lang="en-US"/>
              <a:t>database</a:t>
            </a:r>
            <a:r>
              <a:rPr lang="en-US"/>
              <a:t> is updated, we will be fetching the data using a SQL query and lay a foundation for the back-end.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175b9171bdc_0_3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17" name="Google Shape;217;g175b9171bdc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Malav</a:t>
            </a:r>
            <a:endParaRPr/>
          </a:p>
          <a:p>
            <a:pPr indent="0" lvl="0" marL="0" rtl="0" algn="l">
              <a:spcBef>
                <a:spcPts val="0"/>
              </a:spcBef>
              <a:spcAft>
                <a:spcPts val="0"/>
              </a:spcAft>
              <a:buNone/>
            </a:pPr>
            <a:r>
              <a:rPr lang="en-US"/>
              <a:t>We have started our work on the Piazza feature that we will be prototyping by the end of this semester. For now, we are using token matching to separate the questions and answers, but it’s not quite accurate. We are constantly researching about a better model for </a:t>
            </a:r>
            <a:r>
              <a:rPr lang="en-US"/>
              <a:t>this. Also, we have started working on the python script and the next step in our process would be to run the 20% data on the saved model, and get a list of topics. Then we’ll be matching these topics with our database with the similar topics and would list out the results. Being a TA, I think that this feature will help answer a lot of repetitive questions about both the logistics and content that could have been answered in the previous semesters.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efbeba6a1c_0_3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4" name="Google Shape;224;gefbeba6a1c_0_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16f368effa8_0_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29" name="Google Shape;229;g16f368effa8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Gautam</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9d659091a8_1_1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5" name="Google Shape;235;g9d659091a8_1_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Gautam</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1718d617d03_0_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46" name="Google Shape;246;g1718d617d03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Gautam</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15c82140282_0_1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6" name="Google Shape;256;g15c82140282_0_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Ankit</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1718d617d03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66" name="Google Shape;266;g1718d617d0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Ankit</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g17258704c4c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6" name="Google Shape;276;g17258704c4c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a:solidFill>
                  <a:schemeClr val="dk1"/>
                </a:solidFill>
              </a:rPr>
              <a:t>Ritika:</a:t>
            </a:r>
            <a:endParaRPr>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One challenge we faced was first realizing how difficult it was to start the project immediately because we were given no documentation so we essentially had to start from scratch, which pushed back some tasks for the semester. To avoid this issue again, we are going to create documentation so that the members next semester are able to understand everything</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Another challenge we faced is trying to create a dynamic visual table that changes as the data changes with the realtime Piazza conversations. We currently have a static table in HTML, but have been looking into different frameworks and found a framework called AG Grid, so this is something that we will potentially learn and implement since it works well with React components and when the data is changed.</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p1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2" name="Google Shape;282;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Pratik</a:t>
            </a:r>
            <a:endParaRPr/>
          </a:p>
          <a:p>
            <a:pPr indent="0" lvl="0" marL="0" rtl="0" algn="l">
              <a:lnSpc>
                <a:spcPct val="100000"/>
              </a:lnSpc>
              <a:spcBef>
                <a:spcPts val="0"/>
              </a:spcBef>
              <a:spcAft>
                <a:spcPts val="0"/>
              </a:spcAft>
              <a:buSzPts val="1100"/>
              <a:buNone/>
            </a:pPr>
            <a:r>
              <a:rPr lang="en-US"/>
              <a:t>To conclude, the next steps in the roadmap is getting the web-app deployed, and on the data science end, use aspect-based sentiment analysis to help instructors understand the discussion forum activity in a more granular fashion and get actionable insights based on “how are the students feeling about different aspects of the course”, like assignment quality, course materials, response time of instructors etc for example. Also if we get time, we want to continue using the topic modeling to provide a feature in Piazza that could suggest responses to the incoming questions based on the previous years data collected. Not all of this can be done in this semester but we’re trying to move towards it and create documentation for future team to take it from here.</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g9d48565bb2_0_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8" name="Google Shape;288;g9d48565bb2_0_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p1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4" name="Google Shape;294;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bea1223c9f_0_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9" name="Google Shape;299;gbea1223c9f_0_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6" name="Shape 6"/>
        <p:cNvGrpSpPr/>
        <p:nvPr/>
      </p:nvGrpSpPr>
      <p:grpSpPr>
        <a:xfrm>
          <a:off x="0" y="0"/>
          <a:ext cx="0" cy="0"/>
          <a:chOff x="0" y="0"/>
          <a:chExt cx="0" cy="0"/>
        </a:xfrm>
      </p:grpSpPr>
      <p:sp>
        <p:nvSpPr>
          <p:cNvPr id="7" name="Google Shape;7;p14"/>
          <p:cNvSpPr txBox="1"/>
          <p:nvPr>
            <p:ph idx="1" type="subTitle"/>
          </p:nvPr>
        </p:nvSpPr>
        <p:spPr>
          <a:xfrm>
            <a:off x="4024461" y="3793068"/>
            <a:ext cx="6795913" cy="1684868"/>
          </a:xfrm>
          <a:prstGeom prst="rect">
            <a:avLst/>
          </a:prstGeom>
          <a:noFill/>
          <a:ln>
            <a:noFill/>
          </a:ln>
        </p:spPr>
        <p:txBody>
          <a:bodyPr anchorCtr="0" anchor="t" bIns="45700" lIns="91425" spcFirstLastPara="1" rIns="91425" wrap="square" tIns="45700">
            <a:noAutofit/>
          </a:bodyPr>
          <a:lstStyle>
            <a:lvl1pPr lvl="0" marR="0" rtl="0" algn="l">
              <a:lnSpc>
                <a:spcPct val="120000"/>
              </a:lnSpc>
              <a:spcBef>
                <a:spcPts val="600"/>
              </a:spcBef>
              <a:spcAft>
                <a:spcPts val="0"/>
              </a:spcAft>
              <a:buClr>
                <a:srgbClr val="7F7F7F"/>
              </a:buClr>
              <a:buSzPts val="3000"/>
              <a:buFont typeface="Arial"/>
              <a:buNone/>
              <a:defRPr b="0" i="0" sz="3000" u="none" cap="none" strike="noStrike">
                <a:solidFill>
                  <a:srgbClr val="7F7F7F"/>
                </a:solidFill>
                <a:latin typeface="Roboto Condensed Light"/>
                <a:ea typeface="Roboto Condensed Light"/>
                <a:cs typeface="Roboto Condensed Light"/>
                <a:sym typeface="Roboto Condensed Light"/>
              </a:defRPr>
            </a:lvl1pPr>
            <a:lvl2pPr lvl="1" marR="0" rtl="0" algn="ctr">
              <a:lnSpc>
                <a:spcPct val="100000"/>
              </a:lnSpc>
              <a:spcBef>
                <a:spcPts val="420"/>
              </a:spcBef>
              <a:spcAft>
                <a:spcPts val="0"/>
              </a:spcAft>
              <a:buClr>
                <a:srgbClr val="888888"/>
              </a:buClr>
              <a:buSzPts val="2100"/>
              <a:buFont typeface="Arial"/>
              <a:buNone/>
              <a:defRPr b="0" i="0" sz="2100" u="none" cap="none" strike="noStrike">
                <a:solidFill>
                  <a:srgbClr val="888888"/>
                </a:solidFill>
                <a:latin typeface="Arial"/>
                <a:ea typeface="Arial"/>
                <a:cs typeface="Arial"/>
                <a:sym typeface="Arial"/>
              </a:defRPr>
            </a:lvl2pPr>
            <a:lvl3pPr lvl="2" marR="0" rtl="0" algn="ctr">
              <a:lnSpc>
                <a:spcPct val="100000"/>
              </a:lnSpc>
              <a:spcBef>
                <a:spcPts val="360"/>
              </a:spcBef>
              <a:spcAft>
                <a:spcPts val="0"/>
              </a:spcAft>
              <a:buClr>
                <a:srgbClr val="888888"/>
              </a:buClr>
              <a:buSzPts val="1800"/>
              <a:buFont typeface="Arial"/>
              <a:buNone/>
              <a:defRPr b="0" i="0" sz="1800" u="none" cap="none" strike="noStrike">
                <a:solidFill>
                  <a:srgbClr val="888888"/>
                </a:solidFill>
                <a:latin typeface="Arial"/>
                <a:ea typeface="Arial"/>
                <a:cs typeface="Arial"/>
                <a:sym typeface="Arial"/>
              </a:defRPr>
            </a:lvl3pPr>
            <a:lvl4pPr lvl="3" marR="0" rtl="0" algn="ctr">
              <a:lnSpc>
                <a:spcPct val="100000"/>
              </a:lnSpc>
              <a:spcBef>
                <a:spcPts val="300"/>
              </a:spcBef>
              <a:spcAft>
                <a:spcPts val="0"/>
              </a:spcAft>
              <a:buClr>
                <a:srgbClr val="888888"/>
              </a:buClr>
              <a:buSzPts val="1500"/>
              <a:buFont typeface="Arial"/>
              <a:buNone/>
              <a:defRPr b="0" i="0" sz="1500" u="none" cap="none" strike="noStrike">
                <a:solidFill>
                  <a:srgbClr val="888888"/>
                </a:solidFill>
                <a:latin typeface="Arial"/>
                <a:ea typeface="Arial"/>
                <a:cs typeface="Arial"/>
                <a:sym typeface="Arial"/>
              </a:defRPr>
            </a:lvl4pPr>
            <a:lvl5pPr lvl="4" marR="0" rtl="0" algn="ctr">
              <a:lnSpc>
                <a:spcPct val="100000"/>
              </a:lnSpc>
              <a:spcBef>
                <a:spcPts val="300"/>
              </a:spcBef>
              <a:spcAft>
                <a:spcPts val="0"/>
              </a:spcAft>
              <a:buClr>
                <a:srgbClr val="888888"/>
              </a:buClr>
              <a:buSzPts val="1500"/>
              <a:buFont typeface="Arial"/>
              <a:buNone/>
              <a:defRPr b="0" i="0" sz="1500" u="none" cap="none" strike="noStrike">
                <a:solidFill>
                  <a:srgbClr val="888888"/>
                </a:solidFill>
                <a:latin typeface="Arial"/>
                <a:ea typeface="Arial"/>
                <a:cs typeface="Arial"/>
                <a:sym typeface="Arial"/>
              </a:defRPr>
            </a:lvl5pPr>
            <a:lvl6pPr lvl="5" marR="0" rtl="0" algn="ctr">
              <a:lnSpc>
                <a:spcPct val="100000"/>
              </a:lnSpc>
              <a:spcBef>
                <a:spcPts val="300"/>
              </a:spcBef>
              <a:spcAft>
                <a:spcPts val="0"/>
              </a:spcAft>
              <a:buClr>
                <a:srgbClr val="888888"/>
              </a:buClr>
              <a:buSzPts val="1500"/>
              <a:buFont typeface="Arial"/>
              <a:buNone/>
              <a:defRPr b="0" i="0" sz="1500" u="none" cap="none" strike="noStrike">
                <a:solidFill>
                  <a:srgbClr val="888888"/>
                </a:solidFill>
                <a:latin typeface="Arial"/>
                <a:ea typeface="Arial"/>
                <a:cs typeface="Arial"/>
                <a:sym typeface="Arial"/>
              </a:defRPr>
            </a:lvl6pPr>
            <a:lvl7pPr lvl="6" marR="0" rtl="0" algn="ctr">
              <a:lnSpc>
                <a:spcPct val="100000"/>
              </a:lnSpc>
              <a:spcBef>
                <a:spcPts val="300"/>
              </a:spcBef>
              <a:spcAft>
                <a:spcPts val="0"/>
              </a:spcAft>
              <a:buClr>
                <a:srgbClr val="888888"/>
              </a:buClr>
              <a:buSzPts val="1500"/>
              <a:buFont typeface="Arial"/>
              <a:buNone/>
              <a:defRPr b="0" i="0" sz="1500" u="none" cap="none" strike="noStrike">
                <a:solidFill>
                  <a:srgbClr val="888888"/>
                </a:solidFill>
                <a:latin typeface="Arial"/>
                <a:ea typeface="Arial"/>
                <a:cs typeface="Arial"/>
                <a:sym typeface="Arial"/>
              </a:defRPr>
            </a:lvl7pPr>
            <a:lvl8pPr lvl="7" marR="0" rtl="0" algn="ctr">
              <a:lnSpc>
                <a:spcPct val="100000"/>
              </a:lnSpc>
              <a:spcBef>
                <a:spcPts val="300"/>
              </a:spcBef>
              <a:spcAft>
                <a:spcPts val="0"/>
              </a:spcAft>
              <a:buClr>
                <a:srgbClr val="888888"/>
              </a:buClr>
              <a:buSzPts val="1500"/>
              <a:buFont typeface="Arial"/>
              <a:buNone/>
              <a:defRPr b="0" i="0" sz="1500" u="none" cap="none" strike="noStrike">
                <a:solidFill>
                  <a:srgbClr val="888888"/>
                </a:solidFill>
                <a:latin typeface="Arial"/>
                <a:ea typeface="Arial"/>
                <a:cs typeface="Arial"/>
                <a:sym typeface="Arial"/>
              </a:defRPr>
            </a:lvl8pPr>
            <a:lvl9pPr lvl="8" marR="0" rtl="0" algn="ctr">
              <a:lnSpc>
                <a:spcPct val="100000"/>
              </a:lnSpc>
              <a:spcBef>
                <a:spcPts val="300"/>
              </a:spcBef>
              <a:spcAft>
                <a:spcPts val="0"/>
              </a:spcAft>
              <a:buClr>
                <a:srgbClr val="888888"/>
              </a:buClr>
              <a:buSzPts val="1500"/>
              <a:buFont typeface="Arial"/>
              <a:buNone/>
              <a:defRPr b="0" i="0" sz="1500" u="none" cap="none" strike="noStrike">
                <a:solidFill>
                  <a:srgbClr val="888888"/>
                </a:solidFill>
                <a:latin typeface="Arial"/>
                <a:ea typeface="Arial"/>
                <a:cs typeface="Arial"/>
                <a:sym typeface="Arial"/>
              </a:defRPr>
            </a:lvl9pPr>
          </a:lstStyle>
          <a:p/>
        </p:txBody>
      </p:sp>
      <p:sp>
        <p:nvSpPr>
          <p:cNvPr id="8" name="Google Shape;8;p14"/>
          <p:cNvSpPr txBox="1"/>
          <p:nvPr>
            <p:ph type="ctrTitle"/>
          </p:nvPr>
        </p:nvSpPr>
        <p:spPr>
          <a:xfrm>
            <a:off x="4024462" y="333633"/>
            <a:ext cx="6795913" cy="3459435"/>
          </a:xfrm>
          <a:prstGeom prst="rect">
            <a:avLst/>
          </a:prstGeom>
          <a:noFill/>
          <a:ln>
            <a:noFill/>
          </a:ln>
        </p:spPr>
        <p:txBody>
          <a:bodyPr anchorCtr="0" anchor="b" bIns="45700" lIns="91425" spcFirstLastPara="1" rIns="91425" wrap="square" tIns="45700">
            <a:normAutofit/>
          </a:bodyPr>
          <a:lstStyle>
            <a:lvl1pPr lvl="0" marR="0" rtl="0" algn="l">
              <a:lnSpc>
                <a:spcPct val="114285"/>
              </a:lnSpc>
              <a:spcBef>
                <a:spcPts val="0"/>
              </a:spcBef>
              <a:spcAft>
                <a:spcPts val="0"/>
              </a:spcAft>
              <a:buClr>
                <a:srgbClr val="A7934B"/>
              </a:buClr>
              <a:buSzPts val="4200"/>
              <a:buFont typeface="Roboto"/>
              <a:buNone/>
              <a:defRPr b="1" i="0" sz="4200" u="none" cap="none" strike="noStrike">
                <a:solidFill>
                  <a:srgbClr val="A7934B"/>
                </a:solidFill>
                <a:latin typeface="Roboto"/>
                <a:ea typeface="Roboto"/>
                <a:cs typeface="Roboto"/>
                <a:sym typeface="Roboto"/>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15" name="Shape 15"/>
        <p:cNvGrpSpPr/>
        <p:nvPr/>
      </p:nvGrpSpPr>
      <p:grpSpPr>
        <a:xfrm>
          <a:off x="0" y="0"/>
          <a:ext cx="0" cy="0"/>
          <a:chOff x="0" y="0"/>
          <a:chExt cx="0" cy="0"/>
        </a:xfrm>
      </p:grpSpPr>
      <p:sp>
        <p:nvSpPr>
          <p:cNvPr id="16" name="Google Shape;16;p16"/>
          <p:cNvSpPr txBox="1"/>
          <p:nvPr>
            <p:ph idx="1" type="body"/>
          </p:nvPr>
        </p:nvSpPr>
        <p:spPr>
          <a:xfrm>
            <a:off x="381000" y="1215484"/>
            <a:ext cx="11430000" cy="4596355"/>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 name="Google Shape;17;p16"/>
          <p:cNvSpPr txBox="1"/>
          <p:nvPr>
            <p:ph idx="10" type="dt"/>
          </p:nvPr>
        </p:nvSpPr>
        <p:spPr>
          <a:xfrm>
            <a:off x="381000" y="5811839"/>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16"/>
          <p:cNvSpPr txBox="1"/>
          <p:nvPr>
            <p:ph idx="11" type="ftr"/>
          </p:nvPr>
        </p:nvSpPr>
        <p:spPr>
          <a:xfrm>
            <a:off x="3126154" y="5811839"/>
            <a:ext cx="5941647"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16"/>
          <p:cNvSpPr txBox="1"/>
          <p:nvPr>
            <p:ph idx="12" type="sldNum"/>
          </p:nvPr>
        </p:nvSpPr>
        <p:spPr>
          <a:xfrm>
            <a:off x="9067800" y="5811839"/>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20" name="Google Shape;20;p16"/>
          <p:cNvSpPr txBox="1"/>
          <p:nvPr>
            <p:ph type="title"/>
          </p:nvPr>
        </p:nvSpPr>
        <p:spPr>
          <a:xfrm>
            <a:off x="381000" y="200722"/>
            <a:ext cx="11430000" cy="1014761"/>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A7934B"/>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ONLY" type="titleOnly">
  <p:cSld name="TITLE_ONLY">
    <p:spTree>
      <p:nvGrpSpPr>
        <p:cNvPr id="21" name="Shape 21"/>
        <p:cNvGrpSpPr/>
        <p:nvPr/>
      </p:nvGrpSpPr>
      <p:grpSpPr>
        <a:xfrm>
          <a:off x="0" y="0"/>
          <a:ext cx="0" cy="0"/>
          <a:chOff x="0" y="0"/>
          <a:chExt cx="0" cy="0"/>
        </a:xfrm>
      </p:grpSpPr>
      <p:sp>
        <p:nvSpPr>
          <p:cNvPr id="22" name="Google Shape;22;p20"/>
          <p:cNvSpPr txBox="1"/>
          <p:nvPr>
            <p:ph type="title"/>
          </p:nvPr>
        </p:nvSpPr>
        <p:spPr>
          <a:xfrm>
            <a:off x="381000" y="200722"/>
            <a:ext cx="11430000" cy="1014761"/>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A7934B"/>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20"/>
          <p:cNvSpPr txBox="1"/>
          <p:nvPr>
            <p:ph idx="10" type="dt"/>
          </p:nvPr>
        </p:nvSpPr>
        <p:spPr>
          <a:xfrm>
            <a:off x="381000" y="5811839"/>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20"/>
          <p:cNvSpPr txBox="1"/>
          <p:nvPr>
            <p:ph idx="11" type="ftr"/>
          </p:nvPr>
        </p:nvSpPr>
        <p:spPr>
          <a:xfrm>
            <a:off x="3126154" y="5811839"/>
            <a:ext cx="5941647"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0"/>
          <p:cNvSpPr txBox="1"/>
          <p:nvPr>
            <p:ph idx="12" type="sldNum"/>
          </p:nvPr>
        </p:nvSpPr>
        <p:spPr>
          <a:xfrm>
            <a:off x="9067800" y="5811839"/>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6" name="Shape 26"/>
        <p:cNvGrpSpPr/>
        <p:nvPr/>
      </p:nvGrpSpPr>
      <p:grpSpPr>
        <a:xfrm>
          <a:off x="0" y="0"/>
          <a:ext cx="0" cy="0"/>
          <a:chOff x="0" y="0"/>
          <a:chExt cx="0" cy="0"/>
        </a:xfrm>
      </p:grpSpPr>
      <p:sp>
        <p:nvSpPr>
          <p:cNvPr id="27" name="Google Shape;27;p17"/>
          <p:cNvSpPr txBox="1"/>
          <p:nvPr>
            <p:ph idx="10" type="dt"/>
          </p:nvPr>
        </p:nvSpPr>
        <p:spPr>
          <a:xfrm>
            <a:off x="381000" y="5811839"/>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17"/>
          <p:cNvSpPr txBox="1"/>
          <p:nvPr>
            <p:ph idx="11" type="ftr"/>
          </p:nvPr>
        </p:nvSpPr>
        <p:spPr>
          <a:xfrm>
            <a:off x="3126154" y="5811839"/>
            <a:ext cx="5941647"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17"/>
          <p:cNvSpPr txBox="1"/>
          <p:nvPr>
            <p:ph idx="12" type="sldNum"/>
          </p:nvPr>
        </p:nvSpPr>
        <p:spPr>
          <a:xfrm>
            <a:off x="9067800" y="5811839"/>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_OBJECTS" type="twoObj">
  <p:cSld name="TWO_OBJECTS">
    <p:spTree>
      <p:nvGrpSpPr>
        <p:cNvPr id="30" name="Shape 30"/>
        <p:cNvGrpSpPr/>
        <p:nvPr/>
      </p:nvGrpSpPr>
      <p:grpSpPr>
        <a:xfrm>
          <a:off x="0" y="0"/>
          <a:ext cx="0" cy="0"/>
          <a:chOff x="0" y="0"/>
          <a:chExt cx="0" cy="0"/>
        </a:xfrm>
      </p:grpSpPr>
      <p:sp>
        <p:nvSpPr>
          <p:cNvPr id="31" name="Google Shape;31;p18"/>
          <p:cNvSpPr txBox="1"/>
          <p:nvPr>
            <p:ph type="title"/>
          </p:nvPr>
        </p:nvSpPr>
        <p:spPr>
          <a:xfrm>
            <a:off x="381000" y="200722"/>
            <a:ext cx="11430000" cy="1014761"/>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A7934B"/>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18"/>
          <p:cNvSpPr txBox="1"/>
          <p:nvPr>
            <p:ph idx="1" type="body"/>
          </p:nvPr>
        </p:nvSpPr>
        <p:spPr>
          <a:xfrm>
            <a:off x="379048" y="1215483"/>
            <a:ext cx="5615353" cy="496148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 name="Google Shape;33;p18"/>
          <p:cNvSpPr txBox="1"/>
          <p:nvPr>
            <p:ph idx="2" type="body"/>
          </p:nvPr>
        </p:nvSpPr>
        <p:spPr>
          <a:xfrm>
            <a:off x="6197600" y="1215483"/>
            <a:ext cx="5613400" cy="496148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4" name="Google Shape;34;p18"/>
          <p:cNvSpPr txBox="1"/>
          <p:nvPr>
            <p:ph idx="10" type="dt"/>
          </p:nvPr>
        </p:nvSpPr>
        <p:spPr>
          <a:xfrm>
            <a:off x="381000" y="5811839"/>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18"/>
          <p:cNvSpPr txBox="1"/>
          <p:nvPr>
            <p:ph idx="11" type="ftr"/>
          </p:nvPr>
        </p:nvSpPr>
        <p:spPr>
          <a:xfrm>
            <a:off x="3126154" y="5811839"/>
            <a:ext cx="5941647"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18"/>
          <p:cNvSpPr txBox="1"/>
          <p:nvPr>
            <p:ph idx="12" type="sldNum"/>
          </p:nvPr>
        </p:nvSpPr>
        <p:spPr>
          <a:xfrm>
            <a:off x="9067800" y="5811839"/>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p:cSld name="Comparison">
    <p:spTree>
      <p:nvGrpSpPr>
        <p:cNvPr id="37" name="Shape 37"/>
        <p:cNvGrpSpPr/>
        <p:nvPr/>
      </p:nvGrpSpPr>
      <p:grpSpPr>
        <a:xfrm>
          <a:off x="0" y="0"/>
          <a:ext cx="0" cy="0"/>
          <a:chOff x="0" y="0"/>
          <a:chExt cx="0" cy="0"/>
        </a:xfrm>
      </p:grpSpPr>
      <p:sp>
        <p:nvSpPr>
          <p:cNvPr id="38" name="Google Shape;38;p19"/>
          <p:cNvSpPr txBox="1"/>
          <p:nvPr>
            <p:ph idx="1" type="body"/>
          </p:nvPr>
        </p:nvSpPr>
        <p:spPr>
          <a:xfrm>
            <a:off x="381001" y="1235113"/>
            <a:ext cx="5617633"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9" name="Google Shape;39;p19"/>
          <p:cNvSpPr txBox="1"/>
          <p:nvPr>
            <p:ph idx="2" type="body"/>
          </p:nvPr>
        </p:nvSpPr>
        <p:spPr>
          <a:xfrm>
            <a:off x="381001" y="2078657"/>
            <a:ext cx="5617633" cy="4111007"/>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19"/>
          <p:cNvSpPr txBox="1"/>
          <p:nvPr>
            <p:ph idx="3" type="body"/>
          </p:nvPr>
        </p:nvSpPr>
        <p:spPr>
          <a:xfrm>
            <a:off x="6172200" y="1235113"/>
            <a:ext cx="5638800"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1" name="Google Shape;41;p19"/>
          <p:cNvSpPr txBox="1"/>
          <p:nvPr>
            <p:ph idx="4" type="body"/>
          </p:nvPr>
        </p:nvSpPr>
        <p:spPr>
          <a:xfrm>
            <a:off x="6172200" y="2078657"/>
            <a:ext cx="5638800" cy="4111007"/>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19"/>
          <p:cNvSpPr txBox="1"/>
          <p:nvPr>
            <p:ph idx="10" type="dt"/>
          </p:nvPr>
        </p:nvSpPr>
        <p:spPr>
          <a:xfrm>
            <a:off x="381000" y="5811839"/>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19"/>
          <p:cNvSpPr txBox="1"/>
          <p:nvPr>
            <p:ph idx="11" type="ftr"/>
          </p:nvPr>
        </p:nvSpPr>
        <p:spPr>
          <a:xfrm>
            <a:off x="3126154" y="5811839"/>
            <a:ext cx="5941647"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19"/>
          <p:cNvSpPr txBox="1"/>
          <p:nvPr>
            <p:ph idx="12" type="sldNum"/>
          </p:nvPr>
        </p:nvSpPr>
        <p:spPr>
          <a:xfrm>
            <a:off x="9067800" y="5811839"/>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45" name="Google Shape;45;p19"/>
          <p:cNvSpPr txBox="1"/>
          <p:nvPr>
            <p:ph type="title"/>
          </p:nvPr>
        </p:nvSpPr>
        <p:spPr>
          <a:xfrm>
            <a:off x="381000" y="200722"/>
            <a:ext cx="11430000" cy="1014761"/>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A7934B"/>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BJECT_WITH_CAPTION_TEXT" type="objTx">
  <p:cSld name="OBJECT_WITH_CAPTION_TEXT">
    <p:spTree>
      <p:nvGrpSpPr>
        <p:cNvPr id="46" name="Shape 46"/>
        <p:cNvGrpSpPr/>
        <p:nvPr/>
      </p:nvGrpSpPr>
      <p:grpSpPr>
        <a:xfrm>
          <a:off x="0" y="0"/>
          <a:ext cx="0" cy="0"/>
          <a:chOff x="0" y="0"/>
          <a:chExt cx="0" cy="0"/>
        </a:xfrm>
      </p:grpSpPr>
      <p:sp>
        <p:nvSpPr>
          <p:cNvPr id="47" name="Google Shape;47;p21"/>
          <p:cNvSpPr txBox="1"/>
          <p:nvPr>
            <p:ph type="title"/>
          </p:nvPr>
        </p:nvSpPr>
        <p:spPr>
          <a:xfrm>
            <a:off x="381001" y="457200"/>
            <a:ext cx="393276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A7934B"/>
              </a:buClr>
              <a:buSzPts val="3200"/>
              <a:buFont typeface="Roboto"/>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21"/>
          <p:cNvSpPr txBox="1"/>
          <p:nvPr>
            <p:ph idx="1" type="body"/>
          </p:nvPr>
        </p:nvSpPr>
        <p:spPr>
          <a:xfrm>
            <a:off x="4313768" y="457201"/>
            <a:ext cx="7497233" cy="5403850"/>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49" name="Google Shape;49;p21"/>
          <p:cNvSpPr txBox="1"/>
          <p:nvPr>
            <p:ph idx="2" type="body"/>
          </p:nvPr>
        </p:nvSpPr>
        <p:spPr>
          <a:xfrm>
            <a:off x="381001" y="2274849"/>
            <a:ext cx="3932767" cy="3594139"/>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0" name="Google Shape;50;p21"/>
          <p:cNvSpPr txBox="1"/>
          <p:nvPr>
            <p:ph idx="10" type="dt"/>
          </p:nvPr>
        </p:nvSpPr>
        <p:spPr>
          <a:xfrm>
            <a:off x="381000" y="5811839"/>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1"/>
          <p:cNvSpPr txBox="1"/>
          <p:nvPr>
            <p:ph idx="11" type="ftr"/>
          </p:nvPr>
        </p:nvSpPr>
        <p:spPr>
          <a:xfrm>
            <a:off x="3126154" y="5811839"/>
            <a:ext cx="5941647"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1"/>
          <p:cNvSpPr txBox="1"/>
          <p:nvPr>
            <p:ph idx="12" type="sldNum"/>
          </p:nvPr>
        </p:nvSpPr>
        <p:spPr>
          <a:xfrm>
            <a:off x="9067800" y="5811839"/>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_WITH_CAPTION_TEXT" type="picTx">
  <p:cSld name="PICTURE_WITH_CAPTION_TEXT">
    <p:spTree>
      <p:nvGrpSpPr>
        <p:cNvPr id="53" name="Shape 53"/>
        <p:cNvGrpSpPr/>
        <p:nvPr/>
      </p:nvGrpSpPr>
      <p:grpSpPr>
        <a:xfrm>
          <a:off x="0" y="0"/>
          <a:ext cx="0" cy="0"/>
          <a:chOff x="0" y="0"/>
          <a:chExt cx="0" cy="0"/>
        </a:xfrm>
      </p:grpSpPr>
      <p:sp>
        <p:nvSpPr>
          <p:cNvPr id="54" name="Google Shape;54;p22"/>
          <p:cNvSpPr txBox="1"/>
          <p:nvPr>
            <p:ph type="title"/>
          </p:nvPr>
        </p:nvSpPr>
        <p:spPr>
          <a:xfrm>
            <a:off x="381001" y="457200"/>
            <a:ext cx="393276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A7934B"/>
              </a:buClr>
              <a:buSzPts val="3200"/>
              <a:buFont typeface="Roboto"/>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22"/>
          <p:cNvSpPr/>
          <p:nvPr>
            <p:ph idx="2" type="pic"/>
          </p:nvPr>
        </p:nvSpPr>
        <p:spPr>
          <a:xfrm>
            <a:off x="4313768" y="457201"/>
            <a:ext cx="7497233" cy="5403850"/>
          </a:xfrm>
          <a:prstGeom prst="rect">
            <a:avLst/>
          </a:prstGeom>
          <a:noFill/>
          <a:ln>
            <a:noFill/>
          </a:ln>
        </p:spPr>
      </p:sp>
      <p:sp>
        <p:nvSpPr>
          <p:cNvPr id="56" name="Google Shape;56;p22"/>
          <p:cNvSpPr txBox="1"/>
          <p:nvPr>
            <p:ph idx="1" type="body"/>
          </p:nvPr>
        </p:nvSpPr>
        <p:spPr>
          <a:xfrm>
            <a:off x="381001" y="2274849"/>
            <a:ext cx="3932767" cy="3594139"/>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7" name="Google Shape;57;p22"/>
          <p:cNvSpPr txBox="1"/>
          <p:nvPr>
            <p:ph idx="10" type="dt"/>
          </p:nvPr>
        </p:nvSpPr>
        <p:spPr>
          <a:xfrm>
            <a:off x="381000" y="5811839"/>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22"/>
          <p:cNvSpPr txBox="1"/>
          <p:nvPr>
            <p:ph idx="11" type="ftr"/>
          </p:nvPr>
        </p:nvSpPr>
        <p:spPr>
          <a:xfrm>
            <a:off x="3126154" y="5811839"/>
            <a:ext cx="5941647"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22"/>
          <p:cNvSpPr txBox="1"/>
          <p:nvPr>
            <p:ph idx="12" type="sldNum"/>
          </p:nvPr>
        </p:nvSpPr>
        <p:spPr>
          <a:xfrm>
            <a:off x="9067800" y="5811839"/>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_TEXT" type="vertTx">
  <p:cSld name="VERTICAL_TEXT">
    <p:spTree>
      <p:nvGrpSpPr>
        <p:cNvPr id="60" name="Shape 60"/>
        <p:cNvGrpSpPr/>
        <p:nvPr/>
      </p:nvGrpSpPr>
      <p:grpSpPr>
        <a:xfrm>
          <a:off x="0" y="0"/>
          <a:ext cx="0" cy="0"/>
          <a:chOff x="0" y="0"/>
          <a:chExt cx="0" cy="0"/>
        </a:xfrm>
      </p:grpSpPr>
      <p:sp>
        <p:nvSpPr>
          <p:cNvPr id="61" name="Google Shape;61;p23"/>
          <p:cNvSpPr txBox="1"/>
          <p:nvPr>
            <p:ph type="title"/>
          </p:nvPr>
        </p:nvSpPr>
        <p:spPr>
          <a:xfrm>
            <a:off x="381000" y="200722"/>
            <a:ext cx="11430000" cy="1014761"/>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A7934B"/>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 name="Google Shape;62;p23"/>
          <p:cNvSpPr txBox="1"/>
          <p:nvPr>
            <p:ph idx="1" type="body"/>
          </p:nvPr>
        </p:nvSpPr>
        <p:spPr>
          <a:xfrm rot="5400000">
            <a:off x="3797823" y="-2201338"/>
            <a:ext cx="4596355" cy="114300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3" name="Google Shape;63;p23"/>
          <p:cNvSpPr txBox="1"/>
          <p:nvPr>
            <p:ph idx="10" type="dt"/>
          </p:nvPr>
        </p:nvSpPr>
        <p:spPr>
          <a:xfrm>
            <a:off x="381000" y="5811839"/>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23"/>
          <p:cNvSpPr txBox="1"/>
          <p:nvPr>
            <p:ph idx="11" type="ftr"/>
          </p:nvPr>
        </p:nvSpPr>
        <p:spPr>
          <a:xfrm>
            <a:off x="3126154" y="5811839"/>
            <a:ext cx="5941647"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 name="Google Shape;65;p23"/>
          <p:cNvSpPr txBox="1"/>
          <p:nvPr>
            <p:ph idx="12" type="sldNum"/>
          </p:nvPr>
        </p:nvSpPr>
        <p:spPr>
          <a:xfrm>
            <a:off x="9067800" y="5811839"/>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_TITLE_AND_VERTICAL_TEXT" type="vertTitleAndTx">
  <p:cSld name="VERTICAL_TITLE_AND_VERTICAL_TEXT">
    <p:spTree>
      <p:nvGrpSpPr>
        <p:cNvPr id="66" name="Shape 66"/>
        <p:cNvGrpSpPr/>
        <p:nvPr/>
      </p:nvGrpSpPr>
      <p:grpSpPr>
        <a:xfrm>
          <a:off x="0" y="0"/>
          <a:ext cx="0" cy="0"/>
          <a:chOff x="0" y="0"/>
          <a:chExt cx="0" cy="0"/>
        </a:xfrm>
      </p:grpSpPr>
      <p:sp>
        <p:nvSpPr>
          <p:cNvPr id="67" name="Google Shape;67;p24"/>
          <p:cNvSpPr txBox="1"/>
          <p:nvPr>
            <p:ph type="title"/>
          </p:nvPr>
        </p:nvSpPr>
        <p:spPr>
          <a:xfrm rot="5400000">
            <a:off x="7590632"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A7934B"/>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 name="Google Shape;68;p24"/>
          <p:cNvSpPr txBox="1"/>
          <p:nvPr>
            <p:ph idx="1" type="body"/>
          </p:nvPr>
        </p:nvSpPr>
        <p:spPr>
          <a:xfrm rot="5400000">
            <a:off x="1875632" y="-1129506"/>
            <a:ext cx="5811838" cy="88011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9" name="Google Shape;69;p24"/>
          <p:cNvSpPr txBox="1"/>
          <p:nvPr>
            <p:ph idx="10" type="dt"/>
          </p:nvPr>
        </p:nvSpPr>
        <p:spPr>
          <a:xfrm>
            <a:off x="381000" y="5811839"/>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4"/>
          <p:cNvSpPr txBox="1"/>
          <p:nvPr>
            <p:ph idx="11" type="ftr"/>
          </p:nvPr>
        </p:nvSpPr>
        <p:spPr>
          <a:xfrm>
            <a:off x="3126154" y="5811839"/>
            <a:ext cx="5941647"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24"/>
          <p:cNvSpPr txBox="1"/>
          <p:nvPr>
            <p:ph idx="12" type="sldNum"/>
          </p:nvPr>
        </p:nvSpPr>
        <p:spPr>
          <a:xfrm>
            <a:off x="9067800" y="5811839"/>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6.jpg"/><Relationship Id="rId2" Type="http://schemas.openxmlformats.org/officeDocument/2006/relationships/slideLayout" Target="../slideLayouts/slideLayout1.xml"/><Relationship Id="rId3" Type="http://schemas.openxmlformats.org/officeDocument/2006/relationships/theme" Target="../theme/theme2.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2.jpg"/><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theme" Target="../theme/theme3.xml"/><Relationship Id="rId10" Type="http://schemas.openxmlformats.org/officeDocument/2006/relationships/slideLayout" Target="../slideLayouts/slideLayout10.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9" name="Shape 9"/>
        <p:cNvGrpSpPr/>
        <p:nvPr/>
      </p:nvGrpSpPr>
      <p:grpSpPr>
        <a:xfrm>
          <a:off x="0" y="0"/>
          <a:ext cx="0" cy="0"/>
          <a:chOff x="0" y="0"/>
          <a:chExt cx="0" cy="0"/>
        </a:xfrm>
      </p:grpSpPr>
      <p:sp>
        <p:nvSpPr>
          <p:cNvPr id="10" name="Google Shape;10;p15"/>
          <p:cNvSpPr txBox="1"/>
          <p:nvPr>
            <p:ph type="title"/>
          </p:nvPr>
        </p:nvSpPr>
        <p:spPr>
          <a:xfrm>
            <a:off x="381000" y="200722"/>
            <a:ext cx="11430000" cy="1014761"/>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rgbClr val="A7934B"/>
              </a:buClr>
              <a:buSzPts val="3600"/>
              <a:buFont typeface="Roboto"/>
              <a:buNone/>
              <a:defRPr b="1" i="0" sz="3600" u="none" cap="none" strike="noStrike">
                <a:solidFill>
                  <a:srgbClr val="A7934B"/>
                </a:solidFill>
                <a:latin typeface="Roboto"/>
                <a:ea typeface="Roboto"/>
                <a:cs typeface="Roboto"/>
                <a:sym typeface="Roboto"/>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15"/>
          <p:cNvSpPr txBox="1"/>
          <p:nvPr>
            <p:ph idx="1" type="body"/>
          </p:nvPr>
        </p:nvSpPr>
        <p:spPr>
          <a:xfrm>
            <a:off x="381000" y="1215484"/>
            <a:ext cx="11430000" cy="4596355"/>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Roboto"/>
                <a:ea typeface="Roboto"/>
                <a:cs typeface="Roboto"/>
                <a:sym typeface="Roboto"/>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Roboto"/>
                <a:ea typeface="Roboto"/>
                <a:cs typeface="Roboto"/>
                <a:sym typeface="Roboto"/>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Roboto"/>
                <a:ea typeface="Roboto"/>
                <a:cs typeface="Roboto"/>
                <a:sym typeface="Roboto"/>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Roboto"/>
                <a:ea typeface="Roboto"/>
                <a:cs typeface="Roboto"/>
                <a:sym typeface="Roboto"/>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Roboto"/>
                <a:ea typeface="Roboto"/>
                <a:cs typeface="Roboto"/>
                <a:sym typeface="Roboto"/>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2" name="Google Shape;12;p15"/>
          <p:cNvSpPr txBox="1"/>
          <p:nvPr>
            <p:ph idx="10" type="dt"/>
          </p:nvPr>
        </p:nvSpPr>
        <p:spPr>
          <a:xfrm>
            <a:off x="381000" y="5811839"/>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3" name="Google Shape;13;p15"/>
          <p:cNvSpPr txBox="1"/>
          <p:nvPr>
            <p:ph idx="11" type="ftr"/>
          </p:nvPr>
        </p:nvSpPr>
        <p:spPr>
          <a:xfrm>
            <a:off x="3126154" y="5811839"/>
            <a:ext cx="5941647"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4" name="Google Shape;14;p15"/>
          <p:cNvSpPr txBox="1"/>
          <p:nvPr>
            <p:ph idx="12" type="sldNum"/>
          </p:nvPr>
        </p:nvSpPr>
        <p:spPr>
          <a:xfrm>
            <a:off x="9067800" y="5811839"/>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1.png"/><Relationship Id="rId4" Type="http://schemas.openxmlformats.org/officeDocument/2006/relationships/image" Target="../media/image4.jpg"/><Relationship Id="rId9" Type="http://schemas.openxmlformats.org/officeDocument/2006/relationships/image" Target="../media/image41.png"/><Relationship Id="rId5" Type="http://schemas.openxmlformats.org/officeDocument/2006/relationships/image" Target="../media/image17.png"/><Relationship Id="rId6" Type="http://schemas.openxmlformats.org/officeDocument/2006/relationships/image" Target="../media/image12.png"/><Relationship Id="rId7" Type="http://schemas.openxmlformats.org/officeDocument/2006/relationships/image" Target="../media/image18.jpg"/><Relationship Id="rId8" Type="http://schemas.openxmlformats.org/officeDocument/2006/relationships/image" Target="../media/image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1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0.xml"/><Relationship Id="rId3" Type="http://schemas.openxmlformats.org/officeDocument/2006/relationships/image" Target="../media/image14.png"/><Relationship Id="rId4" Type="http://schemas.openxmlformats.org/officeDocument/2006/relationships/image" Target="../media/image13.png"/><Relationship Id="rId5" Type="http://schemas.openxmlformats.org/officeDocument/2006/relationships/image" Target="../media/image3.png"/><Relationship Id="rId6"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0.png"/><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9.png"/><Relationship Id="rId4" Type="http://schemas.openxmlformats.org/officeDocument/2006/relationships/image" Target="../media/image21.png"/><Relationship Id="rId5" Type="http://schemas.openxmlformats.org/officeDocument/2006/relationships/image" Target="../media/image33.png"/><Relationship Id="rId6" Type="http://schemas.openxmlformats.org/officeDocument/2006/relationships/image" Target="../media/image3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20.png"/><Relationship Id="rId4" Type="http://schemas.openxmlformats.org/officeDocument/2006/relationships/image" Target="../media/image27.png"/><Relationship Id="rId5" Type="http://schemas.openxmlformats.org/officeDocument/2006/relationships/image" Target="../media/image40.png"/><Relationship Id="rId6" Type="http://schemas.openxmlformats.org/officeDocument/2006/relationships/image" Target="../media/image32.png"/><Relationship Id="rId7" Type="http://schemas.openxmlformats.org/officeDocument/2006/relationships/image" Target="../media/image34.png"/><Relationship Id="rId8" Type="http://schemas.openxmlformats.org/officeDocument/2006/relationships/image" Target="../media/image3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28.png"/><Relationship Id="rId4" Type="http://schemas.openxmlformats.org/officeDocument/2006/relationships/image" Target="../media/image2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2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42.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3.png"/><Relationship Id="rId7" Type="http://schemas.openxmlformats.org/officeDocument/2006/relationships/image" Target="../media/image30.png"/><Relationship Id="rId8" Type="http://schemas.openxmlformats.org/officeDocument/2006/relationships/image" Target="../media/image3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43.png"/><Relationship Id="rId4" Type="http://schemas.openxmlformats.org/officeDocument/2006/relationships/image" Target="../media/image29.png"/><Relationship Id="rId5" Type="http://schemas.openxmlformats.org/officeDocument/2006/relationships/image" Target="../media/image25.png"/><Relationship Id="rId6" Type="http://schemas.openxmlformats.org/officeDocument/2006/relationships/image" Target="../media/image23.png"/><Relationship Id="rId7" Type="http://schemas.openxmlformats.org/officeDocument/2006/relationships/image" Target="../media/image30.png"/><Relationship Id="rId8" Type="http://schemas.openxmlformats.org/officeDocument/2006/relationships/image" Target="../media/image3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44.png"/><Relationship Id="rId4" Type="http://schemas.openxmlformats.org/officeDocument/2006/relationships/image" Target="../media/image39.png"/><Relationship Id="rId5" Type="http://schemas.openxmlformats.org/officeDocument/2006/relationships/image" Target="../media/image25.png"/><Relationship Id="rId6" Type="http://schemas.openxmlformats.org/officeDocument/2006/relationships/image" Target="../media/image23.png"/><Relationship Id="rId7" Type="http://schemas.openxmlformats.org/officeDocument/2006/relationships/image" Target="../media/image30.png"/><Relationship Id="rId8" Type="http://schemas.openxmlformats.org/officeDocument/2006/relationships/image" Target="../media/image3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45.png"/><Relationship Id="rId4" Type="http://schemas.openxmlformats.org/officeDocument/2006/relationships/image" Target="../media/image38.png"/><Relationship Id="rId5" Type="http://schemas.openxmlformats.org/officeDocument/2006/relationships/image" Target="../media/image25.png"/><Relationship Id="rId6" Type="http://schemas.openxmlformats.org/officeDocument/2006/relationships/image" Target="../media/image23.png"/><Relationship Id="rId7" Type="http://schemas.openxmlformats.org/officeDocument/2006/relationships/image" Target="../media/image30.png"/><Relationship Id="rId8" Type="http://schemas.openxmlformats.org/officeDocument/2006/relationships/image" Target="../media/image3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hyperlink" Target="https://doi.org/10.1016/j.asej.2014.04.011"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3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75" name="Shape 75"/>
        <p:cNvGrpSpPr/>
        <p:nvPr/>
      </p:nvGrpSpPr>
      <p:grpSpPr>
        <a:xfrm>
          <a:off x="0" y="0"/>
          <a:ext cx="0" cy="0"/>
          <a:chOff x="0" y="0"/>
          <a:chExt cx="0" cy="0"/>
        </a:xfrm>
      </p:grpSpPr>
      <p:sp>
        <p:nvSpPr>
          <p:cNvPr id="76" name="Google Shape;76;p1"/>
          <p:cNvSpPr txBox="1"/>
          <p:nvPr>
            <p:ph idx="1" type="subTitle"/>
          </p:nvPr>
        </p:nvSpPr>
        <p:spPr>
          <a:xfrm>
            <a:off x="4024461" y="3793068"/>
            <a:ext cx="6795913" cy="1684868"/>
          </a:xfrm>
          <a:prstGeom prst="rect">
            <a:avLst/>
          </a:prstGeom>
          <a:noFill/>
          <a:ln>
            <a:noFill/>
          </a:ln>
        </p:spPr>
        <p:txBody>
          <a:bodyPr anchorCtr="0" anchor="t" bIns="45700" lIns="91425" spcFirstLastPara="1" rIns="91425" wrap="square" tIns="45700">
            <a:noAutofit/>
          </a:bodyPr>
          <a:lstStyle/>
          <a:p>
            <a:pPr indent="0" lvl="0" marL="0" rtl="0" algn="l">
              <a:lnSpc>
                <a:spcPct val="120000"/>
              </a:lnSpc>
              <a:spcBef>
                <a:spcPts val="0"/>
              </a:spcBef>
              <a:spcAft>
                <a:spcPts val="0"/>
              </a:spcAft>
              <a:buClr>
                <a:srgbClr val="7F7F7F"/>
              </a:buClr>
              <a:buSzPts val="3000"/>
              <a:buNone/>
            </a:pPr>
            <a:r>
              <a:rPr lang="en-US"/>
              <a:t>Discussion Forum Subteam</a:t>
            </a:r>
            <a:endParaRPr/>
          </a:p>
          <a:p>
            <a:pPr indent="0" lvl="0" marL="0" rtl="0" algn="l">
              <a:lnSpc>
                <a:spcPct val="120000"/>
              </a:lnSpc>
              <a:spcBef>
                <a:spcPts val="600"/>
              </a:spcBef>
              <a:spcAft>
                <a:spcPts val="0"/>
              </a:spcAft>
              <a:buClr>
                <a:srgbClr val="7F7F7F"/>
              </a:buClr>
              <a:buSzPts val="3000"/>
              <a:buNone/>
            </a:pPr>
            <a:r>
              <a:rPr lang="en-US"/>
              <a:t>Presentation 2 - 10/26/2022</a:t>
            </a:r>
            <a:endParaRPr/>
          </a:p>
        </p:txBody>
      </p:sp>
      <p:sp>
        <p:nvSpPr>
          <p:cNvPr id="77" name="Google Shape;77;p1"/>
          <p:cNvSpPr txBox="1"/>
          <p:nvPr>
            <p:ph type="ctrTitle"/>
          </p:nvPr>
        </p:nvSpPr>
        <p:spPr>
          <a:xfrm>
            <a:off x="4024462" y="333633"/>
            <a:ext cx="6795913" cy="3459435"/>
          </a:xfrm>
          <a:prstGeom prst="rect">
            <a:avLst/>
          </a:prstGeom>
          <a:noFill/>
          <a:ln>
            <a:noFill/>
          </a:ln>
        </p:spPr>
        <p:txBody>
          <a:bodyPr anchorCtr="0" anchor="b" bIns="45700" lIns="91425" spcFirstLastPara="1" rIns="91425" wrap="square" tIns="45700">
            <a:normAutofit/>
          </a:bodyPr>
          <a:lstStyle/>
          <a:p>
            <a:pPr indent="0" lvl="0" marL="0" rtl="0" algn="l">
              <a:lnSpc>
                <a:spcPct val="114285"/>
              </a:lnSpc>
              <a:spcBef>
                <a:spcPts val="0"/>
              </a:spcBef>
              <a:spcAft>
                <a:spcPts val="0"/>
              </a:spcAft>
              <a:buClr>
                <a:srgbClr val="A7934B"/>
              </a:buClr>
              <a:buSzPts val="4200"/>
              <a:buFont typeface="Roboto"/>
              <a:buNone/>
            </a:pPr>
            <a:r>
              <a:rPr lang="en-US"/>
              <a:t>Data Driven Education</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g15db474c58e_0_0"/>
          <p:cNvSpPr txBox="1"/>
          <p:nvPr>
            <p:ph type="title"/>
          </p:nvPr>
        </p:nvSpPr>
        <p:spPr>
          <a:xfrm>
            <a:off x="381000" y="200722"/>
            <a:ext cx="11430000" cy="10149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SzPts val="1800"/>
              <a:buNone/>
            </a:pPr>
            <a:r>
              <a:rPr lang="en-US"/>
              <a:t>Team Members</a:t>
            </a:r>
            <a:endParaRPr/>
          </a:p>
        </p:txBody>
      </p:sp>
      <p:sp>
        <p:nvSpPr>
          <p:cNvPr id="83" name="Google Shape;83;g15db474c58e_0_0"/>
          <p:cNvSpPr txBox="1"/>
          <p:nvPr/>
        </p:nvSpPr>
        <p:spPr>
          <a:xfrm>
            <a:off x="4110175" y="5600200"/>
            <a:ext cx="1790400" cy="647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Gautam Sugasi</a:t>
            </a:r>
            <a:endParaRPr b="0"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Back-end </a:t>
            </a:r>
            <a:endParaRPr b="0" i="0" sz="1400" u="none" cap="none" strike="noStrike">
              <a:solidFill>
                <a:srgbClr val="000000"/>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Developer</a:t>
            </a:r>
            <a:endParaRPr b="0" i="0" sz="1400" u="none" cap="none" strike="noStrike">
              <a:solidFill>
                <a:srgbClr val="000000"/>
              </a:solidFill>
              <a:latin typeface="Roboto"/>
              <a:ea typeface="Roboto"/>
              <a:cs typeface="Roboto"/>
              <a:sym typeface="Roboto"/>
            </a:endParaRPr>
          </a:p>
        </p:txBody>
      </p:sp>
      <p:sp>
        <p:nvSpPr>
          <p:cNvPr id="84" name="Google Shape;84;g15db474c58e_0_0"/>
          <p:cNvSpPr txBox="1"/>
          <p:nvPr/>
        </p:nvSpPr>
        <p:spPr>
          <a:xfrm>
            <a:off x="6658800" y="5539150"/>
            <a:ext cx="1790400" cy="647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Ritika Gehani</a:t>
            </a:r>
            <a:endParaRPr b="0" i="0" sz="1400" u="none" cap="none" strike="noStrike">
              <a:solidFill>
                <a:srgbClr val="000000"/>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Front-end </a:t>
            </a:r>
            <a:endParaRPr b="0" i="0" sz="1400" u="none" cap="none" strike="noStrike">
              <a:solidFill>
                <a:srgbClr val="000000"/>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Web Developer</a:t>
            </a:r>
            <a:endParaRPr b="0" i="0" sz="1400" u="none" cap="none" strike="noStrike">
              <a:solidFill>
                <a:srgbClr val="000000"/>
              </a:solidFill>
              <a:latin typeface="Roboto"/>
              <a:ea typeface="Roboto"/>
              <a:cs typeface="Roboto"/>
              <a:sym typeface="Roboto"/>
            </a:endParaRPr>
          </a:p>
        </p:txBody>
      </p:sp>
      <p:sp>
        <p:nvSpPr>
          <p:cNvPr id="85" name="Google Shape;85;g15db474c58e_0_0"/>
          <p:cNvSpPr txBox="1"/>
          <p:nvPr/>
        </p:nvSpPr>
        <p:spPr>
          <a:xfrm>
            <a:off x="9207425" y="4095250"/>
            <a:ext cx="1790400" cy="647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Pratik Agarwal</a:t>
            </a:r>
            <a:endParaRPr b="0"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Project Manager</a:t>
            </a:r>
            <a:endParaRPr b="0" i="0" sz="1400" u="none" cap="none" strike="noStrike">
              <a:solidFill>
                <a:srgbClr val="000000"/>
              </a:solidFill>
              <a:latin typeface="Roboto"/>
              <a:ea typeface="Roboto"/>
              <a:cs typeface="Roboto"/>
              <a:sym typeface="Roboto"/>
            </a:endParaRPr>
          </a:p>
        </p:txBody>
      </p:sp>
      <p:sp>
        <p:nvSpPr>
          <p:cNvPr id="86" name="Google Shape;86;g15db474c58e_0_0"/>
          <p:cNvSpPr/>
          <p:nvPr/>
        </p:nvSpPr>
        <p:spPr>
          <a:xfrm>
            <a:off x="4404700" y="4329100"/>
            <a:ext cx="1153200" cy="1183500"/>
          </a:xfrm>
          <a:prstGeom prst="smileyFace">
            <a:avLst>
              <a:gd fmla="val 4653"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87" name="Google Shape;87;g15db474c58e_0_0"/>
          <p:cNvPicPr preferRelativeResize="0"/>
          <p:nvPr/>
        </p:nvPicPr>
        <p:blipFill rotWithShape="1">
          <a:blip r:embed="rId3">
            <a:alphaModFix/>
          </a:blip>
          <a:srcRect b="0" l="0" r="0" t="0"/>
          <a:stretch/>
        </p:blipFill>
        <p:spPr>
          <a:xfrm>
            <a:off x="9458825" y="2737800"/>
            <a:ext cx="1413775" cy="1413750"/>
          </a:xfrm>
          <a:prstGeom prst="rect">
            <a:avLst/>
          </a:prstGeom>
          <a:noFill/>
          <a:ln>
            <a:noFill/>
          </a:ln>
        </p:spPr>
      </p:pic>
      <p:sp>
        <p:nvSpPr>
          <p:cNvPr id="88" name="Google Shape;88;g15db474c58e_0_0"/>
          <p:cNvSpPr txBox="1"/>
          <p:nvPr/>
        </p:nvSpPr>
        <p:spPr>
          <a:xfrm>
            <a:off x="1537750" y="2825400"/>
            <a:ext cx="1790400" cy="647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Malav Patel</a:t>
            </a:r>
            <a:endParaRPr b="0" i="0" sz="1400" u="none" cap="none" strike="noStrike">
              <a:solidFill>
                <a:srgbClr val="000000"/>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Data Scientist</a:t>
            </a:r>
            <a:endParaRPr b="0" i="0" sz="1400" u="none" cap="none" strike="noStrike">
              <a:solidFill>
                <a:srgbClr val="000000"/>
              </a:solidFill>
              <a:latin typeface="Roboto"/>
              <a:ea typeface="Roboto"/>
              <a:cs typeface="Roboto"/>
              <a:sym typeface="Roboto"/>
            </a:endParaRPr>
          </a:p>
        </p:txBody>
      </p:sp>
      <p:pic>
        <p:nvPicPr>
          <p:cNvPr id="89" name="Google Shape;89;g15db474c58e_0_0"/>
          <p:cNvPicPr preferRelativeResize="0"/>
          <p:nvPr/>
        </p:nvPicPr>
        <p:blipFill rotWithShape="1">
          <a:blip r:embed="rId4">
            <a:alphaModFix/>
          </a:blip>
          <a:srcRect b="2838" l="0" r="0" t="2828"/>
          <a:stretch/>
        </p:blipFill>
        <p:spPr>
          <a:xfrm>
            <a:off x="4356550" y="4214050"/>
            <a:ext cx="1249500" cy="1413600"/>
          </a:xfrm>
          <a:prstGeom prst="ellipse">
            <a:avLst/>
          </a:prstGeom>
          <a:noFill/>
          <a:ln>
            <a:noFill/>
          </a:ln>
        </p:spPr>
      </p:pic>
      <p:pic>
        <p:nvPicPr>
          <p:cNvPr id="90" name="Google Shape;90;g15db474c58e_0_0"/>
          <p:cNvPicPr preferRelativeResize="0"/>
          <p:nvPr/>
        </p:nvPicPr>
        <p:blipFill rotWithShape="1">
          <a:blip r:embed="rId5">
            <a:alphaModFix/>
          </a:blip>
          <a:srcRect b="0" l="0" r="0" t="0"/>
          <a:stretch/>
        </p:blipFill>
        <p:spPr>
          <a:xfrm>
            <a:off x="1715699" y="1554300"/>
            <a:ext cx="1367439" cy="1320300"/>
          </a:xfrm>
          <a:prstGeom prst="rect">
            <a:avLst/>
          </a:prstGeom>
          <a:noFill/>
          <a:ln>
            <a:noFill/>
          </a:ln>
        </p:spPr>
      </p:pic>
      <p:sp>
        <p:nvSpPr>
          <p:cNvPr id="91" name="Google Shape;91;g15db474c58e_0_0"/>
          <p:cNvSpPr txBox="1"/>
          <p:nvPr/>
        </p:nvSpPr>
        <p:spPr>
          <a:xfrm>
            <a:off x="4112650" y="2850325"/>
            <a:ext cx="1790400" cy="647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Hyun Soo Kim</a:t>
            </a:r>
            <a:endParaRPr b="0"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Data Scientist</a:t>
            </a:r>
            <a:endParaRPr b="0"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pic>
        <p:nvPicPr>
          <p:cNvPr id="92" name="Google Shape;92;g15db474c58e_0_0"/>
          <p:cNvPicPr preferRelativeResize="0"/>
          <p:nvPr/>
        </p:nvPicPr>
        <p:blipFill rotWithShape="1">
          <a:blip r:embed="rId6">
            <a:alphaModFix/>
          </a:blip>
          <a:srcRect b="0" l="0" r="0" t="0"/>
          <a:stretch/>
        </p:blipFill>
        <p:spPr>
          <a:xfrm>
            <a:off x="4381450" y="1554275"/>
            <a:ext cx="1301963" cy="1320300"/>
          </a:xfrm>
          <a:prstGeom prst="rect">
            <a:avLst/>
          </a:prstGeom>
          <a:noFill/>
          <a:ln>
            <a:noFill/>
          </a:ln>
        </p:spPr>
      </p:pic>
      <p:sp>
        <p:nvSpPr>
          <p:cNvPr id="93" name="Google Shape;93;g15db474c58e_0_0"/>
          <p:cNvSpPr txBox="1"/>
          <p:nvPr/>
        </p:nvSpPr>
        <p:spPr>
          <a:xfrm>
            <a:off x="6675925" y="2945400"/>
            <a:ext cx="1790400" cy="647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Jisan Park</a:t>
            </a:r>
            <a:endParaRPr b="0" i="0" sz="1400" u="none" cap="none" strike="noStrike">
              <a:solidFill>
                <a:srgbClr val="000000"/>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Data Scientist</a:t>
            </a:r>
            <a:endParaRPr b="0" i="0" sz="1400" u="none" cap="none" strike="noStrike">
              <a:solidFill>
                <a:srgbClr val="000000"/>
              </a:solidFill>
              <a:latin typeface="Roboto"/>
              <a:ea typeface="Roboto"/>
              <a:cs typeface="Roboto"/>
              <a:sym typeface="Roboto"/>
            </a:endParaRPr>
          </a:p>
        </p:txBody>
      </p:sp>
      <p:sp>
        <p:nvSpPr>
          <p:cNvPr id="94" name="Google Shape;94;g15db474c58e_0_0"/>
          <p:cNvSpPr/>
          <p:nvPr/>
        </p:nvSpPr>
        <p:spPr>
          <a:xfrm>
            <a:off x="6994525" y="1620300"/>
            <a:ext cx="1153200" cy="1183500"/>
          </a:xfrm>
          <a:prstGeom prst="smileyFace">
            <a:avLst>
              <a:gd fmla="val 4653"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95" name="Google Shape;95;g15db474c58e_0_0"/>
          <p:cNvPicPr preferRelativeResize="0"/>
          <p:nvPr/>
        </p:nvPicPr>
        <p:blipFill rotWithShape="1">
          <a:blip r:embed="rId7">
            <a:alphaModFix/>
          </a:blip>
          <a:srcRect b="0" l="0" r="0" t="0"/>
          <a:stretch/>
        </p:blipFill>
        <p:spPr>
          <a:xfrm>
            <a:off x="6999500" y="1554300"/>
            <a:ext cx="1153200" cy="1423500"/>
          </a:xfrm>
          <a:prstGeom prst="ellipse">
            <a:avLst/>
          </a:prstGeom>
          <a:noFill/>
          <a:ln>
            <a:noFill/>
          </a:ln>
        </p:spPr>
      </p:pic>
      <p:sp>
        <p:nvSpPr>
          <p:cNvPr id="96" name="Google Shape;96;g15db474c58e_0_0"/>
          <p:cNvSpPr txBox="1"/>
          <p:nvPr/>
        </p:nvSpPr>
        <p:spPr>
          <a:xfrm>
            <a:off x="1537750" y="5539150"/>
            <a:ext cx="1790400" cy="647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Ankit Mishra</a:t>
            </a:r>
            <a:endParaRPr b="0" i="0" sz="1400" u="none" cap="none" strike="noStrike">
              <a:solidFill>
                <a:srgbClr val="000000"/>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Front-end </a:t>
            </a:r>
            <a:endParaRPr b="0" i="0" sz="1400" u="none" cap="none" strike="noStrike">
              <a:solidFill>
                <a:srgbClr val="000000"/>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Web Developer</a:t>
            </a:r>
            <a:endParaRPr b="0" i="0" sz="1400" u="none" cap="none" strike="noStrike">
              <a:solidFill>
                <a:srgbClr val="000000"/>
              </a:solidFill>
              <a:latin typeface="Roboto"/>
              <a:ea typeface="Roboto"/>
              <a:cs typeface="Roboto"/>
              <a:sym typeface="Roboto"/>
            </a:endParaRPr>
          </a:p>
        </p:txBody>
      </p:sp>
      <p:pic>
        <p:nvPicPr>
          <p:cNvPr id="97" name="Google Shape;97;g15db474c58e_0_0"/>
          <p:cNvPicPr preferRelativeResize="0"/>
          <p:nvPr/>
        </p:nvPicPr>
        <p:blipFill rotWithShape="1">
          <a:blip r:embed="rId8">
            <a:alphaModFix/>
          </a:blip>
          <a:srcRect b="0" l="0" r="0" t="0"/>
          <a:stretch/>
        </p:blipFill>
        <p:spPr>
          <a:xfrm>
            <a:off x="1748438" y="4269862"/>
            <a:ext cx="1301975" cy="1301975"/>
          </a:xfrm>
          <a:prstGeom prst="rect">
            <a:avLst/>
          </a:prstGeom>
          <a:noFill/>
          <a:ln>
            <a:noFill/>
          </a:ln>
        </p:spPr>
      </p:pic>
      <p:pic>
        <p:nvPicPr>
          <p:cNvPr id="98" name="Google Shape;98;g15db474c58e_0_0"/>
          <p:cNvPicPr preferRelativeResize="0"/>
          <p:nvPr/>
        </p:nvPicPr>
        <p:blipFill>
          <a:blip r:embed="rId9">
            <a:alphaModFix/>
          </a:blip>
          <a:stretch>
            <a:fillRect/>
          </a:stretch>
        </p:blipFill>
        <p:spPr>
          <a:xfrm>
            <a:off x="6881438" y="3856427"/>
            <a:ext cx="1302000" cy="1715400"/>
          </a:xfrm>
          <a:prstGeom prst="ellipse">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02" name="Shape 102"/>
        <p:cNvGrpSpPr/>
        <p:nvPr/>
      </p:nvGrpSpPr>
      <p:grpSpPr>
        <a:xfrm>
          <a:off x="0" y="0"/>
          <a:ext cx="0" cy="0"/>
          <a:chOff x="0" y="0"/>
          <a:chExt cx="0" cy="0"/>
        </a:xfrm>
      </p:grpSpPr>
      <p:sp>
        <p:nvSpPr>
          <p:cNvPr id="103" name="Google Shape;103;g9d48565bb2_0_0"/>
          <p:cNvSpPr txBox="1"/>
          <p:nvPr>
            <p:ph idx="1" type="body"/>
          </p:nvPr>
        </p:nvSpPr>
        <p:spPr>
          <a:xfrm>
            <a:off x="381000" y="1215475"/>
            <a:ext cx="7187100" cy="4596300"/>
          </a:xfrm>
          <a:prstGeom prst="rect">
            <a:avLst/>
          </a:prstGeom>
          <a:noFill/>
          <a:ln>
            <a:noFill/>
          </a:ln>
        </p:spPr>
        <p:txBody>
          <a:bodyPr anchorCtr="0" anchor="t" bIns="45700" lIns="91425" spcFirstLastPara="1" rIns="91425" wrap="square" tIns="45700">
            <a:noAutofit/>
          </a:bodyPr>
          <a:lstStyle/>
          <a:p>
            <a:pPr indent="-330200" lvl="0" marL="457200" rtl="0" algn="l">
              <a:lnSpc>
                <a:spcPct val="100000"/>
              </a:lnSpc>
              <a:spcBef>
                <a:spcPts val="1500"/>
              </a:spcBef>
              <a:spcAft>
                <a:spcPts val="0"/>
              </a:spcAft>
              <a:buSzPts val="1600"/>
              <a:buChar char="●"/>
            </a:pPr>
            <a:r>
              <a:rPr lang="en-US" sz="2600"/>
              <a:t>Discussion forums</a:t>
            </a:r>
            <a:endParaRPr sz="2600"/>
          </a:p>
          <a:p>
            <a:pPr indent="-330200" lvl="1" marL="914400" rtl="0" algn="l">
              <a:lnSpc>
                <a:spcPct val="100000"/>
              </a:lnSpc>
              <a:spcBef>
                <a:spcPts val="1500"/>
              </a:spcBef>
              <a:spcAft>
                <a:spcPts val="0"/>
              </a:spcAft>
              <a:buSzPts val="1600"/>
              <a:buChar char="•"/>
            </a:pPr>
            <a:r>
              <a:rPr lang="en-US" sz="2200"/>
              <a:t>Online formats - primary source of interaction</a:t>
            </a:r>
            <a:endParaRPr sz="2200"/>
          </a:p>
          <a:p>
            <a:pPr indent="-330200" lvl="0" marL="457200" rtl="0" algn="l">
              <a:lnSpc>
                <a:spcPct val="100000"/>
              </a:lnSpc>
              <a:spcBef>
                <a:spcPts val="1500"/>
              </a:spcBef>
              <a:spcAft>
                <a:spcPts val="0"/>
              </a:spcAft>
              <a:buSzPts val="1600"/>
              <a:buChar char="●"/>
            </a:pPr>
            <a:r>
              <a:rPr lang="en-US" sz="2600"/>
              <a:t>Student interaction </a:t>
            </a:r>
            <a:endParaRPr sz="2600"/>
          </a:p>
          <a:p>
            <a:pPr indent="-330200" lvl="1" marL="914400" rtl="0" algn="l">
              <a:lnSpc>
                <a:spcPct val="100000"/>
              </a:lnSpc>
              <a:spcBef>
                <a:spcPts val="1500"/>
              </a:spcBef>
              <a:spcAft>
                <a:spcPts val="0"/>
              </a:spcAft>
              <a:buSzPts val="1600"/>
              <a:buChar char="•"/>
            </a:pPr>
            <a:r>
              <a:rPr lang="en-US" sz="2200"/>
              <a:t>Cognitive presence</a:t>
            </a:r>
            <a:endParaRPr sz="2200"/>
          </a:p>
          <a:p>
            <a:pPr indent="-330200" lvl="1" marL="914400" rtl="0" algn="l">
              <a:lnSpc>
                <a:spcPct val="100000"/>
              </a:lnSpc>
              <a:spcBef>
                <a:spcPts val="1500"/>
              </a:spcBef>
              <a:spcAft>
                <a:spcPts val="0"/>
              </a:spcAft>
              <a:buSzPts val="1600"/>
              <a:buChar char="•"/>
            </a:pPr>
            <a:r>
              <a:rPr lang="en-US" sz="2200"/>
              <a:t>Sentiment Analysis</a:t>
            </a:r>
            <a:endParaRPr sz="2200"/>
          </a:p>
          <a:p>
            <a:pPr indent="-330200" lvl="0" marL="457200" rtl="0" algn="l">
              <a:lnSpc>
                <a:spcPct val="100000"/>
              </a:lnSpc>
              <a:spcBef>
                <a:spcPts val="1500"/>
              </a:spcBef>
              <a:spcAft>
                <a:spcPts val="0"/>
              </a:spcAft>
              <a:buSzPts val="1600"/>
              <a:buChar char="●"/>
            </a:pPr>
            <a:r>
              <a:rPr lang="en-US" sz="2600"/>
              <a:t>Activity on forums indicative of student engagement and interest</a:t>
            </a:r>
            <a:endParaRPr sz="2600"/>
          </a:p>
          <a:p>
            <a:pPr indent="-330200" lvl="0" marL="457200" rtl="0" algn="l">
              <a:lnSpc>
                <a:spcPct val="100000"/>
              </a:lnSpc>
              <a:spcBef>
                <a:spcPts val="1500"/>
              </a:spcBef>
              <a:spcAft>
                <a:spcPts val="1500"/>
              </a:spcAft>
              <a:buSzPts val="1600"/>
              <a:buChar char="●"/>
            </a:pPr>
            <a:r>
              <a:rPr b="1" lang="en-US" sz="2600"/>
              <a:t>Goal:</a:t>
            </a:r>
            <a:r>
              <a:rPr lang="en-US" sz="2600"/>
              <a:t> Creating a web application to help instructors save time on managing forums and increase cognitive engagement in their courses</a:t>
            </a:r>
            <a:endParaRPr sz="2600"/>
          </a:p>
        </p:txBody>
      </p:sp>
      <p:sp>
        <p:nvSpPr>
          <p:cNvPr id="104" name="Google Shape;104;g9d48565bb2_0_0"/>
          <p:cNvSpPr txBox="1"/>
          <p:nvPr>
            <p:ph type="title"/>
          </p:nvPr>
        </p:nvSpPr>
        <p:spPr>
          <a:xfrm>
            <a:off x="381000" y="200722"/>
            <a:ext cx="11430000" cy="10149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SzPts val="1800"/>
              <a:buNone/>
            </a:pPr>
            <a:r>
              <a:rPr lang="en-US"/>
              <a:t>Background context</a:t>
            </a:r>
            <a:endParaRPr/>
          </a:p>
        </p:txBody>
      </p:sp>
      <p:pic>
        <p:nvPicPr>
          <p:cNvPr id="105" name="Google Shape;105;g9d48565bb2_0_0"/>
          <p:cNvPicPr preferRelativeResize="0"/>
          <p:nvPr/>
        </p:nvPicPr>
        <p:blipFill rotWithShape="1">
          <a:blip r:embed="rId3">
            <a:alphaModFix/>
          </a:blip>
          <a:srcRect b="0" l="0" r="0" t="0"/>
          <a:stretch/>
        </p:blipFill>
        <p:spPr>
          <a:xfrm>
            <a:off x="6123100" y="1018700"/>
            <a:ext cx="3108126" cy="802100"/>
          </a:xfrm>
          <a:prstGeom prst="rect">
            <a:avLst/>
          </a:prstGeom>
          <a:noFill/>
          <a:ln>
            <a:noFill/>
          </a:ln>
        </p:spPr>
      </p:pic>
      <p:pic>
        <p:nvPicPr>
          <p:cNvPr id="106" name="Google Shape;106;g9d48565bb2_0_0"/>
          <p:cNvPicPr preferRelativeResize="0"/>
          <p:nvPr/>
        </p:nvPicPr>
        <p:blipFill rotWithShape="1">
          <a:blip r:embed="rId4">
            <a:alphaModFix/>
          </a:blip>
          <a:srcRect b="0" l="0" r="0" t="0"/>
          <a:stretch/>
        </p:blipFill>
        <p:spPr>
          <a:xfrm>
            <a:off x="7568100" y="1950800"/>
            <a:ext cx="4442200" cy="39915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gba764dde3e_0_0"/>
          <p:cNvSpPr txBox="1"/>
          <p:nvPr>
            <p:ph type="title"/>
          </p:nvPr>
        </p:nvSpPr>
        <p:spPr>
          <a:xfrm>
            <a:off x="381000" y="200722"/>
            <a:ext cx="11430000" cy="10149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SzPts val="1800"/>
              <a:buNone/>
            </a:pPr>
            <a:r>
              <a:rPr lang="en-US"/>
              <a:t>Progress till now</a:t>
            </a:r>
            <a:endParaRPr/>
          </a:p>
        </p:txBody>
      </p:sp>
      <p:graphicFrame>
        <p:nvGraphicFramePr>
          <p:cNvPr id="112" name="Google Shape;112;gba764dde3e_0_0"/>
          <p:cNvGraphicFramePr/>
          <p:nvPr/>
        </p:nvGraphicFramePr>
        <p:xfrm>
          <a:off x="620313" y="1215617"/>
          <a:ext cx="3000000" cy="3000000"/>
        </p:xfrm>
        <a:graphic>
          <a:graphicData uri="http://schemas.openxmlformats.org/drawingml/2006/table">
            <a:tbl>
              <a:tblPr>
                <a:noFill/>
                <a:tableStyleId>{9CCDC21C-B5D2-42E9-A99F-2F22E0119BDE}</a:tableStyleId>
              </a:tblPr>
              <a:tblGrid>
                <a:gridCol w="3564725"/>
                <a:gridCol w="3564725"/>
                <a:gridCol w="3564725"/>
              </a:tblGrid>
              <a:tr h="398225">
                <a:tc>
                  <a:txBody>
                    <a:bodyPr/>
                    <a:lstStyle/>
                    <a:p>
                      <a:pPr indent="0" lvl="0" marL="0" marR="0" rtl="0" algn="ctr">
                        <a:lnSpc>
                          <a:spcPct val="100000"/>
                        </a:lnSpc>
                        <a:spcBef>
                          <a:spcPts val="0"/>
                        </a:spcBef>
                        <a:spcAft>
                          <a:spcPts val="0"/>
                        </a:spcAft>
                        <a:buClr>
                          <a:srgbClr val="000000"/>
                        </a:buClr>
                        <a:buSzPts val="2400"/>
                        <a:buFont typeface="Arial"/>
                        <a:buNone/>
                      </a:pPr>
                      <a:r>
                        <a:rPr b="1" lang="en-US" sz="2400" u="none" cap="none" strike="noStrike">
                          <a:latin typeface="Roboto"/>
                          <a:ea typeface="Roboto"/>
                          <a:cs typeface="Roboto"/>
                          <a:sym typeface="Roboto"/>
                        </a:rPr>
                        <a:t>Category</a:t>
                      </a:r>
                      <a:endParaRPr b="1" sz="2400" u="none" cap="none" strike="noStrike">
                        <a:latin typeface="Roboto"/>
                        <a:ea typeface="Roboto"/>
                        <a:cs typeface="Roboto"/>
                        <a:sym typeface="Roboto"/>
                      </a:endParaRPr>
                    </a:p>
                  </a:txBody>
                  <a:tcPr marT="91425" marB="91425" marR="91425" marL="91425"/>
                </a:tc>
                <a:tc>
                  <a:txBody>
                    <a:bodyPr/>
                    <a:lstStyle/>
                    <a:p>
                      <a:pPr indent="0" lvl="0" marL="0" marR="0" rtl="0" algn="ctr">
                        <a:lnSpc>
                          <a:spcPct val="100000"/>
                        </a:lnSpc>
                        <a:spcBef>
                          <a:spcPts val="0"/>
                        </a:spcBef>
                        <a:spcAft>
                          <a:spcPts val="0"/>
                        </a:spcAft>
                        <a:buClr>
                          <a:srgbClr val="000000"/>
                        </a:buClr>
                        <a:buSzPts val="2400"/>
                        <a:buFont typeface="Arial"/>
                        <a:buNone/>
                      </a:pPr>
                      <a:r>
                        <a:rPr b="1" lang="en-US" sz="2400" u="none" cap="none" strike="noStrike">
                          <a:latin typeface="Roboto"/>
                          <a:ea typeface="Roboto"/>
                          <a:cs typeface="Roboto"/>
                          <a:sym typeface="Roboto"/>
                        </a:rPr>
                        <a:t>Accomplished</a:t>
                      </a:r>
                      <a:endParaRPr b="1" sz="2400" u="none" cap="none" strike="noStrike">
                        <a:latin typeface="Roboto"/>
                        <a:ea typeface="Roboto"/>
                        <a:cs typeface="Roboto"/>
                        <a:sym typeface="Roboto"/>
                      </a:endParaRPr>
                    </a:p>
                  </a:txBody>
                  <a:tcPr marT="91425" marB="91425" marR="91425" marL="91425"/>
                </a:tc>
                <a:tc>
                  <a:txBody>
                    <a:bodyPr/>
                    <a:lstStyle/>
                    <a:p>
                      <a:pPr indent="0" lvl="0" marL="0" marR="0" rtl="0" algn="ctr">
                        <a:lnSpc>
                          <a:spcPct val="100000"/>
                        </a:lnSpc>
                        <a:spcBef>
                          <a:spcPts val="0"/>
                        </a:spcBef>
                        <a:spcAft>
                          <a:spcPts val="0"/>
                        </a:spcAft>
                        <a:buClr>
                          <a:srgbClr val="000000"/>
                        </a:buClr>
                        <a:buSzPts val="2400"/>
                        <a:buFont typeface="Arial"/>
                        <a:buNone/>
                      </a:pPr>
                      <a:r>
                        <a:rPr b="1" lang="en-US" sz="2400" u="none" cap="none" strike="noStrike">
                          <a:latin typeface="Roboto"/>
                          <a:ea typeface="Roboto"/>
                          <a:cs typeface="Roboto"/>
                          <a:sym typeface="Roboto"/>
                        </a:rPr>
                        <a:t>Next Goals</a:t>
                      </a:r>
                      <a:endParaRPr b="1" sz="2400" u="none" cap="none" strike="noStrike">
                        <a:latin typeface="Roboto"/>
                        <a:ea typeface="Roboto"/>
                        <a:cs typeface="Roboto"/>
                        <a:sym typeface="Roboto"/>
                      </a:endParaRPr>
                    </a:p>
                  </a:txBody>
                  <a:tcPr marT="91425" marB="91425" marR="91425" marL="91425"/>
                </a:tc>
              </a:tr>
              <a:tr h="488900">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latin typeface="Roboto"/>
                          <a:ea typeface="Roboto"/>
                          <a:cs typeface="Roboto"/>
                          <a:sym typeface="Roboto"/>
                        </a:rPr>
                        <a:t>Web Dev</a:t>
                      </a:r>
                      <a:endParaRPr sz="1600" u="none" cap="none" strike="noStrike">
                        <a:latin typeface="Roboto"/>
                        <a:ea typeface="Roboto"/>
                        <a:cs typeface="Roboto"/>
                        <a:sym typeface="Roboto"/>
                      </a:endParaRPr>
                    </a:p>
                  </a:txBody>
                  <a:tcPr marT="91425" marB="91425" marR="91425" marL="91425"/>
                </a:tc>
                <a:tc>
                  <a:txBody>
                    <a:bodyPr/>
                    <a:lstStyle/>
                    <a:p>
                      <a:pPr indent="-330200" lvl="0" marL="457200" marR="0" rtl="0" algn="l">
                        <a:lnSpc>
                          <a:spcPct val="100000"/>
                        </a:lnSpc>
                        <a:spcBef>
                          <a:spcPts val="0"/>
                        </a:spcBef>
                        <a:spcAft>
                          <a:spcPts val="0"/>
                        </a:spcAft>
                        <a:buClr>
                          <a:srgbClr val="000000"/>
                        </a:buClr>
                        <a:buSzPts val="1600"/>
                        <a:buFont typeface="Roboto"/>
                        <a:buChar char="●"/>
                      </a:pPr>
                      <a:r>
                        <a:rPr lang="en-US" sz="1600">
                          <a:latin typeface="Roboto"/>
                          <a:ea typeface="Roboto"/>
                          <a:cs typeface="Roboto"/>
                          <a:sym typeface="Roboto"/>
                        </a:rPr>
                        <a:t>Grids and frames for the dashboard partially ready</a:t>
                      </a:r>
                      <a:endParaRPr sz="1600" u="none" cap="none" strike="noStrike">
                        <a:latin typeface="Roboto"/>
                        <a:ea typeface="Roboto"/>
                        <a:cs typeface="Roboto"/>
                        <a:sym typeface="Roboto"/>
                      </a:endParaRPr>
                    </a:p>
                  </a:txBody>
                  <a:tcPr marT="91425" marB="91425" marR="91425" marL="91425"/>
                </a:tc>
                <a:tc>
                  <a:txBody>
                    <a:bodyPr/>
                    <a:lstStyle/>
                    <a:p>
                      <a:pPr indent="-330200" lvl="0" marL="457200" marR="0" rtl="0" algn="l">
                        <a:lnSpc>
                          <a:spcPct val="100000"/>
                        </a:lnSpc>
                        <a:spcBef>
                          <a:spcPts val="0"/>
                        </a:spcBef>
                        <a:spcAft>
                          <a:spcPts val="0"/>
                        </a:spcAft>
                        <a:buClr>
                          <a:srgbClr val="000000"/>
                        </a:buClr>
                        <a:buSzPts val="1600"/>
                        <a:buFont typeface="Roboto"/>
                        <a:buChar char="●"/>
                      </a:pPr>
                      <a:r>
                        <a:rPr lang="en-US" sz="1600">
                          <a:latin typeface="Roboto"/>
                          <a:ea typeface="Roboto"/>
                          <a:cs typeface="Roboto"/>
                          <a:sym typeface="Roboto"/>
                        </a:rPr>
                        <a:t>Incorporate graphs generated from Piazza data</a:t>
                      </a:r>
                      <a:endParaRPr sz="1600" u="none" cap="none" strike="noStrike">
                        <a:latin typeface="Roboto"/>
                        <a:ea typeface="Roboto"/>
                        <a:cs typeface="Roboto"/>
                        <a:sym typeface="Roboto"/>
                      </a:endParaRPr>
                    </a:p>
                  </a:txBody>
                  <a:tcPr marT="91425" marB="91425" marR="91425" marL="91425"/>
                </a:tc>
              </a:tr>
              <a:tr h="508400">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latin typeface="Roboto"/>
                          <a:ea typeface="Roboto"/>
                          <a:cs typeface="Roboto"/>
                          <a:sym typeface="Roboto"/>
                        </a:rPr>
                        <a:t>UX Research</a:t>
                      </a:r>
                      <a:endParaRPr sz="1600" u="none" cap="none" strike="noStrike">
                        <a:latin typeface="Roboto"/>
                        <a:ea typeface="Roboto"/>
                        <a:cs typeface="Roboto"/>
                        <a:sym typeface="Roboto"/>
                      </a:endParaRPr>
                    </a:p>
                  </a:txBody>
                  <a:tcPr marT="91425" marB="91425" marR="91425" marL="91425"/>
                </a:tc>
                <a:tc>
                  <a:txBody>
                    <a:bodyPr/>
                    <a:lstStyle/>
                    <a:p>
                      <a:pPr indent="-330200" lvl="0" marL="457200" marR="0" rtl="0" algn="l">
                        <a:lnSpc>
                          <a:spcPct val="100000"/>
                        </a:lnSpc>
                        <a:spcBef>
                          <a:spcPts val="0"/>
                        </a:spcBef>
                        <a:spcAft>
                          <a:spcPts val="0"/>
                        </a:spcAft>
                        <a:buSzPts val="1600"/>
                        <a:buFont typeface="Roboto"/>
                        <a:buChar char="●"/>
                      </a:pPr>
                      <a:r>
                        <a:rPr lang="en-US" sz="1600">
                          <a:latin typeface="Roboto"/>
                          <a:ea typeface="Roboto"/>
                          <a:cs typeface="Roboto"/>
                          <a:sym typeface="Roboto"/>
                        </a:rPr>
                        <a:t>This bit will start after dashboard is ready</a:t>
                      </a:r>
                      <a:endParaRPr sz="1600" u="none" cap="none" strike="noStrike">
                        <a:latin typeface="Roboto"/>
                        <a:ea typeface="Roboto"/>
                        <a:cs typeface="Roboto"/>
                        <a:sym typeface="Roboto"/>
                      </a:endParaRPr>
                    </a:p>
                  </a:txBody>
                  <a:tcPr marT="91425" marB="91425" marR="91425" marL="91425"/>
                </a:tc>
                <a:tc>
                  <a:txBody>
                    <a:bodyPr/>
                    <a:lstStyle/>
                    <a:p>
                      <a:pPr indent="-330200" lvl="0" marL="457200" marR="0" rtl="0" algn="l">
                        <a:lnSpc>
                          <a:spcPct val="100000"/>
                        </a:lnSpc>
                        <a:spcBef>
                          <a:spcPts val="0"/>
                        </a:spcBef>
                        <a:spcAft>
                          <a:spcPts val="0"/>
                        </a:spcAft>
                        <a:buClr>
                          <a:srgbClr val="000000"/>
                        </a:buClr>
                        <a:buSzPts val="1600"/>
                        <a:buFont typeface="Roboto"/>
                        <a:buChar char="●"/>
                      </a:pPr>
                      <a:r>
                        <a:rPr lang="en-US" sz="1600">
                          <a:latin typeface="Roboto"/>
                          <a:ea typeface="Roboto"/>
                          <a:cs typeface="Roboto"/>
                          <a:sym typeface="Roboto"/>
                        </a:rPr>
                        <a:t>Evaluation through interviews with instructor</a:t>
                      </a:r>
                      <a:endParaRPr sz="1600" u="none" cap="none" strike="noStrike">
                        <a:latin typeface="Roboto"/>
                        <a:ea typeface="Roboto"/>
                        <a:cs typeface="Roboto"/>
                        <a:sym typeface="Roboto"/>
                      </a:endParaRPr>
                    </a:p>
                  </a:txBody>
                  <a:tcPr marT="91425" marB="91425" marR="91425" marL="91425"/>
                </a:tc>
              </a:tr>
              <a:tr h="508400">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latin typeface="Roboto"/>
                          <a:ea typeface="Roboto"/>
                          <a:cs typeface="Roboto"/>
                          <a:sym typeface="Roboto"/>
                        </a:rPr>
                        <a:t>Data Science</a:t>
                      </a:r>
                      <a:endParaRPr sz="1600" u="none" cap="none" strike="noStrike">
                        <a:latin typeface="Roboto"/>
                        <a:ea typeface="Roboto"/>
                        <a:cs typeface="Roboto"/>
                        <a:sym typeface="Roboto"/>
                      </a:endParaRPr>
                    </a:p>
                  </a:txBody>
                  <a:tcPr marT="91425" marB="91425" marR="91425" marL="91425"/>
                </a:tc>
                <a:tc>
                  <a:txBody>
                    <a:bodyPr/>
                    <a:lstStyle/>
                    <a:p>
                      <a:pPr indent="-330200" lvl="0" marL="457200" marR="0" rtl="0" algn="l">
                        <a:lnSpc>
                          <a:spcPct val="100000"/>
                        </a:lnSpc>
                        <a:spcBef>
                          <a:spcPts val="0"/>
                        </a:spcBef>
                        <a:spcAft>
                          <a:spcPts val="0"/>
                        </a:spcAft>
                        <a:buClr>
                          <a:srgbClr val="000000"/>
                        </a:buClr>
                        <a:buSzPts val="1600"/>
                        <a:buFont typeface="Roboto"/>
                        <a:buChar char="●"/>
                      </a:pPr>
                      <a:r>
                        <a:rPr lang="en-US" sz="1600">
                          <a:latin typeface="Roboto"/>
                          <a:ea typeface="Roboto"/>
                          <a:cs typeface="Roboto"/>
                          <a:sym typeface="Roboto"/>
                        </a:rPr>
                        <a:t>Topic model</a:t>
                      </a:r>
                      <a:endParaRPr sz="1600">
                        <a:latin typeface="Roboto"/>
                        <a:ea typeface="Roboto"/>
                        <a:cs typeface="Roboto"/>
                        <a:sym typeface="Roboto"/>
                      </a:endParaRPr>
                    </a:p>
                    <a:p>
                      <a:pPr indent="-330200" lvl="0" marL="457200" marR="0" rtl="0" algn="l">
                        <a:lnSpc>
                          <a:spcPct val="100000"/>
                        </a:lnSpc>
                        <a:spcBef>
                          <a:spcPts val="0"/>
                        </a:spcBef>
                        <a:spcAft>
                          <a:spcPts val="0"/>
                        </a:spcAft>
                        <a:buSzPts val="1600"/>
                        <a:buFont typeface="Roboto"/>
                        <a:buChar char="●"/>
                      </a:pPr>
                      <a:r>
                        <a:rPr lang="en-US" sz="1600">
                          <a:latin typeface="Roboto"/>
                          <a:ea typeface="Roboto"/>
                          <a:cs typeface="Roboto"/>
                          <a:sym typeface="Roboto"/>
                        </a:rPr>
                        <a:t>Aspect-based sentiment analysis model</a:t>
                      </a:r>
                      <a:endParaRPr sz="1600">
                        <a:latin typeface="Roboto"/>
                        <a:ea typeface="Roboto"/>
                        <a:cs typeface="Roboto"/>
                        <a:sym typeface="Roboto"/>
                      </a:endParaRPr>
                    </a:p>
                  </a:txBody>
                  <a:tcPr marT="91425" marB="91425" marR="91425" marL="91425"/>
                </a:tc>
                <a:tc>
                  <a:txBody>
                    <a:bodyPr/>
                    <a:lstStyle/>
                    <a:p>
                      <a:pPr indent="-330200" lvl="0" marL="457200" marR="0" rtl="0" algn="l">
                        <a:lnSpc>
                          <a:spcPct val="100000"/>
                        </a:lnSpc>
                        <a:spcBef>
                          <a:spcPts val="0"/>
                        </a:spcBef>
                        <a:spcAft>
                          <a:spcPts val="0"/>
                        </a:spcAft>
                        <a:buClr>
                          <a:srgbClr val="000000"/>
                        </a:buClr>
                        <a:buSzPts val="1600"/>
                        <a:buFont typeface="Roboto"/>
                        <a:buChar char="●"/>
                      </a:pPr>
                      <a:r>
                        <a:rPr lang="en-US" sz="1600">
                          <a:latin typeface="Roboto"/>
                          <a:ea typeface="Roboto"/>
                          <a:cs typeface="Roboto"/>
                          <a:sym typeface="Roboto"/>
                        </a:rPr>
                        <a:t>Incorporate with dashboard and improve existing models</a:t>
                      </a:r>
                      <a:endParaRPr sz="1600" u="none" cap="none" strike="noStrike">
                        <a:latin typeface="Roboto"/>
                        <a:ea typeface="Roboto"/>
                        <a:cs typeface="Roboto"/>
                        <a:sym typeface="Roboto"/>
                      </a:endParaRPr>
                    </a:p>
                  </a:txBody>
                  <a:tcPr marT="91425" marB="91425" marR="91425" marL="91425"/>
                </a:tc>
              </a:tr>
            </a:tbl>
          </a:graphicData>
        </a:graphic>
      </p:graphicFrame>
      <p:sp>
        <p:nvSpPr>
          <p:cNvPr id="113" name="Google Shape;113;gba764dde3e_0_0"/>
          <p:cNvSpPr txBox="1"/>
          <p:nvPr/>
        </p:nvSpPr>
        <p:spPr>
          <a:xfrm>
            <a:off x="386350" y="4552950"/>
            <a:ext cx="11162100" cy="1816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1500"/>
              </a:spcBef>
              <a:spcAft>
                <a:spcPts val="0"/>
              </a:spcAft>
              <a:buClr>
                <a:srgbClr val="000000"/>
              </a:buClr>
              <a:buSzPts val="2600"/>
              <a:buFont typeface="Arial"/>
              <a:buNone/>
            </a:pPr>
            <a:r>
              <a:rPr b="1" i="0" lang="en-US" sz="2600" u="none" cap="none" strike="noStrike">
                <a:solidFill>
                  <a:schemeClr val="dk1"/>
                </a:solidFill>
                <a:latin typeface="Roboto"/>
                <a:ea typeface="Roboto"/>
                <a:cs typeface="Roboto"/>
                <a:sym typeface="Roboto"/>
              </a:rPr>
              <a:t>Learnings and Challenges as a Project Manager:</a:t>
            </a:r>
            <a:endParaRPr b="0" i="0" sz="2000" u="none" cap="none" strike="noStrike">
              <a:solidFill>
                <a:schemeClr val="dk1"/>
              </a:solidFill>
              <a:latin typeface="Roboto"/>
              <a:ea typeface="Roboto"/>
              <a:cs typeface="Roboto"/>
              <a:sym typeface="Roboto"/>
            </a:endParaRPr>
          </a:p>
          <a:p>
            <a:pPr indent="-355600" lvl="0" marL="457200" marR="0" rtl="0" algn="l">
              <a:lnSpc>
                <a:spcPct val="100000"/>
              </a:lnSpc>
              <a:spcBef>
                <a:spcPts val="0"/>
              </a:spcBef>
              <a:spcAft>
                <a:spcPts val="0"/>
              </a:spcAft>
              <a:buClr>
                <a:schemeClr val="dk1"/>
              </a:buClr>
              <a:buSzPts val="2000"/>
              <a:buFont typeface="Arial"/>
              <a:buChar char="•"/>
            </a:pPr>
            <a:r>
              <a:rPr lang="en-US" sz="2000">
                <a:solidFill>
                  <a:schemeClr val="dk1"/>
                </a:solidFill>
                <a:latin typeface="Roboto"/>
                <a:ea typeface="Roboto"/>
                <a:cs typeface="Roboto"/>
                <a:sym typeface="Roboto"/>
              </a:rPr>
              <a:t>Having clear actionable deliverables for each week aids progress</a:t>
            </a:r>
            <a:endParaRPr b="0" i="0" sz="2000" u="none" cap="none" strike="noStrike">
              <a:solidFill>
                <a:schemeClr val="dk1"/>
              </a:solidFill>
              <a:latin typeface="Roboto"/>
              <a:ea typeface="Roboto"/>
              <a:cs typeface="Roboto"/>
              <a:sym typeface="Roboto"/>
            </a:endParaRPr>
          </a:p>
          <a:p>
            <a:pPr indent="-355600" lvl="0" marL="457200" marR="0" rtl="0" algn="l">
              <a:lnSpc>
                <a:spcPct val="100000"/>
              </a:lnSpc>
              <a:spcBef>
                <a:spcPts val="0"/>
              </a:spcBef>
              <a:spcAft>
                <a:spcPts val="0"/>
              </a:spcAft>
              <a:buClr>
                <a:schemeClr val="dk1"/>
              </a:buClr>
              <a:buSzPts val="2000"/>
              <a:buFont typeface="Arial"/>
              <a:buChar char="•"/>
            </a:pPr>
            <a:r>
              <a:rPr lang="en-US" sz="2000">
                <a:solidFill>
                  <a:schemeClr val="dk1"/>
                </a:solidFill>
                <a:latin typeface="Roboto"/>
                <a:ea typeface="Roboto"/>
                <a:cs typeface="Roboto"/>
                <a:sym typeface="Roboto"/>
              </a:rPr>
              <a:t>Focus on end-to-end integration helps in iterating on individual pieces later</a:t>
            </a:r>
            <a:endParaRPr b="0" i="0" sz="2000" u="none" cap="none" strike="noStrike">
              <a:solidFill>
                <a:schemeClr val="dk1"/>
              </a:solidFill>
              <a:latin typeface="Roboto"/>
              <a:ea typeface="Roboto"/>
              <a:cs typeface="Roboto"/>
              <a:sym typeface="Roboto"/>
            </a:endParaRPr>
          </a:p>
          <a:p>
            <a:pPr indent="-355600" lvl="0" marL="457200" marR="0" rtl="0" algn="l">
              <a:lnSpc>
                <a:spcPct val="100000"/>
              </a:lnSpc>
              <a:spcBef>
                <a:spcPts val="0"/>
              </a:spcBef>
              <a:spcAft>
                <a:spcPts val="0"/>
              </a:spcAft>
              <a:buClr>
                <a:schemeClr val="dk1"/>
              </a:buClr>
              <a:buSzPts val="2000"/>
              <a:buFont typeface="Roboto"/>
              <a:buChar char="•"/>
            </a:pPr>
            <a:r>
              <a:rPr lang="en-US" sz="2000">
                <a:solidFill>
                  <a:schemeClr val="dk1"/>
                </a:solidFill>
                <a:latin typeface="Roboto"/>
                <a:ea typeface="Roboto"/>
                <a:cs typeface="Roboto"/>
                <a:sym typeface="Roboto"/>
              </a:rPr>
              <a:t>Encourage sub-teams to work together in coordination with each other and allow chances for team </a:t>
            </a:r>
            <a:r>
              <a:rPr lang="en-US" sz="2000">
                <a:solidFill>
                  <a:schemeClr val="dk1"/>
                </a:solidFill>
                <a:latin typeface="Roboto"/>
                <a:ea typeface="Roboto"/>
                <a:cs typeface="Roboto"/>
                <a:sym typeface="Roboto"/>
              </a:rPr>
              <a:t>members to take lead on different things</a:t>
            </a:r>
            <a:endParaRPr b="0" i="0" sz="2000" u="none" cap="none" strike="noStrike">
              <a:solidFill>
                <a:schemeClr val="dk1"/>
              </a:solidFill>
              <a:latin typeface="Roboto"/>
              <a:ea typeface="Roboto"/>
              <a:cs typeface="Roboto"/>
              <a:sym typeface="Robot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17" name="Shape 117"/>
        <p:cNvGrpSpPr/>
        <p:nvPr/>
      </p:nvGrpSpPr>
      <p:grpSpPr>
        <a:xfrm>
          <a:off x="0" y="0"/>
          <a:ext cx="0" cy="0"/>
          <a:chOff x="0" y="0"/>
          <a:chExt cx="0" cy="0"/>
        </a:xfrm>
      </p:grpSpPr>
      <p:sp>
        <p:nvSpPr>
          <p:cNvPr id="118" name="Google Shape;118;gf4b38d8802_0_0"/>
          <p:cNvSpPr txBox="1"/>
          <p:nvPr/>
        </p:nvSpPr>
        <p:spPr>
          <a:xfrm>
            <a:off x="190850" y="1115050"/>
            <a:ext cx="10292400" cy="3368400"/>
          </a:xfrm>
          <a:prstGeom prst="rect">
            <a:avLst/>
          </a:prstGeom>
          <a:noFill/>
          <a:ln>
            <a:noFill/>
          </a:ln>
        </p:spPr>
        <p:txBody>
          <a:bodyPr anchorCtr="0" anchor="t" bIns="91425" lIns="91425" spcFirstLastPara="1" rIns="91425" wrap="square" tIns="91425">
            <a:spAutoFit/>
          </a:bodyPr>
          <a:lstStyle/>
          <a:p>
            <a:pPr indent="-387350" lvl="0" marL="457200" marR="0" rtl="0" algn="l">
              <a:lnSpc>
                <a:spcPct val="90000"/>
              </a:lnSpc>
              <a:spcBef>
                <a:spcPts val="1000"/>
              </a:spcBef>
              <a:spcAft>
                <a:spcPts val="0"/>
              </a:spcAft>
              <a:buClr>
                <a:schemeClr val="dk1"/>
              </a:buClr>
              <a:buSzPts val="2500"/>
              <a:buFont typeface="Roboto"/>
              <a:buChar char="●"/>
            </a:pPr>
            <a:r>
              <a:rPr b="1" i="0" lang="en-US" sz="2500" u="none" cap="none" strike="noStrike">
                <a:solidFill>
                  <a:schemeClr val="dk1"/>
                </a:solidFill>
                <a:latin typeface="Roboto"/>
                <a:ea typeface="Roboto"/>
                <a:cs typeface="Roboto"/>
                <a:sym typeface="Roboto"/>
              </a:rPr>
              <a:t>Development</a:t>
            </a:r>
            <a:endParaRPr b="1" i="0" sz="2500" u="none" cap="none" strike="noStrike">
              <a:solidFill>
                <a:schemeClr val="dk1"/>
              </a:solidFill>
              <a:latin typeface="Roboto"/>
              <a:ea typeface="Roboto"/>
              <a:cs typeface="Roboto"/>
              <a:sym typeface="Roboto"/>
            </a:endParaRPr>
          </a:p>
          <a:p>
            <a:pPr indent="-342900" lvl="1" marL="914400" marR="0" rtl="0" algn="l">
              <a:lnSpc>
                <a:spcPct val="90000"/>
              </a:lnSpc>
              <a:spcBef>
                <a:spcPts val="1000"/>
              </a:spcBef>
              <a:spcAft>
                <a:spcPts val="0"/>
              </a:spcAft>
              <a:buClr>
                <a:schemeClr val="dk1"/>
              </a:buClr>
              <a:buSzPts val="1800"/>
              <a:buFont typeface="Roboto"/>
              <a:buChar char="○"/>
            </a:pPr>
            <a:r>
              <a:rPr b="0" i="0" lang="en-US" sz="1800" u="none" cap="none" strike="noStrike">
                <a:solidFill>
                  <a:schemeClr val="dk1"/>
                </a:solidFill>
                <a:latin typeface="Roboto"/>
                <a:ea typeface="Roboto"/>
                <a:cs typeface="Roboto"/>
                <a:sym typeface="Roboto"/>
              </a:rPr>
              <a:t>Deploy the web-app and test inside the Piazza sandbox environment</a:t>
            </a:r>
            <a:endParaRPr b="0" i="0" sz="1800" u="none" cap="none" strike="noStrike">
              <a:solidFill>
                <a:schemeClr val="dk1"/>
              </a:solidFill>
              <a:latin typeface="Roboto"/>
              <a:ea typeface="Roboto"/>
              <a:cs typeface="Roboto"/>
              <a:sym typeface="Roboto"/>
            </a:endParaRPr>
          </a:p>
          <a:p>
            <a:pPr indent="0" lvl="0" marL="914400" marR="0" rtl="0" algn="l">
              <a:lnSpc>
                <a:spcPct val="90000"/>
              </a:lnSpc>
              <a:spcBef>
                <a:spcPts val="1000"/>
              </a:spcBef>
              <a:spcAft>
                <a:spcPts val="0"/>
              </a:spcAft>
              <a:buClr>
                <a:srgbClr val="000000"/>
              </a:buClr>
              <a:buSzPts val="1800"/>
              <a:buFont typeface="Arial"/>
              <a:buNone/>
            </a:pPr>
            <a:r>
              <a:t/>
            </a:r>
            <a:endParaRPr b="0" i="0" sz="1800" u="none" cap="none" strike="noStrike">
              <a:solidFill>
                <a:schemeClr val="dk1"/>
              </a:solidFill>
              <a:latin typeface="Roboto"/>
              <a:ea typeface="Roboto"/>
              <a:cs typeface="Roboto"/>
              <a:sym typeface="Roboto"/>
            </a:endParaRPr>
          </a:p>
          <a:p>
            <a:pPr indent="-387350" lvl="0" marL="457200" marR="0" rtl="0" algn="l">
              <a:lnSpc>
                <a:spcPct val="90000"/>
              </a:lnSpc>
              <a:spcBef>
                <a:spcPts val="1000"/>
              </a:spcBef>
              <a:spcAft>
                <a:spcPts val="0"/>
              </a:spcAft>
              <a:buClr>
                <a:schemeClr val="dk1"/>
              </a:buClr>
              <a:buSzPts val="2500"/>
              <a:buFont typeface="Roboto"/>
              <a:buChar char="●"/>
            </a:pPr>
            <a:r>
              <a:rPr b="1" i="0" lang="en-US" sz="2500" u="none" cap="none" strike="noStrike">
                <a:solidFill>
                  <a:schemeClr val="dk1"/>
                </a:solidFill>
                <a:latin typeface="Roboto"/>
                <a:ea typeface="Roboto"/>
                <a:cs typeface="Roboto"/>
                <a:sym typeface="Roboto"/>
              </a:rPr>
              <a:t>Research</a:t>
            </a:r>
            <a:endParaRPr b="0" i="0" sz="1800" u="none" cap="none" strike="noStrike">
              <a:solidFill>
                <a:schemeClr val="dk1"/>
              </a:solidFill>
              <a:latin typeface="Roboto"/>
              <a:ea typeface="Roboto"/>
              <a:cs typeface="Roboto"/>
              <a:sym typeface="Roboto"/>
            </a:endParaRPr>
          </a:p>
          <a:p>
            <a:pPr indent="-342900" lvl="1" marL="914400" marR="0" rtl="0" algn="l">
              <a:lnSpc>
                <a:spcPct val="90000"/>
              </a:lnSpc>
              <a:spcBef>
                <a:spcPts val="1000"/>
              </a:spcBef>
              <a:spcAft>
                <a:spcPts val="0"/>
              </a:spcAft>
              <a:buClr>
                <a:schemeClr val="dk1"/>
              </a:buClr>
              <a:buSzPts val="1800"/>
              <a:buFont typeface="Roboto"/>
              <a:buChar char="○"/>
            </a:pPr>
            <a:r>
              <a:rPr lang="en-US" sz="1800">
                <a:solidFill>
                  <a:schemeClr val="dk1"/>
                </a:solidFill>
                <a:latin typeface="Roboto"/>
                <a:ea typeface="Roboto"/>
                <a:cs typeface="Roboto"/>
                <a:sym typeface="Roboto"/>
              </a:rPr>
              <a:t>Prepare questionnaire for evaluation</a:t>
            </a:r>
            <a:r>
              <a:rPr b="0" i="0" lang="en-US" sz="1800" u="none" cap="none" strike="noStrike">
                <a:solidFill>
                  <a:schemeClr val="dk1"/>
                </a:solidFill>
                <a:latin typeface="Roboto"/>
                <a:ea typeface="Roboto"/>
                <a:cs typeface="Roboto"/>
                <a:sym typeface="Roboto"/>
              </a:rPr>
              <a:t> with instructor</a:t>
            </a:r>
            <a:r>
              <a:rPr lang="en-US" sz="1800">
                <a:solidFill>
                  <a:schemeClr val="dk1"/>
                </a:solidFill>
                <a:latin typeface="Roboto"/>
                <a:ea typeface="Roboto"/>
                <a:cs typeface="Roboto"/>
                <a:sym typeface="Roboto"/>
              </a:rPr>
              <a:t>s</a:t>
            </a:r>
            <a:endParaRPr b="0" i="0" sz="1800" u="none" cap="none" strike="noStrike">
              <a:solidFill>
                <a:schemeClr val="dk1"/>
              </a:solidFill>
              <a:latin typeface="Roboto"/>
              <a:ea typeface="Roboto"/>
              <a:cs typeface="Roboto"/>
              <a:sym typeface="Roboto"/>
            </a:endParaRPr>
          </a:p>
          <a:p>
            <a:pPr indent="0" lvl="0" marL="0" marR="0" rtl="0" algn="l">
              <a:lnSpc>
                <a:spcPct val="90000"/>
              </a:lnSpc>
              <a:spcBef>
                <a:spcPts val="1000"/>
              </a:spcBef>
              <a:spcAft>
                <a:spcPts val="0"/>
              </a:spcAft>
              <a:buClr>
                <a:srgbClr val="000000"/>
              </a:buClr>
              <a:buSzPts val="1800"/>
              <a:buFont typeface="Arial"/>
              <a:buNone/>
            </a:pPr>
            <a:r>
              <a:t/>
            </a:r>
            <a:endParaRPr b="0" i="0" sz="1800" u="none" cap="none" strike="noStrike">
              <a:solidFill>
                <a:schemeClr val="dk1"/>
              </a:solidFill>
              <a:latin typeface="Roboto"/>
              <a:ea typeface="Roboto"/>
              <a:cs typeface="Roboto"/>
              <a:sym typeface="Roboto"/>
            </a:endParaRPr>
          </a:p>
          <a:p>
            <a:pPr indent="-387350" lvl="0" marL="457200" marR="0" rtl="0" algn="l">
              <a:lnSpc>
                <a:spcPct val="90000"/>
              </a:lnSpc>
              <a:spcBef>
                <a:spcPts val="1000"/>
              </a:spcBef>
              <a:spcAft>
                <a:spcPts val="0"/>
              </a:spcAft>
              <a:buClr>
                <a:schemeClr val="dk1"/>
              </a:buClr>
              <a:buSzPts val="2500"/>
              <a:buFont typeface="Roboto"/>
              <a:buChar char="●"/>
            </a:pPr>
            <a:r>
              <a:rPr b="1" i="0" lang="en-US" sz="2500" u="none" cap="none" strike="noStrike">
                <a:solidFill>
                  <a:schemeClr val="dk1"/>
                </a:solidFill>
                <a:latin typeface="Roboto"/>
                <a:ea typeface="Roboto"/>
                <a:cs typeface="Roboto"/>
                <a:sym typeface="Roboto"/>
              </a:rPr>
              <a:t>Project Management</a:t>
            </a:r>
            <a:endParaRPr b="1" i="0" sz="2500" u="none" cap="none" strike="noStrike">
              <a:solidFill>
                <a:schemeClr val="dk1"/>
              </a:solidFill>
              <a:latin typeface="Roboto"/>
              <a:ea typeface="Roboto"/>
              <a:cs typeface="Roboto"/>
              <a:sym typeface="Roboto"/>
            </a:endParaRPr>
          </a:p>
          <a:p>
            <a:pPr indent="-342900" lvl="1" marL="914400" marR="0" rtl="0" algn="l">
              <a:lnSpc>
                <a:spcPct val="90000"/>
              </a:lnSpc>
              <a:spcBef>
                <a:spcPts val="1000"/>
              </a:spcBef>
              <a:spcAft>
                <a:spcPts val="0"/>
              </a:spcAft>
              <a:buClr>
                <a:schemeClr val="dk1"/>
              </a:buClr>
              <a:buSzPts val="1800"/>
              <a:buFont typeface="Roboto"/>
              <a:buChar char="○"/>
            </a:pPr>
            <a:r>
              <a:rPr lang="en-US" sz="1800">
                <a:solidFill>
                  <a:schemeClr val="dk1"/>
                </a:solidFill>
                <a:latin typeface="Roboto"/>
                <a:ea typeface="Roboto"/>
                <a:cs typeface="Roboto"/>
                <a:sym typeface="Roboto"/>
              </a:rPr>
              <a:t>Have</a:t>
            </a:r>
            <a:r>
              <a:rPr b="0" i="0" lang="en-US" sz="1800" u="none" cap="none" strike="noStrike">
                <a:solidFill>
                  <a:schemeClr val="dk1"/>
                </a:solidFill>
                <a:latin typeface="Roboto"/>
                <a:ea typeface="Roboto"/>
                <a:cs typeface="Roboto"/>
                <a:sym typeface="Roboto"/>
              </a:rPr>
              <a:t> a documentation for the project to help future teams not having to reinvent the wheel</a:t>
            </a:r>
            <a:endParaRPr b="0" i="0" sz="1800" u="none" cap="none" strike="noStrike">
              <a:solidFill>
                <a:schemeClr val="dk1"/>
              </a:solidFill>
              <a:latin typeface="Roboto"/>
              <a:ea typeface="Roboto"/>
              <a:cs typeface="Roboto"/>
              <a:sym typeface="Roboto"/>
            </a:endParaRPr>
          </a:p>
        </p:txBody>
      </p:sp>
      <p:sp>
        <p:nvSpPr>
          <p:cNvPr id="119" name="Google Shape;119;gf4b38d8802_0_0"/>
          <p:cNvSpPr txBox="1"/>
          <p:nvPr>
            <p:ph type="title"/>
          </p:nvPr>
        </p:nvSpPr>
        <p:spPr>
          <a:xfrm>
            <a:off x="381000" y="200722"/>
            <a:ext cx="11430000" cy="10149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rPr lang="en-US"/>
              <a:t>Goals for this semester</a:t>
            </a:r>
            <a:endParaRPr/>
          </a:p>
        </p:txBody>
      </p:sp>
      <p:pic>
        <p:nvPicPr>
          <p:cNvPr id="120" name="Google Shape;120;gf4b38d8802_0_0"/>
          <p:cNvPicPr preferRelativeResize="0"/>
          <p:nvPr/>
        </p:nvPicPr>
        <p:blipFill rotWithShape="1">
          <a:blip r:embed="rId3">
            <a:alphaModFix/>
          </a:blip>
          <a:srcRect b="0" l="0" r="0" t="0"/>
          <a:stretch/>
        </p:blipFill>
        <p:spPr>
          <a:xfrm>
            <a:off x="8466225" y="926100"/>
            <a:ext cx="3108126" cy="8021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gefbeba6a1c_0_0"/>
          <p:cNvSpPr txBox="1"/>
          <p:nvPr>
            <p:ph idx="4294967295" type="title"/>
          </p:nvPr>
        </p:nvSpPr>
        <p:spPr>
          <a:xfrm>
            <a:off x="381000" y="2921547"/>
            <a:ext cx="11430000" cy="10149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SzPts val="1800"/>
              <a:buNone/>
            </a:pPr>
            <a:r>
              <a:rPr lang="en-US" sz="7000"/>
              <a:t>Data Science</a:t>
            </a:r>
            <a:endParaRPr sz="70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gbea1223c9f_0_11"/>
          <p:cNvSpPr txBox="1"/>
          <p:nvPr>
            <p:ph idx="1" type="body"/>
          </p:nvPr>
        </p:nvSpPr>
        <p:spPr>
          <a:xfrm>
            <a:off x="451725" y="1915350"/>
            <a:ext cx="11430000" cy="3027300"/>
          </a:xfrm>
          <a:prstGeom prst="rect">
            <a:avLst/>
          </a:prstGeom>
          <a:noFill/>
          <a:ln>
            <a:noFill/>
          </a:ln>
        </p:spPr>
        <p:txBody>
          <a:bodyPr anchorCtr="0" anchor="t" bIns="45700" lIns="91425" spcFirstLastPara="1" rIns="91425" wrap="square" tIns="45700">
            <a:normAutofit lnSpcReduction="10000"/>
          </a:bodyPr>
          <a:lstStyle/>
          <a:p>
            <a:pPr indent="0" lvl="0" marL="0" rtl="0" algn="just">
              <a:lnSpc>
                <a:spcPct val="90000"/>
              </a:lnSpc>
              <a:spcBef>
                <a:spcPts val="1000"/>
              </a:spcBef>
              <a:spcAft>
                <a:spcPts val="0"/>
              </a:spcAft>
              <a:buSzPts val="1800"/>
              <a:buNone/>
            </a:pPr>
            <a:r>
              <a:rPr lang="en-US"/>
              <a:t>Based on the </a:t>
            </a:r>
            <a:r>
              <a:rPr b="1" lang="en-US"/>
              <a:t>community of inquiry framework</a:t>
            </a:r>
            <a:r>
              <a:rPr lang="en-US"/>
              <a:t>, what are some key factors in discussion forum activities influencing student </a:t>
            </a:r>
            <a:r>
              <a:rPr b="1" lang="en-US"/>
              <a:t>engagement</a:t>
            </a:r>
            <a:r>
              <a:rPr lang="en-US"/>
              <a:t> and </a:t>
            </a:r>
            <a:r>
              <a:rPr b="1" lang="en-US"/>
              <a:t>performance</a:t>
            </a:r>
            <a:r>
              <a:rPr lang="en-US"/>
              <a:t> in an asynchronous online classroom?</a:t>
            </a:r>
            <a:endParaRPr/>
          </a:p>
          <a:p>
            <a:pPr indent="0" lvl="0" marL="0" rtl="0" algn="just">
              <a:lnSpc>
                <a:spcPct val="90000"/>
              </a:lnSpc>
              <a:spcBef>
                <a:spcPts val="1000"/>
              </a:spcBef>
              <a:spcAft>
                <a:spcPts val="0"/>
              </a:spcAft>
              <a:buSzPts val="1800"/>
              <a:buNone/>
            </a:pPr>
            <a:r>
              <a:t/>
            </a:r>
            <a:endParaRPr/>
          </a:p>
          <a:p>
            <a:pPr indent="0" lvl="0" marL="0" rtl="0" algn="just">
              <a:lnSpc>
                <a:spcPct val="90000"/>
              </a:lnSpc>
              <a:spcBef>
                <a:spcPts val="1000"/>
              </a:spcBef>
              <a:spcAft>
                <a:spcPts val="0"/>
              </a:spcAft>
              <a:buSzPts val="1800"/>
              <a:buNone/>
            </a:pPr>
            <a:r>
              <a:rPr lang="en-US"/>
              <a:t>How can we design a </a:t>
            </a:r>
            <a:r>
              <a:rPr b="1" lang="en-US"/>
              <a:t>web app</a:t>
            </a:r>
            <a:r>
              <a:rPr lang="en-US"/>
              <a:t> that can provide actionable insights to the instructor in order to increase engagement and performance?</a:t>
            </a:r>
            <a:endParaRPr/>
          </a:p>
          <a:p>
            <a:pPr indent="0" lvl="0" marL="0" rtl="0" algn="just">
              <a:lnSpc>
                <a:spcPct val="90000"/>
              </a:lnSpc>
              <a:spcBef>
                <a:spcPts val="1000"/>
              </a:spcBef>
              <a:spcAft>
                <a:spcPts val="0"/>
              </a:spcAft>
              <a:buSzPts val="1800"/>
              <a:buNone/>
            </a:pPr>
            <a:r>
              <a:t/>
            </a:r>
            <a:endParaRPr/>
          </a:p>
        </p:txBody>
      </p:sp>
      <p:sp>
        <p:nvSpPr>
          <p:cNvPr id="131" name="Google Shape;131;gbea1223c9f_0_11"/>
          <p:cNvSpPr txBox="1"/>
          <p:nvPr>
            <p:ph type="title"/>
          </p:nvPr>
        </p:nvSpPr>
        <p:spPr>
          <a:xfrm>
            <a:off x="381000" y="212247"/>
            <a:ext cx="11430000" cy="10149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rPr lang="en-US"/>
              <a:t>Research Goal</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gefbeba6a1c_0_509"/>
          <p:cNvSpPr txBox="1"/>
          <p:nvPr>
            <p:ph idx="1" type="body"/>
          </p:nvPr>
        </p:nvSpPr>
        <p:spPr>
          <a:xfrm>
            <a:off x="381000" y="1215474"/>
            <a:ext cx="11430000" cy="1643700"/>
          </a:xfrm>
          <a:prstGeom prst="rect">
            <a:avLst/>
          </a:prstGeom>
          <a:noFill/>
          <a:ln>
            <a:noFill/>
          </a:ln>
        </p:spPr>
        <p:txBody>
          <a:bodyPr anchorCtr="0" anchor="t" bIns="45700" lIns="91425" spcFirstLastPara="1" rIns="91425" wrap="square" tIns="45700">
            <a:noAutofit/>
          </a:bodyPr>
          <a:lstStyle/>
          <a:p>
            <a:pPr indent="-342900" lvl="0" marL="457200" rtl="0" algn="l">
              <a:lnSpc>
                <a:spcPct val="100000"/>
              </a:lnSpc>
              <a:spcBef>
                <a:spcPts val="1000"/>
              </a:spcBef>
              <a:spcAft>
                <a:spcPts val="0"/>
              </a:spcAft>
              <a:buSzPts val="1800"/>
              <a:buChar char="•"/>
            </a:pPr>
            <a:r>
              <a:rPr lang="en-US"/>
              <a:t>Data available</a:t>
            </a:r>
            <a:endParaRPr/>
          </a:p>
          <a:p>
            <a:pPr indent="-342900" lvl="1" marL="914400" rtl="0" algn="l">
              <a:lnSpc>
                <a:spcPct val="90000"/>
              </a:lnSpc>
              <a:spcBef>
                <a:spcPts val="0"/>
              </a:spcBef>
              <a:spcAft>
                <a:spcPts val="0"/>
              </a:spcAft>
              <a:buSzPts val="1800"/>
              <a:buChar char="•"/>
            </a:pPr>
            <a:r>
              <a:rPr lang="en-US"/>
              <a:t>Focusing on Piazza data from Dr. Thad Starner</a:t>
            </a:r>
            <a:endParaRPr/>
          </a:p>
          <a:p>
            <a:pPr indent="-342900" lvl="1" marL="914400" rtl="0" algn="l">
              <a:lnSpc>
                <a:spcPct val="90000"/>
              </a:lnSpc>
              <a:spcBef>
                <a:spcPts val="0"/>
              </a:spcBef>
              <a:spcAft>
                <a:spcPts val="0"/>
              </a:spcAft>
              <a:buSzPts val="1800"/>
              <a:buChar char="•"/>
            </a:pPr>
            <a:r>
              <a:rPr lang="en-US"/>
              <a:t>1493 posts, coded for cognitive presence and working on Topic Modeling</a:t>
            </a:r>
            <a:endParaRPr/>
          </a:p>
        </p:txBody>
      </p:sp>
      <p:sp>
        <p:nvSpPr>
          <p:cNvPr id="137" name="Google Shape;137;gefbeba6a1c_0_509"/>
          <p:cNvSpPr txBox="1"/>
          <p:nvPr>
            <p:ph type="title"/>
          </p:nvPr>
        </p:nvSpPr>
        <p:spPr>
          <a:xfrm>
            <a:off x="381000" y="200722"/>
            <a:ext cx="11430000" cy="10149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SzPts val="1800"/>
              <a:buNone/>
            </a:pPr>
            <a:r>
              <a:rPr lang="en-US"/>
              <a:t>Data Science Big Picture</a:t>
            </a:r>
            <a:endParaRPr/>
          </a:p>
        </p:txBody>
      </p:sp>
      <p:sp>
        <p:nvSpPr>
          <p:cNvPr id="138" name="Google Shape;138;gefbeba6a1c_0_509"/>
          <p:cNvSpPr/>
          <p:nvPr/>
        </p:nvSpPr>
        <p:spPr>
          <a:xfrm>
            <a:off x="5002788" y="4111075"/>
            <a:ext cx="2186400" cy="710100"/>
          </a:xfrm>
          <a:prstGeom prst="roundRect">
            <a:avLst>
              <a:gd fmla="val 16667" name="adj"/>
            </a:avLst>
          </a:prstGeom>
          <a:solidFill>
            <a:schemeClr val="accent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300"/>
              <a:buFont typeface="Arial"/>
              <a:buNone/>
            </a:pPr>
            <a:r>
              <a:rPr b="0" i="0" lang="en-US" sz="2300" u="none" cap="none" strike="noStrike">
                <a:solidFill>
                  <a:schemeClr val="lt1"/>
                </a:solidFill>
                <a:latin typeface="Arial"/>
                <a:ea typeface="Arial"/>
                <a:cs typeface="Arial"/>
                <a:sym typeface="Arial"/>
              </a:rPr>
              <a:t>Data Science</a:t>
            </a:r>
            <a:endParaRPr b="0" i="0" sz="2300" u="none" cap="none" strike="noStrike">
              <a:solidFill>
                <a:schemeClr val="lt1"/>
              </a:solidFill>
              <a:latin typeface="Arial"/>
              <a:ea typeface="Arial"/>
              <a:cs typeface="Arial"/>
              <a:sym typeface="Arial"/>
            </a:endParaRPr>
          </a:p>
        </p:txBody>
      </p:sp>
      <p:sp>
        <p:nvSpPr>
          <p:cNvPr id="139" name="Google Shape;139;gefbeba6a1c_0_509"/>
          <p:cNvSpPr/>
          <p:nvPr/>
        </p:nvSpPr>
        <p:spPr>
          <a:xfrm>
            <a:off x="4611888" y="3028825"/>
            <a:ext cx="2968200" cy="912600"/>
          </a:xfrm>
          <a:prstGeom prst="roundRect">
            <a:avLst>
              <a:gd fmla="val 16667" name="adj"/>
            </a:avLst>
          </a:prstGeom>
          <a:solidFill>
            <a:schemeClr val="accent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300"/>
              <a:buFont typeface="Arial"/>
              <a:buNone/>
            </a:pPr>
            <a:r>
              <a:rPr b="0" i="0" lang="en-US" sz="2300" u="none" cap="none" strike="noStrike">
                <a:solidFill>
                  <a:schemeClr val="lt1"/>
                </a:solidFill>
                <a:latin typeface="Arial"/>
                <a:ea typeface="Arial"/>
                <a:cs typeface="Arial"/>
                <a:sym typeface="Arial"/>
              </a:rPr>
              <a:t>Cognitive Presence </a:t>
            </a:r>
            <a:endParaRPr b="0" i="0" sz="2300" u="none" cap="none" strike="noStrike">
              <a:solidFill>
                <a:schemeClr val="lt1"/>
              </a:solidFill>
              <a:latin typeface="Arial"/>
              <a:ea typeface="Arial"/>
              <a:cs typeface="Arial"/>
              <a:sym typeface="Arial"/>
            </a:endParaRPr>
          </a:p>
        </p:txBody>
      </p:sp>
      <p:sp>
        <p:nvSpPr>
          <p:cNvPr id="140" name="Google Shape;140;gefbeba6a1c_0_509"/>
          <p:cNvSpPr/>
          <p:nvPr/>
        </p:nvSpPr>
        <p:spPr>
          <a:xfrm>
            <a:off x="4611900" y="4990825"/>
            <a:ext cx="2968200" cy="912600"/>
          </a:xfrm>
          <a:prstGeom prst="roundRect">
            <a:avLst>
              <a:gd fmla="val 16667" name="adj"/>
            </a:avLst>
          </a:prstGeom>
          <a:solidFill>
            <a:schemeClr val="accent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300"/>
              <a:buFont typeface="Arial"/>
              <a:buNone/>
            </a:pPr>
            <a:r>
              <a:rPr b="0" i="0" lang="en-US" sz="2100" u="none" cap="none" strike="noStrike">
                <a:solidFill>
                  <a:schemeClr val="lt1"/>
                </a:solidFill>
                <a:latin typeface="Arial"/>
                <a:ea typeface="Arial"/>
                <a:cs typeface="Arial"/>
                <a:sym typeface="Arial"/>
              </a:rPr>
              <a:t>Aspect-Based Sentiment Analysis</a:t>
            </a:r>
            <a:endParaRPr b="0" i="0" sz="2100" u="none" cap="none" strike="noStrike">
              <a:solidFill>
                <a:schemeClr val="lt1"/>
              </a:solidFill>
              <a:latin typeface="Arial"/>
              <a:ea typeface="Arial"/>
              <a:cs typeface="Arial"/>
              <a:sym typeface="Arial"/>
            </a:endParaRPr>
          </a:p>
        </p:txBody>
      </p:sp>
      <p:sp>
        <p:nvSpPr>
          <p:cNvPr id="141" name="Google Shape;141;gefbeba6a1c_0_509"/>
          <p:cNvSpPr/>
          <p:nvPr/>
        </p:nvSpPr>
        <p:spPr>
          <a:xfrm>
            <a:off x="7990275" y="4009825"/>
            <a:ext cx="2968200" cy="912600"/>
          </a:xfrm>
          <a:prstGeom prst="roundRect">
            <a:avLst>
              <a:gd fmla="val 16667" name="adj"/>
            </a:avLst>
          </a:prstGeom>
          <a:solidFill>
            <a:schemeClr val="accent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300"/>
              <a:buFont typeface="Arial"/>
              <a:buNone/>
            </a:pPr>
            <a:r>
              <a:rPr b="0" i="0" lang="en-US" sz="2300" u="none" cap="none" strike="noStrike">
                <a:solidFill>
                  <a:schemeClr val="lt1"/>
                </a:solidFill>
                <a:latin typeface="Arial"/>
                <a:ea typeface="Arial"/>
                <a:cs typeface="Arial"/>
                <a:sym typeface="Arial"/>
              </a:rPr>
              <a:t>Topic Modeling</a:t>
            </a:r>
            <a:endParaRPr b="0" i="0" sz="2300" u="none" cap="none" strike="noStrike">
              <a:solidFill>
                <a:schemeClr val="lt1"/>
              </a:solidFill>
              <a:latin typeface="Arial"/>
              <a:ea typeface="Arial"/>
              <a:cs typeface="Arial"/>
              <a:sym typeface="Arial"/>
            </a:endParaRPr>
          </a:p>
        </p:txBody>
      </p:sp>
      <p:sp>
        <p:nvSpPr>
          <p:cNvPr id="142" name="Google Shape;142;gefbeba6a1c_0_509"/>
          <p:cNvSpPr/>
          <p:nvPr/>
        </p:nvSpPr>
        <p:spPr>
          <a:xfrm>
            <a:off x="1233525" y="4009825"/>
            <a:ext cx="2968200" cy="912600"/>
          </a:xfrm>
          <a:prstGeom prst="roundRect">
            <a:avLst>
              <a:gd fmla="val 16667" name="adj"/>
            </a:avLst>
          </a:prstGeom>
          <a:solidFill>
            <a:schemeClr val="accent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300"/>
              <a:buFont typeface="Arial"/>
              <a:buNone/>
            </a:pPr>
            <a:r>
              <a:rPr b="0" i="0" lang="en-US" sz="2300" u="none" cap="none" strike="noStrike">
                <a:solidFill>
                  <a:schemeClr val="lt1"/>
                </a:solidFill>
                <a:latin typeface="Arial"/>
                <a:ea typeface="Arial"/>
                <a:cs typeface="Arial"/>
                <a:sym typeface="Arial"/>
              </a:rPr>
              <a:t>Metacognition</a:t>
            </a:r>
            <a:endParaRPr b="0" i="0" sz="2300" u="none" cap="none" strike="noStrike">
              <a:solidFill>
                <a:schemeClr val="lt1"/>
              </a:solidFill>
              <a:latin typeface="Arial"/>
              <a:ea typeface="Arial"/>
              <a:cs typeface="Arial"/>
              <a:sym typeface="Arial"/>
            </a:endParaRPr>
          </a:p>
        </p:txBody>
      </p:sp>
      <p:cxnSp>
        <p:nvCxnSpPr>
          <p:cNvPr id="143" name="Google Shape;143;gefbeba6a1c_0_509"/>
          <p:cNvCxnSpPr>
            <a:endCxn id="139" idx="2"/>
          </p:cNvCxnSpPr>
          <p:nvPr/>
        </p:nvCxnSpPr>
        <p:spPr>
          <a:xfrm rot="10800000">
            <a:off x="6095988" y="3941425"/>
            <a:ext cx="0" cy="169500"/>
          </a:xfrm>
          <a:prstGeom prst="straightConnector1">
            <a:avLst/>
          </a:prstGeom>
          <a:noFill/>
          <a:ln cap="flat" cmpd="sng" w="9525">
            <a:solidFill>
              <a:schemeClr val="dk2"/>
            </a:solidFill>
            <a:prstDash val="solid"/>
            <a:round/>
            <a:headEnd len="sm" w="sm" type="none"/>
            <a:tailEnd len="med" w="med" type="triangle"/>
          </a:ln>
        </p:spPr>
      </p:cxnSp>
      <p:cxnSp>
        <p:nvCxnSpPr>
          <p:cNvPr id="144" name="Google Shape;144;gefbeba6a1c_0_509"/>
          <p:cNvCxnSpPr>
            <a:stCxn id="138" idx="1"/>
            <a:endCxn id="142" idx="3"/>
          </p:cNvCxnSpPr>
          <p:nvPr/>
        </p:nvCxnSpPr>
        <p:spPr>
          <a:xfrm rot="10800000">
            <a:off x="4201788" y="4466125"/>
            <a:ext cx="801000" cy="0"/>
          </a:xfrm>
          <a:prstGeom prst="straightConnector1">
            <a:avLst/>
          </a:prstGeom>
          <a:noFill/>
          <a:ln cap="flat" cmpd="sng" w="9525">
            <a:solidFill>
              <a:schemeClr val="dk2"/>
            </a:solidFill>
            <a:prstDash val="solid"/>
            <a:round/>
            <a:headEnd len="sm" w="sm" type="none"/>
            <a:tailEnd len="med" w="med" type="triangle"/>
          </a:ln>
        </p:spPr>
      </p:cxnSp>
      <p:cxnSp>
        <p:nvCxnSpPr>
          <p:cNvPr id="145" name="Google Shape;145;gefbeba6a1c_0_509"/>
          <p:cNvCxnSpPr>
            <a:stCxn id="138" idx="3"/>
            <a:endCxn id="141" idx="1"/>
          </p:cNvCxnSpPr>
          <p:nvPr/>
        </p:nvCxnSpPr>
        <p:spPr>
          <a:xfrm>
            <a:off x="7189188" y="4466125"/>
            <a:ext cx="801000" cy="0"/>
          </a:xfrm>
          <a:prstGeom prst="straightConnector1">
            <a:avLst/>
          </a:prstGeom>
          <a:noFill/>
          <a:ln cap="flat" cmpd="sng" w="9525">
            <a:solidFill>
              <a:schemeClr val="dk2"/>
            </a:solidFill>
            <a:prstDash val="solid"/>
            <a:round/>
            <a:headEnd len="sm" w="sm" type="none"/>
            <a:tailEnd len="med" w="med" type="triangle"/>
          </a:ln>
        </p:spPr>
      </p:cxnSp>
      <p:cxnSp>
        <p:nvCxnSpPr>
          <p:cNvPr id="146" name="Google Shape;146;gefbeba6a1c_0_509"/>
          <p:cNvCxnSpPr>
            <a:stCxn id="138" idx="2"/>
            <a:endCxn id="140" idx="0"/>
          </p:cNvCxnSpPr>
          <p:nvPr/>
        </p:nvCxnSpPr>
        <p:spPr>
          <a:xfrm>
            <a:off x="6095988" y="4821175"/>
            <a:ext cx="0" cy="169800"/>
          </a:xfrm>
          <a:prstGeom prst="straightConnector1">
            <a:avLst/>
          </a:prstGeom>
          <a:noFill/>
          <a:ln cap="flat" cmpd="sng" w="9525">
            <a:solidFill>
              <a:schemeClr val="dk2"/>
            </a:solidFill>
            <a:prstDash val="solid"/>
            <a:round/>
            <a:headEnd len="sm" w="sm" type="none"/>
            <a:tailEnd len="med" w="med" type="triangle"/>
          </a:ln>
        </p:spPr>
      </p:cxn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g175b9171bdc_0_0"/>
          <p:cNvSpPr txBox="1"/>
          <p:nvPr>
            <p:ph idx="1" type="body"/>
          </p:nvPr>
        </p:nvSpPr>
        <p:spPr>
          <a:xfrm>
            <a:off x="381000" y="1017275"/>
            <a:ext cx="11430000" cy="5700600"/>
          </a:xfrm>
          <a:prstGeom prst="rect">
            <a:avLst/>
          </a:prstGeom>
        </p:spPr>
        <p:txBody>
          <a:bodyPr anchorCtr="0" anchor="t" bIns="45700" lIns="91425" spcFirstLastPara="1" rIns="91425" wrap="square" tIns="45700">
            <a:normAutofit lnSpcReduction="10000"/>
          </a:bodyPr>
          <a:lstStyle/>
          <a:p>
            <a:pPr indent="-342900" lvl="0" marL="457200" rtl="0" algn="l">
              <a:spcBef>
                <a:spcPts val="1000"/>
              </a:spcBef>
              <a:spcAft>
                <a:spcPts val="0"/>
              </a:spcAft>
              <a:buSzPts val="1800"/>
              <a:buChar char="•"/>
            </a:pPr>
            <a:r>
              <a:rPr b="1" lang="en-US"/>
              <a:t>Work as a backend and process Piazza data</a:t>
            </a:r>
            <a:endParaRPr b="1"/>
          </a:p>
          <a:p>
            <a:pPr indent="-342900" lvl="1" marL="914400" rtl="0" algn="l">
              <a:spcBef>
                <a:spcPts val="0"/>
              </a:spcBef>
              <a:spcAft>
                <a:spcPts val="0"/>
              </a:spcAft>
              <a:buSzPts val="1800"/>
              <a:buChar char="•"/>
            </a:pPr>
            <a:r>
              <a:rPr lang="en-US"/>
              <a:t>Cognitive Presence Modeling </a:t>
            </a:r>
            <a:r>
              <a:rPr i="1" lang="en-US"/>
              <a:t>(Already performed in Spring 2020)</a:t>
            </a:r>
            <a:endParaRPr i="1"/>
          </a:p>
          <a:p>
            <a:pPr indent="-342900" lvl="1" marL="914400" rtl="0" algn="l">
              <a:spcBef>
                <a:spcPts val="0"/>
              </a:spcBef>
              <a:spcAft>
                <a:spcPts val="0"/>
              </a:spcAft>
              <a:buSzPts val="1800"/>
              <a:buChar char="•"/>
            </a:pPr>
            <a:r>
              <a:rPr lang="en-US"/>
              <a:t>Topic Modeling </a:t>
            </a:r>
            <a:r>
              <a:rPr i="1" lang="en-US"/>
              <a:t>(Used LDA+Bert last semester, Experimenting with NMF)</a:t>
            </a:r>
            <a:endParaRPr/>
          </a:p>
          <a:p>
            <a:pPr indent="-342900" lvl="1" marL="914400" rtl="0" algn="l">
              <a:spcBef>
                <a:spcPts val="0"/>
              </a:spcBef>
              <a:spcAft>
                <a:spcPts val="0"/>
              </a:spcAft>
              <a:buSzPts val="1800"/>
              <a:buChar char="•"/>
            </a:pPr>
            <a:r>
              <a:rPr lang="en-US"/>
              <a:t>Aspect Based Sentiment Analysis</a:t>
            </a:r>
            <a:endParaRPr/>
          </a:p>
          <a:p>
            <a:pPr indent="0" lvl="0" marL="0" rtl="0" algn="l">
              <a:spcBef>
                <a:spcPts val="1000"/>
              </a:spcBef>
              <a:spcAft>
                <a:spcPts val="0"/>
              </a:spcAft>
              <a:buNone/>
            </a:pPr>
            <a:r>
              <a:t/>
            </a:r>
            <a:endParaRPr sz="100"/>
          </a:p>
          <a:p>
            <a:pPr indent="-342900" lvl="0" marL="457200" rtl="0" algn="l">
              <a:spcBef>
                <a:spcPts val="1000"/>
              </a:spcBef>
              <a:spcAft>
                <a:spcPts val="0"/>
              </a:spcAft>
              <a:buSzPts val="1800"/>
              <a:buChar char="•"/>
            </a:pPr>
            <a:r>
              <a:rPr b="1" lang="en-US"/>
              <a:t>Output these results on the dashboard for the professors to get a meaningful insight</a:t>
            </a:r>
            <a:endParaRPr b="1"/>
          </a:p>
          <a:p>
            <a:pPr indent="-342900" lvl="1" marL="914400" rtl="0" algn="l">
              <a:spcBef>
                <a:spcPts val="0"/>
              </a:spcBef>
              <a:spcAft>
                <a:spcPts val="0"/>
              </a:spcAft>
              <a:buSzPts val="1800"/>
              <a:buChar char="•"/>
            </a:pPr>
            <a:r>
              <a:rPr lang="en-US"/>
              <a:t>Create a pipeline</a:t>
            </a:r>
            <a:endParaRPr/>
          </a:p>
          <a:p>
            <a:pPr indent="-342900" lvl="1" marL="914400" rtl="0" algn="l">
              <a:spcBef>
                <a:spcPts val="0"/>
              </a:spcBef>
              <a:spcAft>
                <a:spcPts val="0"/>
              </a:spcAft>
              <a:buSzPts val="1800"/>
              <a:buChar char="•"/>
            </a:pPr>
            <a:r>
              <a:rPr lang="en-US"/>
              <a:t>Write a Python script that runs the Piazza data in real-time on the above models. </a:t>
            </a:r>
            <a:endParaRPr/>
          </a:p>
          <a:p>
            <a:pPr indent="0" lvl="0" marL="914400" rtl="0" algn="l">
              <a:spcBef>
                <a:spcPts val="1000"/>
              </a:spcBef>
              <a:spcAft>
                <a:spcPts val="0"/>
              </a:spcAft>
              <a:buNone/>
            </a:pPr>
            <a:r>
              <a:t/>
            </a:r>
            <a:endParaRPr sz="100"/>
          </a:p>
          <a:p>
            <a:pPr indent="-342900" lvl="0" marL="457200" rtl="0" algn="l">
              <a:spcBef>
                <a:spcPts val="1000"/>
              </a:spcBef>
              <a:spcAft>
                <a:spcPts val="0"/>
              </a:spcAft>
              <a:buSzPts val="1800"/>
              <a:buChar char="•"/>
            </a:pPr>
            <a:r>
              <a:rPr b="1" lang="en-US"/>
              <a:t>Piazza feature that would </a:t>
            </a:r>
            <a:r>
              <a:rPr b="1" lang="en-US"/>
              <a:t>match</a:t>
            </a:r>
            <a:r>
              <a:rPr b="1" lang="en-US"/>
              <a:t> piazza posts in real-time and provide TAs a list of responses to choose from.</a:t>
            </a:r>
            <a:endParaRPr b="1"/>
          </a:p>
          <a:p>
            <a:pPr indent="-342900" lvl="1" marL="914400" rtl="0" algn="l">
              <a:spcBef>
                <a:spcPts val="0"/>
              </a:spcBef>
              <a:spcAft>
                <a:spcPts val="0"/>
              </a:spcAft>
              <a:buSzPts val="1800"/>
              <a:buChar char="•"/>
            </a:pPr>
            <a:r>
              <a:rPr lang="en-US"/>
              <a:t>Creating a list of topics and matching the top responses for the real-time data. </a:t>
            </a:r>
            <a:endParaRPr/>
          </a:p>
          <a:p>
            <a:pPr indent="-342900" lvl="1" marL="914400" rtl="0" algn="l">
              <a:spcBef>
                <a:spcPts val="0"/>
              </a:spcBef>
              <a:spcAft>
                <a:spcPts val="0"/>
              </a:spcAft>
              <a:buSzPts val="1800"/>
              <a:buChar char="•"/>
            </a:pPr>
            <a:r>
              <a:rPr lang="en-US"/>
              <a:t>Separate Q/A</a:t>
            </a:r>
            <a:endParaRPr/>
          </a:p>
          <a:p>
            <a:pPr indent="-342900" lvl="1" marL="914400" rtl="0" algn="l">
              <a:spcBef>
                <a:spcPts val="0"/>
              </a:spcBef>
              <a:spcAft>
                <a:spcPts val="0"/>
              </a:spcAft>
              <a:buSzPts val="1800"/>
              <a:buChar char="•"/>
            </a:pPr>
            <a:r>
              <a:rPr lang="en-US"/>
              <a:t>Write a Python Script to automate this process</a:t>
            </a:r>
            <a:endParaRPr/>
          </a:p>
        </p:txBody>
      </p:sp>
      <p:sp>
        <p:nvSpPr>
          <p:cNvPr id="152" name="Google Shape;152;g175b9171bdc_0_0"/>
          <p:cNvSpPr txBox="1"/>
          <p:nvPr>
            <p:ph type="title"/>
          </p:nvPr>
        </p:nvSpPr>
        <p:spPr>
          <a:xfrm>
            <a:off x="381000" y="-3"/>
            <a:ext cx="11430000" cy="10149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End </a:t>
            </a:r>
            <a:r>
              <a:rPr lang="en-US"/>
              <a:t>Goals </a:t>
            </a:r>
            <a:r>
              <a:rPr lang="en-US"/>
              <a:t>for</a:t>
            </a:r>
            <a:r>
              <a:rPr lang="en-US"/>
              <a:t> the semester</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g15e2f3f4d0a_0_5"/>
          <p:cNvSpPr txBox="1"/>
          <p:nvPr>
            <p:ph type="title"/>
          </p:nvPr>
        </p:nvSpPr>
        <p:spPr>
          <a:xfrm>
            <a:off x="381000" y="200722"/>
            <a:ext cx="11430000" cy="10149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SzPts val="1800"/>
              <a:buNone/>
            </a:pPr>
            <a:r>
              <a:rPr lang="en-US"/>
              <a:t>Data Science </a:t>
            </a:r>
            <a:endParaRPr/>
          </a:p>
        </p:txBody>
      </p:sp>
      <p:pic>
        <p:nvPicPr>
          <p:cNvPr id="158" name="Google Shape;158;g15e2f3f4d0a_0_5"/>
          <p:cNvPicPr preferRelativeResize="0"/>
          <p:nvPr/>
        </p:nvPicPr>
        <p:blipFill rotWithShape="1">
          <a:blip r:embed="rId3">
            <a:alphaModFix/>
          </a:blip>
          <a:srcRect b="0" l="0" r="0" t="0"/>
          <a:stretch/>
        </p:blipFill>
        <p:spPr>
          <a:xfrm>
            <a:off x="3102886" y="2164097"/>
            <a:ext cx="6478330" cy="2701300"/>
          </a:xfrm>
          <a:prstGeom prst="rect">
            <a:avLst/>
          </a:prstGeom>
          <a:noFill/>
          <a:ln>
            <a:noFill/>
          </a:ln>
        </p:spPr>
      </p:pic>
      <p:pic>
        <p:nvPicPr>
          <p:cNvPr id="159" name="Google Shape;159;g15e2f3f4d0a_0_5"/>
          <p:cNvPicPr preferRelativeResize="0"/>
          <p:nvPr/>
        </p:nvPicPr>
        <p:blipFill rotWithShape="1">
          <a:blip r:embed="rId4">
            <a:alphaModFix/>
          </a:blip>
          <a:srcRect b="0" l="0" r="0" t="0"/>
          <a:stretch/>
        </p:blipFill>
        <p:spPr>
          <a:xfrm>
            <a:off x="387338" y="1504775"/>
            <a:ext cx="6918666" cy="4585826"/>
          </a:xfrm>
          <a:prstGeom prst="rect">
            <a:avLst/>
          </a:prstGeom>
          <a:noFill/>
          <a:ln>
            <a:noFill/>
          </a:ln>
        </p:spPr>
      </p:pic>
      <p:pic>
        <p:nvPicPr>
          <p:cNvPr id="160" name="Google Shape;160;g15e2f3f4d0a_0_5"/>
          <p:cNvPicPr preferRelativeResize="0"/>
          <p:nvPr/>
        </p:nvPicPr>
        <p:blipFill rotWithShape="1">
          <a:blip r:embed="rId5">
            <a:alphaModFix/>
          </a:blip>
          <a:srcRect b="0" l="0" r="0" t="0"/>
          <a:stretch/>
        </p:blipFill>
        <p:spPr>
          <a:xfrm>
            <a:off x="8290078" y="2380913"/>
            <a:ext cx="2230334" cy="2178066"/>
          </a:xfrm>
          <a:prstGeom prst="rect">
            <a:avLst/>
          </a:prstGeom>
          <a:noFill/>
          <a:ln>
            <a:noFill/>
          </a:ln>
        </p:spPr>
      </p:pic>
      <p:pic>
        <p:nvPicPr>
          <p:cNvPr id="161" name="Google Shape;161;g15e2f3f4d0a_0_5"/>
          <p:cNvPicPr preferRelativeResize="0"/>
          <p:nvPr/>
        </p:nvPicPr>
        <p:blipFill rotWithShape="1">
          <a:blip r:embed="rId6">
            <a:alphaModFix/>
          </a:blip>
          <a:srcRect b="0" l="0" r="0" t="0"/>
          <a:stretch/>
        </p:blipFill>
        <p:spPr>
          <a:xfrm>
            <a:off x="6543666" y="2756715"/>
            <a:ext cx="1434352" cy="1418297"/>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65" name="Shape 165"/>
        <p:cNvGrpSpPr/>
        <p:nvPr/>
      </p:nvGrpSpPr>
      <p:grpSpPr>
        <a:xfrm>
          <a:off x="0" y="0"/>
          <a:ext cx="0" cy="0"/>
          <a:chOff x="0" y="0"/>
          <a:chExt cx="0" cy="0"/>
        </a:xfrm>
      </p:grpSpPr>
      <p:sp>
        <p:nvSpPr>
          <p:cNvPr id="166" name="Google Shape;166;g175b9171bdc_0_26"/>
          <p:cNvSpPr txBox="1"/>
          <p:nvPr>
            <p:ph type="title"/>
          </p:nvPr>
        </p:nvSpPr>
        <p:spPr>
          <a:xfrm>
            <a:off x="381000" y="200722"/>
            <a:ext cx="11430000" cy="10149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Cognitive Presence and Topic Modeling</a:t>
            </a:r>
            <a:endParaRPr/>
          </a:p>
        </p:txBody>
      </p:sp>
      <p:sp>
        <p:nvSpPr>
          <p:cNvPr id="167" name="Google Shape;167;g175b9171bdc_0_26"/>
          <p:cNvSpPr txBox="1"/>
          <p:nvPr/>
        </p:nvSpPr>
        <p:spPr>
          <a:xfrm>
            <a:off x="568575" y="1215626"/>
            <a:ext cx="82134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800"/>
              <a:buFont typeface="Arial"/>
              <a:buNone/>
            </a:pPr>
            <a:r>
              <a:rPr b="1" lang="en-US" sz="1800">
                <a:solidFill>
                  <a:schemeClr val="dk1"/>
                </a:solidFill>
                <a:latin typeface="Proxima Nova"/>
                <a:ea typeface="Proxima Nova"/>
                <a:cs typeface="Proxima Nova"/>
                <a:sym typeface="Proxima Nova"/>
              </a:rPr>
              <a:t>Why Cognitive Presence modeling?  </a:t>
            </a:r>
            <a:endParaRPr b="0" i="0" sz="1800" u="none" cap="none" strike="noStrike">
              <a:solidFill>
                <a:schemeClr val="dk1"/>
              </a:solidFill>
              <a:latin typeface="Proxima Nova"/>
              <a:ea typeface="Proxima Nova"/>
              <a:cs typeface="Proxima Nova"/>
              <a:sym typeface="Proxima Nova"/>
            </a:endParaRPr>
          </a:p>
        </p:txBody>
      </p:sp>
      <p:sp>
        <p:nvSpPr>
          <p:cNvPr id="168" name="Google Shape;168;g175b9171bdc_0_26"/>
          <p:cNvSpPr txBox="1"/>
          <p:nvPr/>
        </p:nvSpPr>
        <p:spPr>
          <a:xfrm>
            <a:off x="612775" y="3791051"/>
            <a:ext cx="82134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800"/>
              <a:buFont typeface="Arial"/>
              <a:buNone/>
            </a:pPr>
            <a:r>
              <a:rPr b="1" lang="en-US" sz="1800">
                <a:solidFill>
                  <a:schemeClr val="dk1"/>
                </a:solidFill>
                <a:latin typeface="Proxima Nova"/>
                <a:ea typeface="Proxima Nova"/>
                <a:cs typeface="Proxima Nova"/>
                <a:sym typeface="Proxima Nova"/>
              </a:rPr>
              <a:t>Why Topic modeling?  </a:t>
            </a:r>
            <a:endParaRPr b="0" i="0" sz="1800" u="none" cap="none" strike="noStrike">
              <a:solidFill>
                <a:schemeClr val="dk1"/>
              </a:solidFill>
              <a:latin typeface="Proxima Nova"/>
              <a:ea typeface="Proxima Nova"/>
              <a:cs typeface="Proxima Nova"/>
              <a:sym typeface="Proxima Nova"/>
            </a:endParaRPr>
          </a:p>
        </p:txBody>
      </p:sp>
      <p:sp>
        <p:nvSpPr>
          <p:cNvPr id="169" name="Google Shape;169;g175b9171bdc_0_26"/>
          <p:cNvSpPr txBox="1"/>
          <p:nvPr/>
        </p:nvSpPr>
        <p:spPr>
          <a:xfrm>
            <a:off x="800600" y="1677325"/>
            <a:ext cx="6230700" cy="15699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SzPts val="1800"/>
              <a:buFont typeface="Proxima Nova"/>
              <a:buChar char="●"/>
            </a:pPr>
            <a:r>
              <a:rPr lang="en-US" sz="1800">
                <a:latin typeface="Proxima Nova"/>
                <a:ea typeface="Proxima Nova"/>
                <a:cs typeface="Proxima Nova"/>
                <a:sym typeface="Proxima Nova"/>
              </a:rPr>
              <a:t>It is an important indicator of quality of an online learning experience</a:t>
            </a:r>
            <a:r>
              <a:rPr lang="en-US" sz="1800">
                <a:latin typeface="Proxima Nova"/>
                <a:ea typeface="Proxima Nova"/>
                <a:cs typeface="Proxima Nova"/>
                <a:sym typeface="Proxima Nova"/>
              </a:rPr>
              <a:t> </a:t>
            </a:r>
            <a:endParaRPr sz="1800">
              <a:latin typeface="Proxima Nova"/>
              <a:ea typeface="Proxima Nova"/>
              <a:cs typeface="Proxima Nova"/>
              <a:sym typeface="Proxima Nova"/>
            </a:endParaRPr>
          </a:p>
          <a:p>
            <a:pPr indent="-342900" lvl="0" marL="457200" rtl="0" algn="l">
              <a:spcBef>
                <a:spcPts val="0"/>
              </a:spcBef>
              <a:spcAft>
                <a:spcPts val="0"/>
              </a:spcAft>
              <a:buSzPts val="1800"/>
              <a:buFont typeface="Proxima Nova"/>
              <a:buChar char="●"/>
            </a:pPr>
            <a:r>
              <a:rPr lang="en-US" sz="1800">
                <a:latin typeface="Proxima Nova"/>
                <a:ea typeface="Proxima Nova"/>
                <a:cs typeface="Proxima Nova"/>
                <a:sym typeface="Proxima Nova"/>
              </a:rPr>
              <a:t>How well a student is performing in the online course based on his/her comment in Piazza</a:t>
            </a:r>
            <a:endParaRPr sz="1800">
              <a:latin typeface="Proxima Nova"/>
              <a:ea typeface="Proxima Nova"/>
              <a:cs typeface="Proxima Nova"/>
              <a:sym typeface="Proxima Nova"/>
            </a:endParaRPr>
          </a:p>
          <a:p>
            <a:pPr indent="0" lvl="0" marL="0" rtl="0" algn="l">
              <a:spcBef>
                <a:spcPts val="0"/>
              </a:spcBef>
              <a:spcAft>
                <a:spcPts val="0"/>
              </a:spcAft>
              <a:buNone/>
            </a:pPr>
            <a:r>
              <a:t/>
            </a:r>
            <a:endParaRPr sz="1800">
              <a:latin typeface="Proxima Nova"/>
              <a:ea typeface="Proxima Nova"/>
              <a:cs typeface="Proxima Nova"/>
              <a:sym typeface="Proxima Nova"/>
            </a:endParaRPr>
          </a:p>
        </p:txBody>
      </p:sp>
      <p:sp>
        <p:nvSpPr>
          <p:cNvPr id="170" name="Google Shape;170;g175b9171bdc_0_26"/>
          <p:cNvSpPr txBox="1"/>
          <p:nvPr/>
        </p:nvSpPr>
        <p:spPr>
          <a:xfrm>
            <a:off x="800600" y="4490700"/>
            <a:ext cx="8622000" cy="12930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SzPts val="1800"/>
              <a:buFont typeface="Proxima Nova"/>
              <a:buChar char="●"/>
            </a:pPr>
            <a:r>
              <a:rPr lang="en-US" sz="1800">
                <a:latin typeface="Proxima Nova"/>
                <a:ea typeface="Proxima Nova"/>
                <a:cs typeface="Proxima Nova"/>
                <a:sym typeface="Proxima Nova"/>
              </a:rPr>
              <a:t>Gives insights on which topics students are discussing the most on Piazza</a:t>
            </a:r>
            <a:endParaRPr sz="1800">
              <a:latin typeface="Proxima Nova"/>
              <a:ea typeface="Proxima Nova"/>
              <a:cs typeface="Proxima Nova"/>
              <a:sym typeface="Proxima Nova"/>
            </a:endParaRPr>
          </a:p>
          <a:p>
            <a:pPr indent="-342900" lvl="1" marL="914400" rtl="0" algn="l">
              <a:spcBef>
                <a:spcPts val="0"/>
              </a:spcBef>
              <a:spcAft>
                <a:spcPts val="0"/>
              </a:spcAft>
              <a:buSzPts val="1800"/>
              <a:buFont typeface="Proxima Nova"/>
              <a:buChar char="○"/>
            </a:pPr>
            <a:r>
              <a:rPr lang="en-US" sz="1800">
                <a:latin typeface="Proxima Nova"/>
                <a:ea typeface="Proxima Nova"/>
                <a:cs typeface="Proxima Nova"/>
                <a:sym typeface="Proxima Nova"/>
              </a:rPr>
              <a:t>confusing questions &gt; feedback for the lecture &gt; better education</a:t>
            </a:r>
            <a:endParaRPr sz="1800">
              <a:latin typeface="Proxima Nova"/>
              <a:ea typeface="Proxima Nova"/>
              <a:cs typeface="Proxima Nova"/>
              <a:sym typeface="Proxima Nova"/>
            </a:endParaRPr>
          </a:p>
          <a:p>
            <a:pPr indent="-342900" lvl="0" marL="457200" rtl="0" algn="l">
              <a:spcBef>
                <a:spcPts val="0"/>
              </a:spcBef>
              <a:spcAft>
                <a:spcPts val="0"/>
              </a:spcAft>
              <a:buSzPts val="1800"/>
              <a:buFont typeface="Proxima Nova"/>
              <a:buChar char="●"/>
            </a:pPr>
            <a:r>
              <a:rPr lang="en-US" sz="1800">
                <a:latin typeface="Proxima Nova"/>
                <a:ea typeface="Proxima Nova"/>
                <a:cs typeface="Proxima Nova"/>
                <a:sym typeface="Proxima Nova"/>
              </a:rPr>
              <a:t>Potentially matching similar or repeated questions for corresponding topic </a:t>
            </a:r>
            <a:r>
              <a:rPr lang="en-US" sz="1800">
                <a:latin typeface="Proxima Nova"/>
                <a:ea typeface="Proxima Nova"/>
                <a:cs typeface="Proxima Nova"/>
                <a:sym typeface="Proxima Nova"/>
              </a:rPr>
              <a:t>score </a:t>
            </a:r>
            <a:r>
              <a:rPr lang="en-US" sz="1800">
                <a:latin typeface="Proxima Nova"/>
                <a:ea typeface="Proxima Nova"/>
                <a:cs typeface="Proxima Nova"/>
                <a:sym typeface="Proxima Nova"/>
              </a:rPr>
              <a:t>distribution (for the future work)</a:t>
            </a:r>
            <a:endParaRPr sz="1800">
              <a:latin typeface="Proxima Nova"/>
              <a:ea typeface="Proxima Nova"/>
              <a:cs typeface="Proxima Nova"/>
              <a:sym typeface="Proxima Nova"/>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g15e2f3f4d0a_0_12"/>
          <p:cNvSpPr txBox="1"/>
          <p:nvPr>
            <p:ph idx="1" type="body"/>
          </p:nvPr>
        </p:nvSpPr>
        <p:spPr>
          <a:xfrm>
            <a:off x="381000" y="1215482"/>
            <a:ext cx="11430000" cy="923700"/>
          </a:xfrm>
          <a:prstGeom prst="rect">
            <a:avLst/>
          </a:prstGeom>
          <a:noFill/>
          <a:ln>
            <a:noFill/>
          </a:ln>
        </p:spPr>
        <p:txBody>
          <a:bodyPr anchorCtr="0" anchor="t" bIns="45700" lIns="91425" spcFirstLastPara="1" rIns="91425" wrap="square" tIns="45700">
            <a:normAutofit/>
          </a:bodyPr>
          <a:lstStyle/>
          <a:p>
            <a:pPr indent="-342900" lvl="0" marL="457200" rtl="0" algn="l">
              <a:lnSpc>
                <a:spcPct val="100000"/>
              </a:lnSpc>
              <a:spcBef>
                <a:spcPts val="0"/>
              </a:spcBef>
              <a:spcAft>
                <a:spcPts val="0"/>
              </a:spcAft>
              <a:buSzPts val="1800"/>
              <a:buFont typeface="Proxima Nova"/>
              <a:buChar char="•"/>
            </a:pPr>
            <a:r>
              <a:rPr lang="en-US" sz="1800">
                <a:latin typeface="Proxima Nova"/>
                <a:ea typeface="Proxima Nova"/>
                <a:cs typeface="Proxima Nova"/>
                <a:sym typeface="Proxima Nova"/>
              </a:rPr>
              <a:t>A machine learning task that identifies and assigns sentiment to aspects, features, and topics that it has categorized in the body of data</a:t>
            </a:r>
            <a:endParaRPr sz="1800">
              <a:latin typeface="Proxima Nova"/>
              <a:ea typeface="Proxima Nova"/>
              <a:cs typeface="Proxima Nova"/>
              <a:sym typeface="Proxima Nova"/>
            </a:endParaRPr>
          </a:p>
        </p:txBody>
      </p:sp>
      <p:sp>
        <p:nvSpPr>
          <p:cNvPr id="176" name="Google Shape;176;g15e2f3f4d0a_0_12"/>
          <p:cNvSpPr txBox="1"/>
          <p:nvPr>
            <p:ph type="title"/>
          </p:nvPr>
        </p:nvSpPr>
        <p:spPr>
          <a:xfrm>
            <a:off x="381000" y="200722"/>
            <a:ext cx="11430000" cy="10149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rPr lang="en-US"/>
              <a:t>Aspect-based Sentiment Analysis</a:t>
            </a:r>
            <a:endParaRPr/>
          </a:p>
        </p:txBody>
      </p:sp>
      <p:sp>
        <p:nvSpPr>
          <p:cNvPr id="177" name="Google Shape;177;g15e2f3f4d0a_0_12"/>
          <p:cNvSpPr txBox="1"/>
          <p:nvPr/>
        </p:nvSpPr>
        <p:spPr>
          <a:xfrm>
            <a:off x="1148475" y="2157375"/>
            <a:ext cx="82134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800"/>
              <a:buFont typeface="Arial"/>
              <a:buNone/>
            </a:pPr>
            <a:r>
              <a:rPr b="1" i="0" lang="en-US" sz="1800" u="none" cap="none" strike="noStrike">
                <a:solidFill>
                  <a:schemeClr val="dk1"/>
                </a:solidFill>
                <a:latin typeface="Proxima Nova"/>
                <a:ea typeface="Proxima Nova"/>
                <a:cs typeface="Proxima Nova"/>
                <a:sym typeface="Proxima Nova"/>
              </a:rPr>
              <a:t>Text</a:t>
            </a:r>
            <a:r>
              <a:rPr b="0" i="0" lang="en-US" sz="1800" u="none" cap="none" strike="noStrike">
                <a:solidFill>
                  <a:schemeClr val="dk1"/>
                </a:solidFill>
                <a:latin typeface="Proxima Nova"/>
                <a:ea typeface="Proxima Nova"/>
                <a:cs typeface="Proxima Nova"/>
                <a:sym typeface="Proxima Nova"/>
              </a:rPr>
              <a:t>:</a:t>
            </a:r>
            <a:r>
              <a:rPr b="0" i="0" lang="en-US" u="none" cap="none" strike="noStrike">
                <a:solidFill>
                  <a:schemeClr val="dk1"/>
                </a:solidFill>
                <a:latin typeface="Proxima Nova"/>
                <a:ea typeface="Proxima Nova"/>
                <a:cs typeface="Proxima Nova"/>
                <a:sym typeface="Proxima Nova"/>
              </a:rPr>
              <a:t> </a:t>
            </a:r>
            <a:r>
              <a:rPr lang="en-US">
                <a:solidFill>
                  <a:srgbClr val="212121"/>
                </a:solidFill>
                <a:latin typeface="Roboto"/>
                <a:ea typeface="Roboto"/>
                <a:cs typeface="Roboto"/>
                <a:sym typeface="Roboto"/>
              </a:rPr>
              <a:t>for</a:t>
            </a:r>
            <a:r>
              <a:rPr lang="en-US">
                <a:solidFill>
                  <a:srgbClr val="212121"/>
                </a:solidFill>
                <a:highlight>
                  <a:srgbClr val="FFFFFF"/>
                </a:highlight>
                <a:latin typeface="Roboto"/>
                <a:ea typeface="Roboto"/>
                <a:cs typeface="Roboto"/>
                <a:sym typeface="Roboto"/>
              </a:rPr>
              <a:t> </a:t>
            </a:r>
            <a:r>
              <a:rPr lang="en-US">
                <a:solidFill>
                  <a:srgbClr val="212121"/>
                </a:solidFill>
                <a:latin typeface="Roboto"/>
                <a:ea typeface="Roboto"/>
                <a:cs typeface="Roboto"/>
                <a:sym typeface="Roboto"/>
              </a:rPr>
              <a:t>some</a:t>
            </a:r>
            <a:r>
              <a:rPr lang="en-US">
                <a:solidFill>
                  <a:srgbClr val="212121"/>
                </a:solidFill>
                <a:highlight>
                  <a:srgbClr val="FFFFFF"/>
                </a:highlight>
                <a:latin typeface="Roboto"/>
                <a:ea typeface="Roboto"/>
                <a:cs typeface="Roboto"/>
                <a:sym typeface="Roboto"/>
              </a:rPr>
              <a:t> </a:t>
            </a:r>
            <a:r>
              <a:rPr lang="en-US">
                <a:solidFill>
                  <a:srgbClr val="212121"/>
                </a:solidFill>
                <a:latin typeface="Roboto"/>
                <a:ea typeface="Roboto"/>
                <a:cs typeface="Roboto"/>
                <a:sym typeface="Roboto"/>
              </a:rPr>
              <a:t>reason</a:t>
            </a:r>
            <a:r>
              <a:rPr lang="en-US">
                <a:solidFill>
                  <a:srgbClr val="212121"/>
                </a:solidFill>
                <a:highlight>
                  <a:srgbClr val="FFFFFF"/>
                </a:highlight>
                <a:latin typeface="Roboto"/>
                <a:ea typeface="Roboto"/>
                <a:cs typeface="Roboto"/>
                <a:sym typeface="Roboto"/>
              </a:rPr>
              <a:t> </a:t>
            </a:r>
            <a:r>
              <a:rPr lang="en-US">
                <a:solidFill>
                  <a:srgbClr val="212121"/>
                </a:solidFill>
                <a:latin typeface="Roboto"/>
                <a:ea typeface="Roboto"/>
                <a:cs typeface="Roboto"/>
                <a:sym typeface="Roboto"/>
              </a:rPr>
              <a:t>from</a:t>
            </a:r>
            <a:r>
              <a:rPr lang="en-US">
                <a:solidFill>
                  <a:srgbClr val="212121"/>
                </a:solidFill>
                <a:highlight>
                  <a:srgbClr val="FFFFFF"/>
                </a:highlight>
                <a:latin typeface="Roboto"/>
                <a:ea typeface="Roboto"/>
                <a:cs typeface="Roboto"/>
                <a:sym typeface="Roboto"/>
              </a:rPr>
              <a:t> </a:t>
            </a:r>
            <a:r>
              <a:rPr lang="en-US">
                <a:solidFill>
                  <a:srgbClr val="212121"/>
                </a:solidFill>
                <a:latin typeface="Roboto"/>
                <a:ea typeface="Roboto"/>
                <a:cs typeface="Roboto"/>
                <a:sym typeface="Roboto"/>
              </a:rPr>
              <a:t>my</a:t>
            </a:r>
            <a:r>
              <a:rPr lang="en-US">
                <a:solidFill>
                  <a:srgbClr val="212121"/>
                </a:solidFill>
                <a:highlight>
                  <a:srgbClr val="FFFFFF"/>
                </a:highlight>
                <a:latin typeface="Roboto"/>
                <a:ea typeface="Roboto"/>
                <a:cs typeface="Roboto"/>
                <a:sym typeface="Roboto"/>
              </a:rPr>
              <a:t> </a:t>
            </a:r>
            <a:r>
              <a:rPr lang="en-US">
                <a:solidFill>
                  <a:srgbClr val="212121"/>
                </a:solidFill>
                <a:latin typeface="Roboto"/>
                <a:ea typeface="Roboto"/>
                <a:cs typeface="Roboto"/>
                <a:sym typeface="Roboto"/>
              </a:rPr>
              <a:t>end</a:t>
            </a:r>
            <a:r>
              <a:rPr lang="en-US">
                <a:solidFill>
                  <a:srgbClr val="212121"/>
                </a:solidFill>
                <a:highlight>
                  <a:srgbClr val="FFFFFF"/>
                </a:highlight>
                <a:latin typeface="Roboto"/>
                <a:ea typeface="Roboto"/>
                <a:cs typeface="Roboto"/>
                <a:sym typeface="Roboto"/>
              </a:rPr>
              <a:t> </a:t>
            </a:r>
            <a:r>
              <a:rPr lang="en-US">
                <a:solidFill>
                  <a:srgbClr val="212121"/>
                </a:solidFill>
                <a:latin typeface="Roboto"/>
                <a:ea typeface="Roboto"/>
                <a:cs typeface="Roboto"/>
                <a:sym typeface="Roboto"/>
              </a:rPr>
              <a:t>the</a:t>
            </a:r>
            <a:r>
              <a:rPr lang="en-US">
                <a:solidFill>
                  <a:srgbClr val="212121"/>
                </a:solidFill>
                <a:highlight>
                  <a:srgbClr val="FFFFFF"/>
                </a:highlight>
                <a:latin typeface="Roboto"/>
                <a:ea typeface="Roboto"/>
                <a:cs typeface="Roboto"/>
                <a:sym typeface="Roboto"/>
              </a:rPr>
              <a:t> </a:t>
            </a:r>
            <a:r>
              <a:rPr lang="en-US">
                <a:solidFill>
                  <a:srgbClr val="212121"/>
                </a:solidFill>
                <a:latin typeface="Roboto"/>
                <a:ea typeface="Roboto"/>
                <a:cs typeface="Roboto"/>
                <a:sym typeface="Roboto"/>
              </a:rPr>
              <a:t>'</a:t>
            </a:r>
            <a:r>
              <a:rPr lang="en-US">
                <a:solidFill>
                  <a:srgbClr val="212121"/>
                </a:solidFill>
                <a:highlight>
                  <a:srgbClr val="FFFFFF"/>
                </a:highlight>
                <a:latin typeface="Roboto"/>
                <a:ea typeface="Roboto"/>
                <a:cs typeface="Roboto"/>
                <a:sym typeface="Roboto"/>
              </a:rPr>
              <a:t> </a:t>
            </a:r>
            <a:r>
              <a:rPr lang="en-US">
                <a:solidFill>
                  <a:srgbClr val="212121"/>
                </a:solidFill>
                <a:latin typeface="Roboto"/>
                <a:ea typeface="Roboto"/>
                <a:cs typeface="Roboto"/>
                <a:sym typeface="Roboto"/>
              </a:rPr>
              <a:t>gradescope</a:t>
            </a:r>
            <a:r>
              <a:rPr lang="en-US">
                <a:solidFill>
                  <a:srgbClr val="212121"/>
                </a:solidFill>
                <a:highlight>
                  <a:srgbClr val="FFFFFF"/>
                </a:highlight>
                <a:latin typeface="Roboto"/>
                <a:ea typeface="Roboto"/>
                <a:cs typeface="Roboto"/>
                <a:sym typeface="Roboto"/>
              </a:rPr>
              <a:t> </a:t>
            </a:r>
            <a:r>
              <a:rPr lang="en-US">
                <a:solidFill>
                  <a:srgbClr val="212121"/>
                </a:solidFill>
                <a:latin typeface="Roboto"/>
                <a:ea typeface="Roboto"/>
                <a:cs typeface="Roboto"/>
                <a:sym typeface="Roboto"/>
              </a:rPr>
              <a:t>'</a:t>
            </a:r>
            <a:r>
              <a:rPr lang="en-US">
                <a:solidFill>
                  <a:srgbClr val="212121"/>
                </a:solidFill>
                <a:highlight>
                  <a:srgbClr val="FFFFFF"/>
                </a:highlight>
                <a:latin typeface="Roboto"/>
                <a:ea typeface="Roboto"/>
                <a:cs typeface="Roboto"/>
                <a:sym typeface="Roboto"/>
              </a:rPr>
              <a:t> </a:t>
            </a:r>
            <a:r>
              <a:rPr lang="en-US">
                <a:solidFill>
                  <a:srgbClr val="212121"/>
                </a:solidFill>
                <a:latin typeface="Roboto"/>
                <a:ea typeface="Roboto"/>
                <a:cs typeface="Roboto"/>
                <a:sym typeface="Roboto"/>
              </a:rPr>
              <a:t>submission</a:t>
            </a:r>
            <a:r>
              <a:rPr lang="en-US">
                <a:solidFill>
                  <a:srgbClr val="212121"/>
                </a:solidFill>
                <a:highlight>
                  <a:srgbClr val="FFFFFF"/>
                </a:highlight>
                <a:latin typeface="Roboto"/>
                <a:ea typeface="Roboto"/>
                <a:cs typeface="Roboto"/>
                <a:sym typeface="Roboto"/>
              </a:rPr>
              <a:t> </a:t>
            </a:r>
            <a:r>
              <a:rPr lang="en-US">
                <a:solidFill>
                  <a:srgbClr val="212121"/>
                </a:solidFill>
                <a:latin typeface="Roboto"/>
                <a:ea typeface="Roboto"/>
                <a:cs typeface="Roboto"/>
                <a:sym typeface="Roboto"/>
              </a:rPr>
              <a:t>is</a:t>
            </a:r>
            <a:r>
              <a:rPr lang="en-US">
                <a:solidFill>
                  <a:srgbClr val="212121"/>
                </a:solidFill>
                <a:highlight>
                  <a:srgbClr val="FFFFFF"/>
                </a:highlight>
                <a:latin typeface="Roboto"/>
                <a:ea typeface="Roboto"/>
                <a:cs typeface="Roboto"/>
                <a:sym typeface="Roboto"/>
              </a:rPr>
              <a:t> </a:t>
            </a:r>
            <a:r>
              <a:rPr lang="en-US">
                <a:solidFill>
                  <a:srgbClr val="212121"/>
                </a:solidFill>
                <a:latin typeface="Roboto"/>
                <a:ea typeface="Roboto"/>
                <a:cs typeface="Roboto"/>
                <a:sym typeface="Roboto"/>
              </a:rPr>
              <a:t>still</a:t>
            </a:r>
            <a:r>
              <a:rPr lang="en-US">
                <a:solidFill>
                  <a:srgbClr val="212121"/>
                </a:solidFill>
                <a:highlight>
                  <a:srgbClr val="FFFFFF"/>
                </a:highlight>
                <a:latin typeface="Roboto"/>
                <a:ea typeface="Roboto"/>
                <a:cs typeface="Roboto"/>
                <a:sym typeface="Roboto"/>
              </a:rPr>
              <a:t> </a:t>
            </a:r>
            <a:r>
              <a:rPr lang="en-US">
                <a:solidFill>
                  <a:srgbClr val="212121"/>
                </a:solidFill>
                <a:latin typeface="Roboto"/>
                <a:ea typeface="Roboto"/>
                <a:cs typeface="Roboto"/>
                <a:sym typeface="Roboto"/>
              </a:rPr>
              <a:t>not</a:t>
            </a:r>
            <a:r>
              <a:rPr lang="en-US">
                <a:solidFill>
                  <a:srgbClr val="212121"/>
                </a:solidFill>
                <a:highlight>
                  <a:srgbClr val="FFFFFF"/>
                </a:highlight>
                <a:latin typeface="Roboto"/>
                <a:ea typeface="Roboto"/>
                <a:cs typeface="Roboto"/>
                <a:sym typeface="Roboto"/>
              </a:rPr>
              <a:t> </a:t>
            </a:r>
            <a:r>
              <a:rPr lang="en-US">
                <a:solidFill>
                  <a:srgbClr val="212121"/>
                </a:solidFill>
                <a:latin typeface="Roboto"/>
                <a:ea typeface="Roboto"/>
                <a:cs typeface="Roboto"/>
                <a:sym typeface="Roboto"/>
              </a:rPr>
              <a:t>happening</a:t>
            </a:r>
            <a:endParaRPr b="0" i="0" u="none" cap="none" strike="noStrike">
              <a:solidFill>
                <a:schemeClr val="dk1"/>
              </a:solidFill>
              <a:latin typeface="Proxima Nova"/>
              <a:ea typeface="Proxima Nova"/>
              <a:cs typeface="Proxima Nova"/>
              <a:sym typeface="Proxima Nova"/>
            </a:endParaRPr>
          </a:p>
        </p:txBody>
      </p:sp>
      <p:sp>
        <p:nvSpPr>
          <p:cNvPr id="178" name="Google Shape;178;g15e2f3f4d0a_0_12"/>
          <p:cNvSpPr txBox="1"/>
          <p:nvPr/>
        </p:nvSpPr>
        <p:spPr>
          <a:xfrm>
            <a:off x="1148475" y="2528675"/>
            <a:ext cx="82134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800"/>
              <a:buFont typeface="Arial"/>
              <a:buNone/>
            </a:pPr>
            <a:r>
              <a:rPr b="1" i="0" lang="en-US" sz="1800" u="none" cap="none" strike="noStrike">
                <a:solidFill>
                  <a:schemeClr val="dk1"/>
                </a:solidFill>
                <a:latin typeface="Proxima Nova"/>
                <a:ea typeface="Proxima Nova"/>
                <a:cs typeface="Proxima Nova"/>
                <a:sym typeface="Proxima Nova"/>
              </a:rPr>
              <a:t>Aspects</a:t>
            </a:r>
            <a:r>
              <a:rPr b="0" i="0" lang="en-US" sz="1800" u="none" cap="none" strike="noStrike">
                <a:solidFill>
                  <a:schemeClr val="dk1"/>
                </a:solidFill>
                <a:latin typeface="Proxima Nova"/>
                <a:ea typeface="Proxima Nova"/>
                <a:cs typeface="Proxima Nova"/>
                <a:sym typeface="Proxima Nova"/>
              </a:rPr>
              <a:t>: </a:t>
            </a:r>
            <a:r>
              <a:rPr lang="en-US" sz="1800">
                <a:solidFill>
                  <a:schemeClr val="dk1"/>
                </a:solidFill>
                <a:latin typeface="Proxima Nova"/>
                <a:ea typeface="Proxima Nova"/>
                <a:cs typeface="Proxima Nova"/>
                <a:sym typeface="Proxima Nova"/>
              </a:rPr>
              <a:t>[test, project, quiz, homework, gradescope, assignment]</a:t>
            </a:r>
            <a:endParaRPr b="0" i="0" sz="1800" u="none" cap="none" strike="noStrike">
              <a:solidFill>
                <a:schemeClr val="dk1"/>
              </a:solidFill>
              <a:latin typeface="Proxima Nova"/>
              <a:ea typeface="Proxima Nova"/>
              <a:cs typeface="Proxima Nova"/>
              <a:sym typeface="Proxima Nova"/>
            </a:endParaRPr>
          </a:p>
        </p:txBody>
      </p:sp>
      <p:sp>
        <p:nvSpPr>
          <p:cNvPr id="179" name="Google Shape;179;g15e2f3f4d0a_0_12"/>
          <p:cNvSpPr txBox="1"/>
          <p:nvPr/>
        </p:nvSpPr>
        <p:spPr>
          <a:xfrm>
            <a:off x="1148475" y="2900463"/>
            <a:ext cx="82134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800"/>
              <a:buFont typeface="Arial"/>
              <a:buNone/>
            </a:pPr>
            <a:r>
              <a:rPr b="1" i="0" lang="en-US" sz="1800" u="none" cap="none" strike="noStrike">
                <a:solidFill>
                  <a:schemeClr val="dk1"/>
                </a:solidFill>
                <a:latin typeface="Proxima Nova"/>
                <a:ea typeface="Proxima Nova"/>
                <a:cs typeface="Proxima Nova"/>
                <a:sym typeface="Proxima Nova"/>
              </a:rPr>
              <a:t>Output</a:t>
            </a:r>
            <a:r>
              <a:rPr b="0" i="0" lang="en-US" sz="1800" u="none" cap="none" strike="noStrike">
                <a:solidFill>
                  <a:schemeClr val="dk1"/>
                </a:solidFill>
                <a:latin typeface="Proxima Nova"/>
                <a:ea typeface="Proxima Nova"/>
                <a:cs typeface="Proxima Nova"/>
                <a:sym typeface="Proxima Nova"/>
              </a:rPr>
              <a:t>: neutral: 0.0</a:t>
            </a:r>
            <a:r>
              <a:rPr lang="en-US" sz="1800">
                <a:solidFill>
                  <a:schemeClr val="dk1"/>
                </a:solidFill>
                <a:latin typeface="Proxima Nova"/>
                <a:ea typeface="Proxima Nova"/>
                <a:cs typeface="Proxima Nova"/>
                <a:sym typeface="Proxima Nova"/>
              </a:rPr>
              <a:t>51</a:t>
            </a:r>
            <a:r>
              <a:rPr b="0" i="0" lang="en-US" sz="1800" u="none" cap="none" strike="noStrike">
                <a:solidFill>
                  <a:schemeClr val="dk1"/>
                </a:solidFill>
                <a:latin typeface="Proxima Nova"/>
                <a:ea typeface="Proxima Nova"/>
                <a:cs typeface="Proxima Nova"/>
                <a:sym typeface="Proxima Nova"/>
              </a:rPr>
              <a:t>, negative: 0.</a:t>
            </a:r>
            <a:r>
              <a:rPr lang="en-US" sz="1800">
                <a:solidFill>
                  <a:schemeClr val="dk1"/>
                </a:solidFill>
                <a:latin typeface="Proxima Nova"/>
                <a:ea typeface="Proxima Nova"/>
                <a:cs typeface="Proxima Nova"/>
                <a:sym typeface="Proxima Nova"/>
              </a:rPr>
              <a:t>932</a:t>
            </a:r>
            <a:r>
              <a:rPr b="0" i="0" lang="en-US" sz="1800" u="none" cap="none" strike="noStrike">
                <a:solidFill>
                  <a:schemeClr val="dk1"/>
                </a:solidFill>
                <a:latin typeface="Proxima Nova"/>
                <a:ea typeface="Proxima Nova"/>
                <a:cs typeface="Proxima Nova"/>
                <a:sym typeface="Proxima Nova"/>
              </a:rPr>
              <a:t>, positive: 0.0</a:t>
            </a:r>
            <a:r>
              <a:rPr lang="en-US" sz="1800">
                <a:solidFill>
                  <a:schemeClr val="dk1"/>
                </a:solidFill>
                <a:latin typeface="Proxima Nova"/>
                <a:ea typeface="Proxima Nova"/>
                <a:cs typeface="Proxima Nova"/>
                <a:sym typeface="Proxima Nova"/>
              </a:rPr>
              <a:t>18 for ‘gradescope’ aspect</a:t>
            </a:r>
            <a:endParaRPr sz="1800">
              <a:solidFill>
                <a:schemeClr val="dk1"/>
              </a:solidFill>
              <a:latin typeface="Proxima Nova"/>
              <a:ea typeface="Proxima Nova"/>
              <a:cs typeface="Proxima Nova"/>
              <a:sym typeface="Proxima Nova"/>
            </a:endParaRPr>
          </a:p>
        </p:txBody>
      </p:sp>
      <p:sp>
        <p:nvSpPr>
          <p:cNvPr id="180" name="Google Shape;180;g15e2f3f4d0a_0_12"/>
          <p:cNvSpPr txBox="1"/>
          <p:nvPr/>
        </p:nvSpPr>
        <p:spPr>
          <a:xfrm>
            <a:off x="644300" y="1783438"/>
            <a:ext cx="82134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800"/>
              <a:buFont typeface="Arial"/>
              <a:buNone/>
            </a:pPr>
            <a:r>
              <a:rPr b="1" i="0" lang="en-US" sz="1800" u="none" cap="none" strike="noStrike">
                <a:solidFill>
                  <a:schemeClr val="dk1"/>
                </a:solidFill>
                <a:latin typeface="Proxima Nova"/>
                <a:ea typeface="Proxima Nova"/>
                <a:cs typeface="Proxima Nova"/>
                <a:sym typeface="Proxima Nova"/>
              </a:rPr>
              <a:t>Example</a:t>
            </a:r>
            <a:endParaRPr b="0" i="0" sz="1800" u="none" cap="none" strike="noStrike">
              <a:solidFill>
                <a:schemeClr val="dk1"/>
              </a:solidFill>
              <a:latin typeface="Proxima Nova"/>
              <a:ea typeface="Proxima Nova"/>
              <a:cs typeface="Proxima Nova"/>
              <a:sym typeface="Proxima Nova"/>
            </a:endParaRPr>
          </a:p>
        </p:txBody>
      </p:sp>
      <p:pic>
        <p:nvPicPr>
          <p:cNvPr id="181" name="Google Shape;181;g15e2f3f4d0a_0_12"/>
          <p:cNvPicPr preferRelativeResize="0"/>
          <p:nvPr/>
        </p:nvPicPr>
        <p:blipFill rotWithShape="1">
          <a:blip r:embed="rId3">
            <a:alphaModFix/>
          </a:blip>
          <a:srcRect b="0" l="0" r="0" t="0"/>
          <a:stretch/>
        </p:blipFill>
        <p:spPr>
          <a:xfrm>
            <a:off x="9106025" y="1884427"/>
            <a:ext cx="2704975" cy="1913850"/>
          </a:xfrm>
          <a:prstGeom prst="rect">
            <a:avLst/>
          </a:prstGeom>
          <a:noFill/>
          <a:ln>
            <a:noFill/>
          </a:ln>
        </p:spPr>
      </p:pic>
      <p:sp>
        <p:nvSpPr>
          <p:cNvPr id="182" name="Google Shape;182;g15e2f3f4d0a_0_12"/>
          <p:cNvSpPr txBox="1"/>
          <p:nvPr/>
        </p:nvSpPr>
        <p:spPr>
          <a:xfrm>
            <a:off x="1276550" y="5084050"/>
            <a:ext cx="7701900" cy="10158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SzPts val="1800"/>
              <a:buFont typeface="Proxima Nova"/>
              <a:buChar char="●"/>
            </a:pPr>
            <a:r>
              <a:rPr lang="en-US" sz="1800">
                <a:latin typeface="Proxima Nova"/>
                <a:ea typeface="Proxima Nova"/>
                <a:cs typeface="Proxima Nova"/>
                <a:sym typeface="Proxima Nova"/>
              </a:rPr>
              <a:t>Using this modeling we can provide reasonable sentiment for aspects</a:t>
            </a:r>
            <a:endParaRPr sz="1800">
              <a:latin typeface="Proxima Nova"/>
              <a:ea typeface="Proxima Nova"/>
              <a:cs typeface="Proxima Nova"/>
              <a:sym typeface="Proxima Nova"/>
            </a:endParaRPr>
          </a:p>
          <a:p>
            <a:pPr indent="-342900" lvl="1" marL="914400" rtl="0" algn="l">
              <a:spcBef>
                <a:spcPts val="0"/>
              </a:spcBef>
              <a:spcAft>
                <a:spcPts val="0"/>
              </a:spcAft>
              <a:buSzPts val="1800"/>
              <a:buFont typeface="Proxima Nova"/>
              <a:buChar char="○"/>
            </a:pPr>
            <a:r>
              <a:rPr lang="en-US" sz="1800">
                <a:latin typeface="Proxima Nova"/>
                <a:ea typeface="Proxima Nova"/>
                <a:cs typeface="Proxima Nova"/>
                <a:sym typeface="Proxima Nova"/>
              </a:rPr>
              <a:t>student’s current circumstance for multiple aspects at once</a:t>
            </a:r>
            <a:endParaRPr sz="1800">
              <a:latin typeface="Proxima Nova"/>
              <a:ea typeface="Proxima Nova"/>
              <a:cs typeface="Proxima Nova"/>
              <a:sym typeface="Proxima Nova"/>
            </a:endParaRPr>
          </a:p>
          <a:p>
            <a:pPr indent="-342900" lvl="0" marL="457200" rtl="0" algn="l">
              <a:spcBef>
                <a:spcPts val="0"/>
              </a:spcBef>
              <a:spcAft>
                <a:spcPts val="0"/>
              </a:spcAft>
              <a:buSzPts val="1800"/>
              <a:buFont typeface="Proxima Nova"/>
              <a:buChar char="●"/>
            </a:pPr>
            <a:r>
              <a:rPr lang="en-US" sz="1800">
                <a:latin typeface="Proxima Nova"/>
                <a:ea typeface="Proxima Nova"/>
                <a:cs typeface="Proxima Nova"/>
                <a:sym typeface="Proxima Nova"/>
              </a:rPr>
              <a:t>For </a:t>
            </a:r>
            <a:r>
              <a:rPr lang="en-US" sz="1800">
                <a:latin typeface="Proxima Nova"/>
                <a:ea typeface="Proxima Nova"/>
                <a:cs typeface="Proxima Nova"/>
                <a:sym typeface="Proxima Nova"/>
              </a:rPr>
              <a:t>future</a:t>
            </a:r>
            <a:r>
              <a:rPr lang="en-US" sz="1800">
                <a:latin typeface="Proxima Nova"/>
                <a:ea typeface="Proxima Nova"/>
                <a:cs typeface="Proxima Nova"/>
                <a:sym typeface="Proxima Nova"/>
              </a:rPr>
              <a:t>, output from topic modeling &gt; aspects in ABSA</a:t>
            </a:r>
            <a:endParaRPr sz="1800">
              <a:latin typeface="Proxima Nova"/>
              <a:ea typeface="Proxima Nova"/>
              <a:cs typeface="Proxima Nova"/>
              <a:sym typeface="Proxima Nova"/>
            </a:endParaRPr>
          </a:p>
        </p:txBody>
      </p:sp>
      <p:sp>
        <p:nvSpPr>
          <p:cNvPr id="183" name="Google Shape;183;g15e2f3f4d0a_0_12"/>
          <p:cNvSpPr txBox="1"/>
          <p:nvPr/>
        </p:nvSpPr>
        <p:spPr>
          <a:xfrm>
            <a:off x="644300" y="4653626"/>
            <a:ext cx="82134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800"/>
              <a:buFont typeface="Arial"/>
              <a:buNone/>
            </a:pPr>
            <a:r>
              <a:rPr b="1" lang="en-US" sz="1800">
                <a:solidFill>
                  <a:schemeClr val="dk1"/>
                </a:solidFill>
                <a:latin typeface="Proxima Nova"/>
                <a:ea typeface="Proxima Nova"/>
                <a:cs typeface="Proxima Nova"/>
                <a:sym typeface="Proxima Nova"/>
              </a:rPr>
              <a:t>Why ABSA? </a:t>
            </a:r>
            <a:endParaRPr b="0" i="0" sz="1800" u="none" cap="none" strike="noStrike">
              <a:solidFill>
                <a:schemeClr val="dk1"/>
              </a:solidFill>
              <a:latin typeface="Proxima Nova"/>
              <a:ea typeface="Proxima Nova"/>
              <a:cs typeface="Proxima Nova"/>
              <a:sym typeface="Proxima Nova"/>
            </a:endParaRPr>
          </a:p>
        </p:txBody>
      </p:sp>
      <p:pic>
        <p:nvPicPr>
          <p:cNvPr id="184" name="Google Shape;184;g15e2f3f4d0a_0_12"/>
          <p:cNvPicPr preferRelativeResize="0"/>
          <p:nvPr/>
        </p:nvPicPr>
        <p:blipFill>
          <a:blip r:embed="rId4">
            <a:alphaModFix/>
          </a:blip>
          <a:stretch>
            <a:fillRect/>
          </a:stretch>
        </p:blipFill>
        <p:spPr>
          <a:xfrm>
            <a:off x="2492275" y="3362175"/>
            <a:ext cx="6486187" cy="12930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g15e2f3f4d0a_0_17"/>
          <p:cNvSpPr txBox="1"/>
          <p:nvPr>
            <p:ph type="title"/>
          </p:nvPr>
        </p:nvSpPr>
        <p:spPr>
          <a:xfrm>
            <a:off x="381000" y="200722"/>
            <a:ext cx="11430000" cy="10149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rPr lang="en-US"/>
              <a:t>Challenges</a:t>
            </a:r>
            <a:endParaRPr/>
          </a:p>
        </p:txBody>
      </p:sp>
      <p:pic>
        <p:nvPicPr>
          <p:cNvPr id="190" name="Google Shape;190;g15e2f3f4d0a_0_17"/>
          <p:cNvPicPr preferRelativeResize="0"/>
          <p:nvPr/>
        </p:nvPicPr>
        <p:blipFill>
          <a:blip r:embed="rId3">
            <a:alphaModFix/>
          </a:blip>
          <a:stretch>
            <a:fillRect/>
          </a:stretch>
        </p:blipFill>
        <p:spPr>
          <a:xfrm>
            <a:off x="10135594" y="3498938"/>
            <a:ext cx="943556" cy="872200"/>
          </a:xfrm>
          <a:prstGeom prst="rect">
            <a:avLst/>
          </a:prstGeom>
          <a:noFill/>
          <a:ln>
            <a:noFill/>
          </a:ln>
        </p:spPr>
      </p:pic>
      <p:pic>
        <p:nvPicPr>
          <p:cNvPr id="191" name="Google Shape;191;g15e2f3f4d0a_0_17"/>
          <p:cNvPicPr preferRelativeResize="0"/>
          <p:nvPr/>
        </p:nvPicPr>
        <p:blipFill>
          <a:blip r:embed="rId4">
            <a:alphaModFix/>
          </a:blip>
          <a:stretch>
            <a:fillRect/>
          </a:stretch>
        </p:blipFill>
        <p:spPr>
          <a:xfrm>
            <a:off x="1504250" y="3454275"/>
            <a:ext cx="6848773" cy="961525"/>
          </a:xfrm>
          <a:prstGeom prst="rect">
            <a:avLst/>
          </a:prstGeom>
          <a:noFill/>
          <a:ln>
            <a:noFill/>
          </a:ln>
        </p:spPr>
      </p:pic>
      <p:pic>
        <p:nvPicPr>
          <p:cNvPr id="192" name="Google Shape;192;g15e2f3f4d0a_0_17"/>
          <p:cNvPicPr preferRelativeResize="0"/>
          <p:nvPr/>
        </p:nvPicPr>
        <p:blipFill>
          <a:blip r:embed="rId5">
            <a:alphaModFix/>
          </a:blip>
          <a:stretch>
            <a:fillRect/>
          </a:stretch>
        </p:blipFill>
        <p:spPr>
          <a:xfrm>
            <a:off x="0" y="4518850"/>
            <a:ext cx="6306751" cy="1921800"/>
          </a:xfrm>
          <a:prstGeom prst="rect">
            <a:avLst/>
          </a:prstGeom>
          <a:noFill/>
          <a:ln>
            <a:noFill/>
          </a:ln>
        </p:spPr>
      </p:pic>
      <p:pic>
        <p:nvPicPr>
          <p:cNvPr id="193" name="Google Shape;193;g15e2f3f4d0a_0_17"/>
          <p:cNvPicPr preferRelativeResize="0"/>
          <p:nvPr/>
        </p:nvPicPr>
        <p:blipFill>
          <a:blip r:embed="rId6">
            <a:alphaModFix/>
          </a:blip>
          <a:stretch>
            <a:fillRect/>
          </a:stretch>
        </p:blipFill>
        <p:spPr>
          <a:xfrm>
            <a:off x="6746075" y="4433200"/>
            <a:ext cx="4770924" cy="1656675"/>
          </a:xfrm>
          <a:prstGeom prst="rect">
            <a:avLst/>
          </a:prstGeom>
          <a:noFill/>
          <a:ln>
            <a:noFill/>
          </a:ln>
        </p:spPr>
      </p:pic>
      <p:sp>
        <p:nvSpPr>
          <p:cNvPr id="194" name="Google Shape;194;g15e2f3f4d0a_0_17"/>
          <p:cNvSpPr txBox="1"/>
          <p:nvPr>
            <p:ph idx="1" type="body"/>
          </p:nvPr>
        </p:nvSpPr>
        <p:spPr>
          <a:xfrm>
            <a:off x="381000" y="1215484"/>
            <a:ext cx="11430000" cy="4596300"/>
          </a:xfrm>
          <a:prstGeom prst="rect">
            <a:avLst/>
          </a:prstGeom>
        </p:spPr>
        <p:txBody>
          <a:bodyPr anchorCtr="0" anchor="t" bIns="45700" lIns="91425" spcFirstLastPara="1" rIns="91425" wrap="square" tIns="45700">
            <a:normAutofit/>
          </a:bodyPr>
          <a:lstStyle/>
          <a:p>
            <a:pPr indent="-342900" lvl="0" marL="457200" rtl="0" algn="l">
              <a:spcBef>
                <a:spcPts val="1000"/>
              </a:spcBef>
              <a:spcAft>
                <a:spcPts val="0"/>
              </a:spcAft>
              <a:buSzPts val="1800"/>
              <a:buChar char="●"/>
            </a:pPr>
            <a:r>
              <a:rPr lang="en-US"/>
              <a:t>For ABSA, pre-processing and training is making GPU out of memory</a:t>
            </a:r>
            <a:endParaRPr/>
          </a:p>
          <a:p>
            <a:pPr indent="-342900" lvl="1" marL="914400" rtl="0" algn="l">
              <a:spcBef>
                <a:spcPts val="0"/>
              </a:spcBef>
              <a:spcAft>
                <a:spcPts val="0"/>
              </a:spcAft>
              <a:buSzPts val="1800"/>
              <a:buChar char="○"/>
            </a:pPr>
            <a:r>
              <a:rPr lang="en-US"/>
              <a:t>Tried pre-processing it by removing unnecessary words like I, we, etc. </a:t>
            </a:r>
            <a:endParaRPr/>
          </a:p>
          <a:p>
            <a:pPr indent="-342900" lvl="1" marL="914400" rtl="0" algn="l">
              <a:spcBef>
                <a:spcPts val="0"/>
              </a:spcBef>
              <a:spcAft>
                <a:spcPts val="0"/>
              </a:spcAft>
              <a:buSzPts val="1800"/>
              <a:buChar char="○"/>
            </a:pPr>
            <a:r>
              <a:rPr lang="en-US"/>
              <a:t>Worked, but had to </a:t>
            </a:r>
            <a:r>
              <a:rPr lang="en-US"/>
              <a:t>request</a:t>
            </a:r>
            <a:r>
              <a:rPr lang="en-US"/>
              <a:t> for a larger GPU RAM</a:t>
            </a:r>
            <a:endParaRPr/>
          </a:p>
          <a:p>
            <a:pPr indent="-342900" lvl="0" marL="457200" rtl="0" algn="l">
              <a:spcBef>
                <a:spcPts val="0"/>
              </a:spcBef>
              <a:spcAft>
                <a:spcPts val="0"/>
              </a:spcAft>
              <a:buSzPts val="1800"/>
              <a:buChar char="●"/>
            </a:pPr>
            <a:r>
              <a:rPr lang="en-US"/>
              <a:t>The topics we need to pick. For now we have chosen the common topics, we can choose topics from Topic Modeling.</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g175b9171bdc_0_7"/>
          <p:cNvSpPr txBox="1"/>
          <p:nvPr>
            <p:ph type="title"/>
          </p:nvPr>
        </p:nvSpPr>
        <p:spPr>
          <a:xfrm>
            <a:off x="381000" y="200722"/>
            <a:ext cx="11430000" cy="10149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Results from ABSA</a:t>
            </a:r>
            <a:endParaRPr/>
          </a:p>
        </p:txBody>
      </p:sp>
      <p:pic>
        <p:nvPicPr>
          <p:cNvPr id="200" name="Google Shape;200;g175b9171bdc_0_7"/>
          <p:cNvPicPr preferRelativeResize="0"/>
          <p:nvPr/>
        </p:nvPicPr>
        <p:blipFill>
          <a:blip r:embed="rId3">
            <a:alphaModFix/>
          </a:blip>
          <a:stretch>
            <a:fillRect/>
          </a:stretch>
        </p:blipFill>
        <p:spPr>
          <a:xfrm>
            <a:off x="152400" y="1368024"/>
            <a:ext cx="3839224" cy="2498700"/>
          </a:xfrm>
          <a:prstGeom prst="rect">
            <a:avLst/>
          </a:prstGeom>
          <a:noFill/>
          <a:ln>
            <a:noFill/>
          </a:ln>
        </p:spPr>
      </p:pic>
      <p:pic>
        <p:nvPicPr>
          <p:cNvPr id="201" name="Google Shape;201;g175b9171bdc_0_7"/>
          <p:cNvPicPr preferRelativeResize="0"/>
          <p:nvPr/>
        </p:nvPicPr>
        <p:blipFill>
          <a:blip r:embed="rId4">
            <a:alphaModFix/>
          </a:blip>
          <a:stretch>
            <a:fillRect/>
          </a:stretch>
        </p:blipFill>
        <p:spPr>
          <a:xfrm>
            <a:off x="3808675" y="1413574"/>
            <a:ext cx="3432326" cy="2407600"/>
          </a:xfrm>
          <a:prstGeom prst="rect">
            <a:avLst/>
          </a:prstGeom>
          <a:noFill/>
          <a:ln>
            <a:noFill/>
          </a:ln>
        </p:spPr>
      </p:pic>
      <p:pic>
        <p:nvPicPr>
          <p:cNvPr id="202" name="Google Shape;202;g175b9171bdc_0_7"/>
          <p:cNvPicPr preferRelativeResize="0"/>
          <p:nvPr/>
        </p:nvPicPr>
        <p:blipFill>
          <a:blip r:embed="rId5">
            <a:alphaModFix/>
          </a:blip>
          <a:stretch>
            <a:fillRect/>
          </a:stretch>
        </p:blipFill>
        <p:spPr>
          <a:xfrm>
            <a:off x="7642200" y="1462262"/>
            <a:ext cx="3077150" cy="2310225"/>
          </a:xfrm>
          <a:prstGeom prst="rect">
            <a:avLst/>
          </a:prstGeom>
          <a:noFill/>
          <a:ln>
            <a:noFill/>
          </a:ln>
        </p:spPr>
      </p:pic>
      <p:pic>
        <p:nvPicPr>
          <p:cNvPr id="203" name="Google Shape;203;g175b9171bdc_0_7"/>
          <p:cNvPicPr preferRelativeResize="0"/>
          <p:nvPr/>
        </p:nvPicPr>
        <p:blipFill>
          <a:blip r:embed="rId6">
            <a:alphaModFix/>
          </a:blip>
          <a:stretch>
            <a:fillRect/>
          </a:stretch>
        </p:blipFill>
        <p:spPr>
          <a:xfrm>
            <a:off x="54725" y="4298000"/>
            <a:ext cx="3936888" cy="2407599"/>
          </a:xfrm>
          <a:prstGeom prst="rect">
            <a:avLst/>
          </a:prstGeom>
          <a:noFill/>
          <a:ln>
            <a:noFill/>
          </a:ln>
        </p:spPr>
      </p:pic>
      <p:pic>
        <p:nvPicPr>
          <p:cNvPr id="204" name="Google Shape;204;g175b9171bdc_0_7"/>
          <p:cNvPicPr preferRelativeResize="0"/>
          <p:nvPr/>
        </p:nvPicPr>
        <p:blipFill>
          <a:blip r:embed="rId7">
            <a:alphaModFix/>
          </a:blip>
          <a:stretch>
            <a:fillRect/>
          </a:stretch>
        </p:blipFill>
        <p:spPr>
          <a:xfrm>
            <a:off x="4176386" y="4298000"/>
            <a:ext cx="3839226" cy="2265143"/>
          </a:xfrm>
          <a:prstGeom prst="rect">
            <a:avLst/>
          </a:prstGeom>
          <a:noFill/>
          <a:ln>
            <a:noFill/>
          </a:ln>
        </p:spPr>
      </p:pic>
      <p:pic>
        <p:nvPicPr>
          <p:cNvPr id="205" name="Google Shape;205;g175b9171bdc_0_7"/>
          <p:cNvPicPr preferRelativeResize="0"/>
          <p:nvPr/>
        </p:nvPicPr>
        <p:blipFill>
          <a:blip r:embed="rId8">
            <a:alphaModFix/>
          </a:blip>
          <a:stretch>
            <a:fillRect/>
          </a:stretch>
        </p:blipFill>
        <p:spPr>
          <a:xfrm>
            <a:off x="8276075" y="4346687"/>
            <a:ext cx="3667006" cy="231022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g175b9171bdc_0_21"/>
          <p:cNvSpPr txBox="1"/>
          <p:nvPr>
            <p:ph type="title"/>
          </p:nvPr>
        </p:nvSpPr>
        <p:spPr>
          <a:xfrm>
            <a:off x="381000" y="200722"/>
            <a:ext cx="11430000" cy="10149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Python Script</a:t>
            </a:r>
            <a:endParaRPr/>
          </a:p>
        </p:txBody>
      </p:sp>
      <p:pic>
        <p:nvPicPr>
          <p:cNvPr id="211" name="Google Shape;211;g175b9171bdc_0_21"/>
          <p:cNvPicPr preferRelativeResize="0"/>
          <p:nvPr/>
        </p:nvPicPr>
        <p:blipFill>
          <a:blip r:embed="rId3">
            <a:alphaModFix/>
          </a:blip>
          <a:stretch>
            <a:fillRect/>
          </a:stretch>
        </p:blipFill>
        <p:spPr>
          <a:xfrm>
            <a:off x="387350" y="1725024"/>
            <a:ext cx="9346001" cy="2912675"/>
          </a:xfrm>
          <a:prstGeom prst="rect">
            <a:avLst/>
          </a:prstGeom>
          <a:noFill/>
          <a:ln>
            <a:noFill/>
          </a:ln>
        </p:spPr>
      </p:pic>
      <p:pic>
        <p:nvPicPr>
          <p:cNvPr id="212" name="Google Shape;212;g175b9171bdc_0_21"/>
          <p:cNvPicPr preferRelativeResize="0"/>
          <p:nvPr/>
        </p:nvPicPr>
        <p:blipFill>
          <a:blip r:embed="rId4">
            <a:alphaModFix/>
          </a:blip>
          <a:stretch>
            <a:fillRect/>
          </a:stretch>
        </p:blipFill>
        <p:spPr>
          <a:xfrm>
            <a:off x="5549325" y="146650"/>
            <a:ext cx="4833224" cy="1449975"/>
          </a:xfrm>
          <a:prstGeom prst="rect">
            <a:avLst/>
          </a:prstGeom>
          <a:noFill/>
          <a:ln>
            <a:noFill/>
          </a:ln>
        </p:spPr>
      </p:pic>
      <p:sp>
        <p:nvSpPr>
          <p:cNvPr id="213" name="Google Shape;213;g175b9171bdc_0_21"/>
          <p:cNvSpPr txBox="1"/>
          <p:nvPr/>
        </p:nvSpPr>
        <p:spPr>
          <a:xfrm>
            <a:off x="381000" y="4766101"/>
            <a:ext cx="82134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800"/>
              <a:buFont typeface="Arial"/>
              <a:buNone/>
            </a:pPr>
            <a:r>
              <a:rPr b="1" lang="en-US" sz="1800">
                <a:solidFill>
                  <a:schemeClr val="dk1"/>
                </a:solidFill>
                <a:latin typeface="Proxima Nova"/>
                <a:ea typeface="Proxima Nova"/>
                <a:cs typeface="Proxima Nova"/>
                <a:sym typeface="Proxima Nova"/>
              </a:rPr>
              <a:t>Challenges</a:t>
            </a:r>
            <a:r>
              <a:rPr b="1" lang="en-US" sz="1800">
                <a:solidFill>
                  <a:schemeClr val="dk1"/>
                </a:solidFill>
                <a:latin typeface="Proxima Nova"/>
                <a:ea typeface="Proxima Nova"/>
                <a:cs typeface="Proxima Nova"/>
                <a:sym typeface="Proxima Nova"/>
              </a:rPr>
              <a:t>  </a:t>
            </a:r>
            <a:endParaRPr b="0" i="0" sz="1800" u="none" cap="none" strike="noStrike">
              <a:solidFill>
                <a:schemeClr val="dk1"/>
              </a:solidFill>
              <a:latin typeface="Proxima Nova"/>
              <a:ea typeface="Proxima Nova"/>
              <a:cs typeface="Proxima Nova"/>
              <a:sym typeface="Proxima Nova"/>
            </a:endParaRPr>
          </a:p>
        </p:txBody>
      </p:sp>
      <p:sp>
        <p:nvSpPr>
          <p:cNvPr id="214" name="Google Shape;214;g175b9171bdc_0_21"/>
          <p:cNvSpPr txBox="1"/>
          <p:nvPr/>
        </p:nvSpPr>
        <p:spPr>
          <a:xfrm>
            <a:off x="749350" y="5147100"/>
            <a:ext cx="8622000" cy="10158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SzPts val="1800"/>
              <a:buFont typeface="Proxima Nova"/>
              <a:buChar char="●"/>
            </a:pPr>
            <a:r>
              <a:rPr lang="en-US" sz="1800">
                <a:latin typeface="Proxima Nova"/>
                <a:ea typeface="Proxima Nova"/>
                <a:cs typeface="Proxima Nova"/>
                <a:sym typeface="Proxima Nova"/>
              </a:rPr>
              <a:t>No new Piazza data available to test our saved models</a:t>
            </a:r>
            <a:endParaRPr sz="1800">
              <a:latin typeface="Proxima Nova"/>
              <a:ea typeface="Proxima Nova"/>
              <a:cs typeface="Proxima Nova"/>
              <a:sym typeface="Proxima Nova"/>
            </a:endParaRPr>
          </a:p>
          <a:p>
            <a:pPr indent="-342900" lvl="1" marL="914400" rtl="0" algn="l">
              <a:spcBef>
                <a:spcPts val="0"/>
              </a:spcBef>
              <a:spcAft>
                <a:spcPts val="0"/>
              </a:spcAft>
              <a:buSzPts val="1800"/>
              <a:buFont typeface="Proxima Nova"/>
              <a:buChar char="○"/>
            </a:pPr>
            <a:r>
              <a:rPr lang="en-US" sz="1800">
                <a:latin typeface="Proxima Nova"/>
                <a:ea typeface="Proxima Nova"/>
                <a:cs typeface="Proxima Nova"/>
                <a:sym typeface="Proxima Nova"/>
              </a:rPr>
              <a:t>We’re </a:t>
            </a:r>
            <a:r>
              <a:rPr lang="en-US" sz="1800">
                <a:latin typeface="Proxima Nova"/>
                <a:ea typeface="Proxima Nova"/>
                <a:cs typeface="Proxima Nova"/>
                <a:sym typeface="Proxima Nova"/>
              </a:rPr>
              <a:t>splitting</a:t>
            </a:r>
            <a:r>
              <a:rPr lang="en-US" sz="1800">
                <a:latin typeface="Proxima Nova"/>
                <a:ea typeface="Proxima Nova"/>
                <a:cs typeface="Proxima Nova"/>
                <a:sym typeface="Proxima Nova"/>
              </a:rPr>
              <a:t> the existing data into 80:20. </a:t>
            </a:r>
            <a:endParaRPr sz="1800">
              <a:latin typeface="Proxima Nova"/>
              <a:ea typeface="Proxima Nova"/>
              <a:cs typeface="Proxima Nova"/>
              <a:sym typeface="Proxima Nova"/>
            </a:endParaRPr>
          </a:p>
          <a:p>
            <a:pPr indent="-342900" lvl="0" marL="457200" rtl="0" algn="l">
              <a:spcBef>
                <a:spcPts val="0"/>
              </a:spcBef>
              <a:spcAft>
                <a:spcPts val="0"/>
              </a:spcAft>
              <a:buClr>
                <a:schemeClr val="dk1"/>
              </a:buClr>
              <a:buSzPts val="1800"/>
              <a:buFont typeface="Proxima Nova"/>
              <a:buChar char="●"/>
            </a:pPr>
            <a:r>
              <a:rPr lang="en-US" sz="1800">
                <a:latin typeface="Proxima Nova"/>
                <a:ea typeface="Proxima Nova"/>
                <a:cs typeface="Proxima Nova"/>
                <a:sym typeface="Proxima Nova"/>
              </a:rPr>
              <a:t>Were facing issues running SQL script and connect the database</a:t>
            </a:r>
            <a:endParaRPr sz="1800">
              <a:latin typeface="Proxima Nova"/>
              <a:ea typeface="Proxima Nova"/>
              <a:cs typeface="Proxima Nova"/>
              <a:sym typeface="Proxima Nova"/>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g175b9171bdc_0_33"/>
          <p:cNvSpPr txBox="1"/>
          <p:nvPr>
            <p:ph idx="1" type="body"/>
          </p:nvPr>
        </p:nvSpPr>
        <p:spPr>
          <a:xfrm>
            <a:off x="381000" y="1215484"/>
            <a:ext cx="11430000" cy="4596300"/>
          </a:xfrm>
          <a:prstGeom prst="rect">
            <a:avLst/>
          </a:prstGeom>
        </p:spPr>
        <p:txBody>
          <a:bodyPr anchorCtr="0" anchor="t" bIns="45700" lIns="91425" spcFirstLastPara="1" rIns="91425" wrap="square" tIns="45700">
            <a:normAutofit/>
          </a:bodyPr>
          <a:lstStyle/>
          <a:p>
            <a:pPr indent="-342900" lvl="0" marL="457200" rtl="0" algn="l">
              <a:spcBef>
                <a:spcPts val="1000"/>
              </a:spcBef>
              <a:spcAft>
                <a:spcPts val="0"/>
              </a:spcAft>
              <a:buSzPts val="1800"/>
              <a:buChar char="●"/>
            </a:pPr>
            <a:r>
              <a:rPr lang="en-US"/>
              <a:t>Couldn’t find any pre-trained models to separate Q/A. </a:t>
            </a:r>
            <a:endParaRPr/>
          </a:p>
          <a:p>
            <a:pPr indent="-342900" lvl="0" marL="457200" rtl="0" algn="l">
              <a:spcBef>
                <a:spcPts val="0"/>
              </a:spcBef>
              <a:spcAft>
                <a:spcPts val="0"/>
              </a:spcAft>
              <a:buSzPts val="1800"/>
              <a:buChar char="●"/>
            </a:pPr>
            <a:r>
              <a:rPr lang="en-US"/>
              <a:t>Used token matching to separate the list. </a:t>
            </a:r>
            <a:endParaRPr/>
          </a:p>
          <a:p>
            <a:pPr indent="-342900" lvl="0" marL="457200" rtl="0" algn="l">
              <a:spcBef>
                <a:spcPts val="0"/>
              </a:spcBef>
              <a:spcAft>
                <a:spcPts val="0"/>
              </a:spcAft>
              <a:buSzPts val="1800"/>
              <a:buChar char="●"/>
            </a:pPr>
            <a:r>
              <a:rPr lang="en-US"/>
              <a:t>Split the answers_data in 80:20 (train:test) and ran topic modeling. </a:t>
            </a:r>
            <a:endParaRPr/>
          </a:p>
          <a:p>
            <a:pPr indent="0" lvl="0" marL="457200" rtl="0" algn="l">
              <a:spcBef>
                <a:spcPts val="1000"/>
              </a:spcBef>
              <a:spcAft>
                <a:spcPts val="0"/>
              </a:spcAft>
              <a:buNone/>
            </a:pPr>
            <a:r>
              <a:t/>
            </a:r>
            <a:endParaRPr/>
          </a:p>
          <a:p>
            <a:pPr indent="0" lvl="0" marL="457200" rtl="0" algn="l">
              <a:spcBef>
                <a:spcPts val="1000"/>
              </a:spcBef>
              <a:spcAft>
                <a:spcPts val="0"/>
              </a:spcAft>
              <a:buNone/>
            </a:pPr>
            <a:r>
              <a:rPr lang="en-US"/>
              <a:t>Next Steps: </a:t>
            </a:r>
            <a:endParaRPr/>
          </a:p>
          <a:p>
            <a:pPr indent="-342900" lvl="0" marL="914400" rtl="0" algn="l">
              <a:spcBef>
                <a:spcPts val="1000"/>
              </a:spcBef>
              <a:spcAft>
                <a:spcPts val="0"/>
              </a:spcAft>
              <a:buSzPts val="1800"/>
              <a:buChar char="●"/>
            </a:pPr>
            <a:r>
              <a:rPr lang="en-US"/>
              <a:t>Get a topic distribution on the 20% answers dataset</a:t>
            </a:r>
            <a:endParaRPr/>
          </a:p>
          <a:p>
            <a:pPr indent="-342900" lvl="0" marL="914400" rtl="0" algn="l">
              <a:spcBef>
                <a:spcPts val="0"/>
              </a:spcBef>
              <a:spcAft>
                <a:spcPts val="0"/>
              </a:spcAft>
              <a:buSzPts val="1800"/>
              <a:buChar char="●"/>
            </a:pPr>
            <a:r>
              <a:rPr lang="en-US"/>
              <a:t>Create a python script to automate the process </a:t>
            </a:r>
            <a:endParaRPr/>
          </a:p>
        </p:txBody>
      </p:sp>
      <p:sp>
        <p:nvSpPr>
          <p:cNvPr id="220" name="Google Shape;220;g175b9171bdc_0_33"/>
          <p:cNvSpPr txBox="1"/>
          <p:nvPr>
            <p:ph type="title"/>
          </p:nvPr>
        </p:nvSpPr>
        <p:spPr>
          <a:xfrm>
            <a:off x="381000" y="200722"/>
            <a:ext cx="11430000" cy="10149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Piazza Feature</a:t>
            </a:r>
            <a:endParaRPr/>
          </a:p>
        </p:txBody>
      </p:sp>
      <p:pic>
        <p:nvPicPr>
          <p:cNvPr id="221" name="Google Shape;221;g175b9171bdc_0_33"/>
          <p:cNvPicPr preferRelativeResize="0"/>
          <p:nvPr/>
        </p:nvPicPr>
        <p:blipFill>
          <a:blip r:embed="rId3">
            <a:alphaModFix/>
          </a:blip>
          <a:stretch>
            <a:fillRect/>
          </a:stretch>
        </p:blipFill>
        <p:spPr>
          <a:xfrm>
            <a:off x="303025" y="4749749"/>
            <a:ext cx="9822924" cy="18919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gefbeba6a1c_0_34"/>
          <p:cNvSpPr txBox="1"/>
          <p:nvPr>
            <p:ph idx="4294967295" type="title"/>
          </p:nvPr>
        </p:nvSpPr>
        <p:spPr>
          <a:xfrm>
            <a:off x="381000" y="2921547"/>
            <a:ext cx="11430000" cy="10149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SzPts val="1800"/>
              <a:buNone/>
            </a:pPr>
            <a:r>
              <a:rPr lang="en-US" sz="7000"/>
              <a:t>Web Development</a:t>
            </a:r>
            <a:endParaRPr sz="70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g16f368effa8_0_6"/>
          <p:cNvSpPr txBox="1"/>
          <p:nvPr>
            <p:ph idx="1" type="body"/>
          </p:nvPr>
        </p:nvSpPr>
        <p:spPr>
          <a:xfrm>
            <a:off x="381000" y="1323959"/>
            <a:ext cx="11430000" cy="4596300"/>
          </a:xfrm>
          <a:prstGeom prst="rect">
            <a:avLst/>
          </a:prstGeom>
        </p:spPr>
        <p:txBody>
          <a:bodyPr anchorCtr="0" anchor="t" bIns="45700" lIns="91425" spcFirstLastPara="1" rIns="91425" wrap="square" tIns="45700">
            <a:noAutofit/>
          </a:bodyPr>
          <a:lstStyle/>
          <a:p>
            <a:pPr indent="0" lvl="0" marL="0" rtl="0" algn="l">
              <a:spcBef>
                <a:spcPts val="1000"/>
              </a:spcBef>
              <a:spcAft>
                <a:spcPts val="0"/>
              </a:spcAft>
              <a:buNone/>
            </a:pPr>
            <a:r>
              <a:rPr b="1" lang="en-US" sz="3000"/>
              <a:t>Create the dashboard</a:t>
            </a:r>
            <a:endParaRPr b="1" sz="3000"/>
          </a:p>
          <a:p>
            <a:pPr indent="0" lvl="0" marL="0" rtl="0" algn="l">
              <a:spcBef>
                <a:spcPts val="1000"/>
              </a:spcBef>
              <a:spcAft>
                <a:spcPts val="0"/>
              </a:spcAft>
              <a:buNone/>
            </a:pPr>
            <a:r>
              <a:t/>
            </a:r>
            <a:endParaRPr sz="3000"/>
          </a:p>
          <a:p>
            <a:pPr indent="-419100" lvl="0" marL="457200" rtl="0" algn="l">
              <a:spcBef>
                <a:spcPts val="1000"/>
              </a:spcBef>
              <a:spcAft>
                <a:spcPts val="0"/>
              </a:spcAft>
              <a:buSzPts val="3000"/>
              <a:buChar char="-"/>
            </a:pPr>
            <a:r>
              <a:rPr lang="en-US" sz="3000"/>
              <a:t>React.js technologies to create frontend dashboard</a:t>
            </a:r>
            <a:endParaRPr sz="3000"/>
          </a:p>
          <a:p>
            <a:pPr indent="-419100" lvl="1" marL="914400" rtl="0" algn="l">
              <a:spcBef>
                <a:spcPts val="0"/>
              </a:spcBef>
              <a:spcAft>
                <a:spcPts val="0"/>
              </a:spcAft>
              <a:buSzPts val="3000"/>
              <a:buChar char="-"/>
            </a:pPr>
            <a:r>
              <a:rPr lang="en-US" sz="3000"/>
              <a:t>Use Figma mockups from </a:t>
            </a:r>
            <a:r>
              <a:rPr lang="en-US" sz="3000"/>
              <a:t>previous semesters as a design guideline for what is expected</a:t>
            </a:r>
            <a:endParaRPr sz="3000"/>
          </a:p>
          <a:p>
            <a:pPr indent="0" lvl="0" marL="0" rtl="0" algn="l">
              <a:spcBef>
                <a:spcPts val="1000"/>
              </a:spcBef>
              <a:spcAft>
                <a:spcPts val="0"/>
              </a:spcAft>
              <a:buNone/>
            </a:pPr>
            <a:r>
              <a:t/>
            </a:r>
            <a:endParaRPr sz="3000"/>
          </a:p>
          <a:p>
            <a:pPr indent="-419100" lvl="0" marL="457200" rtl="0" algn="l">
              <a:spcBef>
                <a:spcPts val="1000"/>
              </a:spcBef>
              <a:spcAft>
                <a:spcPts val="0"/>
              </a:spcAft>
              <a:buSzPts val="3000"/>
              <a:buChar char="-"/>
            </a:pPr>
            <a:r>
              <a:rPr lang="en-US" sz="3000"/>
              <a:t>Connect frontend with backend so database data can be updated in real time</a:t>
            </a:r>
            <a:endParaRPr sz="3000"/>
          </a:p>
          <a:p>
            <a:pPr indent="0" lvl="0" marL="0" rtl="0" algn="l">
              <a:spcBef>
                <a:spcPts val="1000"/>
              </a:spcBef>
              <a:spcAft>
                <a:spcPts val="0"/>
              </a:spcAft>
              <a:buNone/>
            </a:pPr>
            <a:r>
              <a:rPr lang="en-US" sz="3000"/>
              <a:t>	</a:t>
            </a:r>
            <a:endParaRPr sz="3000"/>
          </a:p>
        </p:txBody>
      </p:sp>
      <p:sp>
        <p:nvSpPr>
          <p:cNvPr id="232" name="Google Shape;232;g16f368effa8_0_6"/>
          <p:cNvSpPr txBox="1"/>
          <p:nvPr>
            <p:ph type="title"/>
          </p:nvPr>
        </p:nvSpPr>
        <p:spPr>
          <a:xfrm>
            <a:off x="381000" y="200722"/>
            <a:ext cx="11430000" cy="10149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End of Semester Goals</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g9d659091a8_1_15"/>
          <p:cNvSpPr txBox="1"/>
          <p:nvPr/>
        </p:nvSpPr>
        <p:spPr>
          <a:xfrm>
            <a:off x="9399938" y="5882125"/>
            <a:ext cx="13644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pic>
        <p:nvPicPr>
          <p:cNvPr id="238" name="Google Shape;238;g9d659091a8_1_15"/>
          <p:cNvPicPr preferRelativeResize="0"/>
          <p:nvPr/>
        </p:nvPicPr>
        <p:blipFill>
          <a:blip r:embed="rId3">
            <a:alphaModFix/>
          </a:blip>
          <a:stretch>
            <a:fillRect/>
          </a:stretch>
        </p:blipFill>
        <p:spPr>
          <a:xfrm>
            <a:off x="0" y="0"/>
            <a:ext cx="5030602" cy="3338599"/>
          </a:xfrm>
          <a:prstGeom prst="rect">
            <a:avLst/>
          </a:prstGeom>
          <a:noFill/>
          <a:ln>
            <a:noFill/>
          </a:ln>
        </p:spPr>
      </p:pic>
      <p:pic>
        <p:nvPicPr>
          <p:cNvPr id="239" name="Google Shape;239;g9d659091a8_1_15"/>
          <p:cNvPicPr preferRelativeResize="0"/>
          <p:nvPr/>
        </p:nvPicPr>
        <p:blipFill>
          <a:blip r:embed="rId4">
            <a:alphaModFix/>
          </a:blip>
          <a:stretch>
            <a:fillRect/>
          </a:stretch>
        </p:blipFill>
        <p:spPr>
          <a:xfrm>
            <a:off x="4650644" y="3338600"/>
            <a:ext cx="7236357" cy="3448574"/>
          </a:xfrm>
          <a:prstGeom prst="rect">
            <a:avLst/>
          </a:prstGeom>
          <a:noFill/>
          <a:ln>
            <a:noFill/>
          </a:ln>
        </p:spPr>
      </p:pic>
      <p:pic>
        <p:nvPicPr>
          <p:cNvPr id="240" name="Google Shape;240;g9d659091a8_1_15"/>
          <p:cNvPicPr preferRelativeResize="0"/>
          <p:nvPr/>
        </p:nvPicPr>
        <p:blipFill>
          <a:blip r:embed="rId5">
            <a:alphaModFix/>
          </a:blip>
          <a:stretch>
            <a:fillRect/>
          </a:stretch>
        </p:blipFill>
        <p:spPr>
          <a:xfrm>
            <a:off x="6544975" y="874921"/>
            <a:ext cx="2104225" cy="1082350"/>
          </a:xfrm>
          <a:prstGeom prst="rect">
            <a:avLst/>
          </a:prstGeom>
          <a:noFill/>
          <a:ln>
            <a:noFill/>
          </a:ln>
        </p:spPr>
      </p:pic>
      <p:pic>
        <p:nvPicPr>
          <p:cNvPr id="241" name="Google Shape;241;g9d659091a8_1_15"/>
          <p:cNvPicPr preferRelativeResize="0"/>
          <p:nvPr/>
        </p:nvPicPr>
        <p:blipFill>
          <a:blip r:embed="rId6">
            <a:alphaModFix/>
          </a:blip>
          <a:stretch>
            <a:fillRect/>
          </a:stretch>
        </p:blipFill>
        <p:spPr>
          <a:xfrm>
            <a:off x="5347150" y="874931"/>
            <a:ext cx="1082350" cy="1082350"/>
          </a:xfrm>
          <a:prstGeom prst="rect">
            <a:avLst/>
          </a:prstGeom>
          <a:noFill/>
          <a:ln>
            <a:noFill/>
          </a:ln>
        </p:spPr>
      </p:pic>
      <p:pic>
        <p:nvPicPr>
          <p:cNvPr id="242" name="Google Shape;242;g9d659091a8_1_15"/>
          <p:cNvPicPr preferRelativeResize="0"/>
          <p:nvPr/>
        </p:nvPicPr>
        <p:blipFill>
          <a:blip r:embed="rId7">
            <a:alphaModFix/>
          </a:blip>
          <a:stretch>
            <a:fillRect/>
          </a:stretch>
        </p:blipFill>
        <p:spPr>
          <a:xfrm>
            <a:off x="568150" y="4223075"/>
            <a:ext cx="2372800" cy="1679625"/>
          </a:xfrm>
          <a:prstGeom prst="rect">
            <a:avLst/>
          </a:prstGeom>
          <a:noFill/>
          <a:ln>
            <a:noFill/>
          </a:ln>
        </p:spPr>
      </p:pic>
      <p:pic>
        <p:nvPicPr>
          <p:cNvPr id="243" name="Google Shape;243;g9d659091a8_1_15"/>
          <p:cNvPicPr preferRelativeResize="0"/>
          <p:nvPr/>
        </p:nvPicPr>
        <p:blipFill>
          <a:blip r:embed="rId8">
            <a:alphaModFix/>
          </a:blip>
          <a:stretch>
            <a:fillRect/>
          </a:stretch>
        </p:blipFill>
        <p:spPr>
          <a:xfrm>
            <a:off x="3046400" y="4355663"/>
            <a:ext cx="1414450" cy="141445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pic>
        <p:nvPicPr>
          <p:cNvPr id="248" name="Google Shape;248;g1718d617d03_0_5"/>
          <p:cNvPicPr preferRelativeResize="0"/>
          <p:nvPr/>
        </p:nvPicPr>
        <p:blipFill rotWithShape="1">
          <a:blip r:embed="rId3">
            <a:alphaModFix/>
          </a:blip>
          <a:srcRect b="-159403" l="0" r="-99123" t="0"/>
          <a:stretch/>
        </p:blipFill>
        <p:spPr>
          <a:xfrm>
            <a:off x="0" y="0"/>
            <a:ext cx="9671974" cy="8323224"/>
          </a:xfrm>
          <a:prstGeom prst="rect">
            <a:avLst/>
          </a:prstGeom>
          <a:noFill/>
          <a:ln>
            <a:noFill/>
          </a:ln>
        </p:spPr>
      </p:pic>
      <p:pic>
        <p:nvPicPr>
          <p:cNvPr id="249" name="Google Shape;249;g1718d617d03_0_5"/>
          <p:cNvPicPr preferRelativeResize="0"/>
          <p:nvPr/>
        </p:nvPicPr>
        <p:blipFill>
          <a:blip r:embed="rId4">
            <a:alphaModFix/>
          </a:blip>
          <a:stretch>
            <a:fillRect/>
          </a:stretch>
        </p:blipFill>
        <p:spPr>
          <a:xfrm>
            <a:off x="4430348" y="3208350"/>
            <a:ext cx="7761654" cy="3649650"/>
          </a:xfrm>
          <a:prstGeom prst="rect">
            <a:avLst/>
          </a:prstGeom>
          <a:noFill/>
          <a:ln>
            <a:noFill/>
          </a:ln>
        </p:spPr>
      </p:pic>
      <p:pic>
        <p:nvPicPr>
          <p:cNvPr id="250" name="Google Shape;250;g1718d617d03_0_5"/>
          <p:cNvPicPr preferRelativeResize="0"/>
          <p:nvPr/>
        </p:nvPicPr>
        <p:blipFill>
          <a:blip r:embed="rId5">
            <a:alphaModFix/>
          </a:blip>
          <a:stretch>
            <a:fillRect/>
          </a:stretch>
        </p:blipFill>
        <p:spPr>
          <a:xfrm>
            <a:off x="6376225" y="874921"/>
            <a:ext cx="2104225" cy="1082350"/>
          </a:xfrm>
          <a:prstGeom prst="rect">
            <a:avLst/>
          </a:prstGeom>
          <a:noFill/>
          <a:ln>
            <a:noFill/>
          </a:ln>
        </p:spPr>
      </p:pic>
      <p:pic>
        <p:nvPicPr>
          <p:cNvPr id="251" name="Google Shape;251;g1718d617d03_0_5"/>
          <p:cNvPicPr preferRelativeResize="0"/>
          <p:nvPr/>
        </p:nvPicPr>
        <p:blipFill>
          <a:blip r:embed="rId6">
            <a:alphaModFix/>
          </a:blip>
          <a:stretch>
            <a:fillRect/>
          </a:stretch>
        </p:blipFill>
        <p:spPr>
          <a:xfrm>
            <a:off x="5106100" y="874931"/>
            <a:ext cx="1082350" cy="1082350"/>
          </a:xfrm>
          <a:prstGeom prst="rect">
            <a:avLst/>
          </a:prstGeom>
          <a:noFill/>
          <a:ln>
            <a:noFill/>
          </a:ln>
        </p:spPr>
      </p:pic>
      <p:pic>
        <p:nvPicPr>
          <p:cNvPr id="252" name="Google Shape;252;g1718d617d03_0_5"/>
          <p:cNvPicPr preferRelativeResize="0"/>
          <p:nvPr/>
        </p:nvPicPr>
        <p:blipFill>
          <a:blip r:embed="rId7">
            <a:alphaModFix/>
          </a:blip>
          <a:stretch>
            <a:fillRect/>
          </a:stretch>
        </p:blipFill>
        <p:spPr>
          <a:xfrm>
            <a:off x="483800" y="4223087"/>
            <a:ext cx="2372800" cy="1679625"/>
          </a:xfrm>
          <a:prstGeom prst="rect">
            <a:avLst/>
          </a:prstGeom>
          <a:noFill/>
          <a:ln>
            <a:noFill/>
          </a:ln>
        </p:spPr>
      </p:pic>
      <p:pic>
        <p:nvPicPr>
          <p:cNvPr id="253" name="Google Shape;253;g1718d617d03_0_5"/>
          <p:cNvPicPr preferRelativeResize="0"/>
          <p:nvPr/>
        </p:nvPicPr>
        <p:blipFill>
          <a:blip r:embed="rId8">
            <a:alphaModFix/>
          </a:blip>
          <a:stretch>
            <a:fillRect/>
          </a:stretch>
        </p:blipFill>
        <p:spPr>
          <a:xfrm>
            <a:off x="2856600" y="4355663"/>
            <a:ext cx="1414450" cy="141445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pic>
        <p:nvPicPr>
          <p:cNvPr id="258" name="Google Shape;258;g15c82140282_0_14"/>
          <p:cNvPicPr preferRelativeResize="0"/>
          <p:nvPr/>
        </p:nvPicPr>
        <p:blipFill>
          <a:blip r:embed="rId3">
            <a:alphaModFix/>
          </a:blip>
          <a:stretch>
            <a:fillRect/>
          </a:stretch>
        </p:blipFill>
        <p:spPr>
          <a:xfrm>
            <a:off x="0" y="0"/>
            <a:ext cx="5427526" cy="3603775"/>
          </a:xfrm>
          <a:prstGeom prst="rect">
            <a:avLst/>
          </a:prstGeom>
          <a:noFill/>
          <a:ln>
            <a:noFill/>
          </a:ln>
        </p:spPr>
      </p:pic>
      <p:pic>
        <p:nvPicPr>
          <p:cNvPr id="259" name="Google Shape;259;g15c82140282_0_14"/>
          <p:cNvPicPr preferRelativeResize="0"/>
          <p:nvPr/>
        </p:nvPicPr>
        <p:blipFill>
          <a:blip r:embed="rId4">
            <a:alphaModFix/>
          </a:blip>
          <a:stretch>
            <a:fillRect/>
          </a:stretch>
        </p:blipFill>
        <p:spPr>
          <a:xfrm>
            <a:off x="5335375" y="3603775"/>
            <a:ext cx="6856627" cy="3254224"/>
          </a:xfrm>
          <a:prstGeom prst="rect">
            <a:avLst/>
          </a:prstGeom>
          <a:noFill/>
          <a:ln>
            <a:noFill/>
          </a:ln>
        </p:spPr>
      </p:pic>
      <p:pic>
        <p:nvPicPr>
          <p:cNvPr id="260" name="Google Shape;260;g15c82140282_0_14"/>
          <p:cNvPicPr preferRelativeResize="0"/>
          <p:nvPr/>
        </p:nvPicPr>
        <p:blipFill>
          <a:blip r:embed="rId5">
            <a:alphaModFix/>
          </a:blip>
          <a:stretch>
            <a:fillRect/>
          </a:stretch>
        </p:blipFill>
        <p:spPr>
          <a:xfrm>
            <a:off x="6990925" y="874921"/>
            <a:ext cx="2104225" cy="1082350"/>
          </a:xfrm>
          <a:prstGeom prst="rect">
            <a:avLst/>
          </a:prstGeom>
          <a:noFill/>
          <a:ln>
            <a:noFill/>
          </a:ln>
        </p:spPr>
      </p:pic>
      <p:pic>
        <p:nvPicPr>
          <p:cNvPr id="261" name="Google Shape;261;g15c82140282_0_14"/>
          <p:cNvPicPr preferRelativeResize="0"/>
          <p:nvPr/>
        </p:nvPicPr>
        <p:blipFill>
          <a:blip r:embed="rId6">
            <a:alphaModFix/>
          </a:blip>
          <a:stretch>
            <a:fillRect/>
          </a:stretch>
        </p:blipFill>
        <p:spPr>
          <a:xfrm>
            <a:off x="5554813" y="874931"/>
            <a:ext cx="1082350" cy="1082350"/>
          </a:xfrm>
          <a:prstGeom prst="rect">
            <a:avLst/>
          </a:prstGeom>
          <a:noFill/>
          <a:ln>
            <a:noFill/>
          </a:ln>
        </p:spPr>
      </p:pic>
      <p:pic>
        <p:nvPicPr>
          <p:cNvPr id="262" name="Google Shape;262;g15c82140282_0_14"/>
          <p:cNvPicPr preferRelativeResize="0"/>
          <p:nvPr/>
        </p:nvPicPr>
        <p:blipFill>
          <a:blip r:embed="rId7">
            <a:alphaModFix/>
          </a:blip>
          <a:stretch>
            <a:fillRect/>
          </a:stretch>
        </p:blipFill>
        <p:spPr>
          <a:xfrm>
            <a:off x="1038225" y="4223087"/>
            <a:ext cx="2372800" cy="1679625"/>
          </a:xfrm>
          <a:prstGeom prst="rect">
            <a:avLst/>
          </a:prstGeom>
          <a:noFill/>
          <a:ln>
            <a:noFill/>
          </a:ln>
        </p:spPr>
      </p:pic>
      <p:pic>
        <p:nvPicPr>
          <p:cNvPr id="263" name="Google Shape;263;g15c82140282_0_14"/>
          <p:cNvPicPr preferRelativeResize="0"/>
          <p:nvPr/>
        </p:nvPicPr>
        <p:blipFill>
          <a:blip r:embed="rId8">
            <a:alphaModFix/>
          </a:blip>
          <a:stretch>
            <a:fillRect/>
          </a:stretch>
        </p:blipFill>
        <p:spPr>
          <a:xfrm>
            <a:off x="3665963" y="4355663"/>
            <a:ext cx="1414450" cy="141445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pic>
        <p:nvPicPr>
          <p:cNvPr id="268" name="Google Shape;268;g1718d617d03_0_0"/>
          <p:cNvPicPr preferRelativeResize="0"/>
          <p:nvPr/>
        </p:nvPicPr>
        <p:blipFill>
          <a:blip r:embed="rId3">
            <a:alphaModFix/>
          </a:blip>
          <a:stretch>
            <a:fillRect/>
          </a:stretch>
        </p:blipFill>
        <p:spPr>
          <a:xfrm>
            <a:off x="0" y="0"/>
            <a:ext cx="5255174" cy="3483224"/>
          </a:xfrm>
          <a:prstGeom prst="rect">
            <a:avLst/>
          </a:prstGeom>
          <a:noFill/>
          <a:ln>
            <a:noFill/>
          </a:ln>
        </p:spPr>
      </p:pic>
      <p:pic>
        <p:nvPicPr>
          <p:cNvPr id="269" name="Google Shape;269;g1718d617d03_0_0"/>
          <p:cNvPicPr preferRelativeResize="0"/>
          <p:nvPr/>
        </p:nvPicPr>
        <p:blipFill>
          <a:blip r:embed="rId4">
            <a:alphaModFix/>
          </a:blip>
          <a:stretch>
            <a:fillRect/>
          </a:stretch>
        </p:blipFill>
        <p:spPr>
          <a:xfrm>
            <a:off x="5081363" y="3483225"/>
            <a:ext cx="7110636" cy="3374774"/>
          </a:xfrm>
          <a:prstGeom prst="rect">
            <a:avLst/>
          </a:prstGeom>
          <a:noFill/>
          <a:ln>
            <a:noFill/>
          </a:ln>
        </p:spPr>
      </p:pic>
      <p:pic>
        <p:nvPicPr>
          <p:cNvPr id="270" name="Google Shape;270;g1718d617d03_0_0"/>
          <p:cNvPicPr preferRelativeResize="0"/>
          <p:nvPr/>
        </p:nvPicPr>
        <p:blipFill>
          <a:blip r:embed="rId5">
            <a:alphaModFix/>
          </a:blip>
          <a:stretch>
            <a:fillRect/>
          </a:stretch>
        </p:blipFill>
        <p:spPr>
          <a:xfrm>
            <a:off x="6544975" y="874921"/>
            <a:ext cx="2104225" cy="1082350"/>
          </a:xfrm>
          <a:prstGeom prst="rect">
            <a:avLst/>
          </a:prstGeom>
          <a:noFill/>
          <a:ln>
            <a:noFill/>
          </a:ln>
        </p:spPr>
      </p:pic>
      <p:pic>
        <p:nvPicPr>
          <p:cNvPr id="271" name="Google Shape;271;g1718d617d03_0_0"/>
          <p:cNvPicPr preferRelativeResize="0"/>
          <p:nvPr/>
        </p:nvPicPr>
        <p:blipFill>
          <a:blip r:embed="rId6">
            <a:alphaModFix/>
          </a:blip>
          <a:stretch>
            <a:fillRect/>
          </a:stretch>
        </p:blipFill>
        <p:spPr>
          <a:xfrm>
            <a:off x="5347150" y="874931"/>
            <a:ext cx="1082350" cy="1082350"/>
          </a:xfrm>
          <a:prstGeom prst="rect">
            <a:avLst/>
          </a:prstGeom>
          <a:noFill/>
          <a:ln>
            <a:noFill/>
          </a:ln>
        </p:spPr>
      </p:pic>
      <p:pic>
        <p:nvPicPr>
          <p:cNvPr id="272" name="Google Shape;272;g1718d617d03_0_0"/>
          <p:cNvPicPr preferRelativeResize="0"/>
          <p:nvPr/>
        </p:nvPicPr>
        <p:blipFill>
          <a:blip r:embed="rId7">
            <a:alphaModFix/>
          </a:blip>
          <a:stretch>
            <a:fillRect/>
          </a:stretch>
        </p:blipFill>
        <p:spPr>
          <a:xfrm>
            <a:off x="592275" y="4223087"/>
            <a:ext cx="2372800" cy="1679625"/>
          </a:xfrm>
          <a:prstGeom prst="rect">
            <a:avLst/>
          </a:prstGeom>
          <a:noFill/>
          <a:ln>
            <a:noFill/>
          </a:ln>
        </p:spPr>
      </p:pic>
      <p:pic>
        <p:nvPicPr>
          <p:cNvPr id="273" name="Google Shape;273;g1718d617d03_0_0"/>
          <p:cNvPicPr preferRelativeResize="0"/>
          <p:nvPr/>
        </p:nvPicPr>
        <p:blipFill>
          <a:blip r:embed="rId8">
            <a:alphaModFix/>
          </a:blip>
          <a:stretch>
            <a:fillRect/>
          </a:stretch>
        </p:blipFill>
        <p:spPr>
          <a:xfrm>
            <a:off x="3206125" y="4355663"/>
            <a:ext cx="1414450" cy="141445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g17258704c4c_0_0"/>
          <p:cNvSpPr txBox="1"/>
          <p:nvPr>
            <p:ph idx="1" type="body"/>
          </p:nvPr>
        </p:nvSpPr>
        <p:spPr>
          <a:xfrm>
            <a:off x="381000" y="1215471"/>
            <a:ext cx="11430000" cy="5088300"/>
          </a:xfrm>
          <a:prstGeom prst="rect">
            <a:avLst/>
          </a:prstGeom>
          <a:noFill/>
          <a:ln>
            <a:noFill/>
          </a:ln>
        </p:spPr>
        <p:txBody>
          <a:bodyPr anchorCtr="0" anchor="t" bIns="45700" lIns="91425" spcFirstLastPara="1" rIns="91425" wrap="square" tIns="45700">
            <a:noAutofit/>
          </a:bodyPr>
          <a:lstStyle/>
          <a:p>
            <a:pPr indent="-342900" lvl="0" marL="457200" rtl="0" algn="l">
              <a:lnSpc>
                <a:spcPct val="115000"/>
              </a:lnSpc>
              <a:spcBef>
                <a:spcPts val="1000"/>
              </a:spcBef>
              <a:spcAft>
                <a:spcPts val="0"/>
              </a:spcAft>
              <a:buClr>
                <a:srgbClr val="000000"/>
              </a:buClr>
              <a:buSzPts val="1800"/>
              <a:buChar char="●"/>
            </a:pPr>
            <a:r>
              <a:rPr b="1" lang="en-US">
                <a:solidFill>
                  <a:srgbClr val="000000"/>
                </a:solidFill>
              </a:rPr>
              <a:t>Need of Documentation</a:t>
            </a:r>
            <a:endParaRPr b="1">
              <a:solidFill>
                <a:srgbClr val="000000"/>
              </a:solidFill>
            </a:endParaRPr>
          </a:p>
          <a:p>
            <a:pPr indent="-342900" lvl="1" marL="914400" rtl="0" algn="l">
              <a:lnSpc>
                <a:spcPct val="115000"/>
              </a:lnSpc>
              <a:spcBef>
                <a:spcPts val="1000"/>
              </a:spcBef>
              <a:spcAft>
                <a:spcPts val="0"/>
              </a:spcAft>
              <a:buClr>
                <a:srgbClr val="000000"/>
              </a:buClr>
              <a:buSzPts val="1800"/>
              <a:buChar char="•"/>
            </a:pPr>
            <a:r>
              <a:rPr lang="en-US">
                <a:solidFill>
                  <a:srgbClr val="000000"/>
                </a:solidFill>
              </a:rPr>
              <a:t>Difficult to immediately start the project since we had to start from scratch, pushing back all of the tasks we wanted to complete</a:t>
            </a:r>
            <a:endParaRPr>
              <a:solidFill>
                <a:srgbClr val="000000"/>
              </a:solidFill>
            </a:endParaRPr>
          </a:p>
          <a:p>
            <a:pPr indent="-342900" lvl="1" marL="914400" rtl="0" algn="l">
              <a:lnSpc>
                <a:spcPct val="115000"/>
              </a:lnSpc>
              <a:spcBef>
                <a:spcPts val="1000"/>
              </a:spcBef>
              <a:spcAft>
                <a:spcPts val="0"/>
              </a:spcAft>
              <a:buClr>
                <a:srgbClr val="000000"/>
              </a:buClr>
              <a:buSzPts val="1800"/>
              <a:buChar char="•"/>
            </a:pPr>
            <a:r>
              <a:rPr lang="en-US">
                <a:solidFill>
                  <a:srgbClr val="000000"/>
                </a:solidFill>
              </a:rPr>
              <a:t>To fix this, we are creating documentation so members next semester are able to understand everything </a:t>
            </a:r>
            <a:endParaRPr>
              <a:solidFill>
                <a:srgbClr val="000000"/>
              </a:solidFill>
            </a:endParaRPr>
          </a:p>
          <a:p>
            <a:pPr indent="-342900" lvl="0" marL="457200" rtl="0" algn="l">
              <a:lnSpc>
                <a:spcPct val="115000"/>
              </a:lnSpc>
              <a:spcBef>
                <a:spcPts val="1000"/>
              </a:spcBef>
              <a:spcAft>
                <a:spcPts val="0"/>
              </a:spcAft>
              <a:buClr>
                <a:srgbClr val="000000"/>
              </a:buClr>
              <a:buSzPts val="1800"/>
              <a:buChar char="●"/>
            </a:pPr>
            <a:r>
              <a:rPr b="1" lang="en-US">
                <a:solidFill>
                  <a:srgbClr val="000000"/>
                </a:solidFill>
              </a:rPr>
              <a:t>Creating Dynamic Table</a:t>
            </a:r>
            <a:endParaRPr b="1">
              <a:solidFill>
                <a:srgbClr val="000000"/>
              </a:solidFill>
            </a:endParaRPr>
          </a:p>
          <a:p>
            <a:pPr indent="-342900" lvl="1" marL="914400" rtl="0" algn="l">
              <a:lnSpc>
                <a:spcPct val="115000"/>
              </a:lnSpc>
              <a:spcBef>
                <a:spcPts val="1000"/>
              </a:spcBef>
              <a:spcAft>
                <a:spcPts val="0"/>
              </a:spcAft>
              <a:buClr>
                <a:srgbClr val="000000"/>
              </a:buClr>
              <a:buSzPts val="1800"/>
              <a:buChar char="•"/>
            </a:pPr>
            <a:r>
              <a:rPr lang="en-US">
                <a:solidFill>
                  <a:srgbClr val="000000"/>
                </a:solidFill>
              </a:rPr>
              <a:t>Wanted to create a dynamic table changing the data as new realtime Piazza conversations are received</a:t>
            </a:r>
            <a:endParaRPr>
              <a:solidFill>
                <a:srgbClr val="000000"/>
              </a:solidFill>
            </a:endParaRPr>
          </a:p>
          <a:p>
            <a:pPr indent="-342900" lvl="1" marL="914400" rtl="0" algn="l">
              <a:lnSpc>
                <a:spcPct val="115000"/>
              </a:lnSpc>
              <a:spcBef>
                <a:spcPts val="1000"/>
              </a:spcBef>
              <a:spcAft>
                <a:spcPts val="0"/>
              </a:spcAft>
              <a:buClr>
                <a:srgbClr val="000000"/>
              </a:buClr>
              <a:buSzPts val="1800"/>
              <a:buChar char="•"/>
            </a:pPr>
            <a:r>
              <a:rPr lang="en-US">
                <a:solidFill>
                  <a:srgbClr val="000000"/>
                </a:solidFill>
              </a:rPr>
              <a:t>Currently have created a static table in HTML</a:t>
            </a:r>
            <a:endParaRPr>
              <a:solidFill>
                <a:srgbClr val="000000"/>
              </a:solidFill>
            </a:endParaRPr>
          </a:p>
          <a:p>
            <a:pPr indent="-342900" lvl="1" marL="914400" rtl="0" algn="l">
              <a:lnSpc>
                <a:spcPct val="115000"/>
              </a:lnSpc>
              <a:spcBef>
                <a:spcPts val="1000"/>
              </a:spcBef>
              <a:spcAft>
                <a:spcPts val="0"/>
              </a:spcAft>
              <a:buClr>
                <a:srgbClr val="000000"/>
              </a:buClr>
              <a:buSzPts val="1800"/>
              <a:buChar char="•"/>
            </a:pPr>
            <a:r>
              <a:rPr lang="en-US">
                <a:solidFill>
                  <a:srgbClr val="000000"/>
                </a:solidFill>
              </a:rPr>
              <a:t>Researching frameworks that work with React</a:t>
            </a:r>
            <a:endParaRPr>
              <a:solidFill>
                <a:srgbClr val="000000"/>
              </a:solidFill>
            </a:endParaRPr>
          </a:p>
          <a:p>
            <a:pPr indent="0" lvl="0" marL="0" rtl="0" algn="l">
              <a:lnSpc>
                <a:spcPct val="115000"/>
              </a:lnSpc>
              <a:spcBef>
                <a:spcPts val="1000"/>
              </a:spcBef>
              <a:spcAft>
                <a:spcPts val="0"/>
              </a:spcAft>
              <a:buNone/>
            </a:pPr>
            <a:r>
              <a:t/>
            </a:r>
            <a:endParaRPr/>
          </a:p>
          <a:p>
            <a:pPr indent="0" lvl="0" marL="0" rtl="0" algn="l">
              <a:lnSpc>
                <a:spcPct val="115000"/>
              </a:lnSpc>
              <a:spcBef>
                <a:spcPts val="1000"/>
              </a:spcBef>
              <a:spcAft>
                <a:spcPts val="0"/>
              </a:spcAft>
              <a:buSzPts val="1800"/>
              <a:buNone/>
            </a:pPr>
            <a:r>
              <a:t/>
            </a:r>
            <a:endParaRPr>
              <a:solidFill>
                <a:srgbClr val="000000"/>
              </a:solidFill>
            </a:endParaRPr>
          </a:p>
        </p:txBody>
      </p:sp>
      <p:sp>
        <p:nvSpPr>
          <p:cNvPr id="279" name="Google Shape;279;g17258704c4c_0_0"/>
          <p:cNvSpPr txBox="1"/>
          <p:nvPr>
            <p:ph type="title"/>
          </p:nvPr>
        </p:nvSpPr>
        <p:spPr>
          <a:xfrm>
            <a:off x="381000" y="200722"/>
            <a:ext cx="11430000" cy="10149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SzPts val="1800"/>
              <a:buNone/>
            </a:pPr>
            <a:r>
              <a:rPr lang="en-US"/>
              <a:t>Challenges</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11"/>
          <p:cNvSpPr txBox="1"/>
          <p:nvPr>
            <p:ph idx="1" type="body"/>
          </p:nvPr>
        </p:nvSpPr>
        <p:spPr>
          <a:xfrm>
            <a:off x="381000" y="1215471"/>
            <a:ext cx="11430000" cy="5088300"/>
          </a:xfrm>
          <a:prstGeom prst="rect">
            <a:avLst/>
          </a:prstGeom>
          <a:noFill/>
          <a:ln>
            <a:noFill/>
          </a:ln>
        </p:spPr>
        <p:txBody>
          <a:bodyPr anchorCtr="0" anchor="t" bIns="45700" lIns="91425" spcFirstLastPara="1" rIns="91425" wrap="square" tIns="45700">
            <a:noAutofit/>
          </a:bodyPr>
          <a:lstStyle/>
          <a:p>
            <a:pPr indent="-342900" lvl="0" marL="457200" rtl="0" algn="l">
              <a:lnSpc>
                <a:spcPct val="115000"/>
              </a:lnSpc>
              <a:spcBef>
                <a:spcPts val="1000"/>
              </a:spcBef>
              <a:spcAft>
                <a:spcPts val="0"/>
              </a:spcAft>
              <a:buClr>
                <a:srgbClr val="000000"/>
              </a:buClr>
              <a:buSzPts val="1800"/>
              <a:buChar char="●"/>
            </a:pPr>
            <a:r>
              <a:rPr b="1" lang="en-US">
                <a:solidFill>
                  <a:srgbClr val="000000"/>
                </a:solidFill>
              </a:rPr>
              <a:t>Project Roadmap</a:t>
            </a:r>
            <a:endParaRPr b="1">
              <a:solidFill>
                <a:srgbClr val="000000"/>
              </a:solidFill>
            </a:endParaRPr>
          </a:p>
          <a:p>
            <a:pPr indent="-342900" lvl="1" marL="914400" rtl="0" algn="l">
              <a:lnSpc>
                <a:spcPct val="115000"/>
              </a:lnSpc>
              <a:spcBef>
                <a:spcPts val="1000"/>
              </a:spcBef>
              <a:spcAft>
                <a:spcPts val="0"/>
              </a:spcAft>
              <a:buClr>
                <a:srgbClr val="000000"/>
              </a:buClr>
              <a:buSzPts val="1800"/>
              <a:buChar char="•"/>
            </a:pPr>
            <a:r>
              <a:rPr lang="en-US">
                <a:solidFill>
                  <a:srgbClr val="000000"/>
                </a:solidFill>
              </a:rPr>
              <a:t>Deployment of web-app and testing in Piazza sandbox environment and user feedback from instructor team</a:t>
            </a:r>
            <a:endParaRPr>
              <a:solidFill>
                <a:srgbClr val="000000"/>
              </a:solidFill>
            </a:endParaRPr>
          </a:p>
          <a:p>
            <a:pPr indent="-342900" lvl="0" marL="457200" rtl="0" algn="l">
              <a:lnSpc>
                <a:spcPct val="115000"/>
              </a:lnSpc>
              <a:spcBef>
                <a:spcPts val="1000"/>
              </a:spcBef>
              <a:spcAft>
                <a:spcPts val="0"/>
              </a:spcAft>
              <a:buClr>
                <a:srgbClr val="000000"/>
              </a:buClr>
              <a:buSzPts val="1800"/>
              <a:buChar char="●"/>
            </a:pPr>
            <a:r>
              <a:rPr b="1" lang="en-US">
                <a:solidFill>
                  <a:srgbClr val="000000"/>
                </a:solidFill>
              </a:rPr>
              <a:t>Model Development</a:t>
            </a:r>
            <a:endParaRPr b="1">
              <a:solidFill>
                <a:srgbClr val="000000"/>
              </a:solidFill>
            </a:endParaRPr>
          </a:p>
          <a:p>
            <a:pPr indent="-342900" lvl="1" marL="914400" rtl="0" algn="l">
              <a:lnSpc>
                <a:spcPct val="115000"/>
              </a:lnSpc>
              <a:spcBef>
                <a:spcPts val="1000"/>
              </a:spcBef>
              <a:spcAft>
                <a:spcPts val="0"/>
              </a:spcAft>
              <a:buClr>
                <a:srgbClr val="000000"/>
              </a:buClr>
              <a:buSzPts val="1800"/>
              <a:buChar char="•"/>
            </a:pPr>
            <a:r>
              <a:rPr lang="en-US">
                <a:solidFill>
                  <a:srgbClr val="000000"/>
                </a:solidFill>
              </a:rPr>
              <a:t>Aspect-Based Sentiment Analysis to help instructors get actionable insights on different aspects of their courses - assignments, instructor team, course materials, grading etc.</a:t>
            </a:r>
            <a:endParaRPr>
              <a:solidFill>
                <a:srgbClr val="000000"/>
              </a:solidFill>
            </a:endParaRPr>
          </a:p>
          <a:p>
            <a:pPr indent="-342900" lvl="0" marL="457200" rtl="0" algn="l">
              <a:lnSpc>
                <a:spcPct val="115000"/>
              </a:lnSpc>
              <a:spcBef>
                <a:spcPts val="1000"/>
              </a:spcBef>
              <a:spcAft>
                <a:spcPts val="0"/>
              </a:spcAft>
              <a:buSzPts val="1800"/>
              <a:buChar char="●"/>
            </a:pPr>
            <a:r>
              <a:rPr b="1" lang="en-US"/>
              <a:t>Piazza Feature</a:t>
            </a:r>
            <a:endParaRPr b="1"/>
          </a:p>
          <a:p>
            <a:pPr indent="-342900" lvl="1" marL="914400" rtl="0" algn="l">
              <a:lnSpc>
                <a:spcPct val="115000"/>
              </a:lnSpc>
              <a:spcBef>
                <a:spcPts val="500"/>
              </a:spcBef>
              <a:spcAft>
                <a:spcPts val="0"/>
              </a:spcAft>
              <a:buSzPts val="1800"/>
              <a:buChar char="•"/>
            </a:pPr>
            <a:r>
              <a:rPr lang="en-US"/>
              <a:t>Allow TAs to respond to an incoming question from the top matched responses from previous semester’s data using topic modeling</a:t>
            </a:r>
            <a:endParaRPr/>
          </a:p>
          <a:p>
            <a:pPr indent="0" lvl="0" marL="0" rtl="0" algn="l">
              <a:lnSpc>
                <a:spcPct val="115000"/>
              </a:lnSpc>
              <a:spcBef>
                <a:spcPts val="1000"/>
              </a:spcBef>
              <a:spcAft>
                <a:spcPts val="0"/>
              </a:spcAft>
              <a:buSzPts val="1800"/>
              <a:buNone/>
            </a:pPr>
            <a:r>
              <a:t/>
            </a:r>
            <a:endParaRPr>
              <a:solidFill>
                <a:srgbClr val="000000"/>
              </a:solidFill>
            </a:endParaRPr>
          </a:p>
        </p:txBody>
      </p:sp>
      <p:sp>
        <p:nvSpPr>
          <p:cNvPr id="285" name="Google Shape;285;p11"/>
          <p:cNvSpPr txBox="1"/>
          <p:nvPr>
            <p:ph type="title"/>
          </p:nvPr>
        </p:nvSpPr>
        <p:spPr>
          <a:xfrm>
            <a:off x="381000" y="200722"/>
            <a:ext cx="11430000" cy="10149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SzPts val="1800"/>
              <a:buNone/>
            </a:pPr>
            <a:r>
              <a:rPr lang="en-US"/>
              <a:t>Conclusion</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g9d48565bb2_0_10"/>
          <p:cNvSpPr txBox="1"/>
          <p:nvPr>
            <p:ph idx="1" type="body"/>
          </p:nvPr>
        </p:nvSpPr>
        <p:spPr>
          <a:xfrm>
            <a:off x="381000" y="1215473"/>
            <a:ext cx="11430000" cy="5818500"/>
          </a:xfrm>
          <a:prstGeom prst="rect">
            <a:avLst/>
          </a:prstGeom>
          <a:noFill/>
          <a:ln>
            <a:noFill/>
          </a:ln>
        </p:spPr>
        <p:txBody>
          <a:bodyPr anchorCtr="0" anchor="t" bIns="45700" lIns="91425" spcFirstLastPara="1" rIns="91425" wrap="square" tIns="45700">
            <a:noAutofit/>
          </a:bodyPr>
          <a:lstStyle/>
          <a:p>
            <a:pPr indent="-349250" lvl="0" marL="457200" rtl="0" algn="l">
              <a:lnSpc>
                <a:spcPct val="90000"/>
              </a:lnSpc>
              <a:spcBef>
                <a:spcPts val="0"/>
              </a:spcBef>
              <a:spcAft>
                <a:spcPts val="0"/>
              </a:spcAft>
              <a:buSzPts val="1900"/>
              <a:buAutoNum type="arabicPeriod"/>
            </a:pPr>
            <a:r>
              <a:rPr lang="en-US" sz="1900"/>
              <a:t>Garrison, D. R., Anderson, T., &amp; Archer, W. (1999). Critical Inquiry in a Text-Based Environment: Computer Conferencing in Higher Education. </a:t>
            </a:r>
            <a:r>
              <a:rPr i="1" lang="en-US" sz="1900"/>
              <a:t>The Internet and Higher Education</a:t>
            </a:r>
            <a:r>
              <a:rPr lang="en-US" sz="1900"/>
              <a:t>, 2(2–3), 87–105. https://doi.org/10.1016/S1096-7516(00)00016-6</a:t>
            </a:r>
            <a:endParaRPr sz="1900"/>
          </a:p>
          <a:p>
            <a:pPr indent="-349250" lvl="0" marL="457200" rtl="0" algn="l">
              <a:lnSpc>
                <a:spcPct val="90000"/>
              </a:lnSpc>
              <a:spcBef>
                <a:spcPts val="0"/>
              </a:spcBef>
              <a:spcAft>
                <a:spcPts val="0"/>
              </a:spcAft>
              <a:buSzPts val="1900"/>
              <a:buAutoNum type="arabicPeriod"/>
            </a:pPr>
            <a:r>
              <a:rPr lang="en-US" sz="1900"/>
              <a:t>Garrison, D. R., Anderson, T., &amp; Archer, W. (2001). Critical thinking, cognitive presence, and computer conferencing in distance education. </a:t>
            </a:r>
            <a:r>
              <a:rPr i="1" lang="en-US" sz="1900"/>
              <a:t>American Journal of Distance Education</a:t>
            </a:r>
            <a:r>
              <a:rPr lang="en-US" sz="1900"/>
              <a:t>, 15(1), 7–23. https://doi.org/10.1080/08923640109527071</a:t>
            </a:r>
            <a:endParaRPr sz="1900"/>
          </a:p>
          <a:p>
            <a:pPr indent="-349250" lvl="0" marL="457200" rtl="0" algn="l">
              <a:lnSpc>
                <a:spcPct val="90000"/>
              </a:lnSpc>
              <a:spcBef>
                <a:spcPts val="0"/>
              </a:spcBef>
              <a:spcAft>
                <a:spcPts val="0"/>
              </a:spcAft>
              <a:buSzPts val="1900"/>
              <a:buAutoNum type="arabicPeriod"/>
            </a:pPr>
            <a:r>
              <a:rPr lang="en-US" sz="1900"/>
              <a:t>Devlin, J., Chang, M. W., Lee, K., &amp; Toutanova, K. (2018). Bert: Pre-training of deep bidirectional transformers for language understanding. arXiv preprint arXiv:1810.04805.</a:t>
            </a:r>
            <a:endParaRPr sz="1900"/>
          </a:p>
          <a:p>
            <a:pPr indent="-349250" lvl="0" marL="457200" rtl="0" algn="l">
              <a:lnSpc>
                <a:spcPct val="90000"/>
              </a:lnSpc>
              <a:spcBef>
                <a:spcPts val="0"/>
              </a:spcBef>
              <a:spcAft>
                <a:spcPts val="0"/>
              </a:spcAft>
              <a:buSzPts val="1900"/>
              <a:buFont typeface="Roboto"/>
              <a:buAutoNum type="arabicPeriod"/>
            </a:pPr>
            <a:r>
              <a:rPr lang="en-US" sz="1900"/>
              <a:t>Medhat, Walaa, Hassan, Ahmed, Hoda, Korashy (2014). Sentiment analysis algorithms and applications: A survey. </a:t>
            </a:r>
            <a:r>
              <a:rPr i="1" lang="en-US" sz="1900"/>
              <a:t>Ain Sham Engineering Journals.</a:t>
            </a:r>
            <a:r>
              <a:rPr lang="en-US" sz="1900"/>
              <a:t> </a:t>
            </a:r>
            <a:r>
              <a:rPr lang="en-US" sz="1900">
                <a:solidFill>
                  <a:schemeClr val="hlink"/>
                </a:solidFill>
                <a:uFill>
                  <a:noFill/>
                </a:uFill>
                <a:hlinkClick r:id="rId3"/>
              </a:rPr>
              <a:t>https://doi.org/10.1016/j.asej.2014.04.011</a:t>
            </a:r>
            <a:endParaRPr sz="1900"/>
          </a:p>
          <a:p>
            <a:pPr indent="-349250" lvl="0" marL="457200" rtl="0" algn="l">
              <a:lnSpc>
                <a:spcPct val="115000"/>
              </a:lnSpc>
              <a:spcBef>
                <a:spcPts val="0"/>
              </a:spcBef>
              <a:spcAft>
                <a:spcPts val="0"/>
              </a:spcAft>
              <a:buSzPts val="1900"/>
              <a:buFont typeface="Roboto"/>
              <a:buAutoNum type="arabicPeriod"/>
            </a:pPr>
            <a:r>
              <a:rPr lang="en-US" sz="1900"/>
              <a:t>MacMillan, Kelsey, and James D. Wilson. </a:t>
            </a:r>
            <a:r>
              <a:rPr i="1" lang="en-US" sz="1900"/>
              <a:t>Topic Supervised Non-Negative Matrix Factorization</a:t>
            </a:r>
            <a:r>
              <a:rPr lang="en-US" sz="1900"/>
              <a:t>, Arxiv, 4 July 2017, https://arxiv.org/pdf/1706.05084.pdf. </a:t>
            </a:r>
            <a:endParaRPr sz="1900"/>
          </a:p>
          <a:p>
            <a:pPr indent="-349250" lvl="0" marL="457200" rtl="0" algn="l">
              <a:lnSpc>
                <a:spcPct val="115000"/>
              </a:lnSpc>
              <a:spcBef>
                <a:spcPts val="0"/>
              </a:spcBef>
              <a:spcAft>
                <a:spcPts val="0"/>
              </a:spcAft>
              <a:buSzPts val="1900"/>
              <a:buFont typeface="Roboto"/>
              <a:buAutoNum type="arabicPeriod"/>
            </a:pPr>
            <a:r>
              <a:rPr lang="en-US" sz="1900"/>
              <a:t>Beri, Aditya. “Latent Dirichlet Allocation.” </a:t>
            </a:r>
            <a:r>
              <a:rPr i="1" lang="en-US" sz="1900"/>
              <a:t>Latent Dirichlet Allocation</a:t>
            </a:r>
            <a:r>
              <a:rPr lang="en-US" sz="1900"/>
              <a:t>, CodeChef-VIT, 27 Jan. 2021, https://medium.com/codechef-vit/latent-dirichlet-allocation-812bb8099518. </a:t>
            </a:r>
            <a:endParaRPr sz="1900"/>
          </a:p>
          <a:p>
            <a:pPr indent="-349250" lvl="0" marL="457200" rtl="0" algn="l">
              <a:lnSpc>
                <a:spcPct val="115000"/>
              </a:lnSpc>
              <a:spcBef>
                <a:spcPts val="0"/>
              </a:spcBef>
              <a:spcAft>
                <a:spcPts val="0"/>
              </a:spcAft>
              <a:buSzPts val="1900"/>
              <a:buFont typeface="Roboto"/>
              <a:buAutoNum type="arabicPeriod"/>
            </a:pPr>
            <a:r>
              <a:rPr lang="en-US" sz="1900"/>
              <a:t>Rolczyński, Rafał. </a:t>
            </a:r>
            <a:r>
              <a:rPr i="1" lang="en-US" sz="1900"/>
              <a:t>Do You Trust in Aspect-Based Sentiment Analysis? - SCALAC</a:t>
            </a:r>
            <a:r>
              <a:rPr lang="en-US" sz="1900"/>
              <a:t>, https://scalac.io/wp-content/uploads/2021/04/Ebook_Explainable-Sentiment-Analysis.pdf. </a:t>
            </a:r>
            <a:endParaRPr sz="1900"/>
          </a:p>
        </p:txBody>
      </p:sp>
      <p:sp>
        <p:nvSpPr>
          <p:cNvPr id="291" name="Google Shape;291;g9d48565bb2_0_10"/>
          <p:cNvSpPr txBox="1"/>
          <p:nvPr>
            <p:ph type="title"/>
          </p:nvPr>
        </p:nvSpPr>
        <p:spPr>
          <a:xfrm>
            <a:off x="381000" y="200722"/>
            <a:ext cx="11430000" cy="10149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SzPts val="1800"/>
              <a:buNone/>
            </a:pPr>
            <a:r>
              <a:rPr lang="en-US"/>
              <a:t>Citations</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12"/>
          <p:cNvSpPr txBox="1"/>
          <p:nvPr>
            <p:ph type="title"/>
          </p:nvPr>
        </p:nvSpPr>
        <p:spPr>
          <a:xfrm>
            <a:off x="188150" y="1803747"/>
            <a:ext cx="11430000" cy="1014900"/>
          </a:xfrm>
          <a:prstGeom prst="rect">
            <a:avLst/>
          </a:prstGeom>
          <a:noFill/>
          <a:ln>
            <a:noFill/>
          </a:ln>
        </p:spPr>
        <p:txBody>
          <a:bodyPr anchorCtr="0" anchor="ctr" bIns="45700" lIns="91425" spcFirstLastPara="1" rIns="91425" wrap="square" tIns="45700">
            <a:noAutofit/>
          </a:bodyPr>
          <a:lstStyle/>
          <a:p>
            <a:pPr indent="0" lvl="0" marL="4114800" rtl="0" algn="l">
              <a:lnSpc>
                <a:spcPct val="90000"/>
              </a:lnSpc>
              <a:spcBef>
                <a:spcPts val="0"/>
              </a:spcBef>
              <a:spcAft>
                <a:spcPts val="0"/>
              </a:spcAft>
              <a:buSzPts val="1800"/>
              <a:buNone/>
            </a:pPr>
            <a:r>
              <a:rPr lang="en-US" sz="5000"/>
              <a:t>Questions?</a:t>
            </a:r>
            <a:endParaRPr sz="5000"/>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00" name="Shape 300"/>
        <p:cNvGrpSpPr/>
        <p:nvPr/>
      </p:nvGrpSpPr>
      <p:grpSpPr>
        <a:xfrm>
          <a:off x="0" y="0"/>
          <a:ext cx="0" cy="0"/>
          <a:chOff x="0" y="0"/>
          <a:chExt cx="0" cy="0"/>
        </a:xfrm>
      </p:grpSpPr>
      <p:sp>
        <p:nvSpPr>
          <p:cNvPr id="301" name="Google Shape;301;gbea1223c9f_0_1"/>
          <p:cNvSpPr txBox="1"/>
          <p:nvPr>
            <p:ph idx="1" type="body"/>
          </p:nvPr>
        </p:nvSpPr>
        <p:spPr>
          <a:xfrm>
            <a:off x="6091850" y="1215475"/>
            <a:ext cx="5718900" cy="45963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1000"/>
              </a:spcBef>
              <a:spcAft>
                <a:spcPts val="0"/>
              </a:spcAft>
              <a:buSzPts val="1800"/>
              <a:buNone/>
            </a:pPr>
            <a:r>
              <a:rPr lang="en-US"/>
              <a:t>“a group of individuals who collaboratively engage in purposeful critical discourse and reflection to construct personal meaning and confirm mutual understanding”</a:t>
            </a:r>
            <a:endParaRPr/>
          </a:p>
        </p:txBody>
      </p:sp>
      <p:sp>
        <p:nvSpPr>
          <p:cNvPr id="302" name="Google Shape;302;gbea1223c9f_0_1"/>
          <p:cNvSpPr txBox="1"/>
          <p:nvPr>
            <p:ph type="title"/>
          </p:nvPr>
        </p:nvSpPr>
        <p:spPr>
          <a:xfrm>
            <a:off x="381000" y="200722"/>
            <a:ext cx="11430000" cy="10149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rPr lang="en-US"/>
              <a:t>Community of Inquiry</a:t>
            </a:r>
            <a:endParaRPr/>
          </a:p>
        </p:txBody>
      </p:sp>
      <p:pic>
        <p:nvPicPr>
          <p:cNvPr id="303" name="Google Shape;303;gbea1223c9f_0_1"/>
          <p:cNvPicPr preferRelativeResize="0"/>
          <p:nvPr/>
        </p:nvPicPr>
        <p:blipFill rotWithShape="1">
          <a:blip r:embed="rId3">
            <a:alphaModFix/>
          </a:blip>
          <a:srcRect b="11793" l="0" r="0" t="0"/>
          <a:stretch/>
        </p:blipFill>
        <p:spPr>
          <a:xfrm>
            <a:off x="488775" y="1215475"/>
            <a:ext cx="5117075" cy="4054150"/>
          </a:xfrm>
          <a:prstGeom prst="rect">
            <a:avLst/>
          </a:prstGeom>
          <a:noFill/>
          <a:ln>
            <a:noFill/>
          </a:ln>
        </p:spPr>
      </p:pic>
      <p:sp>
        <p:nvSpPr>
          <p:cNvPr id="304" name="Google Shape;304;gbea1223c9f_0_1"/>
          <p:cNvSpPr txBox="1"/>
          <p:nvPr/>
        </p:nvSpPr>
        <p:spPr>
          <a:xfrm>
            <a:off x="488763" y="5411575"/>
            <a:ext cx="51171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Elements of an Educational Experience (Garrison et al., 1999)</a:t>
            </a:r>
            <a:endParaRPr b="0" i="0" sz="1400" u="none" cap="none" strike="noStrike">
              <a:solidFill>
                <a:srgbClr val="000000"/>
              </a:solidFill>
              <a:latin typeface="Roboto"/>
              <a:ea typeface="Roboto"/>
              <a:cs typeface="Roboto"/>
              <a:sym typeface="Roboto"/>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ustom Design">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1_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2016-03-09T16:46:53Z</dcterms:created>
  <dc:creator>Microsoft Office User</dc:creator>
</cp:coreProperties>
</file>