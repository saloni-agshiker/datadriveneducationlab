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y="6858000" cx="12192000"/>
  <p:notesSz cx="6858000" cy="9144000"/>
  <p:embeddedFontLst>
    <p:embeddedFont>
      <p:font typeface="Roboto"/>
      <p:regular r:id="rId34"/>
      <p:bold r:id="rId35"/>
      <p:italic r:id="rId36"/>
      <p:boldItalic r:id="rId37"/>
    </p:embeddedFont>
    <p:embeddedFont>
      <p:font typeface="Proxima Nova"/>
      <p:regular r:id="rId38"/>
      <p:bold r:id="rId39"/>
      <p:italic r:id="rId40"/>
      <p:boldItalic r:id="rId41"/>
    </p:embeddedFont>
    <p:embeddedFont>
      <p:font typeface="Roboto Condensed Light"/>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73">
          <p15:clr>
            <a:srgbClr val="000000"/>
          </p15:clr>
        </p15:guide>
        <p15:guide id="2" pos="244">
          <p15:clr>
            <a:srgbClr val="000000"/>
          </p15:clr>
        </p15:guide>
      </p15:sldGuideLst>
    </p:ext>
    <p:ext uri="http://customooxmlschemas.google.com/">
      <go:slidesCustomData xmlns:go="http://customooxmlschemas.google.com/" r:id="rId46" roundtripDataSignature="AMtx7miA7wHGVP+7CiPpPkJAB63owHFLy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0FD45D6-D313-4B97-AE22-C798632E5EDC}">
  <a:tblStyle styleId="{B0FD45D6-D313-4B97-AE22-C798632E5EDC}"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73" orient="horz"/>
        <p:guide pos="24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roximaNova-italic.fntdata"/><Relationship Id="rId20" Type="http://schemas.openxmlformats.org/officeDocument/2006/relationships/slide" Target="slides/slide13.xml"/><Relationship Id="rId42" Type="http://schemas.openxmlformats.org/officeDocument/2006/relationships/font" Target="fonts/RobotoCondensedLight-regular.fntdata"/><Relationship Id="rId41" Type="http://schemas.openxmlformats.org/officeDocument/2006/relationships/font" Target="fonts/ProximaNova-boldItalic.fntdata"/><Relationship Id="rId22" Type="http://schemas.openxmlformats.org/officeDocument/2006/relationships/slide" Target="slides/slide15.xml"/><Relationship Id="rId44" Type="http://schemas.openxmlformats.org/officeDocument/2006/relationships/font" Target="fonts/RobotoCondensedLight-italic.fntdata"/><Relationship Id="rId21" Type="http://schemas.openxmlformats.org/officeDocument/2006/relationships/slide" Target="slides/slide14.xml"/><Relationship Id="rId43" Type="http://schemas.openxmlformats.org/officeDocument/2006/relationships/font" Target="fonts/RobotoCondensedLight-bold.fntdata"/><Relationship Id="rId24" Type="http://schemas.openxmlformats.org/officeDocument/2006/relationships/slide" Target="slides/slide17.xml"/><Relationship Id="rId46" Type="http://customschemas.google.com/relationships/presentationmetadata" Target="metadata"/><Relationship Id="rId23" Type="http://schemas.openxmlformats.org/officeDocument/2006/relationships/slide" Target="slides/slide16.xml"/><Relationship Id="rId45" Type="http://schemas.openxmlformats.org/officeDocument/2006/relationships/font" Target="fonts/RobotoCondensedLigh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font" Target="fonts/Roboto-bold.fntdata"/><Relationship Id="rId12" Type="http://schemas.openxmlformats.org/officeDocument/2006/relationships/slide" Target="slides/slide5.xml"/><Relationship Id="rId34" Type="http://schemas.openxmlformats.org/officeDocument/2006/relationships/font" Target="fonts/Roboto-regular.fntdata"/><Relationship Id="rId15" Type="http://schemas.openxmlformats.org/officeDocument/2006/relationships/slide" Target="slides/slide8.xml"/><Relationship Id="rId37" Type="http://schemas.openxmlformats.org/officeDocument/2006/relationships/font" Target="fonts/Roboto-boldItalic.fntdata"/><Relationship Id="rId14" Type="http://schemas.openxmlformats.org/officeDocument/2006/relationships/slide" Target="slides/slide7.xml"/><Relationship Id="rId36" Type="http://schemas.openxmlformats.org/officeDocument/2006/relationships/font" Target="fonts/Roboto-italic.fntdata"/><Relationship Id="rId17" Type="http://schemas.openxmlformats.org/officeDocument/2006/relationships/slide" Target="slides/slide10.xml"/><Relationship Id="rId39" Type="http://schemas.openxmlformats.org/officeDocument/2006/relationships/font" Target="fonts/ProximaNova-bold.fntdata"/><Relationship Id="rId16" Type="http://schemas.openxmlformats.org/officeDocument/2006/relationships/slide" Target="slides/slide9.xml"/><Relationship Id="rId38" Type="http://schemas.openxmlformats.org/officeDocument/2006/relationships/font" Target="fonts/ProximaNova-regular.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Pratik</a:t>
            </a:r>
            <a:endParaRPr/>
          </a:p>
        </p:txBody>
      </p:sp>
      <p:sp>
        <p:nvSpPr>
          <p:cNvPr id="74" name="Google Shape;7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5db474c58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g15db474c58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All</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9d48565bb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g9d48565bb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Pratik</a:t>
            </a:r>
            <a:endParaRPr/>
          </a:p>
          <a:p>
            <a:pPr indent="0" lvl="0" marL="0" rtl="0" algn="l">
              <a:lnSpc>
                <a:spcPct val="100000"/>
              </a:lnSpc>
              <a:spcBef>
                <a:spcPts val="0"/>
              </a:spcBef>
              <a:spcAft>
                <a:spcPts val="0"/>
              </a:spcAft>
              <a:buSzPts val="1100"/>
              <a:buNone/>
            </a:pPr>
            <a:r>
              <a:rPr lang="en-US"/>
              <a:t>Discussion forums are the primary source of class interaction in an online asynchronous course. The activity on these forums can be used as an indicator for assessing students’ engagement and understanding in the course. A popular framework in this context is the community of inquiry framework. </a:t>
            </a:r>
            <a:r>
              <a:rPr lang="en-US">
                <a:solidFill>
                  <a:schemeClr val="dk1"/>
                </a:solidFill>
              </a:rPr>
              <a:t>It gives us a way to study how student learning takes place in online and blended environments. As shown in the diagram there are 3 components, cognitive presence, social presence and teaching presence.</a:t>
            </a:r>
            <a:r>
              <a:rPr lang="en-US"/>
              <a:t>We’re focusing on the first two as of now. The goal here is to develop a web-based application which will help instructors get insights in almost real-time how students are engaging </a:t>
            </a:r>
            <a:r>
              <a:rPr lang="en-US"/>
              <a:t>with</a:t>
            </a:r>
            <a:r>
              <a:rPr lang="en-US"/>
              <a:t> the course and their sentiment on certain aspects, which can be used to improve the cognitive engagement levels in their courses.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ba764dde3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gba764dde3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Pratik</a:t>
            </a:r>
            <a:endParaRPr/>
          </a:p>
          <a:p>
            <a:pPr indent="0" lvl="0" marL="0" rtl="0" algn="l">
              <a:lnSpc>
                <a:spcPct val="100000"/>
              </a:lnSpc>
              <a:spcBef>
                <a:spcPts val="0"/>
              </a:spcBef>
              <a:spcAft>
                <a:spcPts val="0"/>
              </a:spcAft>
              <a:buSzPts val="1100"/>
              <a:buNone/>
            </a:pPr>
            <a:r>
              <a:rPr lang="en-US"/>
              <a:t>In the previous semester, </a:t>
            </a:r>
            <a:r>
              <a:rPr lang="en-US">
                <a:solidFill>
                  <a:schemeClr val="dk1"/>
                </a:solidFill>
              </a:rPr>
              <a:t>web-dev team was able to integrate the web-app with the Data Science team’s model </a:t>
            </a:r>
            <a:r>
              <a:rPr lang="en-US">
                <a:solidFill>
                  <a:schemeClr val="dk1"/>
                </a:solidFill>
              </a:rPr>
              <a:t>working on real Piazza data </a:t>
            </a:r>
            <a:r>
              <a:rPr lang="en-US">
                <a:solidFill>
                  <a:schemeClr val="dk1"/>
                </a:solidFill>
              </a:rPr>
              <a:t>and create mockups of our dashboard. In terms of UX research, we were able to collect a few survey results and couple interviews with instructors to help prioritize metrics for the dashboard. The data science team has managed to build 3 categories of models over the past few semesters for cognitive presence, sentiment analysis and topic modeling, which they’ll talk about in their respective section. As a project manager, there are a few aspects I’m working to improve on based on reflections from previous semester. Mainly setting clear measurable goals at the start rather than in the middle, quicker feedback loops, and better scheduling of tasks for each individual to minimize any bottlenecks in execution.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f4b38d880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gf4b38d880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Malav:</a:t>
            </a:r>
            <a:endParaRPr/>
          </a:p>
          <a:p>
            <a:pPr indent="0" lvl="0" marL="0" rtl="0" algn="l">
              <a:lnSpc>
                <a:spcPct val="100000"/>
              </a:lnSpc>
              <a:spcBef>
                <a:spcPts val="0"/>
              </a:spcBef>
              <a:spcAft>
                <a:spcPts val="0"/>
              </a:spcAft>
              <a:buSzPts val="1100"/>
              <a:buNone/>
            </a:pPr>
            <a:r>
              <a:rPr lang="en-US"/>
              <a:t>This semester our focus is to deploy a web-app with a fully mapped back-end to support professors </a:t>
            </a:r>
            <a:r>
              <a:rPr lang="en-US"/>
              <a:t>with understand </a:t>
            </a:r>
            <a:r>
              <a:rPr lang="en-US"/>
              <a:t>their classes. The specifics of the </a:t>
            </a:r>
            <a:r>
              <a:rPr lang="en-US"/>
              <a:t>dashboard and the backend will be elaborated by the respective teams. The research will be performed to understand new requirements of the courses.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efbeba6a1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gefbeba6a1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bea1223c9f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gbea1223c9f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Malav</a:t>
            </a:r>
            <a:endParaRPr/>
          </a:p>
          <a:p>
            <a:pPr indent="0" lvl="0" marL="0" rtl="0" algn="l">
              <a:lnSpc>
                <a:spcPct val="100000"/>
              </a:lnSpc>
              <a:spcBef>
                <a:spcPts val="0"/>
              </a:spcBef>
              <a:spcAft>
                <a:spcPts val="0"/>
              </a:spcAft>
              <a:buSzPts val="1100"/>
              <a:buNone/>
            </a:pPr>
            <a:r>
              <a:t/>
            </a:r>
            <a:endParaRPr/>
          </a:p>
          <a:p>
            <a:pPr indent="0" lvl="0" marL="0" rtl="0" algn="l">
              <a:lnSpc>
                <a:spcPct val="115000"/>
              </a:lnSpc>
              <a:spcBef>
                <a:spcPts val="1100"/>
              </a:spcBef>
              <a:spcAft>
                <a:spcPts val="0"/>
              </a:spcAft>
              <a:buClr>
                <a:schemeClr val="dk1"/>
              </a:buClr>
              <a:buSzPts val="1100"/>
              <a:buFont typeface="Arial"/>
              <a:buNone/>
            </a:pPr>
            <a:r>
              <a:rPr lang="en-US">
                <a:solidFill>
                  <a:schemeClr val="dk1"/>
                </a:solidFill>
              </a:rPr>
              <a:t>Our goal is to analyze student interaction with their peers and understand their engagement and performance in a classroom and provide </a:t>
            </a:r>
            <a:r>
              <a:rPr lang="en-US">
                <a:solidFill>
                  <a:schemeClr val="dk1"/>
                </a:solidFill>
              </a:rPr>
              <a:t>visualized graphics data to the web-dev team </a:t>
            </a:r>
            <a:r>
              <a:rPr lang="en-US">
                <a:solidFill>
                  <a:schemeClr val="dk1"/>
                </a:solidFill>
              </a:rPr>
              <a:t>using the previous</a:t>
            </a:r>
            <a:r>
              <a:rPr lang="en-US">
                <a:solidFill>
                  <a:schemeClr val="dk1"/>
                </a:solidFill>
              </a:rPr>
              <a:t> cognitive presence and topic modeling</a:t>
            </a:r>
            <a:r>
              <a:rPr lang="en-US">
                <a:solidFill>
                  <a:schemeClr val="dk1"/>
                </a:solidFill>
              </a:rPr>
              <a:t> results and aspect based sentiment </a:t>
            </a:r>
            <a:r>
              <a:rPr lang="en-US">
                <a:solidFill>
                  <a:schemeClr val="dk1"/>
                </a:solidFill>
              </a:rPr>
              <a:t>analysis</a:t>
            </a:r>
            <a:r>
              <a:rPr lang="en-US">
                <a:solidFill>
                  <a:schemeClr val="dk1"/>
                </a:solidFill>
              </a:rPr>
              <a:t> to understanding the interactions between students and professors. By the end of the semester, we want to provide graphics data from our analysis to the professors by integrating the results of these models. Also, we would like to complete the pipeline to avail this </a:t>
            </a:r>
            <a:r>
              <a:rPr lang="en-US">
                <a:solidFill>
                  <a:schemeClr val="dk1"/>
                </a:solidFill>
              </a:rPr>
              <a:t>functionality</a:t>
            </a:r>
            <a:r>
              <a:rPr lang="en-US">
                <a:solidFill>
                  <a:schemeClr val="dk1"/>
                </a:solidFill>
              </a:rPr>
              <a:t> in real-time on incoming Piazza data through a webapp in a real-time environment. </a:t>
            </a:r>
            <a:endParaRPr/>
          </a:p>
          <a:p>
            <a:pPr indent="0" lvl="0" marL="0" rtl="0" algn="l">
              <a:lnSpc>
                <a:spcPct val="115000"/>
              </a:lnSpc>
              <a:spcBef>
                <a:spcPts val="1100"/>
              </a:spcBef>
              <a:spcAft>
                <a:spcPts val="0"/>
              </a:spcAft>
              <a:buClr>
                <a:schemeClr val="dk1"/>
              </a:buClr>
              <a:buSzPts val="1100"/>
              <a:buFont typeface="Arial"/>
              <a:buNone/>
            </a:pPr>
            <a:r>
              <a:t/>
            </a:r>
            <a:endParaRPr/>
          </a:p>
          <a:p>
            <a:pPr indent="0" lvl="0" marL="0" rtl="0" algn="l">
              <a:lnSpc>
                <a:spcPct val="100000"/>
              </a:lnSpc>
              <a:spcBef>
                <a:spcPts val="110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efbeba6a1c_0_5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gefbeba6a1c_0_5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Jisan</a:t>
            </a:r>
            <a:endParaRPr/>
          </a:p>
          <a:p>
            <a:pPr indent="0" lvl="0" marL="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lang="en-US"/>
              <a:t>multiple projects in data science</a:t>
            </a:r>
            <a:endParaRPr/>
          </a:p>
          <a:p>
            <a:pPr indent="-298450" lvl="0" marL="457200" rtl="0" algn="l">
              <a:lnSpc>
                <a:spcPct val="100000"/>
              </a:lnSpc>
              <a:spcBef>
                <a:spcPts val="0"/>
              </a:spcBef>
              <a:spcAft>
                <a:spcPts val="0"/>
              </a:spcAft>
              <a:buSzPts val="1100"/>
              <a:buChar char="-"/>
            </a:pPr>
            <a:r>
              <a:rPr lang="en-US"/>
              <a:t>from last semesters, continuing work on cognitive presence and sentiment analysis</a:t>
            </a:r>
            <a:endParaRPr/>
          </a:p>
          <a:p>
            <a:pPr indent="-298450" lvl="0" marL="457200" rtl="0" algn="l">
              <a:lnSpc>
                <a:spcPct val="100000"/>
              </a:lnSpc>
              <a:spcBef>
                <a:spcPts val="0"/>
              </a:spcBef>
              <a:spcAft>
                <a:spcPts val="0"/>
              </a:spcAft>
              <a:buSzPts val="1100"/>
              <a:buChar char="-"/>
            </a:pPr>
            <a:r>
              <a:rPr lang="en-US"/>
              <a:t>new research topics are topic modeling and ABSA</a:t>
            </a:r>
            <a:endParaRPr/>
          </a:p>
          <a:p>
            <a:pPr indent="-298450" lvl="0" marL="457200" rtl="0" algn="l">
              <a:lnSpc>
                <a:spcPct val="100000"/>
              </a:lnSpc>
              <a:spcBef>
                <a:spcPts val="0"/>
              </a:spcBef>
              <a:spcAft>
                <a:spcPts val="0"/>
              </a:spcAft>
              <a:buSzPts val="1100"/>
              <a:buChar char="-"/>
            </a:pPr>
            <a:r>
              <a:rPr lang="en-US"/>
              <a:t>upcoming project is metacognition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5e2f3f4d0a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15e2f3f4d0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Jisan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5db474c58e_0_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g15db474c58e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Jisan</a:t>
            </a:r>
            <a:endParaRPr/>
          </a:p>
          <a:p>
            <a:pPr indent="0" lvl="0" marL="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lang="en-US"/>
              <a:t>Mostly Topic modeling with LDA </a:t>
            </a:r>
            <a:r>
              <a:rPr lang="en-US">
                <a:solidFill>
                  <a:schemeClr val="dk1"/>
                </a:solidFill>
                <a:latin typeface="Roboto"/>
                <a:ea typeface="Roboto"/>
                <a:cs typeface="Roboto"/>
                <a:sym typeface="Roboto"/>
              </a:rPr>
              <a:t>for probabilistic topic assignment vector </a:t>
            </a:r>
            <a:r>
              <a:rPr lang="en-US"/>
              <a:t>and BERT </a:t>
            </a:r>
            <a:r>
              <a:rPr lang="en-US">
                <a:solidFill>
                  <a:schemeClr val="dk1"/>
                </a:solidFill>
                <a:latin typeface="Roboto"/>
                <a:ea typeface="Roboto"/>
                <a:cs typeface="Roboto"/>
                <a:sym typeface="Roboto"/>
              </a:rPr>
              <a:t>for sentence embedding vector</a:t>
            </a:r>
            <a:endParaRPr sz="1800">
              <a:solidFill>
                <a:schemeClr val="dk1"/>
              </a:solidFill>
              <a:latin typeface="Roboto"/>
              <a:ea typeface="Roboto"/>
              <a:cs typeface="Roboto"/>
              <a:sym typeface="Roboto"/>
            </a:endParaRPr>
          </a:p>
          <a:p>
            <a:pPr indent="-298450" lvl="0" marL="457200" rtl="0" algn="l">
              <a:lnSpc>
                <a:spcPct val="100000"/>
              </a:lnSpc>
              <a:spcBef>
                <a:spcPts val="0"/>
              </a:spcBef>
              <a:spcAft>
                <a:spcPts val="0"/>
              </a:spcAft>
              <a:buSzPts val="1100"/>
              <a:buChar char="-"/>
            </a:pPr>
            <a:r>
              <a:t/>
            </a:r>
            <a:endParaRPr/>
          </a:p>
          <a:p>
            <a:pPr indent="-298450" lvl="0" marL="457200" rtl="0" algn="l">
              <a:lnSpc>
                <a:spcPct val="100000"/>
              </a:lnSpc>
              <a:spcBef>
                <a:spcPts val="0"/>
              </a:spcBef>
              <a:spcAft>
                <a:spcPts val="0"/>
              </a:spcAft>
              <a:buSzPts val="1100"/>
              <a:buChar char="-"/>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5e2f3f4d0a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5e2f3f4d0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Harriet</a:t>
            </a:r>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US">
                <a:solidFill>
                  <a:schemeClr val="dk1"/>
                </a:solidFill>
              </a:rPr>
              <a:t>Aspect-based sentiment analysis is what we brought out this semester. It is a machine learning task that identifies and assigns sentiment to aspects, features, and topics that it has categorized in the body of data. It receives texts and aspects as inputs and returns the ratio on how positive, neutral, and negative they are. It is mostly used on evaluating reviews such as movie or restaurant review, but we are applying it on Piazza data.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The example you can see on the screen is one of the posts on Piazza for an AI class. It says that “I am not sure why the link is not active”, and when we put link as an aspect, then we can see that the output says negative, because the keyword “link” is being evaluated as negative.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We are planning on using our keywords from topic modeling as aspects, and we expect this to help collect students' opinions and evaluations on difficulty or teaching methods in respect of specific topics.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5e2f3f4d0a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5e2f3f4d0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Harriet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Our ultimate goal for this semester is to improve all topic modeling, cognitive presence, and aspect-based sentiment analysis and to actually build a pipeline from data science model to our web page dashboard. </a:t>
            </a:r>
            <a:r>
              <a:rPr lang="en-US"/>
              <a:t>W</a:t>
            </a:r>
            <a:r>
              <a:rPr lang="en-US"/>
              <a:t>e are planning to generate our result as a .csv file to deliver our output to web-dev team.</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efbeba6a1c_0_5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gefbeba6a1c_0_5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efbeba6a1c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efbeba6a1c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Gautam</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efbeba6a1c_0_4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gefbeba6a1c_0_4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US"/>
              <a:t>Gautam</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efbeba6a1c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gefbeba6a1c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9d659091a8_1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g9d659091a8_1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Gautam</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15c82140282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15c8214028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Gautam</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5c82140282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5c8214028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Gautam</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efb32003e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gefb32003e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Ankit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5c82140282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5c8214028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Ankit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15c82140282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15c82140282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Ankit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Malav</a:t>
            </a:r>
            <a:endParaRPr/>
          </a:p>
          <a:p>
            <a:pPr indent="0" lvl="0" marL="0" rtl="0" algn="l">
              <a:lnSpc>
                <a:spcPct val="100000"/>
              </a:lnSpc>
              <a:spcBef>
                <a:spcPts val="0"/>
              </a:spcBef>
              <a:spcAft>
                <a:spcPts val="0"/>
              </a:spcAft>
              <a:buSzPts val="1100"/>
              <a:buNone/>
            </a:pPr>
            <a:r>
              <a:rPr lang="en-US"/>
              <a:t>To conclude, the next steps in the roadmap is getting the web-app deployed, and on the data science end, use aspect-based sentiment analysis to help instructors understand the discussion forum activity in a more granular fashion and get actionable insights based on “how are the students feeling about different aspects of the course”, like assignment quality, course materials, response time of instructors etc for example. Also if we get time, we want to continue using the topic modeling to provide a </a:t>
            </a:r>
            <a:r>
              <a:rPr lang="en-US"/>
              <a:t>feature in Piazza that could suggest responses to the incoming questions based on the previous years data collected. </a:t>
            </a:r>
            <a:r>
              <a:rPr lang="en-US"/>
              <a:t>Not all of this can be done in this semester but we’re trying to move towards it.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9d48565bb2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g9d48565bb2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bea1223c9f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gbea1223c9f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 name="Shape 6"/>
        <p:cNvGrpSpPr/>
        <p:nvPr/>
      </p:nvGrpSpPr>
      <p:grpSpPr>
        <a:xfrm>
          <a:off x="0" y="0"/>
          <a:ext cx="0" cy="0"/>
          <a:chOff x="0" y="0"/>
          <a:chExt cx="0" cy="0"/>
        </a:xfrm>
      </p:grpSpPr>
      <p:sp>
        <p:nvSpPr>
          <p:cNvPr id="7" name="Google Shape;7;p14"/>
          <p:cNvSpPr txBox="1"/>
          <p:nvPr>
            <p:ph idx="1" type="subTitle"/>
          </p:nvPr>
        </p:nvSpPr>
        <p:spPr>
          <a:xfrm>
            <a:off x="4024461" y="3793068"/>
            <a:ext cx="6795913" cy="1684868"/>
          </a:xfrm>
          <a:prstGeom prst="rect">
            <a:avLst/>
          </a:prstGeom>
          <a:noFill/>
          <a:ln>
            <a:noFill/>
          </a:ln>
        </p:spPr>
        <p:txBody>
          <a:bodyPr anchorCtr="0" anchor="t" bIns="45700" lIns="91425" spcFirstLastPara="1" rIns="91425" wrap="square" tIns="45700">
            <a:noAutofit/>
          </a:bodyPr>
          <a:lstStyle>
            <a:lvl1pPr lvl="0" marR="0" rtl="0" algn="l">
              <a:lnSpc>
                <a:spcPct val="120000"/>
              </a:lnSpc>
              <a:spcBef>
                <a:spcPts val="600"/>
              </a:spcBef>
              <a:spcAft>
                <a:spcPts val="0"/>
              </a:spcAft>
              <a:buClr>
                <a:srgbClr val="7F7F7F"/>
              </a:buClr>
              <a:buSzPts val="3000"/>
              <a:buFont typeface="Arial"/>
              <a:buNone/>
              <a:defRPr b="0" i="0" sz="3000" u="none" cap="none" strike="noStrike">
                <a:solidFill>
                  <a:srgbClr val="7F7F7F"/>
                </a:solidFill>
                <a:latin typeface="Roboto Condensed Light"/>
                <a:ea typeface="Roboto Condensed Light"/>
                <a:cs typeface="Roboto Condensed Light"/>
                <a:sym typeface="Roboto Condensed Light"/>
              </a:defRPr>
            </a:lvl1pPr>
            <a:lvl2pPr lvl="1" marR="0" rtl="0" algn="ctr">
              <a:lnSpc>
                <a:spcPct val="100000"/>
              </a:lnSpc>
              <a:spcBef>
                <a:spcPts val="420"/>
              </a:spcBef>
              <a:spcAft>
                <a:spcPts val="0"/>
              </a:spcAft>
              <a:buClr>
                <a:srgbClr val="888888"/>
              </a:buClr>
              <a:buSzPts val="2100"/>
              <a:buFont typeface="Arial"/>
              <a:buNone/>
              <a:defRPr b="0" i="0" sz="2100" u="none" cap="none" strike="noStrike">
                <a:solidFill>
                  <a:srgbClr val="888888"/>
                </a:solidFill>
                <a:latin typeface="Arial"/>
                <a:ea typeface="Arial"/>
                <a:cs typeface="Arial"/>
                <a:sym typeface="Arial"/>
              </a:defRPr>
            </a:lvl2pPr>
            <a:lvl3pPr lvl="2" marR="0" rtl="0" algn="ctr">
              <a:lnSpc>
                <a:spcPct val="100000"/>
              </a:lnSpc>
              <a:spcBef>
                <a:spcPts val="360"/>
              </a:spcBef>
              <a:spcAft>
                <a:spcPts val="0"/>
              </a:spcAft>
              <a:buClr>
                <a:srgbClr val="888888"/>
              </a:buClr>
              <a:buSzPts val="1800"/>
              <a:buFont typeface="Arial"/>
              <a:buNone/>
              <a:defRPr b="0" i="0" sz="1800" u="none" cap="none" strike="noStrike">
                <a:solidFill>
                  <a:srgbClr val="888888"/>
                </a:solidFill>
                <a:latin typeface="Arial"/>
                <a:ea typeface="Arial"/>
                <a:cs typeface="Arial"/>
                <a:sym typeface="Arial"/>
              </a:defRPr>
            </a:lvl3pPr>
            <a:lvl4pPr lvl="3"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4pPr>
            <a:lvl5pPr lvl="4"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5pPr>
            <a:lvl6pPr lvl="5"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6pPr>
            <a:lvl7pPr lvl="6"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7pPr>
            <a:lvl8pPr lvl="7"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8pPr>
            <a:lvl9pPr lvl="8"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9pPr>
          </a:lstStyle>
          <a:p/>
        </p:txBody>
      </p:sp>
      <p:sp>
        <p:nvSpPr>
          <p:cNvPr id="8" name="Google Shape;8;p14"/>
          <p:cNvSpPr txBox="1"/>
          <p:nvPr>
            <p:ph type="ctrTitle"/>
          </p:nvPr>
        </p:nvSpPr>
        <p:spPr>
          <a:xfrm>
            <a:off x="4024462" y="333633"/>
            <a:ext cx="6795913" cy="3459435"/>
          </a:xfrm>
          <a:prstGeom prst="rect">
            <a:avLst/>
          </a:prstGeom>
          <a:noFill/>
          <a:ln>
            <a:noFill/>
          </a:ln>
        </p:spPr>
        <p:txBody>
          <a:bodyPr anchorCtr="0" anchor="b" bIns="45700" lIns="91425" spcFirstLastPara="1" rIns="91425" wrap="square" tIns="45700">
            <a:normAutofit/>
          </a:bodyPr>
          <a:lstStyle>
            <a:lvl1pPr lvl="0" marR="0" rtl="0" algn="l">
              <a:lnSpc>
                <a:spcPct val="114285"/>
              </a:lnSpc>
              <a:spcBef>
                <a:spcPts val="0"/>
              </a:spcBef>
              <a:spcAft>
                <a:spcPts val="0"/>
              </a:spcAft>
              <a:buClr>
                <a:srgbClr val="A7934B"/>
              </a:buClr>
              <a:buSzPts val="4200"/>
              <a:buFont typeface="Roboto"/>
              <a:buNone/>
              <a:defRPr b="1" i="0" sz="4200" u="none" cap="none" strike="noStrike">
                <a:solidFill>
                  <a:srgbClr val="A7934B"/>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 name="Shape 15"/>
        <p:cNvGrpSpPr/>
        <p:nvPr/>
      </p:nvGrpSpPr>
      <p:grpSpPr>
        <a:xfrm>
          <a:off x="0" y="0"/>
          <a:ext cx="0" cy="0"/>
          <a:chOff x="0" y="0"/>
          <a:chExt cx="0" cy="0"/>
        </a:xfrm>
      </p:grpSpPr>
      <p:sp>
        <p:nvSpPr>
          <p:cNvPr id="16" name="Google Shape;16;p16"/>
          <p:cNvSpPr txBox="1"/>
          <p:nvPr>
            <p:ph idx="1" type="body"/>
          </p:nvPr>
        </p:nvSpPr>
        <p:spPr>
          <a:xfrm>
            <a:off x="381000" y="1215484"/>
            <a:ext cx="11430000" cy="459635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 name="Google Shape;17;p16"/>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6"/>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6"/>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0" name="Google Shape;20;p16"/>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spTree>
      <p:nvGrpSpPr>
        <p:cNvPr id="21" name="Shape 21"/>
        <p:cNvGrpSpPr/>
        <p:nvPr/>
      </p:nvGrpSpPr>
      <p:grpSpPr>
        <a:xfrm>
          <a:off x="0" y="0"/>
          <a:ext cx="0" cy="0"/>
          <a:chOff x="0" y="0"/>
          <a:chExt cx="0" cy="0"/>
        </a:xfrm>
      </p:grpSpPr>
      <p:sp>
        <p:nvSpPr>
          <p:cNvPr id="22" name="Google Shape;22;p20"/>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0"/>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0"/>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 name="Shape 26"/>
        <p:cNvGrpSpPr/>
        <p:nvPr/>
      </p:nvGrpSpPr>
      <p:grpSpPr>
        <a:xfrm>
          <a:off x="0" y="0"/>
          <a:ext cx="0" cy="0"/>
          <a:chOff x="0" y="0"/>
          <a:chExt cx="0" cy="0"/>
        </a:xfrm>
      </p:grpSpPr>
      <p:sp>
        <p:nvSpPr>
          <p:cNvPr id="27" name="Google Shape;27;p17"/>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7"/>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7"/>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type="twoObj">
  <p:cSld name="TWO_OBJECTS">
    <p:spTree>
      <p:nvGrpSpPr>
        <p:cNvPr id="30" name="Shape 30"/>
        <p:cNvGrpSpPr/>
        <p:nvPr/>
      </p:nvGrpSpPr>
      <p:grpSpPr>
        <a:xfrm>
          <a:off x="0" y="0"/>
          <a:ext cx="0" cy="0"/>
          <a:chOff x="0" y="0"/>
          <a:chExt cx="0" cy="0"/>
        </a:xfrm>
      </p:grpSpPr>
      <p:sp>
        <p:nvSpPr>
          <p:cNvPr id="31" name="Google Shape;31;p18"/>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8"/>
          <p:cNvSpPr txBox="1"/>
          <p:nvPr>
            <p:ph idx="1" type="body"/>
          </p:nvPr>
        </p:nvSpPr>
        <p:spPr>
          <a:xfrm>
            <a:off x="379048" y="1215483"/>
            <a:ext cx="5615353" cy="49614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8"/>
          <p:cNvSpPr txBox="1"/>
          <p:nvPr>
            <p:ph idx="2" type="body"/>
          </p:nvPr>
        </p:nvSpPr>
        <p:spPr>
          <a:xfrm>
            <a:off x="6197600" y="1215483"/>
            <a:ext cx="5613400" cy="49614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18"/>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8"/>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8"/>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7" name="Shape 37"/>
        <p:cNvGrpSpPr/>
        <p:nvPr/>
      </p:nvGrpSpPr>
      <p:grpSpPr>
        <a:xfrm>
          <a:off x="0" y="0"/>
          <a:ext cx="0" cy="0"/>
          <a:chOff x="0" y="0"/>
          <a:chExt cx="0" cy="0"/>
        </a:xfrm>
      </p:grpSpPr>
      <p:sp>
        <p:nvSpPr>
          <p:cNvPr id="38" name="Google Shape;38;p19"/>
          <p:cNvSpPr txBox="1"/>
          <p:nvPr>
            <p:ph idx="1" type="body"/>
          </p:nvPr>
        </p:nvSpPr>
        <p:spPr>
          <a:xfrm>
            <a:off x="381001" y="1235113"/>
            <a:ext cx="5617633"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9"/>
          <p:cNvSpPr txBox="1"/>
          <p:nvPr>
            <p:ph idx="2" type="body"/>
          </p:nvPr>
        </p:nvSpPr>
        <p:spPr>
          <a:xfrm>
            <a:off x="381001" y="2078657"/>
            <a:ext cx="5617633" cy="4111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9"/>
          <p:cNvSpPr txBox="1"/>
          <p:nvPr>
            <p:ph idx="3" type="body"/>
          </p:nvPr>
        </p:nvSpPr>
        <p:spPr>
          <a:xfrm>
            <a:off x="6172200" y="1235113"/>
            <a:ext cx="563880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9"/>
          <p:cNvSpPr txBox="1"/>
          <p:nvPr>
            <p:ph idx="4" type="body"/>
          </p:nvPr>
        </p:nvSpPr>
        <p:spPr>
          <a:xfrm>
            <a:off x="6172200" y="2078657"/>
            <a:ext cx="5638800" cy="4111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9"/>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9"/>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9"/>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5" name="Google Shape;45;p19"/>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_WITH_CAPTION_TEXT" type="objTx">
  <p:cSld name="OBJECT_WITH_CAPTION_TEXT">
    <p:spTree>
      <p:nvGrpSpPr>
        <p:cNvPr id="46" name="Shape 46"/>
        <p:cNvGrpSpPr/>
        <p:nvPr/>
      </p:nvGrpSpPr>
      <p:grpSpPr>
        <a:xfrm>
          <a:off x="0" y="0"/>
          <a:ext cx="0" cy="0"/>
          <a:chOff x="0" y="0"/>
          <a:chExt cx="0" cy="0"/>
        </a:xfrm>
      </p:grpSpPr>
      <p:sp>
        <p:nvSpPr>
          <p:cNvPr id="47" name="Google Shape;47;p21"/>
          <p:cNvSpPr txBox="1"/>
          <p:nvPr>
            <p:ph type="title"/>
          </p:nvPr>
        </p:nvSpPr>
        <p:spPr>
          <a:xfrm>
            <a:off x="381001" y="457200"/>
            <a:ext cx="393276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A7934B"/>
              </a:buClr>
              <a:buSzPts val="3200"/>
              <a:buFont typeface="Robot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1"/>
          <p:cNvSpPr txBox="1"/>
          <p:nvPr>
            <p:ph idx="1" type="body"/>
          </p:nvPr>
        </p:nvSpPr>
        <p:spPr>
          <a:xfrm>
            <a:off x="4313768" y="457201"/>
            <a:ext cx="7497233" cy="540385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9" name="Google Shape;49;p21"/>
          <p:cNvSpPr txBox="1"/>
          <p:nvPr>
            <p:ph idx="2" type="body"/>
          </p:nvPr>
        </p:nvSpPr>
        <p:spPr>
          <a:xfrm>
            <a:off x="381001" y="2274849"/>
            <a:ext cx="3932767" cy="35941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0" name="Google Shape;50;p21"/>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1"/>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1"/>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_WITH_CAPTION_TEXT" type="picTx">
  <p:cSld name="PICTURE_WITH_CAPTION_TEXT">
    <p:spTree>
      <p:nvGrpSpPr>
        <p:cNvPr id="53" name="Shape 53"/>
        <p:cNvGrpSpPr/>
        <p:nvPr/>
      </p:nvGrpSpPr>
      <p:grpSpPr>
        <a:xfrm>
          <a:off x="0" y="0"/>
          <a:ext cx="0" cy="0"/>
          <a:chOff x="0" y="0"/>
          <a:chExt cx="0" cy="0"/>
        </a:xfrm>
      </p:grpSpPr>
      <p:sp>
        <p:nvSpPr>
          <p:cNvPr id="54" name="Google Shape;54;p22"/>
          <p:cNvSpPr txBox="1"/>
          <p:nvPr>
            <p:ph type="title"/>
          </p:nvPr>
        </p:nvSpPr>
        <p:spPr>
          <a:xfrm>
            <a:off x="381001" y="457200"/>
            <a:ext cx="393276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A7934B"/>
              </a:buClr>
              <a:buSzPts val="3200"/>
              <a:buFont typeface="Robot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2"/>
          <p:cNvSpPr/>
          <p:nvPr>
            <p:ph idx="2" type="pic"/>
          </p:nvPr>
        </p:nvSpPr>
        <p:spPr>
          <a:xfrm>
            <a:off x="4313768" y="457201"/>
            <a:ext cx="7497233" cy="5403850"/>
          </a:xfrm>
          <a:prstGeom prst="rect">
            <a:avLst/>
          </a:prstGeom>
          <a:noFill/>
          <a:ln>
            <a:noFill/>
          </a:ln>
        </p:spPr>
      </p:sp>
      <p:sp>
        <p:nvSpPr>
          <p:cNvPr id="56" name="Google Shape;56;p22"/>
          <p:cNvSpPr txBox="1"/>
          <p:nvPr>
            <p:ph idx="1" type="body"/>
          </p:nvPr>
        </p:nvSpPr>
        <p:spPr>
          <a:xfrm>
            <a:off x="381001" y="2274849"/>
            <a:ext cx="3932767" cy="35941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7" name="Google Shape;57;p22"/>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2"/>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2"/>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EXT" type="vertTx">
  <p:cSld name="VERTICAL_TEXT">
    <p:spTree>
      <p:nvGrpSpPr>
        <p:cNvPr id="60" name="Shape 60"/>
        <p:cNvGrpSpPr/>
        <p:nvPr/>
      </p:nvGrpSpPr>
      <p:grpSpPr>
        <a:xfrm>
          <a:off x="0" y="0"/>
          <a:ext cx="0" cy="0"/>
          <a:chOff x="0" y="0"/>
          <a:chExt cx="0" cy="0"/>
        </a:xfrm>
      </p:grpSpPr>
      <p:sp>
        <p:nvSpPr>
          <p:cNvPr id="61" name="Google Shape;61;p23"/>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3"/>
          <p:cNvSpPr txBox="1"/>
          <p:nvPr>
            <p:ph idx="1" type="body"/>
          </p:nvPr>
        </p:nvSpPr>
        <p:spPr>
          <a:xfrm rot="5400000">
            <a:off x="3797823" y="-2201338"/>
            <a:ext cx="4596355" cy="11430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23"/>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3"/>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3"/>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ITLE_AND_VERTICAL_TEXT" type="vertTitleAndTx">
  <p:cSld name="VERTICAL_TITLE_AND_VERTICAL_TEXT">
    <p:spTree>
      <p:nvGrpSpPr>
        <p:cNvPr id="66" name="Shape 66"/>
        <p:cNvGrpSpPr/>
        <p:nvPr/>
      </p:nvGrpSpPr>
      <p:grpSpPr>
        <a:xfrm>
          <a:off x="0" y="0"/>
          <a:ext cx="0" cy="0"/>
          <a:chOff x="0" y="0"/>
          <a:chExt cx="0" cy="0"/>
        </a:xfrm>
      </p:grpSpPr>
      <p:sp>
        <p:nvSpPr>
          <p:cNvPr id="67" name="Google Shape;67;p24"/>
          <p:cNvSpPr txBox="1"/>
          <p:nvPr>
            <p:ph type="title"/>
          </p:nvPr>
        </p:nvSpPr>
        <p:spPr>
          <a:xfrm rot="5400000">
            <a:off x="7590632"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4"/>
          <p:cNvSpPr txBox="1"/>
          <p:nvPr>
            <p:ph idx="1" type="body"/>
          </p:nvPr>
        </p:nvSpPr>
        <p:spPr>
          <a:xfrm rot="5400000">
            <a:off x="1875632" y="-1129506"/>
            <a:ext cx="5811838" cy="88011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24"/>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4"/>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4"/>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7.jp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3.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A7934B"/>
              </a:buClr>
              <a:buSzPts val="3600"/>
              <a:buFont typeface="Roboto"/>
              <a:buNone/>
              <a:defRPr b="1" i="0" sz="3600" u="none" cap="none" strike="noStrike">
                <a:solidFill>
                  <a:srgbClr val="A7934B"/>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5"/>
          <p:cNvSpPr txBox="1"/>
          <p:nvPr>
            <p:ph idx="1" type="body"/>
          </p:nvPr>
        </p:nvSpPr>
        <p:spPr>
          <a:xfrm>
            <a:off x="381000" y="1215484"/>
            <a:ext cx="11430000" cy="4596355"/>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Roboto"/>
                <a:ea typeface="Roboto"/>
                <a:cs typeface="Roboto"/>
                <a:sym typeface="Robo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Roboto"/>
                <a:ea typeface="Roboto"/>
                <a:cs typeface="Roboto"/>
                <a:sym typeface="Robo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Roboto"/>
                <a:ea typeface="Roboto"/>
                <a:cs typeface="Roboto"/>
                <a:sym typeface="Robo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5"/>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5"/>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5"/>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4.jpg"/><Relationship Id="rId5" Type="http://schemas.openxmlformats.org/officeDocument/2006/relationships/image" Target="../media/image9.png"/><Relationship Id="rId6" Type="http://schemas.openxmlformats.org/officeDocument/2006/relationships/image" Target="../media/image12.png"/><Relationship Id="rId7" Type="http://schemas.openxmlformats.org/officeDocument/2006/relationships/image" Target="../media/image19.jpg"/><Relationship Id="rId8"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30.png"/><Relationship Id="rId5"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28.png"/><Relationship Id="rId5" Type="http://schemas.openxmlformats.org/officeDocument/2006/relationships/image" Target="../media/image31.png"/><Relationship Id="rId6"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image" Target="../media/image20.png"/><Relationship Id="rId6"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www.figma.com/file/E7GKzL49vurhk3X3XMFJBY/spring-2022-vip-mockups?node-id=0%3A1"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doi.org/10.1016/j.asej.2014.04.011"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 name="Shape 75"/>
        <p:cNvGrpSpPr/>
        <p:nvPr/>
      </p:nvGrpSpPr>
      <p:grpSpPr>
        <a:xfrm>
          <a:off x="0" y="0"/>
          <a:ext cx="0" cy="0"/>
          <a:chOff x="0" y="0"/>
          <a:chExt cx="0" cy="0"/>
        </a:xfrm>
      </p:grpSpPr>
      <p:sp>
        <p:nvSpPr>
          <p:cNvPr id="76" name="Google Shape;76;p1"/>
          <p:cNvSpPr txBox="1"/>
          <p:nvPr>
            <p:ph idx="1" type="subTitle"/>
          </p:nvPr>
        </p:nvSpPr>
        <p:spPr>
          <a:xfrm>
            <a:off x="4024461" y="3793068"/>
            <a:ext cx="6795913" cy="1684868"/>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rgbClr val="7F7F7F"/>
              </a:buClr>
              <a:buSzPts val="3000"/>
              <a:buNone/>
            </a:pPr>
            <a:r>
              <a:rPr lang="en-US"/>
              <a:t>Discussion Forum Subteam</a:t>
            </a:r>
            <a:endParaRPr/>
          </a:p>
          <a:p>
            <a:pPr indent="0" lvl="0" marL="0" rtl="0" algn="l">
              <a:lnSpc>
                <a:spcPct val="120000"/>
              </a:lnSpc>
              <a:spcBef>
                <a:spcPts val="600"/>
              </a:spcBef>
              <a:spcAft>
                <a:spcPts val="0"/>
              </a:spcAft>
              <a:buClr>
                <a:srgbClr val="7F7F7F"/>
              </a:buClr>
              <a:buSzPts val="3000"/>
              <a:buNone/>
            </a:pPr>
            <a:r>
              <a:rPr lang="en-US"/>
              <a:t>Presentation 1 - 10/05/2022</a:t>
            </a:r>
            <a:endParaRPr/>
          </a:p>
        </p:txBody>
      </p:sp>
      <p:sp>
        <p:nvSpPr>
          <p:cNvPr id="77" name="Google Shape;77;p1"/>
          <p:cNvSpPr txBox="1"/>
          <p:nvPr>
            <p:ph type="ctrTitle"/>
          </p:nvPr>
        </p:nvSpPr>
        <p:spPr>
          <a:xfrm>
            <a:off x="4024462" y="333633"/>
            <a:ext cx="6795913" cy="3459435"/>
          </a:xfrm>
          <a:prstGeom prst="rect">
            <a:avLst/>
          </a:prstGeom>
          <a:noFill/>
          <a:ln>
            <a:noFill/>
          </a:ln>
        </p:spPr>
        <p:txBody>
          <a:bodyPr anchorCtr="0" anchor="b" bIns="45700" lIns="91425" spcFirstLastPara="1" rIns="91425" wrap="square" tIns="45700">
            <a:normAutofit/>
          </a:bodyPr>
          <a:lstStyle/>
          <a:p>
            <a:pPr indent="0" lvl="0" marL="0" rtl="0" algn="l">
              <a:lnSpc>
                <a:spcPct val="114285"/>
              </a:lnSpc>
              <a:spcBef>
                <a:spcPts val="0"/>
              </a:spcBef>
              <a:spcAft>
                <a:spcPts val="0"/>
              </a:spcAft>
              <a:buClr>
                <a:srgbClr val="A7934B"/>
              </a:buClr>
              <a:buSzPts val="4200"/>
              <a:buFont typeface="Roboto"/>
              <a:buNone/>
            </a:pPr>
            <a:r>
              <a:rPr lang="en-US"/>
              <a:t>Data Driven Education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15db474c58e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800"/>
              <a:buNone/>
            </a:pPr>
            <a:r>
              <a:rPr lang="en-US"/>
              <a:t>Team Members</a:t>
            </a:r>
            <a:endParaRPr/>
          </a:p>
        </p:txBody>
      </p:sp>
      <p:sp>
        <p:nvSpPr>
          <p:cNvPr id="83" name="Google Shape;83;g15db474c58e_0_0"/>
          <p:cNvSpPr txBox="1"/>
          <p:nvPr/>
        </p:nvSpPr>
        <p:spPr>
          <a:xfrm>
            <a:off x="4110175" y="56002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Gautam Sugasi</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Back-end </a:t>
            </a:r>
            <a:endParaRPr>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Develope</a:t>
            </a:r>
            <a:r>
              <a:rPr b="0" i="0" lang="en-US" sz="1400" u="none" cap="none" strike="noStrike">
                <a:solidFill>
                  <a:srgbClr val="000000"/>
                </a:solidFill>
                <a:latin typeface="Roboto"/>
                <a:ea typeface="Roboto"/>
                <a:cs typeface="Roboto"/>
                <a:sym typeface="Roboto"/>
              </a:rPr>
              <a:t>r</a:t>
            </a:r>
            <a:endParaRPr b="0" i="0" sz="1400" u="none" cap="none" strike="noStrike">
              <a:solidFill>
                <a:srgbClr val="000000"/>
              </a:solidFill>
              <a:latin typeface="Roboto"/>
              <a:ea typeface="Roboto"/>
              <a:cs typeface="Roboto"/>
              <a:sym typeface="Roboto"/>
            </a:endParaRPr>
          </a:p>
        </p:txBody>
      </p:sp>
      <p:sp>
        <p:nvSpPr>
          <p:cNvPr id="84" name="Google Shape;84;g15db474c58e_0_0"/>
          <p:cNvSpPr txBox="1"/>
          <p:nvPr/>
        </p:nvSpPr>
        <p:spPr>
          <a:xfrm>
            <a:off x="6658800" y="553915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Ritika Gehani</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Front-end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Web Developer</a:t>
            </a:r>
            <a:endParaRPr b="0" i="0" sz="1400" u="none" cap="none" strike="noStrike">
              <a:solidFill>
                <a:srgbClr val="000000"/>
              </a:solidFill>
              <a:latin typeface="Roboto"/>
              <a:ea typeface="Roboto"/>
              <a:cs typeface="Roboto"/>
              <a:sym typeface="Roboto"/>
            </a:endParaRPr>
          </a:p>
        </p:txBody>
      </p:sp>
      <p:sp>
        <p:nvSpPr>
          <p:cNvPr id="85" name="Google Shape;85;g15db474c58e_0_0"/>
          <p:cNvSpPr/>
          <p:nvPr/>
        </p:nvSpPr>
        <p:spPr>
          <a:xfrm>
            <a:off x="6977400" y="421405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g15db474c58e_0_0"/>
          <p:cNvSpPr txBox="1"/>
          <p:nvPr/>
        </p:nvSpPr>
        <p:spPr>
          <a:xfrm>
            <a:off x="9207425" y="409525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Pratik Agarwal</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Project Manager</a:t>
            </a:r>
            <a:endParaRPr b="0" i="0" sz="1400" u="none" cap="none" strike="noStrike">
              <a:solidFill>
                <a:srgbClr val="000000"/>
              </a:solidFill>
              <a:latin typeface="Roboto"/>
              <a:ea typeface="Roboto"/>
              <a:cs typeface="Roboto"/>
              <a:sym typeface="Roboto"/>
            </a:endParaRPr>
          </a:p>
        </p:txBody>
      </p:sp>
      <p:sp>
        <p:nvSpPr>
          <p:cNvPr id="87" name="Google Shape;87;g15db474c58e_0_0"/>
          <p:cNvSpPr/>
          <p:nvPr/>
        </p:nvSpPr>
        <p:spPr>
          <a:xfrm>
            <a:off x="4404700" y="432910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8" name="Google Shape;88;g15db474c58e_0_0"/>
          <p:cNvPicPr preferRelativeResize="0"/>
          <p:nvPr/>
        </p:nvPicPr>
        <p:blipFill rotWithShape="1">
          <a:blip r:embed="rId3">
            <a:alphaModFix/>
          </a:blip>
          <a:srcRect b="0" l="0" r="0" t="0"/>
          <a:stretch/>
        </p:blipFill>
        <p:spPr>
          <a:xfrm>
            <a:off x="9458825" y="2737800"/>
            <a:ext cx="1413775" cy="1413750"/>
          </a:xfrm>
          <a:prstGeom prst="rect">
            <a:avLst/>
          </a:prstGeom>
          <a:noFill/>
          <a:ln>
            <a:noFill/>
          </a:ln>
        </p:spPr>
      </p:pic>
      <p:sp>
        <p:nvSpPr>
          <p:cNvPr id="89" name="Google Shape;89;g15db474c58e_0_0"/>
          <p:cNvSpPr txBox="1"/>
          <p:nvPr/>
        </p:nvSpPr>
        <p:spPr>
          <a:xfrm>
            <a:off x="1537750" y="28254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Malav Patel</a:t>
            </a:r>
            <a:endParaRPr>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Data Scientist</a:t>
            </a:r>
            <a:endParaRPr>
              <a:latin typeface="Roboto"/>
              <a:ea typeface="Roboto"/>
              <a:cs typeface="Roboto"/>
              <a:sym typeface="Roboto"/>
            </a:endParaRPr>
          </a:p>
        </p:txBody>
      </p:sp>
      <p:pic>
        <p:nvPicPr>
          <p:cNvPr id="90" name="Google Shape;90;g15db474c58e_0_0"/>
          <p:cNvPicPr preferRelativeResize="0"/>
          <p:nvPr/>
        </p:nvPicPr>
        <p:blipFill rotWithShape="1">
          <a:blip r:embed="rId4">
            <a:alphaModFix/>
          </a:blip>
          <a:srcRect b="2839" l="0" r="0" t="2829"/>
          <a:stretch/>
        </p:blipFill>
        <p:spPr>
          <a:xfrm>
            <a:off x="4356550" y="4214050"/>
            <a:ext cx="1249500" cy="1413600"/>
          </a:xfrm>
          <a:prstGeom prst="ellipse">
            <a:avLst/>
          </a:prstGeom>
          <a:noFill/>
          <a:ln>
            <a:noFill/>
          </a:ln>
        </p:spPr>
      </p:pic>
      <p:pic>
        <p:nvPicPr>
          <p:cNvPr id="91" name="Google Shape;91;g15db474c58e_0_0"/>
          <p:cNvPicPr preferRelativeResize="0"/>
          <p:nvPr/>
        </p:nvPicPr>
        <p:blipFill>
          <a:blip r:embed="rId5">
            <a:alphaModFix/>
          </a:blip>
          <a:stretch>
            <a:fillRect/>
          </a:stretch>
        </p:blipFill>
        <p:spPr>
          <a:xfrm>
            <a:off x="1715699" y="1554300"/>
            <a:ext cx="1367439" cy="1320300"/>
          </a:xfrm>
          <a:prstGeom prst="rect">
            <a:avLst/>
          </a:prstGeom>
          <a:noFill/>
          <a:ln>
            <a:noFill/>
          </a:ln>
        </p:spPr>
      </p:pic>
      <p:sp>
        <p:nvSpPr>
          <p:cNvPr id="92" name="Google Shape;92;g15db474c58e_0_0"/>
          <p:cNvSpPr txBox="1"/>
          <p:nvPr/>
        </p:nvSpPr>
        <p:spPr>
          <a:xfrm>
            <a:off x="4112650" y="2850325"/>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Hyun Soo Kim</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Data Scientist</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a:latin typeface="Roboto"/>
              <a:ea typeface="Roboto"/>
              <a:cs typeface="Roboto"/>
              <a:sym typeface="Roboto"/>
            </a:endParaRPr>
          </a:p>
        </p:txBody>
      </p:sp>
      <p:pic>
        <p:nvPicPr>
          <p:cNvPr id="93" name="Google Shape;93;g15db474c58e_0_0"/>
          <p:cNvPicPr preferRelativeResize="0"/>
          <p:nvPr/>
        </p:nvPicPr>
        <p:blipFill rotWithShape="1">
          <a:blip r:embed="rId6">
            <a:alphaModFix/>
          </a:blip>
          <a:srcRect b="0" l="0" r="0" t="0"/>
          <a:stretch/>
        </p:blipFill>
        <p:spPr>
          <a:xfrm>
            <a:off x="4381450" y="1554300"/>
            <a:ext cx="1301963" cy="1320300"/>
          </a:xfrm>
          <a:prstGeom prst="rect">
            <a:avLst/>
          </a:prstGeom>
          <a:noFill/>
          <a:ln>
            <a:noFill/>
          </a:ln>
        </p:spPr>
      </p:pic>
      <p:sp>
        <p:nvSpPr>
          <p:cNvPr id="94" name="Google Shape;94;g15db474c58e_0_0"/>
          <p:cNvSpPr txBox="1"/>
          <p:nvPr/>
        </p:nvSpPr>
        <p:spPr>
          <a:xfrm>
            <a:off x="6675925" y="29454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Jisan Park</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Data Scientist</a:t>
            </a:r>
            <a:endParaRPr b="0" i="0" sz="1400" u="none" cap="none" strike="noStrike">
              <a:solidFill>
                <a:srgbClr val="000000"/>
              </a:solidFill>
              <a:latin typeface="Roboto"/>
              <a:ea typeface="Roboto"/>
              <a:cs typeface="Roboto"/>
              <a:sym typeface="Roboto"/>
            </a:endParaRPr>
          </a:p>
        </p:txBody>
      </p:sp>
      <p:sp>
        <p:nvSpPr>
          <p:cNvPr id="95" name="Google Shape;95;g15db474c58e_0_0"/>
          <p:cNvSpPr/>
          <p:nvPr/>
        </p:nvSpPr>
        <p:spPr>
          <a:xfrm>
            <a:off x="6994525" y="162030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6" name="Google Shape;96;g15db474c58e_0_0"/>
          <p:cNvPicPr preferRelativeResize="0"/>
          <p:nvPr/>
        </p:nvPicPr>
        <p:blipFill rotWithShape="1">
          <a:blip r:embed="rId7">
            <a:alphaModFix/>
          </a:blip>
          <a:srcRect b="0" l="0" r="0" t="0"/>
          <a:stretch/>
        </p:blipFill>
        <p:spPr>
          <a:xfrm>
            <a:off x="6999500" y="1554300"/>
            <a:ext cx="1153200" cy="1423500"/>
          </a:xfrm>
          <a:prstGeom prst="ellipse">
            <a:avLst/>
          </a:prstGeom>
          <a:noFill/>
          <a:ln>
            <a:noFill/>
          </a:ln>
        </p:spPr>
      </p:pic>
      <p:sp>
        <p:nvSpPr>
          <p:cNvPr id="97" name="Google Shape;97;g15db474c58e_0_0"/>
          <p:cNvSpPr txBox="1"/>
          <p:nvPr/>
        </p:nvSpPr>
        <p:spPr>
          <a:xfrm>
            <a:off x="1537750" y="553915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Ankit Mishra</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Front-end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Web Developer</a:t>
            </a:r>
            <a:endParaRPr b="0" i="0" sz="1400" u="none" cap="none" strike="noStrike">
              <a:solidFill>
                <a:srgbClr val="000000"/>
              </a:solidFill>
              <a:latin typeface="Roboto"/>
              <a:ea typeface="Roboto"/>
              <a:cs typeface="Roboto"/>
              <a:sym typeface="Roboto"/>
            </a:endParaRPr>
          </a:p>
        </p:txBody>
      </p:sp>
      <p:pic>
        <p:nvPicPr>
          <p:cNvPr id="98" name="Google Shape;98;g15db474c58e_0_0"/>
          <p:cNvPicPr preferRelativeResize="0"/>
          <p:nvPr/>
        </p:nvPicPr>
        <p:blipFill>
          <a:blip r:embed="rId8">
            <a:alphaModFix/>
          </a:blip>
          <a:stretch>
            <a:fillRect/>
          </a:stretch>
        </p:blipFill>
        <p:spPr>
          <a:xfrm>
            <a:off x="1748438" y="4269862"/>
            <a:ext cx="1301975" cy="13019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g9d48565bb2_0_0"/>
          <p:cNvSpPr txBox="1"/>
          <p:nvPr>
            <p:ph idx="1" type="body"/>
          </p:nvPr>
        </p:nvSpPr>
        <p:spPr>
          <a:xfrm>
            <a:off x="381000" y="1215475"/>
            <a:ext cx="7187100" cy="4596300"/>
          </a:xfrm>
          <a:prstGeom prst="rect">
            <a:avLst/>
          </a:prstGeom>
          <a:noFill/>
          <a:ln>
            <a:noFill/>
          </a:ln>
        </p:spPr>
        <p:txBody>
          <a:bodyPr anchorCtr="0" anchor="t" bIns="45700" lIns="91425" spcFirstLastPara="1" rIns="91425" wrap="square" tIns="45700">
            <a:noAutofit/>
          </a:bodyPr>
          <a:lstStyle/>
          <a:p>
            <a:pPr indent="-330200" lvl="0" marL="457200" rtl="0" algn="l">
              <a:lnSpc>
                <a:spcPct val="100000"/>
              </a:lnSpc>
              <a:spcBef>
                <a:spcPts val="1500"/>
              </a:spcBef>
              <a:spcAft>
                <a:spcPts val="0"/>
              </a:spcAft>
              <a:buSzPts val="1600"/>
              <a:buChar char="●"/>
            </a:pPr>
            <a:r>
              <a:rPr lang="en-US" sz="2600"/>
              <a:t>Discussion forums</a:t>
            </a:r>
            <a:endParaRPr sz="2600"/>
          </a:p>
          <a:p>
            <a:pPr indent="-330200" lvl="1" marL="914400" rtl="0" algn="l">
              <a:lnSpc>
                <a:spcPct val="100000"/>
              </a:lnSpc>
              <a:spcBef>
                <a:spcPts val="1500"/>
              </a:spcBef>
              <a:spcAft>
                <a:spcPts val="0"/>
              </a:spcAft>
              <a:buSzPts val="1600"/>
              <a:buChar char="•"/>
            </a:pPr>
            <a:r>
              <a:rPr lang="en-US" sz="2200"/>
              <a:t>Online formats - primary source of interaction</a:t>
            </a:r>
            <a:endParaRPr sz="2200"/>
          </a:p>
          <a:p>
            <a:pPr indent="-330200" lvl="0" marL="457200" rtl="0" algn="l">
              <a:lnSpc>
                <a:spcPct val="100000"/>
              </a:lnSpc>
              <a:spcBef>
                <a:spcPts val="1500"/>
              </a:spcBef>
              <a:spcAft>
                <a:spcPts val="0"/>
              </a:spcAft>
              <a:buSzPts val="1600"/>
              <a:buChar char="●"/>
            </a:pPr>
            <a:r>
              <a:rPr lang="en-US" sz="2600"/>
              <a:t>Student interaction </a:t>
            </a:r>
            <a:endParaRPr sz="2600"/>
          </a:p>
          <a:p>
            <a:pPr indent="-330200" lvl="1" marL="914400" rtl="0" algn="l">
              <a:lnSpc>
                <a:spcPct val="100000"/>
              </a:lnSpc>
              <a:spcBef>
                <a:spcPts val="1500"/>
              </a:spcBef>
              <a:spcAft>
                <a:spcPts val="0"/>
              </a:spcAft>
              <a:buSzPts val="1600"/>
              <a:buChar char="•"/>
            </a:pPr>
            <a:r>
              <a:rPr lang="en-US" sz="2200"/>
              <a:t>Cognitive presence</a:t>
            </a:r>
            <a:endParaRPr sz="2200"/>
          </a:p>
          <a:p>
            <a:pPr indent="-330200" lvl="1" marL="914400" rtl="0" algn="l">
              <a:lnSpc>
                <a:spcPct val="100000"/>
              </a:lnSpc>
              <a:spcBef>
                <a:spcPts val="1500"/>
              </a:spcBef>
              <a:spcAft>
                <a:spcPts val="0"/>
              </a:spcAft>
              <a:buSzPts val="1600"/>
              <a:buChar char="•"/>
            </a:pPr>
            <a:r>
              <a:rPr lang="en-US" sz="2200"/>
              <a:t>Social presence</a:t>
            </a:r>
            <a:endParaRPr sz="2200"/>
          </a:p>
          <a:p>
            <a:pPr indent="-330200" lvl="0" marL="457200" rtl="0" algn="l">
              <a:lnSpc>
                <a:spcPct val="100000"/>
              </a:lnSpc>
              <a:spcBef>
                <a:spcPts val="1500"/>
              </a:spcBef>
              <a:spcAft>
                <a:spcPts val="0"/>
              </a:spcAft>
              <a:buSzPts val="1600"/>
              <a:buChar char="●"/>
            </a:pPr>
            <a:r>
              <a:rPr lang="en-US" sz="2600"/>
              <a:t>Activity on forums indicative of student engagement and interest</a:t>
            </a:r>
            <a:endParaRPr sz="2600"/>
          </a:p>
          <a:p>
            <a:pPr indent="-330200" lvl="0" marL="457200" rtl="0" algn="l">
              <a:lnSpc>
                <a:spcPct val="100000"/>
              </a:lnSpc>
              <a:spcBef>
                <a:spcPts val="1500"/>
              </a:spcBef>
              <a:spcAft>
                <a:spcPts val="1500"/>
              </a:spcAft>
              <a:buSzPts val="1600"/>
              <a:buChar char="●"/>
            </a:pPr>
            <a:r>
              <a:rPr b="1" lang="en-US" sz="2600"/>
              <a:t>Goal:</a:t>
            </a:r>
            <a:r>
              <a:rPr lang="en-US" sz="2600"/>
              <a:t> Creating a web application to help instructors save time on managing forums and increase cognitive engagement in their courses</a:t>
            </a:r>
            <a:endParaRPr sz="2600"/>
          </a:p>
        </p:txBody>
      </p:sp>
      <p:sp>
        <p:nvSpPr>
          <p:cNvPr id="104" name="Google Shape;104;g9d48565bb2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Introduction</a:t>
            </a:r>
            <a:endParaRPr/>
          </a:p>
        </p:txBody>
      </p:sp>
      <p:pic>
        <p:nvPicPr>
          <p:cNvPr id="105" name="Google Shape;105;g9d48565bb2_0_0"/>
          <p:cNvPicPr preferRelativeResize="0"/>
          <p:nvPr/>
        </p:nvPicPr>
        <p:blipFill rotWithShape="1">
          <a:blip r:embed="rId3">
            <a:alphaModFix/>
          </a:blip>
          <a:srcRect b="0" l="0" r="0" t="0"/>
          <a:stretch/>
        </p:blipFill>
        <p:spPr>
          <a:xfrm>
            <a:off x="6123100" y="1018700"/>
            <a:ext cx="3108126" cy="802100"/>
          </a:xfrm>
          <a:prstGeom prst="rect">
            <a:avLst/>
          </a:prstGeom>
          <a:noFill/>
          <a:ln>
            <a:noFill/>
          </a:ln>
        </p:spPr>
      </p:pic>
      <p:pic>
        <p:nvPicPr>
          <p:cNvPr id="106" name="Google Shape;106;g9d48565bb2_0_0"/>
          <p:cNvPicPr preferRelativeResize="0"/>
          <p:nvPr/>
        </p:nvPicPr>
        <p:blipFill rotWithShape="1">
          <a:blip r:embed="rId4">
            <a:alphaModFix/>
          </a:blip>
          <a:srcRect b="0" l="0" r="0" t="0"/>
          <a:stretch/>
        </p:blipFill>
        <p:spPr>
          <a:xfrm>
            <a:off x="7568100" y="1950800"/>
            <a:ext cx="4442200" cy="3991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ba764dde3e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Recap of Spring 2022</a:t>
            </a:r>
            <a:endParaRPr/>
          </a:p>
        </p:txBody>
      </p:sp>
      <p:graphicFrame>
        <p:nvGraphicFramePr>
          <p:cNvPr id="112" name="Google Shape;112;gba764dde3e_0_0"/>
          <p:cNvGraphicFramePr/>
          <p:nvPr/>
        </p:nvGraphicFramePr>
        <p:xfrm>
          <a:off x="620313" y="1215617"/>
          <a:ext cx="3000000" cy="3000000"/>
        </p:xfrm>
        <a:graphic>
          <a:graphicData uri="http://schemas.openxmlformats.org/drawingml/2006/table">
            <a:tbl>
              <a:tblPr>
                <a:noFill/>
                <a:tableStyleId>{B0FD45D6-D313-4B97-AE22-C798632E5EDC}</a:tableStyleId>
              </a:tblPr>
              <a:tblGrid>
                <a:gridCol w="3564725"/>
                <a:gridCol w="3564725"/>
                <a:gridCol w="3564725"/>
              </a:tblGrid>
              <a:tr h="39822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Roboto"/>
                          <a:ea typeface="Roboto"/>
                          <a:cs typeface="Roboto"/>
                          <a:sym typeface="Roboto"/>
                        </a:rPr>
                        <a:t>Category</a:t>
                      </a:r>
                      <a:endParaRPr b="1" sz="2400" u="none" cap="none" strike="noStrike">
                        <a:latin typeface="Roboto"/>
                        <a:ea typeface="Roboto"/>
                        <a:cs typeface="Roboto"/>
                        <a:sym typeface="Roboto"/>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Roboto"/>
                          <a:ea typeface="Roboto"/>
                          <a:cs typeface="Roboto"/>
                          <a:sym typeface="Roboto"/>
                        </a:rPr>
                        <a:t>Accomplished</a:t>
                      </a:r>
                      <a:endParaRPr b="1" sz="2400" u="none" cap="none" strike="noStrike">
                        <a:latin typeface="Roboto"/>
                        <a:ea typeface="Roboto"/>
                        <a:cs typeface="Roboto"/>
                        <a:sym typeface="Roboto"/>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Roboto"/>
                          <a:ea typeface="Roboto"/>
                          <a:cs typeface="Roboto"/>
                          <a:sym typeface="Roboto"/>
                        </a:rPr>
                        <a:t>Next Goals</a:t>
                      </a:r>
                      <a:endParaRPr b="1" sz="2400" u="none" cap="none" strike="noStrike">
                        <a:latin typeface="Roboto"/>
                        <a:ea typeface="Roboto"/>
                        <a:cs typeface="Roboto"/>
                        <a:sym typeface="Roboto"/>
                      </a:endParaRPr>
                    </a:p>
                  </a:txBody>
                  <a:tcPr marT="91425" marB="91425" marR="91425" marL="91425"/>
                </a:tc>
              </a:tr>
              <a:tr h="4889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Web Dev</a:t>
                      </a:r>
                      <a:endParaRPr sz="1600" u="none" cap="none" strike="noStrike">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a:latin typeface="Roboto"/>
                          <a:ea typeface="Roboto"/>
                          <a:cs typeface="Roboto"/>
                          <a:sym typeface="Roboto"/>
                        </a:rPr>
                        <a:t>Mockups ready for MVP dashboard</a:t>
                      </a:r>
                      <a:endParaRPr sz="1600">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u="none" cap="none" strike="noStrike">
                          <a:latin typeface="Roboto"/>
                          <a:ea typeface="Roboto"/>
                          <a:cs typeface="Roboto"/>
                          <a:sym typeface="Roboto"/>
                        </a:rPr>
                        <a:t>Pilot testing with real users (instructors)</a:t>
                      </a:r>
                      <a:endParaRPr sz="1600" u="none" cap="none" strike="noStrike">
                        <a:latin typeface="Roboto"/>
                        <a:ea typeface="Roboto"/>
                        <a:cs typeface="Roboto"/>
                        <a:sym typeface="Roboto"/>
                      </a:endParaRPr>
                    </a:p>
                    <a:p>
                      <a:pPr indent="-330200" lvl="0" marL="457200" marR="0" rtl="0" algn="l">
                        <a:lnSpc>
                          <a:spcPct val="100000"/>
                        </a:lnSpc>
                        <a:spcBef>
                          <a:spcPts val="0"/>
                        </a:spcBef>
                        <a:spcAft>
                          <a:spcPts val="0"/>
                        </a:spcAft>
                        <a:buClr>
                          <a:srgbClr val="000000"/>
                        </a:buClr>
                        <a:buSzPts val="1600"/>
                        <a:buFont typeface="Roboto"/>
                        <a:buChar char="●"/>
                      </a:pPr>
                      <a:r>
                        <a:rPr lang="en-US" sz="1600" u="none" cap="none" strike="noStrike">
                          <a:latin typeface="Roboto"/>
                          <a:ea typeface="Roboto"/>
                          <a:cs typeface="Roboto"/>
                          <a:sym typeface="Roboto"/>
                        </a:rPr>
                        <a:t>Integration with Piazza/Ed</a:t>
                      </a:r>
                      <a:endParaRPr sz="1600" u="none" cap="none" strike="noStrike">
                        <a:latin typeface="Roboto"/>
                        <a:ea typeface="Roboto"/>
                        <a:cs typeface="Roboto"/>
                        <a:sym typeface="Roboto"/>
                      </a:endParaRPr>
                    </a:p>
                  </a:txBody>
                  <a:tcPr marT="91425" marB="91425" marR="91425" marL="91425"/>
                </a:tc>
              </a:tr>
              <a:tr h="5084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UX Research</a:t>
                      </a:r>
                      <a:endParaRPr sz="1600" u="none" cap="none" strike="noStrike">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a:latin typeface="Roboto"/>
                          <a:ea typeface="Roboto"/>
                          <a:cs typeface="Roboto"/>
                          <a:sym typeface="Roboto"/>
                        </a:rPr>
                        <a:t>Conducted interviews and surveys with instructors</a:t>
                      </a:r>
                      <a:endParaRPr sz="1600">
                        <a:latin typeface="Roboto"/>
                        <a:ea typeface="Roboto"/>
                        <a:cs typeface="Roboto"/>
                        <a:sym typeface="Roboto"/>
                      </a:endParaRPr>
                    </a:p>
                    <a:p>
                      <a:pPr indent="-330200" lvl="0" marL="457200" marR="0" rtl="0" algn="l">
                        <a:lnSpc>
                          <a:spcPct val="100000"/>
                        </a:lnSpc>
                        <a:spcBef>
                          <a:spcPts val="0"/>
                        </a:spcBef>
                        <a:spcAft>
                          <a:spcPts val="0"/>
                        </a:spcAft>
                        <a:buSzPts val="1600"/>
                        <a:buFont typeface="Roboto"/>
                        <a:buChar char="●"/>
                      </a:pPr>
                      <a:r>
                        <a:rPr lang="en-US" sz="1600">
                          <a:latin typeface="Roboto"/>
                          <a:ea typeface="Roboto"/>
                          <a:cs typeface="Roboto"/>
                          <a:sym typeface="Roboto"/>
                        </a:rPr>
                        <a:t>Designed a mockup for testing</a:t>
                      </a:r>
                      <a:endParaRPr sz="1600">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u="none" cap="none" strike="noStrike">
                          <a:latin typeface="Roboto"/>
                          <a:ea typeface="Roboto"/>
                          <a:cs typeface="Roboto"/>
                          <a:sym typeface="Roboto"/>
                        </a:rPr>
                        <a:t>Create relevant metrics from forums data</a:t>
                      </a:r>
                      <a:endParaRPr sz="1600" u="none" cap="none" strike="noStrike">
                        <a:latin typeface="Roboto"/>
                        <a:ea typeface="Roboto"/>
                        <a:cs typeface="Roboto"/>
                        <a:sym typeface="Roboto"/>
                      </a:endParaRPr>
                    </a:p>
                    <a:p>
                      <a:pPr indent="-330200" lvl="0" marL="457200" marR="0" rtl="0" algn="l">
                        <a:lnSpc>
                          <a:spcPct val="100000"/>
                        </a:lnSpc>
                        <a:spcBef>
                          <a:spcPts val="0"/>
                        </a:spcBef>
                        <a:spcAft>
                          <a:spcPts val="0"/>
                        </a:spcAft>
                        <a:buClr>
                          <a:srgbClr val="000000"/>
                        </a:buClr>
                        <a:buSzPts val="1600"/>
                        <a:buFont typeface="Roboto"/>
                        <a:buChar char="●"/>
                      </a:pPr>
                      <a:r>
                        <a:rPr lang="en-US" sz="1600" u="none" cap="none" strike="noStrike">
                          <a:latin typeface="Roboto"/>
                          <a:ea typeface="Roboto"/>
                          <a:cs typeface="Roboto"/>
                          <a:sym typeface="Roboto"/>
                        </a:rPr>
                        <a:t>Pilot study on a real course</a:t>
                      </a:r>
                      <a:endParaRPr sz="1600" u="none" cap="none" strike="noStrike">
                        <a:latin typeface="Roboto"/>
                        <a:ea typeface="Roboto"/>
                        <a:cs typeface="Roboto"/>
                        <a:sym typeface="Roboto"/>
                      </a:endParaRPr>
                    </a:p>
                  </a:txBody>
                  <a:tcPr marT="91425" marB="91425" marR="91425" marL="91425"/>
                </a:tc>
              </a:tr>
              <a:tr h="5084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Data Science</a:t>
                      </a:r>
                      <a:endParaRPr sz="1600" u="none" cap="none" strike="noStrike">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a:latin typeface="Roboto"/>
                          <a:ea typeface="Roboto"/>
                          <a:cs typeface="Roboto"/>
                          <a:sym typeface="Roboto"/>
                        </a:rPr>
                        <a:t>Working models for cognitive presence, sentiment analysis and topic modeling</a:t>
                      </a:r>
                      <a:endParaRPr sz="1600" u="none" cap="none" strike="noStrike">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a:latin typeface="Roboto"/>
                          <a:ea typeface="Roboto"/>
                          <a:cs typeface="Roboto"/>
                          <a:sym typeface="Roboto"/>
                        </a:rPr>
                        <a:t>Aspect-Based sentiment analysis model and improve the cognitive presence model</a:t>
                      </a:r>
                      <a:endParaRPr sz="1600" u="none" cap="none" strike="noStrike">
                        <a:latin typeface="Roboto"/>
                        <a:ea typeface="Roboto"/>
                        <a:cs typeface="Roboto"/>
                        <a:sym typeface="Roboto"/>
                      </a:endParaRPr>
                    </a:p>
                  </a:txBody>
                  <a:tcPr marT="91425" marB="91425" marR="91425" marL="91425"/>
                </a:tc>
              </a:tr>
            </a:tbl>
          </a:graphicData>
        </a:graphic>
      </p:graphicFrame>
      <p:sp>
        <p:nvSpPr>
          <p:cNvPr id="113" name="Google Shape;113;gba764dde3e_0_0"/>
          <p:cNvSpPr txBox="1"/>
          <p:nvPr/>
        </p:nvSpPr>
        <p:spPr>
          <a:xfrm>
            <a:off x="386363" y="4867275"/>
            <a:ext cx="11162100" cy="1816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500"/>
              </a:spcBef>
              <a:spcAft>
                <a:spcPts val="0"/>
              </a:spcAft>
              <a:buClr>
                <a:srgbClr val="000000"/>
              </a:buClr>
              <a:buSzPts val="2600"/>
              <a:buFont typeface="Arial"/>
              <a:buNone/>
            </a:pPr>
            <a:r>
              <a:rPr b="1" i="0" lang="en-US" sz="2600" u="none" cap="none" strike="noStrike">
                <a:solidFill>
                  <a:schemeClr val="dk1"/>
                </a:solidFill>
                <a:latin typeface="Roboto"/>
                <a:ea typeface="Roboto"/>
                <a:cs typeface="Roboto"/>
                <a:sym typeface="Roboto"/>
              </a:rPr>
              <a:t>Learnings and Challenges as a Project Manager:</a:t>
            </a:r>
            <a:endParaRPr b="0" i="0" sz="2000" u="none" cap="none" strike="noStrike">
              <a:solidFill>
                <a:schemeClr val="dk1"/>
              </a:solidFill>
              <a:latin typeface="Roboto"/>
              <a:ea typeface="Roboto"/>
              <a:cs typeface="Roboto"/>
              <a:sym typeface="Roboto"/>
            </a:endParaRPr>
          </a:p>
          <a:p>
            <a:pPr indent="-355600" lvl="0" marL="4572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Roboto"/>
                <a:ea typeface="Roboto"/>
                <a:cs typeface="Roboto"/>
                <a:sym typeface="Roboto"/>
              </a:rPr>
              <a:t>Set expectations clearly at the start of semester for the team and each individual</a:t>
            </a:r>
            <a:endParaRPr b="0" i="0" sz="2000" u="none" cap="none" strike="noStrike">
              <a:solidFill>
                <a:schemeClr val="dk1"/>
              </a:solidFill>
              <a:latin typeface="Roboto"/>
              <a:ea typeface="Roboto"/>
              <a:cs typeface="Roboto"/>
              <a:sym typeface="Roboto"/>
            </a:endParaRPr>
          </a:p>
          <a:p>
            <a:pPr indent="-355600" lvl="0" marL="4572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Roboto"/>
                <a:ea typeface="Roboto"/>
                <a:cs typeface="Roboto"/>
                <a:sym typeface="Roboto"/>
              </a:rPr>
              <a:t>Quicker iterations and faster feedback loops - focus on quick launch</a:t>
            </a:r>
            <a:endParaRPr sz="2000">
              <a:solidFill>
                <a:schemeClr val="dk1"/>
              </a:solidFill>
              <a:latin typeface="Roboto"/>
              <a:ea typeface="Roboto"/>
              <a:cs typeface="Roboto"/>
              <a:sym typeface="Roboto"/>
            </a:endParaRPr>
          </a:p>
          <a:p>
            <a:pPr indent="-355600" lvl="0" marL="457200" marR="0" rtl="0" algn="l">
              <a:lnSpc>
                <a:spcPct val="100000"/>
              </a:lnSpc>
              <a:spcBef>
                <a:spcPts val="0"/>
              </a:spcBef>
              <a:spcAft>
                <a:spcPts val="0"/>
              </a:spcAft>
              <a:buClr>
                <a:schemeClr val="dk1"/>
              </a:buClr>
              <a:buSzPts val="2000"/>
              <a:buFont typeface="Roboto"/>
              <a:buChar char="•"/>
            </a:pPr>
            <a:r>
              <a:rPr lang="en-US" sz="2000">
                <a:solidFill>
                  <a:schemeClr val="dk1"/>
                </a:solidFill>
                <a:latin typeface="Roboto"/>
                <a:ea typeface="Roboto"/>
                <a:cs typeface="Roboto"/>
                <a:sym typeface="Roboto"/>
              </a:rPr>
              <a:t>Have clear deliverables each week from team members, no matter how small to make things concrete</a:t>
            </a:r>
            <a:endParaRPr sz="2000">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gf4b38d8802_0_0"/>
          <p:cNvSpPr txBox="1"/>
          <p:nvPr/>
        </p:nvSpPr>
        <p:spPr>
          <a:xfrm>
            <a:off x="190850" y="1115050"/>
            <a:ext cx="10292400" cy="4244700"/>
          </a:xfrm>
          <a:prstGeom prst="rect">
            <a:avLst/>
          </a:prstGeom>
          <a:noFill/>
          <a:ln>
            <a:noFill/>
          </a:ln>
        </p:spPr>
        <p:txBody>
          <a:bodyPr anchorCtr="0" anchor="t" bIns="91425" lIns="91425" spcFirstLastPara="1" rIns="91425" wrap="square" tIns="91425">
            <a:spAutoFit/>
          </a:bodyPr>
          <a:lstStyle/>
          <a:p>
            <a:pPr indent="-387350" lvl="0" marL="457200" marR="0" rtl="0" algn="l">
              <a:lnSpc>
                <a:spcPct val="90000"/>
              </a:lnSpc>
              <a:spcBef>
                <a:spcPts val="1000"/>
              </a:spcBef>
              <a:spcAft>
                <a:spcPts val="0"/>
              </a:spcAft>
              <a:buClr>
                <a:schemeClr val="dk1"/>
              </a:buClr>
              <a:buSzPts val="2500"/>
              <a:buFont typeface="Roboto"/>
              <a:buChar char="●"/>
            </a:pPr>
            <a:r>
              <a:rPr b="1" i="0" lang="en-US" sz="2500" u="none" cap="none" strike="noStrike">
                <a:solidFill>
                  <a:schemeClr val="dk1"/>
                </a:solidFill>
                <a:latin typeface="Roboto"/>
                <a:ea typeface="Roboto"/>
                <a:cs typeface="Roboto"/>
                <a:sym typeface="Roboto"/>
              </a:rPr>
              <a:t>Development</a:t>
            </a:r>
            <a:endParaRPr b="1" i="0" sz="2500" u="none" cap="none" strike="noStrike">
              <a:solidFill>
                <a:schemeClr val="dk1"/>
              </a:solidFill>
              <a:latin typeface="Roboto"/>
              <a:ea typeface="Roboto"/>
              <a:cs typeface="Roboto"/>
              <a:sym typeface="Roboto"/>
            </a:endParaRPr>
          </a:p>
          <a:p>
            <a:pPr indent="-342900" lvl="1" marL="914400" marR="0" rtl="0" algn="l">
              <a:lnSpc>
                <a:spcPct val="90000"/>
              </a:lnSpc>
              <a:spcBef>
                <a:spcPts val="1000"/>
              </a:spcBef>
              <a:spcAft>
                <a:spcPts val="0"/>
              </a:spcAft>
              <a:buClr>
                <a:schemeClr val="dk1"/>
              </a:buClr>
              <a:buSzPts val="1800"/>
              <a:buFont typeface="Roboto"/>
              <a:buChar char="○"/>
            </a:pPr>
            <a:r>
              <a:rPr b="0" i="0" lang="en-US" sz="1800" u="none" cap="none" strike="noStrike">
                <a:solidFill>
                  <a:schemeClr val="dk1"/>
                </a:solidFill>
                <a:latin typeface="Roboto"/>
                <a:ea typeface="Roboto"/>
                <a:cs typeface="Roboto"/>
                <a:sym typeface="Roboto"/>
              </a:rPr>
              <a:t>Deploy the web-app and test inside the Piazza sandbox environment</a:t>
            </a:r>
            <a:endParaRPr b="0" i="0" sz="1800" u="none" cap="none" strike="noStrike">
              <a:solidFill>
                <a:schemeClr val="dk1"/>
              </a:solidFill>
              <a:latin typeface="Roboto"/>
              <a:ea typeface="Roboto"/>
              <a:cs typeface="Roboto"/>
              <a:sym typeface="Roboto"/>
            </a:endParaRPr>
          </a:p>
          <a:p>
            <a:pPr indent="-342900" lvl="1" marL="914400" marR="0" rtl="0" algn="l">
              <a:lnSpc>
                <a:spcPct val="90000"/>
              </a:lnSpc>
              <a:spcBef>
                <a:spcPts val="1000"/>
              </a:spcBef>
              <a:spcAft>
                <a:spcPts val="0"/>
              </a:spcAft>
              <a:buClr>
                <a:schemeClr val="dk1"/>
              </a:buClr>
              <a:buSzPts val="1800"/>
              <a:buFont typeface="Roboto"/>
              <a:buChar char="○"/>
            </a:pPr>
            <a:r>
              <a:rPr b="0" i="0" lang="en-US" sz="1800" u="none" cap="none" strike="noStrike">
                <a:solidFill>
                  <a:schemeClr val="dk1"/>
                </a:solidFill>
                <a:latin typeface="Roboto"/>
                <a:ea typeface="Roboto"/>
                <a:cs typeface="Roboto"/>
                <a:sym typeface="Roboto"/>
              </a:rPr>
              <a:t>Shorter feedback loops, try backtracking from goals to set individual deliverables and milestones</a:t>
            </a:r>
            <a:endParaRPr b="0" i="0" sz="1800" u="none" cap="none" strike="noStrike">
              <a:solidFill>
                <a:schemeClr val="dk1"/>
              </a:solidFill>
              <a:latin typeface="Roboto"/>
              <a:ea typeface="Roboto"/>
              <a:cs typeface="Roboto"/>
              <a:sym typeface="Roboto"/>
            </a:endParaRPr>
          </a:p>
          <a:p>
            <a:pPr indent="0" lvl="0" marL="914400" marR="0" rtl="0" algn="l">
              <a:lnSpc>
                <a:spcPct val="90000"/>
              </a:lnSpc>
              <a:spcBef>
                <a:spcPts val="100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a:p>
            <a:pPr indent="-387350" lvl="0" marL="457200" marR="0" rtl="0" algn="l">
              <a:lnSpc>
                <a:spcPct val="90000"/>
              </a:lnSpc>
              <a:spcBef>
                <a:spcPts val="1000"/>
              </a:spcBef>
              <a:spcAft>
                <a:spcPts val="0"/>
              </a:spcAft>
              <a:buClr>
                <a:schemeClr val="dk1"/>
              </a:buClr>
              <a:buSzPts val="2500"/>
              <a:buFont typeface="Roboto"/>
              <a:buChar char="●"/>
            </a:pPr>
            <a:r>
              <a:rPr b="1" i="0" lang="en-US" sz="2500" u="none" cap="none" strike="noStrike">
                <a:solidFill>
                  <a:schemeClr val="dk1"/>
                </a:solidFill>
                <a:latin typeface="Roboto"/>
                <a:ea typeface="Roboto"/>
                <a:cs typeface="Roboto"/>
                <a:sym typeface="Roboto"/>
              </a:rPr>
              <a:t>Research</a:t>
            </a:r>
            <a:endParaRPr b="0" i="0" sz="1800" u="none" cap="none" strike="noStrike">
              <a:solidFill>
                <a:schemeClr val="dk1"/>
              </a:solidFill>
              <a:latin typeface="Roboto"/>
              <a:ea typeface="Roboto"/>
              <a:cs typeface="Roboto"/>
              <a:sym typeface="Roboto"/>
            </a:endParaRPr>
          </a:p>
          <a:p>
            <a:pPr indent="-342900" lvl="1" marL="914400" marR="0" rtl="0" algn="l">
              <a:lnSpc>
                <a:spcPct val="90000"/>
              </a:lnSpc>
              <a:spcBef>
                <a:spcPts val="1000"/>
              </a:spcBef>
              <a:spcAft>
                <a:spcPts val="0"/>
              </a:spcAft>
              <a:buClr>
                <a:schemeClr val="dk1"/>
              </a:buClr>
              <a:buSzPts val="1800"/>
              <a:buFont typeface="Roboto"/>
              <a:buChar char="○"/>
            </a:pPr>
            <a:r>
              <a:rPr b="0" i="0" lang="en-US" sz="1800" u="none" cap="none" strike="noStrike">
                <a:solidFill>
                  <a:schemeClr val="dk1"/>
                </a:solidFill>
                <a:latin typeface="Roboto"/>
                <a:ea typeface="Roboto"/>
                <a:cs typeface="Roboto"/>
                <a:sym typeface="Roboto"/>
              </a:rPr>
              <a:t>UX Research by connecting with instructor teams</a:t>
            </a:r>
            <a:endParaRPr b="0" i="0" sz="1800" u="none" cap="none" strike="noStrike">
              <a:solidFill>
                <a:schemeClr val="dk1"/>
              </a:solidFill>
              <a:latin typeface="Roboto"/>
              <a:ea typeface="Roboto"/>
              <a:cs typeface="Roboto"/>
              <a:sym typeface="Roboto"/>
            </a:endParaRPr>
          </a:p>
          <a:p>
            <a:pPr indent="0" lvl="0" marL="0" marR="0" rtl="0" algn="l">
              <a:lnSpc>
                <a:spcPct val="90000"/>
              </a:lnSpc>
              <a:spcBef>
                <a:spcPts val="100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a:p>
            <a:pPr indent="-387350" lvl="0" marL="457200" marR="0" rtl="0" algn="l">
              <a:lnSpc>
                <a:spcPct val="90000"/>
              </a:lnSpc>
              <a:spcBef>
                <a:spcPts val="1000"/>
              </a:spcBef>
              <a:spcAft>
                <a:spcPts val="0"/>
              </a:spcAft>
              <a:buClr>
                <a:schemeClr val="dk1"/>
              </a:buClr>
              <a:buSzPts val="2500"/>
              <a:buFont typeface="Roboto"/>
              <a:buChar char="●"/>
            </a:pPr>
            <a:r>
              <a:rPr b="1" i="0" lang="en-US" sz="2500" u="none" cap="none" strike="noStrike">
                <a:solidFill>
                  <a:schemeClr val="dk1"/>
                </a:solidFill>
                <a:latin typeface="Roboto"/>
                <a:ea typeface="Roboto"/>
                <a:cs typeface="Roboto"/>
                <a:sym typeface="Roboto"/>
              </a:rPr>
              <a:t>Project Management</a:t>
            </a:r>
            <a:endParaRPr b="1" i="0" sz="2500" u="none" cap="none" strike="noStrike">
              <a:solidFill>
                <a:schemeClr val="dk1"/>
              </a:solidFill>
              <a:latin typeface="Roboto"/>
              <a:ea typeface="Roboto"/>
              <a:cs typeface="Roboto"/>
              <a:sym typeface="Roboto"/>
            </a:endParaRPr>
          </a:p>
          <a:p>
            <a:pPr indent="-342900" lvl="1" marL="914400" marR="0" rtl="0" algn="l">
              <a:lnSpc>
                <a:spcPct val="90000"/>
              </a:lnSpc>
              <a:spcBef>
                <a:spcPts val="1000"/>
              </a:spcBef>
              <a:spcAft>
                <a:spcPts val="0"/>
              </a:spcAft>
              <a:buClr>
                <a:schemeClr val="dk1"/>
              </a:buClr>
              <a:buSzPts val="1800"/>
              <a:buFont typeface="Roboto"/>
              <a:buChar char="○"/>
            </a:pPr>
            <a:r>
              <a:rPr lang="en-US" sz="1800">
                <a:solidFill>
                  <a:schemeClr val="dk1"/>
                </a:solidFill>
                <a:latin typeface="Roboto"/>
                <a:ea typeface="Roboto"/>
                <a:cs typeface="Roboto"/>
                <a:sym typeface="Roboto"/>
              </a:rPr>
              <a:t>Creating a </a:t>
            </a:r>
            <a:r>
              <a:rPr b="0" i="0" lang="en-US" sz="1800" u="none" cap="none" strike="noStrike">
                <a:solidFill>
                  <a:schemeClr val="dk1"/>
                </a:solidFill>
                <a:latin typeface="Roboto"/>
                <a:ea typeface="Roboto"/>
                <a:cs typeface="Roboto"/>
                <a:sym typeface="Roboto"/>
              </a:rPr>
              <a:t> documentation for the project </a:t>
            </a:r>
            <a:r>
              <a:rPr lang="en-US" sz="1800">
                <a:solidFill>
                  <a:schemeClr val="dk1"/>
                </a:solidFill>
                <a:latin typeface="Roboto"/>
                <a:ea typeface="Roboto"/>
                <a:cs typeface="Roboto"/>
                <a:sym typeface="Roboto"/>
              </a:rPr>
              <a:t>to help future teams not having to reinvent the wheel</a:t>
            </a:r>
            <a:endParaRPr b="0" i="0" sz="1800" u="none" cap="none" strike="noStrike">
              <a:solidFill>
                <a:schemeClr val="dk1"/>
              </a:solidFill>
              <a:latin typeface="Roboto"/>
              <a:ea typeface="Roboto"/>
              <a:cs typeface="Roboto"/>
              <a:sym typeface="Roboto"/>
            </a:endParaRPr>
          </a:p>
        </p:txBody>
      </p:sp>
      <p:sp>
        <p:nvSpPr>
          <p:cNvPr id="119" name="Google Shape;119;gf4b38d8802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Focus for this semester</a:t>
            </a:r>
            <a:endParaRPr/>
          </a:p>
        </p:txBody>
      </p:sp>
      <p:pic>
        <p:nvPicPr>
          <p:cNvPr id="120" name="Google Shape;120;gf4b38d8802_0_0"/>
          <p:cNvPicPr preferRelativeResize="0"/>
          <p:nvPr/>
        </p:nvPicPr>
        <p:blipFill rotWithShape="1">
          <a:blip r:embed="rId3">
            <a:alphaModFix/>
          </a:blip>
          <a:srcRect b="0" l="0" r="0" t="0"/>
          <a:stretch/>
        </p:blipFill>
        <p:spPr>
          <a:xfrm>
            <a:off x="8466225" y="926100"/>
            <a:ext cx="3108126" cy="802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efbeba6a1c_0_0"/>
          <p:cNvSpPr txBox="1"/>
          <p:nvPr>
            <p:ph idx="4294967295" type="title"/>
          </p:nvPr>
        </p:nvSpPr>
        <p:spPr>
          <a:xfrm>
            <a:off x="381000" y="2921547"/>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sz="7000"/>
              <a:t>Data Science</a:t>
            </a:r>
            <a:endParaRPr sz="7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bea1223c9f_0_11"/>
          <p:cNvSpPr txBox="1"/>
          <p:nvPr>
            <p:ph idx="1" type="body"/>
          </p:nvPr>
        </p:nvSpPr>
        <p:spPr>
          <a:xfrm>
            <a:off x="451725" y="1915350"/>
            <a:ext cx="11430000" cy="3027300"/>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1000"/>
              </a:spcBef>
              <a:spcAft>
                <a:spcPts val="0"/>
              </a:spcAft>
              <a:buSzPts val="1800"/>
              <a:buNone/>
            </a:pPr>
            <a:r>
              <a:rPr lang="en-US"/>
              <a:t>Based on the </a:t>
            </a:r>
            <a:r>
              <a:rPr b="1" lang="en-US"/>
              <a:t>community of inquiry framework</a:t>
            </a:r>
            <a:r>
              <a:rPr lang="en-US"/>
              <a:t>, what are some key factors in discussion forum activities influencing student </a:t>
            </a:r>
            <a:r>
              <a:rPr b="1" lang="en-US"/>
              <a:t>engagement</a:t>
            </a:r>
            <a:r>
              <a:rPr lang="en-US"/>
              <a:t> and </a:t>
            </a:r>
            <a:r>
              <a:rPr b="1" lang="en-US"/>
              <a:t>performance</a:t>
            </a:r>
            <a:r>
              <a:rPr lang="en-US"/>
              <a:t> in an asynchronous online classroom?</a:t>
            </a:r>
            <a:endParaRPr/>
          </a:p>
          <a:p>
            <a:pPr indent="0" lvl="0" marL="0" rtl="0" algn="just">
              <a:lnSpc>
                <a:spcPct val="90000"/>
              </a:lnSpc>
              <a:spcBef>
                <a:spcPts val="1000"/>
              </a:spcBef>
              <a:spcAft>
                <a:spcPts val="0"/>
              </a:spcAft>
              <a:buSzPts val="1800"/>
              <a:buNone/>
            </a:pPr>
            <a:r>
              <a:t/>
            </a:r>
            <a:endParaRPr/>
          </a:p>
          <a:p>
            <a:pPr indent="0" lvl="0" marL="0" rtl="0" algn="just">
              <a:lnSpc>
                <a:spcPct val="90000"/>
              </a:lnSpc>
              <a:spcBef>
                <a:spcPts val="1000"/>
              </a:spcBef>
              <a:spcAft>
                <a:spcPts val="0"/>
              </a:spcAft>
              <a:buSzPts val="1800"/>
              <a:buNone/>
            </a:pPr>
            <a:r>
              <a:rPr lang="en-US"/>
              <a:t>How can we design a </a:t>
            </a:r>
            <a:r>
              <a:rPr b="1" lang="en-US"/>
              <a:t>web app</a:t>
            </a:r>
            <a:r>
              <a:rPr lang="en-US"/>
              <a:t> that can provide actionable insights to the instructor in order to increase engagement and performance?</a:t>
            </a:r>
            <a:endParaRPr/>
          </a:p>
          <a:p>
            <a:pPr indent="0" lvl="0" marL="0" rtl="0" algn="just">
              <a:lnSpc>
                <a:spcPct val="90000"/>
              </a:lnSpc>
              <a:spcBef>
                <a:spcPts val="1000"/>
              </a:spcBef>
              <a:spcAft>
                <a:spcPts val="0"/>
              </a:spcAft>
              <a:buSzPts val="1800"/>
              <a:buNone/>
            </a:pPr>
            <a:r>
              <a:t/>
            </a:r>
            <a:endParaRPr/>
          </a:p>
        </p:txBody>
      </p:sp>
      <p:sp>
        <p:nvSpPr>
          <p:cNvPr id="131" name="Google Shape;131;gbea1223c9f_0_11"/>
          <p:cNvSpPr txBox="1"/>
          <p:nvPr>
            <p:ph type="title"/>
          </p:nvPr>
        </p:nvSpPr>
        <p:spPr>
          <a:xfrm>
            <a:off x="381000" y="212247"/>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Research Goal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efbeba6a1c_0_509"/>
          <p:cNvSpPr txBox="1"/>
          <p:nvPr>
            <p:ph idx="1" type="body"/>
          </p:nvPr>
        </p:nvSpPr>
        <p:spPr>
          <a:xfrm>
            <a:off x="381000" y="1215474"/>
            <a:ext cx="11430000" cy="16437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000"/>
              </a:spcBef>
              <a:spcAft>
                <a:spcPts val="0"/>
              </a:spcAft>
              <a:buSzPts val="1800"/>
              <a:buChar char="•"/>
            </a:pPr>
            <a:r>
              <a:rPr lang="en-US"/>
              <a:t>Data available</a:t>
            </a:r>
            <a:endParaRPr/>
          </a:p>
          <a:p>
            <a:pPr indent="-342900" lvl="1" marL="914400" rtl="0" algn="l">
              <a:lnSpc>
                <a:spcPct val="90000"/>
              </a:lnSpc>
              <a:spcBef>
                <a:spcPts val="0"/>
              </a:spcBef>
              <a:spcAft>
                <a:spcPts val="0"/>
              </a:spcAft>
              <a:buSzPts val="1800"/>
              <a:buChar char="•"/>
            </a:pPr>
            <a:r>
              <a:rPr lang="en-US"/>
              <a:t>Focusing on Piazza data from Dr. Thad Starner</a:t>
            </a:r>
            <a:endParaRPr/>
          </a:p>
          <a:p>
            <a:pPr indent="-342900" lvl="1" marL="914400" rtl="0" algn="l">
              <a:lnSpc>
                <a:spcPct val="90000"/>
              </a:lnSpc>
              <a:spcBef>
                <a:spcPts val="0"/>
              </a:spcBef>
              <a:spcAft>
                <a:spcPts val="0"/>
              </a:spcAft>
              <a:buSzPts val="1800"/>
              <a:buChar char="•"/>
            </a:pPr>
            <a:r>
              <a:rPr lang="en-US"/>
              <a:t>1493 posts, coded for cognitive presence and working on Topic Modeling</a:t>
            </a:r>
            <a:endParaRPr/>
          </a:p>
        </p:txBody>
      </p:sp>
      <p:sp>
        <p:nvSpPr>
          <p:cNvPr id="137" name="Google Shape;137;gefbeba6a1c_0_509"/>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Data Science Big Picture</a:t>
            </a:r>
            <a:endParaRPr/>
          </a:p>
        </p:txBody>
      </p:sp>
      <p:sp>
        <p:nvSpPr>
          <p:cNvPr id="138" name="Google Shape;138;gefbeba6a1c_0_509"/>
          <p:cNvSpPr/>
          <p:nvPr/>
        </p:nvSpPr>
        <p:spPr>
          <a:xfrm>
            <a:off x="5002788" y="4111075"/>
            <a:ext cx="2186400" cy="710100"/>
          </a:xfrm>
          <a:prstGeom prst="roundRect">
            <a:avLst>
              <a:gd fmla="val 16667"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chemeClr val="lt1"/>
                </a:solidFill>
                <a:latin typeface="Arial"/>
                <a:ea typeface="Arial"/>
                <a:cs typeface="Arial"/>
                <a:sym typeface="Arial"/>
              </a:rPr>
              <a:t>Data Science</a:t>
            </a:r>
            <a:endParaRPr b="0" i="0" sz="2300" u="none" cap="none" strike="noStrike">
              <a:solidFill>
                <a:schemeClr val="lt1"/>
              </a:solidFill>
              <a:latin typeface="Arial"/>
              <a:ea typeface="Arial"/>
              <a:cs typeface="Arial"/>
              <a:sym typeface="Arial"/>
            </a:endParaRPr>
          </a:p>
        </p:txBody>
      </p:sp>
      <p:sp>
        <p:nvSpPr>
          <p:cNvPr id="139" name="Google Shape;139;gefbeba6a1c_0_509"/>
          <p:cNvSpPr/>
          <p:nvPr/>
        </p:nvSpPr>
        <p:spPr>
          <a:xfrm>
            <a:off x="4611888" y="3028825"/>
            <a:ext cx="2968200" cy="912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chemeClr val="lt1"/>
                </a:solidFill>
                <a:latin typeface="Arial"/>
                <a:ea typeface="Arial"/>
                <a:cs typeface="Arial"/>
                <a:sym typeface="Arial"/>
              </a:rPr>
              <a:t>Cognitive Presence </a:t>
            </a:r>
            <a:endParaRPr b="0" i="0" sz="2300" u="none" cap="none" strike="noStrike">
              <a:solidFill>
                <a:schemeClr val="lt1"/>
              </a:solidFill>
              <a:latin typeface="Arial"/>
              <a:ea typeface="Arial"/>
              <a:cs typeface="Arial"/>
              <a:sym typeface="Arial"/>
            </a:endParaRPr>
          </a:p>
        </p:txBody>
      </p:sp>
      <p:sp>
        <p:nvSpPr>
          <p:cNvPr id="140" name="Google Shape;140;gefbeba6a1c_0_509"/>
          <p:cNvSpPr/>
          <p:nvPr/>
        </p:nvSpPr>
        <p:spPr>
          <a:xfrm>
            <a:off x="4611900" y="4990825"/>
            <a:ext cx="2968200" cy="912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lang="en-US" sz="2100">
                <a:solidFill>
                  <a:schemeClr val="lt1"/>
                </a:solidFill>
              </a:rPr>
              <a:t>Aspect-Based </a:t>
            </a:r>
            <a:r>
              <a:rPr lang="en-US" sz="2100">
                <a:solidFill>
                  <a:schemeClr val="lt1"/>
                </a:solidFill>
              </a:rPr>
              <a:t>Sentiment</a:t>
            </a:r>
            <a:r>
              <a:rPr lang="en-US" sz="2100">
                <a:solidFill>
                  <a:schemeClr val="lt1"/>
                </a:solidFill>
              </a:rPr>
              <a:t> Analysis</a:t>
            </a:r>
            <a:endParaRPr b="0" i="0" sz="2100" u="none" cap="none" strike="noStrike">
              <a:solidFill>
                <a:schemeClr val="lt1"/>
              </a:solidFill>
              <a:latin typeface="Arial"/>
              <a:ea typeface="Arial"/>
              <a:cs typeface="Arial"/>
              <a:sym typeface="Arial"/>
            </a:endParaRPr>
          </a:p>
        </p:txBody>
      </p:sp>
      <p:sp>
        <p:nvSpPr>
          <p:cNvPr id="141" name="Google Shape;141;gefbeba6a1c_0_509"/>
          <p:cNvSpPr/>
          <p:nvPr/>
        </p:nvSpPr>
        <p:spPr>
          <a:xfrm>
            <a:off x="7990275" y="4009825"/>
            <a:ext cx="2968200" cy="912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chemeClr val="lt1"/>
                </a:solidFill>
                <a:latin typeface="Arial"/>
                <a:ea typeface="Arial"/>
                <a:cs typeface="Arial"/>
                <a:sym typeface="Arial"/>
              </a:rPr>
              <a:t>Topic Modeling</a:t>
            </a:r>
            <a:endParaRPr b="0" i="0" sz="2300" u="none" cap="none" strike="noStrike">
              <a:solidFill>
                <a:schemeClr val="lt1"/>
              </a:solidFill>
              <a:latin typeface="Arial"/>
              <a:ea typeface="Arial"/>
              <a:cs typeface="Arial"/>
              <a:sym typeface="Arial"/>
            </a:endParaRPr>
          </a:p>
        </p:txBody>
      </p:sp>
      <p:sp>
        <p:nvSpPr>
          <p:cNvPr id="142" name="Google Shape;142;gefbeba6a1c_0_509"/>
          <p:cNvSpPr/>
          <p:nvPr/>
        </p:nvSpPr>
        <p:spPr>
          <a:xfrm>
            <a:off x="1233525" y="4009825"/>
            <a:ext cx="2968200" cy="912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lang="en-US" sz="2300">
                <a:solidFill>
                  <a:schemeClr val="lt1"/>
                </a:solidFill>
              </a:rPr>
              <a:t>Metacognition</a:t>
            </a:r>
            <a:endParaRPr b="0" i="0" sz="2300" u="none" cap="none" strike="noStrike">
              <a:solidFill>
                <a:schemeClr val="lt1"/>
              </a:solidFill>
              <a:latin typeface="Arial"/>
              <a:ea typeface="Arial"/>
              <a:cs typeface="Arial"/>
              <a:sym typeface="Arial"/>
            </a:endParaRPr>
          </a:p>
        </p:txBody>
      </p:sp>
      <p:cxnSp>
        <p:nvCxnSpPr>
          <p:cNvPr id="143" name="Google Shape;143;gefbeba6a1c_0_509"/>
          <p:cNvCxnSpPr>
            <a:endCxn id="139" idx="2"/>
          </p:cNvCxnSpPr>
          <p:nvPr/>
        </p:nvCxnSpPr>
        <p:spPr>
          <a:xfrm rot="10800000">
            <a:off x="6095988" y="3941425"/>
            <a:ext cx="0" cy="169500"/>
          </a:xfrm>
          <a:prstGeom prst="straightConnector1">
            <a:avLst/>
          </a:prstGeom>
          <a:noFill/>
          <a:ln cap="flat" cmpd="sng" w="9525">
            <a:solidFill>
              <a:schemeClr val="dk2"/>
            </a:solidFill>
            <a:prstDash val="solid"/>
            <a:round/>
            <a:headEnd len="sm" w="sm" type="none"/>
            <a:tailEnd len="med" w="med" type="triangle"/>
          </a:ln>
        </p:spPr>
      </p:cxnSp>
      <p:cxnSp>
        <p:nvCxnSpPr>
          <p:cNvPr id="144" name="Google Shape;144;gefbeba6a1c_0_509"/>
          <p:cNvCxnSpPr>
            <a:stCxn id="138" idx="1"/>
            <a:endCxn id="142" idx="3"/>
          </p:cNvCxnSpPr>
          <p:nvPr/>
        </p:nvCxnSpPr>
        <p:spPr>
          <a:xfrm rot="10800000">
            <a:off x="4201788" y="4466125"/>
            <a:ext cx="801000" cy="0"/>
          </a:xfrm>
          <a:prstGeom prst="straightConnector1">
            <a:avLst/>
          </a:prstGeom>
          <a:noFill/>
          <a:ln cap="flat" cmpd="sng" w="9525">
            <a:solidFill>
              <a:schemeClr val="dk2"/>
            </a:solidFill>
            <a:prstDash val="solid"/>
            <a:round/>
            <a:headEnd len="sm" w="sm" type="none"/>
            <a:tailEnd len="med" w="med" type="triangle"/>
          </a:ln>
        </p:spPr>
      </p:cxnSp>
      <p:cxnSp>
        <p:nvCxnSpPr>
          <p:cNvPr id="145" name="Google Shape;145;gefbeba6a1c_0_509"/>
          <p:cNvCxnSpPr>
            <a:stCxn id="138" idx="3"/>
            <a:endCxn id="141" idx="1"/>
          </p:cNvCxnSpPr>
          <p:nvPr/>
        </p:nvCxnSpPr>
        <p:spPr>
          <a:xfrm>
            <a:off x="7189188" y="4466125"/>
            <a:ext cx="801000" cy="0"/>
          </a:xfrm>
          <a:prstGeom prst="straightConnector1">
            <a:avLst/>
          </a:prstGeom>
          <a:noFill/>
          <a:ln cap="flat" cmpd="sng" w="9525">
            <a:solidFill>
              <a:schemeClr val="dk2"/>
            </a:solidFill>
            <a:prstDash val="solid"/>
            <a:round/>
            <a:headEnd len="sm" w="sm" type="none"/>
            <a:tailEnd len="med" w="med" type="triangle"/>
          </a:ln>
        </p:spPr>
      </p:cxnSp>
      <p:cxnSp>
        <p:nvCxnSpPr>
          <p:cNvPr id="146" name="Google Shape;146;gefbeba6a1c_0_509"/>
          <p:cNvCxnSpPr>
            <a:stCxn id="138" idx="2"/>
            <a:endCxn id="140" idx="0"/>
          </p:cNvCxnSpPr>
          <p:nvPr/>
        </p:nvCxnSpPr>
        <p:spPr>
          <a:xfrm>
            <a:off x="6095988" y="4821175"/>
            <a:ext cx="0" cy="16980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15e2f3f4d0a_0_5"/>
          <p:cNvSpPr txBox="1"/>
          <p:nvPr>
            <p:ph idx="1" type="body"/>
          </p:nvPr>
        </p:nvSpPr>
        <p:spPr>
          <a:xfrm>
            <a:off x="381000" y="1215484"/>
            <a:ext cx="11430000" cy="45963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Model to predict Cognitive presence</a:t>
            </a:r>
            <a:endParaRPr/>
          </a:p>
          <a:p>
            <a:pPr indent="0" lvl="0" marL="0" rtl="0" algn="l">
              <a:spcBef>
                <a:spcPts val="1000"/>
              </a:spcBef>
              <a:spcAft>
                <a:spcPts val="0"/>
              </a:spcAft>
              <a:buNone/>
            </a:pPr>
            <a:r>
              <a:rPr lang="en-US" sz="2300"/>
              <a:t>	</a:t>
            </a:r>
            <a:endParaRPr sz="2300"/>
          </a:p>
          <a:p>
            <a:pPr indent="0" lvl="0" marL="0" rtl="0" algn="l">
              <a:spcBef>
                <a:spcPts val="1000"/>
              </a:spcBef>
              <a:spcAft>
                <a:spcPts val="0"/>
              </a:spcAft>
              <a:buNone/>
            </a:pPr>
            <a:r>
              <a:t/>
            </a:r>
            <a:endParaRPr sz="2300"/>
          </a:p>
          <a:p>
            <a:pPr indent="0" lvl="0" marL="0" rtl="0" algn="l">
              <a:spcBef>
                <a:spcPts val="1000"/>
              </a:spcBef>
              <a:spcAft>
                <a:spcPts val="0"/>
              </a:spcAft>
              <a:buNone/>
            </a:pPr>
            <a:r>
              <a:t/>
            </a:r>
            <a:endParaRPr sz="2300"/>
          </a:p>
          <a:p>
            <a:pPr indent="0" lvl="0" marL="0" rtl="0" algn="l">
              <a:spcBef>
                <a:spcPts val="1000"/>
              </a:spcBef>
              <a:spcAft>
                <a:spcPts val="0"/>
              </a:spcAft>
              <a:buNone/>
            </a:pPr>
            <a:r>
              <a:t/>
            </a:r>
            <a:endParaRPr sz="2300"/>
          </a:p>
          <a:p>
            <a:pPr indent="-374650" lvl="0" marL="457200" rtl="0" algn="l">
              <a:spcBef>
                <a:spcPts val="1000"/>
              </a:spcBef>
              <a:spcAft>
                <a:spcPts val="0"/>
              </a:spcAft>
              <a:buSzPts val="2300"/>
              <a:buChar char="•"/>
            </a:pPr>
            <a:r>
              <a:rPr lang="en-US" sz="2300"/>
              <a:t>Test and train on Piazza data</a:t>
            </a:r>
            <a:endParaRPr sz="2300"/>
          </a:p>
        </p:txBody>
      </p:sp>
      <p:sp>
        <p:nvSpPr>
          <p:cNvPr id="152" name="Google Shape;152;g15e2f3f4d0a_0_5"/>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Data Science - Previous Work</a:t>
            </a:r>
            <a:endParaRPr/>
          </a:p>
        </p:txBody>
      </p:sp>
      <p:pic>
        <p:nvPicPr>
          <p:cNvPr id="153" name="Google Shape;153;g15e2f3f4d0a_0_5"/>
          <p:cNvPicPr preferRelativeResize="0"/>
          <p:nvPr/>
        </p:nvPicPr>
        <p:blipFill>
          <a:blip r:embed="rId3">
            <a:alphaModFix/>
          </a:blip>
          <a:stretch>
            <a:fillRect/>
          </a:stretch>
        </p:blipFill>
        <p:spPr>
          <a:xfrm>
            <a:off x="797325" y="4001850"/>
            <a:ext cx="4863425" cy="2028825"/>
          </a:xfrm>
          <a:prstGeom prst="rect">
            <a:avLst/>
          </a:prstGeom>
          <a:noFill/>
          <a:ln>
            <a:noFill/>
          </a:ln>
        </p:spPr>
      </p:pic>
      <p:pic>
        <p:nvPicPr>
          <p:cNvPr id="154" name="Google Shape;154;g15e2f3f4d0a_0_5"/>
          <p:cNvPicPr preferRelativeResize="0"/>
          <p:nvPr/>
        </p:nvPicPr>
        <p:blipFill>
          <a:blip r:embed="rId4">
            <a:alphaModFix/>
          </a:blip>
          <a:stretch>
            <a:fillRect/>
          </a:stretch>
        </p:blipFill>
        <p:spPr>
          <a:xfrm>
            <a:off x="6778300" y="1227150"/>
            <a:ext cx="4973549" cy="2713475"/>
          </a:xfrm>
          <a:prstGeom prst="rect">
            <a:avLst/>
          </a:prstGeom>
          <a:noFill/>
          <a:ln>
            <a:noFill/>
          </a:ln>
        </p:spPr>
      </p:pic>
      <p:pic>
        <p:nvPicPr>
          <p:cNvPr id="155" name="Google Shape;155;g15e2f3f4d0a_0_5"/>
          <p:cNvPicPr preferRelativeResize="0"/>
          <p:nvPr/>
        </p:nvPicPr>
        <p:blipFill rotWithShape="1">
          <a:blip r:embed="rId5">
            <a:alphaModFix/>
          </a:blip>
          <a:srcRect b="0" l="7464" r="11228" t="9444"/>
          <a:stretch/>
        </p:blipFill>
        <p:spPr>
          <a:xfrm>
            <a:off x="6671800" y="4552450"/>
            <a:ext cx="2483076" cy="20756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15db474c58e_0_90"/>
          <p:cNvSpPr txBox="1"/>
          <p:nvPr>
            <p:ph idx="1" type="body"/>
          </p:nvPr>
        </p:nvSpPr>
        <p:spPr>
          <a:xfrm>
            <a:off x="381000" y="1215477"/>
            <a:ext cx="11430000" cy="4553700"/>
          </a:xfrm>
          <a:prstGeom prst="rect">
            <a:avLst/>
          </a:prstGeom>
          <a:noFill/>
          <a:ln>
            <a:noFill/>
          </a:ln>
        </p:spPr>
        <p:txBody>
          <a:bodyPr anchorCtr="0" anchor="t" bIns="45700" lIns="91425" spcFirstLastPara="1" rIns="91425" wrap="square" tIns="45700">
            <a:noAutofit/>
          </a:bodyPr>
          <a:lstStyle/>
          <a:p>
            <a:pPr indent="-361950" lvl="0" marL="457200" rtl="0" algn="l">
              <a:lnSpc>
                <a:spcPct val="115000"/>
              </a:lnSpc>
              <a:spcBef>
                <a:spcPts val="0"/>
              </a:spcBef>
              <a:spcAft>
                <a:spcPts val="0"/>
              </a:spcAft>
              <a:buSzPts val="2100"/>
              <a:buFont typeface="Roboto"/>
              <a:buChar char="•"/>
            </a:pPr>
            <a:r>
              <a:rPr lang="en-US"/>
              <a:t>Topic Modeling</a:t>
            </a:r>
            <a:endParaRPr/>
          </a:p>
          <a:p>
            <a:pPr indent="-342900" lvl="1" marL="914400" rtl="0" algn="l">
              <a:lnSpc>
                <a:spcPct val="115000"/>
              </a:lnSpc>
              <a:spcBef>
                <a:spcPts val="0"/>
              </a:spcBef>
              <a:spcAft>
                <a:spcPts val="0"/>
              </a:spcAft>
              <a:buSzPts val="1800"/>
              <a:buChar char="•"/>
            </a:pPr>
            <a:r>
              <a:rPr lang="en-US"/>
              <a:t>Visualization</a:t>
            </a:r>
            <a:endParaRPr/>
          </a:p>
          <a:p>
            <a:pPr indent="-342900" lvl="2" marL="1371600" rtl="0" algn="l">
              <a:lnSpc>
                <a:spcPct val="115000"/>
              </a:lnSpc>
              <a:spcBef>
                <a:spcPts val="0"/>
              </a:spcBef>
              <a:spcAft>
                <a:spcPts val="0"/>
              </a:spcAft>
              <a:buSzPts val="1800"/>
              <a:buChar char="•"/>
            </a:pPr>
            <a:r>
              <a:rPr lang="en-US"/>
              <a:t>Topic by documents</a:t>
            </a:r>
            <a:endParaRPr/>
          </a:p>
          <a:p>
            <a:pPr indent="-342900" lvl="2" marL="1371600" rtl="0" algn="l">
              <a:lnSpc>
                <a:spcPct val="115000"/>
              </a:lnSpc>
              <a:spcBef>
                <a:spcPts val="0"/>
              </a:spcBef>
              <a:spcAft>
                <a:spcPts val="0"/>
              </a:spcAft>
              <a:buSzPts val="1800"/>
              <a:buChar char="•"/>
            </a:pPr>
            <a:r>
              <a:rPr lang="en-US"/>
              <a:t>Word cloud</a:t>
            </a:r>
            <a:endParaRPr/>
          </a:p>
        </p:txBody>
      </p:sp>
      <p:sp>
        <p:nvSpPr>
          <p:cNvPr id="161" name="Google Shape;161;g15db474c58e_0_9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Data Science - Previous Work</a:t>
            </a:r>
            <a:endParaRPr/>
          </a:p>
        </p:txBody>
      </p:sp>
      <p:pic>
        <p:nvPicPr>
          <p:cNvPr id="162" name="Google Shape;162;g15db474c58e_0_90"/>
          <p:cNvPicPr preferRelativeResize="0"/>
          <p:nvPr/>
        </p:nvPicPr>
        <p:blipFill rotWithShape="1">
          <a:blip r:embed="rId3">
            <a:alphaModFix/>
          </a:blip>
          <a:srcRect b="0" l="0" r="0" t="0"/>
          <a:stretch/>
        </p:blipFill>
        <p:spPr>
          <a:xfrm>
            <a:off x="5099350" y="914100"/>
            <a:ext cx="6711649" cy="3090000"/>
          </a:xfrm>
          <a:prstGeom prst="rect">
            <a:avLst/>
          </a:prstGeom>
          <a:noFill/>
          <a:ln>
            <a:noFill/>
          </a:ln>
        </p:spPr>
      </p:pic>
      <p:pic>
        <p:nvPicPr>
          <p:cNvPr id="163" name="Google Shape;163;g15db474c58e_0_90"/>
          <p:cNvPicPr preferRelativeResize="0"/>
          <p:nvPr/>
        </p:nvPicPr>
        <p:blipFill>
          <a:blip r:embed="rId4">
            <a:alphaModFix/>
          </a:blip>
          <a:stretch>
            <a:fillRect/>
          </a:stretch>
        </p:blipFill>
        <p:spPr>
          <a:xfrm>
            <a:off x="3698250" y="4194500"/>
            <a:ext cx="3268950" cy="2333600"/>
          </a:xfrm>
          <a:prstGeom prst="rect">
            <a:avLst/>
          </a:prstGeom>
          <a:noFill/>
          <a:ln>
            <a:noFill/>
          </a:ln>
        </p:spPr>
      </p:pic>
      <p:pic>
        <p:nvPicPr>
          <p:cNvPr id="164" name="Google Shape;164;g15db474c58e_0_90"/>
          <p:cNvPicPr preferRelativeResize="0"/>
          <p:nvPr/>
        </p:nvPicPr>
        <p:blipFill>
          <a:blip r:embed="rId5">
            <a:alphaModFix/>
          </a:blip>
          <a:stretch>
            <a:fillRect/>
          </a:stretch>
        </p:blipFill>
        <p:spPr>
          <a:xfrm>
            <a:off x="7475108" y="4131950"/>
            <a:ext cx="3455118" cy="2458701"/>
          </a:xfrm>
          <a:prstGeom prst="rect">
            <a:avLst/>
          </a:prstGeom>
          <a:noFill/>
          <a:ln>
            <a:noFill/>
          </a:ln>
        </p:spPr>
      </p:pic>
      <p:pic>
        <p:nvPicPr>
          <p:cNvPr id="165" name="Google Shape;165;g15db474c58e_0_90"/>
          <p:cNvPicPr preferRelativeResize="0"/>
          <p:nvPr/>
        </p:nvPicPr>
        <p:blipFill>
          <a:blip r:embed="rId6">
            <a:alphaModFix/>
          </a:blip>
          <a:stretch>
            <a:fillRect/>
          </a:stretch>
        </p:blipFill>
        <p:spPr>
          <a:xfrm>
            <a:off x="1059316" y="3711225"/>
            <a:ext cx="2257435" cy="26688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15e2f3f4d0a_0_12"/>
          <p:cNvSpPr txBox="1"/>
          <p:nvPr>
            <p:ph idx="1" type="body"/>
          </p:nvPr>
        </p:nvSpPr>
        <p:spPr>
          <a:xfrm>
            <a:off x="381000" y="1215482"/>
            <a:ext cx="11430000" cy="923700"/>
          </a:xfrm>
          <a:prstGeom prst="rect">
            <a:avLst/>
          </a:prstGeom>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Font typeface="Proxima Nova"/>
              <a:buChar char="•"/>
            </a:pPr>
            <a:r>
              <a:rPr lang="en-US" sz="1800">
                <a:latin typeface="Proxima Nova"/>
                <a:ea typeface="Proxima Nova"/>
                <a:cs typeface="Proxima Nova"/>
                <a:sym typeface="Proxima Nova"/>
              </a:rPr>
              <a:t>A</a:t>
            </a:r>
            <a:r>
              <a:rPr lang="en-US" sz="1800">
                <a:latin typeface="Proxima Nova"/>
                <a:ea typeface="Proxima Nova"/>
                <a:cs typeface="Proxima Nova"/>
                <a:sym typeface="Proxima Nova"/>
              </a:rPr>
              <a:t> machine learning task that identifies and assigns sentiment to aspects, features, and topics that it has categorized in the body of data</a:t>
            </a:r>
            <a:endParaRPr sz="1800">
              <a:latin typeface="Proxima Nova"/>
              <a:ea typeface="Proxima Nova"/>
              <a:cs typeface="Proxima Nova"/>
              <a:sym typeface="Proxima Nova"/>
            </a:endParaRPr>
          </a:p>
        </p:txBody>
      </p:sp>
      <p:sp>
        <p:nvSpPr>
          <p:cNvPr id="171" name="Google Shape;171;g15e2f3f4d0a_0_12"/>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Aspect-based Sentiment Analysis</a:t>
            </a:r>
            <a:endParaRPr/>
          </a:p>
        </p:txBody>
      </p:sp>
      <p:pic>
        <p:nvPicPr>
          <p:cNvPr id="172" name="Google Shape;172;g15e2f3f4d0a_0_12"/>
          <p:cNvPicPr preferRelativeResize="0"/>
          <p:nvPr/>
        </p:nvPicPr>
        <p:blipFill>
          <a:blip r:embed="rId3">
            <a:alphaModFix/>
          </a:blip>
          <a:stretch>
            <a:fillRect/>
          </a:stretch>
        </p:blipFill>
        <p:spPr>
          <a:xfrm>
            <a:off x="1148475" y="4303432"/>
            <a:ext cx="4438650" cy="1924050"/>
          </a:xfrm>
          <a:prstGeom prst="rect">
            <a:avLst/>
          </a:prstGeom>
          <a:noFill/>
          <a:ln>
            <a:noFill/>
          </a:ln>
        </p:spPr>
      </p:pic>
      <p:sp>
        <p:nvSpPr>
          <p:cNvPr id="173" name="Google Shape;173;g15e2f3f4d0a_0_12"/>
          <p:cNvSpPr txBox="1"/>
          <p:nvPr/>
        </p:nvSpPr>
        <p:spPr>
          <a:xfrm>
            <a:off x="968825" y="2528675"/>
            <a:ext cx="82134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800">
                <a:solidFill>
                  <a:schemeClr val="dk1"/>
                </a:solidFill>
                <a:latin typeface="Proxima Nova"/>
                <a:ea typeface="Proxima Nova"/>
                <a:cs typeface="Proxima Nova"/>
                <a:sym typeface="Proxima Nova"/>
              </a:rPr>
              <a:t>Text</a:t>
            </a:r>
            <a:r>
              <a:rPr lang="en-US" sz="1800">
                <a:solidFill>
                  <a:schemeClr val="dk1"/>
                </a:solidFill>
                <a:latin typeface="Proxima Nova"/>
                <a:ea typeface="Proxima Nova"/>
                <a:cs typeface="Proxima Nova"/>
                <a:sym typeface="Proxima Nova"/>
              </a:rPr>
              <a:t>: </a:t>
            </a:r>
            <a:r>
              <a:rPr lang="en-US" sz="1800">
                <a:solidFill>
                  <a:schemeClr val="dk1"/>
                </a:solidFill>
                <a:latin typeface="Proxima Nova"/>
                <a:ea typeface="Proxima Nova"/>
                <a:cs typeface="Proxima Nova"/>
                <a:sym typeface="Proxima Nova"/>
              </a:rPr>
              <a:t>I am not sure why the link is not active, but you can access A4 here</a:t>
            </a:r>
            <a:endParaRPr sz="1800">
              <a:solidFill>
                <a:schemeClr val="dk1"/>
              </a:solidFill>
              <a:latin typeface="Proxima Nova"/>
              <a:ea typeface="Proxima Nova"/>
              <a:cs typeface="Proxima Nova"/>
              <a:sym typeface="Proxima Nova"/>
            </a:endParaRPr>
          </a:p>
        </p:txBody>
      </p:sp>
      <p:sp>
        <p:nvSpPr>
          <p:cNvPr id="174" name="Google Shape;174;g15e2f3f4d0a_0_12"/>
          <p:cNvSpPr txBox="1"/>
          <p:nvPr/>
        </p:nvSpPr>
        <p:spPr>
          <a:xfrm>
            <a:off x="968825" y="2990450"/>
            <a:ext cx="82134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800">
                <a:solidFill>
                  <a:schemeClr val="dk1"/>
                </a:solidFill>
                <a:latin typeface="Proxima Nova"/>
                <a:ea typeface="Proxima Nova"/>
                <a:cs typeface="Proxima Nova"/>
                <a:sym typeface="Proxima Nova"/>
              </a:rPr>
              <a:t>Aspect</a:t>
            </a:r>
            <a:r>
              <a:rPr lang="en-US" sz="1800">
                <a:solidFill>
                  <a:schemeClr val="dk1"/>
                </a:solidFill>
                <a:latin typeface="Proxima Nova"/>
                <a:ea typeface="Proxima Nova"/>
                <a:cs typeface="Proxima Nova"/>
                <a:sym typeface="Proxima Nova"/>
              </a:rPr>
              <a:t>: link</a:t>
            </a:r>
            <a:endParaRPr sz="1800">
              <a:solidFill>
                <a:schemeClr val="dk1"/>
              </a:solidFill>
              <a:latin typeface="Proxima Nova"/>
              <a:ea typeface="Proxima Nova"/>
              <a:cs typeface="Proxima Nova"/>
              <a:sym typeface="Proxima Nova"/>
            </a:endParaRPr>
          </a:p>
        </p:txBody>
      </p:sp>
      <p:sp>
        <p:nvSpPr>
          <p:cNvPr id="175" name="Google Shape;175;g15e2f3f4d0a_0_12"/>
          <p:cNvSpPr txBox="1"/>
          <p:nvPr/>
        </p:nvSpPr>
        <p:spPr>
          <a:xfrm>
            <a:off x="968825" y="3484588"/>
            <a:ext cx="82134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800">
                <a:solidFill>
                  <a:schemeClr val="dk1"/>
                </a:solidFill>
                <a:latin typeface="Proxima Nova"/>
                <a:ea typeface="Proxima Nova"/>
                <a:cs typeface="Proxima Nova"/>
                <a:sym typeface="Proxima Nova"/>
              </a:rPr>
              <a:t>Output</a:t>
            </a:r>
            <a:r>
              <a:rPr lang="en-US" sz="1800">
                <a:solidFill>
                  <a:schemeClr val="dk1"/>
                </a:solidFill>
                <a:latin typeface="Proxima Nova"/>
                <a:ea typeface="Proxima Nova"/>
                <a:cs typeface="Proxima Nova"/>
                <a:sym typeface="Proxima Nova"/>
              </a:rPr>
              <a:t>: neutral: 0.028, negative: 0.963, positive: 0.009</a:t>
            </a:r>
            <a:endParaRPr sz="1800">
              <a:solidFill>
                <a:schemeClr val="dk1"/>
              </a:solidFill>
              <a:latin typeface="Proxima Nova"/>
              <a:ea typeface="Proxima Nova"/>
              <a:cs typeface="Proxima Nova"/>
              <a:sym typeface="Proxima Nova"/>
            </a:endParaRPr>
          </a:p>
        </p:txBody>
      </p:sp>
      <p:sp>
        <p:nvSpPr>
          <p:cNvPr id="176" name="Google Shape;176;g15e2f3f4d0a_0_12"/>
          <p:cNvSpPr txBox="1"/>
          <p:nvPr/>
        </p:nvSpPr>
        <p:spPr>
          <a:xfrm>
            <a:off x="968825" y="2043063"/>
            <a:ext cx="82134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800">
                <a:solidFill>
                  <a:schemeClr val="dk1"/>
                </a:solidFill>
                <a:latin typeface="Proxima Nova"/>
                <a:ea typeface="Proxima Nova"/>
                <a:cs typeface="Proxima Nova"/>
                <a:sym typeface="Proxima Nova"/>
              </a:rPr>
              <a:t>&lt;Example&gt;</a:t>
            </a:r>
            <a:endParaRPr sz="1800">
              <a:solidFill>
                <a:schemeClr val="dk1"/>
              </a:solidFill>
              <a:latin typeface="Proxima Nova"/>
              <a:ea typeface="Proxima Nova"/>
              <a:cs typeface="Proxima Nova"/>
              <a:sym typeface="Proxima Nova"/>
            </a:endParaRPr>
          </a:p>
        </p:txBody>
      </p:sp>
      <p:pic>
        <p:nvPicPr>
          <p:cNvPr id="177" name="Google Shape;177;g15e2f3f4d0a_0_12"/>
          <p:cNvPicPr preferRelativeResize="0"/>
          <p:nvPr/>
        </p:nvPicPr>
        <p:blipFill>
          <a:blip r:embed="rId4">
            <a:alphaModFix/>
          </a:blip>
          <a:stretch>
            <a:fillRect/>
          </a:stretch>
        </p:blipFill>
        <p:spPr>
          <a:xfrm>
            <a:off x="5970900" y="3823520"/>
            <a:ext cx="2704975" cy="2704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15e2f3f4d0a_0_17"/>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Overall Semester Goals</a:t>
            </a:r>
            <a:endParaRPr/>
          </a:p>
        </p:txBody>
      </p:sp>
      <p:pic>
        <p:nvPicPr>
          <p:cNvPr id="183" name="Google Shape;183;g15e2f3f4d0a_0_17"/>
          <p:cNvPicPr preferRelativeResize="0"/>
          <p:nvPr/>
        </p:nvPicPr>
        <p:blipFill>
          <a:blip r:embed="rId3">
            <a:alphaModFix/>
          </a:blip>
          <a:stretch>
            <a:fillRect/>
          </a:stretch>
        </p:blipFill>
        <p:spPr>
          <a:xfrm>
            <a:off x="3102886" y="2164097"/>
            <a:ext cx="6478330" cy="2701300"/>
          </a:xfrm>
          <a:prstGeom prst="rect">
            <a:avLst/>
          </a:prstGeom>
          <a:noFill/>
          <a:ln>
            <a:noFill/>
          </a:ln>
        </p:spPr>
      </p:pic>
      <p:pic>
        <p:nvPicPr>
          <p:cNvPr id="184" name="Google Shape;184;g15e2f3f4d0a_0_17"/>
          <p:cNvPicPr preferRelativeResize="0"/>
          <p:nvPr/>
        </p:nvPicPr>
        <p:blipFill>
          <a:blip r:embed="rId4">
            <a:alphaModFix/>
          </a:blip>
          <a:stretch>
            <a:fillRect/>
          </a:stretch>
        </p:blipFill>
        <p:spPr>
          <a:xfrm>
            <a:off x="387338" y="1504775"/>
            <a:ext cx="6918666" cy="4585826"/>
          </a:xfrm>
          <a:prstGeom prst="rect">
            <a:avLst/>
          </a:prstGeom>
          <a:noFill/>
          <a:ln>
            <a:noFill/>
          </a:ln>
        </p:spPr>
      </p:pic>
      <p:pic>
        <p:nvPicPr>
          <p:cNvPr id="185" name="Google Shape;185;g15e2f3f4d0a_0_17"/>
          <p:cNvPicPr preferRelativeResize="0"/>
          <p:nvPr/>
        </p:nvPicPr>
        <p:blipFill>
          <a:blip r:embed="rId5">
            <a:alphaModFix/>
          </a:blip>
          <a:stretch>
            <a:fillRect/>
          </a:stretch>
        </p:blipFill>
        <p:spPr>
          <a:xfrm>
            <a:off x="8290078" y="2380913"/>
            <a:ext cx="2230334" cy="2178066"/>
          </a:xfrm>
          <a:prstGeom prst="rect">
            <a:avLst/>
          </a:prstGeom>
          <a:noFill/>
          <a:ln>
            <a:noFill/>
          </a:ln>
        </p:spPr>
      </p:pic>
      <p:pic>
        <p:nvPicPr>
          <p:cNvPr id="186" name="Google Shape;186;g15e2f3f4d0a_0_17"/>
          <p:cNvPicPr preferRelativeResize="0"/>
          <p:nvPr/>
        </p:nvPicPr>
        <p:blipFill>
          <a:blip r:embed="rId6">
            <a:alphaModFix/>
          </a:blip>
          <a:stretch>
            <a:fillRect/>
          </a:stretch>
        </p:blipFill>
        <p:spPr>
          <a:xfrm>
            <a:off x="6543666" y="2756715"/>
            <a:ext cx="1434352" cy="141829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efbeba6a1c_0_514"/>
          <p:cNvSpPr txBox="1"/>
          <p:nvPr>
            <p:ph idx="4294967295" type="title"/>
          </p:nvPr>
        </p:nvSpPr>
        <p:spPr>
          <a:xfrm>
            <a:off x="381000" y="2921547"/>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sz="7000"/>
              <a:t>UX Research</a:t>
            </a:r>
            <a:endParaRPr sz="7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efbeba6a1c_0_15"/>
          <p:cNvSpPr txBox="1"/>
          <p:nvPr>
            <p:ph idx="1" type="body"/>
          </p:nvPr>
        </p:nvSpPr>
        <p:spPr>
          <a:xfrm>
            <a:off x="381000" y="1532300"/>
            <a:ext cx="11430000" cy="4036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000"/>
              </a:spcBef>
              <a:spcAft>
                <a:spcPts val="0"/>
              </a:spcAft>
              <a:buSzPts val="1800"/>
              <a:buNone/>
            </a:pPr>
            <a:r>
              <a:rPr b="1" lang="en-US"/>
              <a:t>Research Question:</a:t>
            </a:r>
            <a:r>
              <a:rPr lang="en-US"/>
              <a:t> What metrics on a dashboard are useful to instructors in order to improve student engagement &amp; performance and/or reduce workload for instructors?</a:t>
            </a:r>
            <a:endParaRPr/>
          </a:p>
          <a:p>
            <a:pPr indent="0" lvl="0" marL="0" rtl="0" algn="l">
              <a:lnSpc>
                <a:spcPct val="100000"/>
              </a:lnSpc>
              <a:spcBef>
                <a:spcPts val="1000"/>
              </a:spcBef>
              <a:spcAft>
                <a:spcPts val="0"/>
              </a:spcAft>
              <a:buSzPts val="1800"/>
              <a:buNone/>
            </a:pPr>
            <a:r>
              <a:t/>
            </a:r>
            <a:endParaRPr/>
          </a:p>
          <a:p>
            <a:pPr indent="0" lvl="0" marL="0" rtl="0" algn="l">
              <a:lnSpc>
                <a:spcPct val="100000"/>
              </a:lnSpc>
              <a:spcBef>
                <a:spcPts val="1000"/>
              </a:spcBef>
              <a:spcAft>
                <a:spcPts val="0"/>
              </a:spcAft>
              <a:buSzPts val="1800"/>
              <a:buNone/>
            </a:pPr>
            <a:r>
              <a:rPr b="1" lang="en-US"/>
              <a:t>Goals</a:t>
            </a:r>
            <a:r>
              <a:rPr lang="en-US"/>
              <a:t>:</a:t>
            </a:r>
            <a:endParaRPr/>
          </a:p>
          <a:p>
            <a:pPr indent="-342900" lvl="0" marL="457200" rtl="0" algn="l">
              <a:lnSpc>
                <a:spcPct val="100000"/>
              </a:lnSpc>
              <a:spcBef>
                <a:spcPts val="1000"/>
              </a:spcBef>
              <a:spcAft>
                <a:spcPts val="0"/>
              </a:spcAft>
              <a:buSzPts val="1800"/>
              <a:buChar char="•"/>
            </a:pPr>
            <a:r>
              <a:rPr lang="en-US"/>
              <a:t>Collect ideas &amp; insights from users on utility of metrics.</a:t>
            </a:r>
            <a:endParaRPr/>
          </a:p>
          <a:p>
            <a:pPr indent="-342900" lvl="0" marL="457200" rtl="0" algn="l">
              <a:lnSpc>
                <a:spcPct val="100000"/>
              </a:lnSpc>
              <a:spcBef>
                <a:spcPts val="0"/>
              </a:spcBef>
              <a:spcAft>
                <a:spcPts val="0"/>
              </a:spcAft>
              <a:buSzPts val="1800"/>
              <a:buChar char="•"/>
            </a:pPr>
            <a:r>
              <a:rPr lang="en-US"/>
              <a:t>Find the intersection between valuable metrics and feasible metrics.</a:t>
            </a:r>
            <a:endParaRPr/>
          </a:p>
          <a:p>
            <a:pPr indent="-342900" lvl="0" marL="457200" rtl="0" algn="l">
              <a:lnSpc>
                <a:spcPct val="100000"/>
              </a:lnSpc>
              <a:spcBef>
                <a:spcPts val="0"/>
              </a:spcBef>
              <a:spcAft>
                <a:spcPts val="0"/>
              </a:spcAft>
              <a:buSzPts val="1800"/>
              <a:buChar char="•"/>
            </a:pPr>
            <a:r>
              <a:rPr lang="en-US"/>
              <a:t>Pilot test prototypes with users.</a:t>
            </a:r>
            <a:endParaRPr/>
          </a:p>
        </p:txBody>
      </p:sp>
      <p:sp>
        <p:nvSpPr>
          <p:cNvPr id="197" name="Google Shape;197;gefbeba6a1c_0_15"/>
          <p:cNvSpPr txBox="1"/>
          <p:nvPr>
            <p:ph type="title"/>
          </p:nvPr>
        </p:nvSpPr>
        <p:spPr>
          <a:xfrm>
            <a:off x="381000" y="331547"/>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User Surveys &amp; Interviews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efbeba6a1c_0_430"/>
          <p:cNvSpPr txBox="1"/>
          <p:nvPr>
            <p:ph idx="1" type="body"/>
          </p:nvPr>
        </p:nvSpPr>
        <p:spPr>
          <a:xfrm>
            <a:off x="381000" y="1532301"/>
            <a:ext cx="11430000" cy="42795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1000"/>
              </a:spcBef>
              <a:spcAft>
                <a:spcPts val="0"/>
              </a:spcAft>
              <a:buSzPts val="1800"/>
              <a:buChar char="•"/>
            </a:pPr>
            <a:r>
              <a:rPr lang="en-US"/>
              <a:t>Conducted interviews with TAs &amp; instructors from OMS classes</a:t>
            </a:r>
            <a:endParaRPr/>
          </a:p>
          <a:p>
            <a:pPr indent="-342900" lvl="1" marL="914400" rtl="0" algn="l">
              <a:lnSpc>
                <a:spcPct val="100000"/>
              </a:lnSpc>
              <a:spcBef>
                <a:spcPts val="0"/>
              </a:spcBef>
              <a:spcAft>
                <a:spcPts val="0"/>
              </a:spcAft>
              <a:buSzPts val="1800"/>
              <a:buChar char="•"/>
            </a:pPr>
            <a:r>
              <a:rPr lang="en-US"/>
              <a:t>Dr. Joyner, James Lohse, Vaibhav Bhosale</a:t>
            </a:r>
            <a:endParaRPr/>
          </a:p>
          <a:p>
            <a:pPr indent="-342900" lvl="0" marL="457200" rtl="0" algn="l">
              <a:lnSpc>
                <a:spcPct val="100000"/>
              </a:lnSpc>
              <a:spcBef>
                <a:spcPts val="1000"/>
              </a:spcBef>
              <a:spcAft>
                <a:spcPts val="0"/>
              </a:spcAft>
              <a:buSzPts val="1800"/>
              <a:buChar char="•"/>
            </a:pPr>
            <a:r>
              <a:rPr lang="en-US"/>
              <a:t>Gave out survey for feedback on metrics</a:t>
            </a:r>
            <a:endParaRPr/>
          </a:p>
          <a:p>
            <a:pPr indent="-342900" lvl="0" marL="457200" rtl="0" algn="l">
              <a:lnSpc>
                <a:spcPct val="100000"/>
              </a:lnSpc>
              <a:spcBef>
                <a:spcPts val="1000"/>
              </a:spcBef>
              <a:spcAft>
                <a:spcPts val="0"/>
              </a:spcAft>
              <a:buSzPts val="1800"/>
              <a:buChar char="•"/>
            </a:pPr>
            <a:r>
              <a:rPr lang="en-US"/>
              <a:t>Reported on:</a:t>
            </a:r>
            <a:endParaRPr/>
          </a:p>
          <a:p>
            <a:pPr indent="-342900" lvl="1" marL="914400" rtl="0" algn="l">
              <a:lnSpc>
                <a:spcPct val="100000"/>
              </a:lnSpc>
              <a:spcBef>
                <a:spcPts val="1000"/>
              </a:spcBef>
              <a:spcAft>
                <a:spcPts val="0"/>
              </a:spcAft>
              <a:buSzPts val="1800"/>
              <a:buChar char="•"/>
            </a:pPr>
            <a:r>
              <a:rPr lang="en-US"/>
              <a:t>Metrics to include on dashboard</a:t>
            </a:r>
            <a:endParaRPr/>
          </a:p>
          <a:p>
            <a:pPr indent="-342900" lvl="1" marL="914400" rtl="0" algn="l">
              <a:lnSpc>
                <a:spcPct val="100000"/>
              </a:lnSpc>
              <a:spcBef>
                <a:spcPts val="1000"/>
              </a:spcBef>
              <a:spcAft>
                <a:spcPts val="0"/>
              </a:spcAft>
              <a:buSzPts val="1800"/>
              <a:buChar char="•"/>
            </a:pPr>
            <a:r>
              <a:rPr lang="en-US"/>
              <a:t>Problems with using discussion forums</a:t>
            </a:r>
            <a:endParaRPr/>
          </a:p>
          <a:p>
            <a:pPr indent="-342900" lvl="1" marL="914400" rtl="0" algn="l">
              <a:lnSpc>
                <a:spcPct val="100000"/>
              </a:lnSpc>
              <a:spcBef>
                <a:spcPts val="1000"/>
              </a:spcBef>
              <a:spcAft>
                <a:spcPts val="0"/>
              </a:spcAft>
              <a:buSzPts val="1800"/>
              <a:buChar char="•"/>
            </a:pPr>
            <a:r>
              <a:rPr lang="en-US"/>
              <a:t>Research topics for further investigation</a:t>
            </a:r>
            <a:endParaRPr/>
          </a:p>
        </p:txBody>
      </p:sp>
      <p:sp>
        <p:nvSpPr>
          <p:cNvPr id="203" name="Google Shape;203;gefbeba6a1c_0_43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100"/>
              <a:buFont typeface="Arial"/>
              <a:buNone/>
            </a:pPr>
            <a:r>
              <a:rPr lang="en-US"/>
              <a:t>User Surveys &amp; Interviews - Previous Work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efbeba6a1c_0_34"/>
          <p:cNvSpPr txBox="1"/>
          <p:nvPr>
            <p:ph idx="4294967295" type="title"/>
          </p:nvPr>
        </p:nvSpPr>
        <p:spPr>
          <a:xfrm>
            <a:off x="381000" y="2921547"/>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sz="7000"/>
              <a:t>Web Development</a:t>
            </a:r>
            <a:endParaRPr sz="7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9d659091a8_1_15"/>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68300" lvl="0" marL="457200" rtl="0" algn="l">
              <a:lnSpc>
                <a:spcPct val="100000"/>
              </a:lnSpc>
              <a:spcBef>
                <a:spcPts val="1000"/>
              </a:spcBef>
              <a:spcAft>
                <a:spcPts val="0"/>
              </a:spcAft>
              <a:buSzPts val="2200"/>
              <a:buChar char="•"/>
            </a:pPr>
            <a:r>
              <a:rPr lang="en-US"/>
              <a:t>Fetching piazza data from the backend database</a:t>
            </a:r>
            <a:endParaRPr/>
          </a:p>
          <a:p>
            <a:pPr indent="0" lvl="0" marL="0" rtl="0" algn="l">
              <a:lnSpc>
                <a:spcPct val="100000"/>
              </a:lnSpc>
              <a:spcBef>
                <a:spcPts val="1000"/>
              </a:spcBef>
              <a:spcAft>
                <a:spcPts val="0"/>
              </a:spcAft>
              <a:buNone/>
            </a:pPr>
            <a:r>
              <a:t/>
            </a:r>
            <a:endParaRPr/>
          </a:p>
          <a:p>
            <a:pPr indent="-368300" lvl="0" marL="457200" rtl="0" algn="l">
              <a:lnSpc>
                <a:spcPct val="100000"/>
              </a:lnSpc>
              <a:spcBef>
                <a:spcPts val="1000"/>
              </a:spcBef>
              <a:spcAft>
                <a:spcPts val="0"/>
              </a:spcAft>
              <a:buSzPts val="2200"/>
              <a:buChar char="•"/>
            </a:pPr>
            <a:r>
              <a:rPr lang="en-US"/>
              <a:t>High-fidelity mockups using Figma (design software)</a:t>
            </a:r>
            <a:endParaRPr/>
          </a:p>
          <a:p>
            <a:pPr indent="-368300" lvl="1" marL="914400" rtl="0" algn="l">
              <a:lnSpc>
                <a:spcPct val="100000"/>
              </a:lnSpc>
              <a:spcBef>
                <a:spcPts val="1000"/>
              </a:spcBef>
              <a:spcAft>
                <a:spcPts val="0"/>
              </a:spcAft>
              <a:buSzPts val="2200"/>
              <a:buChar char="•"/>
            </a:pPr>
            <a:r>
              <a:rPr lang="en-US" sz="2400"/>
              <a:t>Allows us to test different information layouts and experiment with different ideas before deciding on a final one to code </a:t>
            </a:r>
            <a:endParaRPr sz="2400"/>
          </a:p>
          <a:p>
            <a:pPr indent="-342900" lvl="1" marL="914400" rtl="0" algn="l">
              <a:lnSpc>
                <a:spcPct val="100000"/>
              </a:lnSpc>
              <a:spcBef>
                <a:spcPts val="1000"/>
              </a:spcBef>
              <a:spcAft>
                <a:spcPts val="0"/>
              </a:spcAft>
              <a:buSzPts val="1800"/>
              <a:buChar char="•"/>
            </a:pPr>
            <a:r>
              <a:rPr lang="en-US" u="sng">
                <a:solidFill>
                  <a:schemeClr val="hlink"/>
                </a:solidFill>
                <a:hlinkClick r:id="rId3"/>
              </a:rPr>
              <a:t>https://www.figma.com/file/E7GKzL49vurhk3X3XMFJBY/spring-2022-vip-mockups?node-id=0%3A1</a:t>
            </a:r>
            <a:endParaRPr/>
          </a:p>
          <a:p>
            <a:pPr indent="0" lvl="0" marL="914400" rtl="0" algn="l">
              <a:lnSpc>
                <a:spcPct val="100000"/>
              </a:lnSpc>
              <a:spcBef>
                <a:spcPts val="1000"/>
              </a:spcBef>
              <a:spcAft>
                <a:spcPts val="0"/>
              </a:spcAft>
              <a:buNone/>
            </a:pPr>
            <a:r>
              <a:t/>
            </a:r>
            <a:endParaRPr/>
          </a:p>
          <a:p>
            <a:pPr indent="0" lvl="0" marL="914400" rtl="0" algn="l">
              <a:lnSpc>
                <a:spcPct val="100000"/>
              </a:lnSpc>
              <a:spcBef>
                <a:spcPts val="1000"/>
              </a:spcBef>
              <a:spcAft>
                <a:spcPts val="0"/>
              </a:spcAft>
              <a:buSzPts val="1800"/>
              <a:buNone/>
            </a:pPr>
            <a:r>
              <a:t/>
            </a:r>
            <a:endParaRPr sz="2000"/>
          </a:p>
        </p:txBody>
      </p:sp>
      <p:sp>
        <p:nvSpPr>
          <p:cNvPr id="214" name="Google Shape;214;g9d659091a8_1_15"/>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Last Semesters Results</a:t>
            </a:r>
            <a:endParaRPr/>
          </a:p>
        </p:txBody>
      </p:sp>
      <p:sp>
        <p:nvSpPr>
          <p:cNvPr id="215" name="Google Shape;215;g9d659091a8_1_15"/>
          <p:cNvSpPr txBox="1"/>
          <p:nvPr/>
        </p:nvSpPr>
        <p:spPr>
          <a:xfrm>
            <a:off x="9399938" y="5882125"/>
            <a:ext cx="1364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15c82140282_0_7"/>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Last Semesters Results</a:t>
            </a:r>
            <a:endParaRPr/>
          </a:p>
        </p:txBody>
      </p:sp>
      <p:pic>
        <p:nvPicPr>
          <p:cNvPr id="221" name="Google Shape;221;g15c82140282_0_7"/>
          <p:cNvPicPr preferRelativeResize="0"/>
          <p:nvPr/>
        </p:nvPicPr>
        <p:blipFill>
          <a:blip r:embed="rId3">
            <a:alphaModFix/>
          </a:blip>
          <a:stretch>
            <a:fillRect/>
          </a:stretch>
        </p:blipFill>
        <p:spPr>
          <a:xfrm>
            <a:off x="83225" y="1554800"/>
            <a:ext cx="11870403" cy="40166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15c82140282_0_2"/>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Last Semesters Results</a:t>
            </a:r>
            <a:endParaRPr/>
          </a:p>
        </p:txBody>
      </p:sp>
      <p:pic>
        <p:nvPicPr>
          <p:cNvPr id="227" name="Google Shape;227;g15c82140282_0_2"/>
          <p:cNvPicPr preferRelativeResize="0"/>
          <p:nvPr/>
        </p:nvPicPr>
        <p:blipFill>
          <a:blip r:embed="rId3">
            <a:alphaModFix/>
          </a:blip>
          <a:stretch>
            <a:fillRect/>
          </a:stretch>
        </p:blipFill>
        <p:spPr>
          <a:xfrm>
            <a:off x="152400" y="1368022"/>
            <a:ext cx="11887201" cy="397594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efb32003ea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1800"/>
              <a:buNone/>
            </a:pPr>
            <a:r>
              <a:rPr lang="en-US"/>
              <a:t>Current Progress</a:t>
            </a:r>
            <a:endParaRPr/>
          </a:p>
        </p:txBody>
      </p:sp>
      <p:pic>
        <p:nvPicPr>
          <p:cNvPr id="233" name="Google Shape;233;gefb32003ea_0_0"/>
          <p:cNvPicPr preferRelativeResize="0"/>
          <p:nvPr/>
        </p:nvPicPr>
        <p:blipFill>
          <a:blip r:embed="rId3">
            <a:alphaModFix/>
          </a:blip>
          <a:stretch>
            <a:fillRect/>
          </a:stretch>
        </p:blipFill>
        <p:spPr>
          <a:xfrm>
            <a:off x="1140725" y="1114922"/>
            <a:ext cx="10235356" cy="533757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15c82140282_0_14"/>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Current Progress</a:t>
            </a:r>
            <a:endParaRPr/>
          </a:p>
        </p:txBody>
      </p:sp>
      <p:pic>
        <p:nvPicPr>
          <p:cNvPr id="239" name="Google Shape;239;g15c82140282_0_14"/>
          <p:cNvPicPr preferRelativeResize="0"/>
          <p:nvPr/>
        </p:nvPicPr>
        <p:blipFill>
          <a:blip r:embed="rId3">
            <a:alphaModFix/>
          </a:blip>
          <a:stretch>
            <a:fillRect/>
          </a:stretch>
        </p:blipFill>
        <p:spPr>
          <a:xfrm>
            <a:off x="1490250" y="1054647"/>
            <a:ext cx="9489029" cy="533757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15c82140282_0_22"/>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Current Progress</a:t>
            </a:r>
            <a:endParaRPr/>
          </a:p>
        </p:txBody>
      </p:sp>
      <p:pic>
        <p:nvPicPr>
          <p:cNvPr id="245" name="Google Shape;245;g15c82140282_0_22"/>
          <p:cNvPicPr preferRelativeResize="0"/>
          <p:nvPr/>
        </p:nvPicPr>
        <p:blipFill>
          <a:blip r:embed="rId3">
            <a:alphaModFix/>
          </a:blip>
          <a:stretch>
            <a:fillRect/>
          </a:stretch>
        </p:blipFill>
        <p:spPr>
          <a:xfrm>
            <a:off x="1371988" y="1126972"/>
            <a:ext cx="9448018" cy="533757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1"/>
          <p:cNvSpPr txBox="1"/>
          <p:nvPr>
            <p:ph idx="1" type="body"/>
          </p:nvPr>
        </p:nvSpPr>
        <p:spPr>
          <a:xfrm>
            <a:off x="381000" y="1215471"/>
            <a:ext cx="11430000" cy="50883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000"/>
              </a:spcBef>
              <a:spcAft>
                <a:spcPts val="0"/>
              </a:spcAft>
              <a:buClr>
                <a:srgbClr val="000000"/>
              </a:buClr>
              <a:buSzPts val="1800"/>
              <a:buChar char="●"/>
            </a:pPr>
            <a:r>
              <a:rPr b="1" lang="en-US">
                <a:solidFill>
                  <a:srgbClr val="000000"/>
                </a:solidFill>
              </a:rPr>
              <a:t>Project Roadmap</a:t>
            </a:r>
            <a:endParaRPr b="1">
              <a:solidFill>
                <a:srgbClr val="000000"/>
              </a:solidFill>
            </a:endParaRPr>
          </a:p>
          <a:p>
            <a:pPr indent="-342900" lvl="1" marL="914400" rtl="0" algn="l">
              <a:lnSpc>
                <a:spcPct val="115000"/>
              </a:lnSpc>
              <a:spcBef>
                <a:spcPts val="1000"/>
              </a:spcBef>
              <a:spcAft>
                <a:spcPts val="0"/>
              </a:spcAft>
              <a:buClr>
                <a:srgbClr val="000000"/>
              </a:buClr>
              <a:buSzPts val="1800"/>
              <a:buChar char="•"/>
            </a:pPr>
            <a:r>
              <a:rPr lang="en-US">
                <a:solidFill>
                  <a:srgbClr val="000000"/>
                </a:solidFill>
              </a:rPr>
              <a:t>Deployment of web-app and testing in Piazza sandbox environment and user feedback from instructor team</a:t>
            </a:r>
            <a:endParaRPr>
              <a:solidFill>
                <a:srgbClr val="000000"/>
              </a:solidFill>
            </a:endParaRPr>
          </a:p>
          <a:p>
            <a:pPr indent="-342900" lvl="0" marL="457200" rtl="0" algn="l">
              <a:lnSpc>
                <a:spcPct val="115000"/>
              </a:lnSpc>
              <a:spcBef>
                <a:spcPts val="1000"/>
              </a:spcBef>
              <a:spcAft>
                <a:spcPts val="0"/>
              </a:spcAft>
              <a:buClr>
                <a:srgbClr val="000000"/>
              </a:buClr>
              <a:buSzPts val="1800"/>
              <a:buChar char="●"/>
            </a:pPr>
            <a:r>
              <a:rPr b="1" lang="en-US">
                <a:solidFill>
                  <a:srgbClr val="000000"/>
                </a:solidFill>
              </a:rPr>
              <a:t>Model Development</a:t>
            </a:r>
            <a:endParaRPr b="1">
              <a:solidFill>
                <a:srgbClr val="000000"/>
              </a:solidFill>
            </a:endParaRPr>
          </a:p>
          <a:p>
            <a:pPr indent="-342900" lvl="1" marL="914400" rtl="0" algn="l">
              <a:lnSpc>
                <a:spcPct val="115000"/>
              </a:lnSpc>
              <a:spcBef>
                <a:spcPts val="1000"/>
              </a:spcBef>
              <a:spcAft>
                <a:spcPts val="0"/>
              </a:spcAft>
              <a:buClr>
                <a:srgbClr val="000000"/>
              </a:buClr>
              <a:buSzPts val="1800"/>
              <a:buChar char="•"/>
            </a:pPr>
            <a:r>
              <a:rPr lang="en-US">
                <a:solidFill>
                  <a:srgbClr val="000000"/>
                </a:solidFill>
              </a:rPr>
              <a:t>Aspect-Based Sentiment Analysis</a:t>
            </a:r>
            <a:r>
              <a:rPr lang="en-US">
                <a:solidFill>
                  <a:srgbClr val="000000"/>
                </a:solidFill>
              </a:rPr>
              <a:t> to help instructors get actionable insights on different aspects of their courses - assignments, instructor team, course materials, grading etc.</a:t>
            </a:r>
            <a:endParaRPr>
              <a:solidFill>
                <a:srgbClr val="000000"/>
              </a:solidFill>
            </a:endParaRPr>
          </a:p>
          <a:p>
            <a:pPr indent="-342900" lvl="0" marL="457200" rtl="0" algn="l">
              <a:lnSpc>
                <a:spcPct val="115000"/>
              </a:lnSpc>
              <a:spcBef>
                <a:spcPts val="1000"/>
              </a:spcBef>
              <a:spcAft>
                <a:spcPts val="0"/>
              </a:spcAft>
              <a:buSzPts val="1800"/>
              <a:buChar char="●"/>
            </a:pPr>
            <a:r>
              <a:rPr b="1" lang="en-US"/>
              <a:t>Piazza</a:t>
            </a:r>
            <a:r>
              <a:rPr b="1" lang="en-US"/>
              <a:t> Feature</a:t>
            </a:r>
            <a:endParaRPr b="1"/>
          </a:p>
          <a:p>
            <a:pPr indent="-342900" lvl="1" marL="914400" rtl="0" algn="l">
              <a:lnSpc>
                <a:spcPct val="115000"/>
              </a:lnSpc>
              <a:spcBef>
                <a:spcPts val="500"/>
              </a:spcBef>
              <a:spcAft>
                <a:spcPts val="0"/>
              </a:spcAft>
              <a:buSzPts val="1800"/>
              <a:buChar char="•"/>
            </a:pPr>
            <a:r>
              <a:rPr lang="en-US"/>
              <a:t>Allow TAs to </a:t>
            </a:r>
            <a:r>
              <a:rPr lang="en-US"/>
              <a:t>respond</a:t>
            </a:r>
            <a:r>
              <a:rPr lang="en-US"/>
              <a:t> to an incoming question from the top matched responses from </a:t>
            </a:r>
            <a:r>
              <a:rPr lang="en-US"/>
              <a:t>previous</a:t>
            </a:r>
            <a:r>
              <a:rPr lang="en-US"/>
              <a:t> semester’s data using topic modeling</a:t>
            </a:r>
            <a:endParaRPr/>
          </a:p>
          <a:p>
            <a:pPr indent="0" lvl="0" marL="0" rtl="0" algn="l">
              <a:lnSpc>
                <a:spcPct val="115000"/>
              </a:lnSpc>
              <a:spcBef>
                <a:spcPts val="1000"/>
              </a:spcBef>
              <a:spcAft>
                <a:spcPts val="0"/>
              </a:spcAft>
              <a:buNone/>
            </a:pPr>
            <a:r>
              <a:t/>
            </a:r>
            <a:endParaRPr>
              <a:solidFill>
                <a:srgbClr val="000000"/>
              </a:solidFill>
            </a:endParaRPr>
          </a:p>
        </p:txBody>
      </p:sp>
      <p:sp>
        <p:nvSpPr>
          <p:cNvPr id="251" name="Google Shape;251;p11"/>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Conclusion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9d48565bb2_0_10"/>
          <p:cNvSpPr txBox="1"/>
          <p:nvPr>
            <p:ph idx="1" type="body"/>
          </p:nvPr>
        </p:nvSpPr>
        <p:spPr>
          <a:xfrm>
            <a:off x="381000" y="1215473"/>
            <a:ext cx="11430000" cy="5818500"/>
          </a:xfrm>
          <a:prstGeom prst="rect">
            <a:avLst/>
          </a:prstGeom>
          <a:noFill/>
          <a:ln>
            <a:noFill/>
          </a:ln>
        </p:spPr>
        <p:txBody>
          <a:bodyPr anchorCtr="0" anchor="t" bIns="45700" lIns="91425" spcFirstLastPara="1" rIns="91425" wrap="square" tIns="45700">
            <a:noAutofit/>
          </a:bodyPr>
          <a:lstStyle/>
          <a:p>
            <a:pPr indent="-349250" lvl="0" marL="457200" rtl="0" algn="l">
              <a:lnSpc>
                <a:spcPct val="90000"/>
              </a:lnSpc>
              <a:spcBef>
                <a:spcPts val="0"/>
              </a:spcBef>
              <a:spcAft>
                <a:spcPts val="0"/>
              </a:spcAft>
              <a:buSzPts val="1900"/>
              <a:buAutoNum type="arabicPeriod"/>
            </a:pPr>
            <a:r>
              <a:rPr lang="en-US" sz="1900"/>
              <a:t>Garrison, D. R., Anderson, T., &amp; Archer, W. (1999). Critical Inquiry in a Text-Based Environment: Computer Conferencing in Higher Education. </a:t>
            </a:r>
            <a:r>
              <a:rPr i="1" lang="en-US" sz="1900"/>
              <a:t>The Internet and Higher Education</a:t>
            </a:r>
            <a:r>
              <a:rPr lang="en-US" sz="1900"/>
              <a:t>, 2(2–3), 87–105. https://doi.org/10.1016/S1096-7516(00)00016-6</a:t>
            </a:r>
            <a:endParaRPr sz="1900"/>
          </a:p>
          <a:p>
            <a:pPr indent="-349250" lvl="0" marL="457200" rtl="0" algn="l">
              <a:lnSpc>
                <a:spcPct val="90000"/>
              </a:lnSpc>
              <a:spcBef>
                <a:spcPts val="0"/>
              </a:spcBef>
              <a:spcAft>
                <a:spcPts val="0"/>
              </a:spcAft>
              <a:buSzPts val="1900"/>
              <a:buAutoNum type="arabicPeriod"/>
            </a:pPr>
            <a:r>
              <a:rPr lang="en-US" sz="1900"/>
              <a:t>Garrison, D. R., Anderson, T., &amp; Archer, W. (2001). Critical thinking, cognitive presence, and computer conferencing in distance education. </a:t>
            </a:r>
            <a:r>
              <a:rPr i="1" lang="en-US" sz="1900"/>
              <a:t>American Journal of Distance Education</a:t>
            </a:r>
            <a:r>
              <a:rPr lang="en-US" sz="1900"/>
              <a:t>, 15(1), 7–23. https://doi.org/10.1080/08923640109527071</a:t>
            </a:r>
            <a:endParaRPr sz="1900"/>
          </a:p>
          <a:p>
            <a:pPr indent="-349250" lvl="0" marL="457200" rtl="0" algn="l">
              <a:lnSpc>
                <a:spcPct val="90000"/>
              </a:lnSpc>
              <a:spcBef>
                <a:spcPts val="0"/>
              </a:spcBef>
              <a:spcAft>
                <a:spcPts val="0"/>
              </a:spcAft>
              <a:buSzPts val="1900"/>
              <a:buAutoNum type="arabicPeriod"/>
            </a:pPr>
            <a:r>
              <a:rPr lang="en-US" sz="1900"/>
              <a:t>Devlin, J., Chang, M. W., Lee, K., &amp; Toutanova, K. (2018). Bert: Pre-training of deep bidirectional transformers for language understanding. arXiv preprint arXiv:1810.04805.</a:t>
            </a:r>
            <a:endParaRPr sz="1900"/>
          </a:p>
          <a:p>
            <a:pPr indent="-349250" lvl="0" marL="457200" rtl="0" algn="l">
              <a:lnSpc>
                <a:spcPct val="90000"/>
              </a:lnSpc>
              <a:spcBef>
                <a:spcPts val="0"/>
              </a:spcBef>
              <a:spcAft>
                <a:spcPts val="0"/>
              </a:spcAft>
              <a:buSzPts val="1900"/>
              <a:buFont typeface="Roboto"/>
              <a:buAutoNum type="arabicPeriod"/>
            </a:pPr>
            <a:r>
              <a:rPr lang="en-US" sz="1900"/>
              <a:t>Medhat, Walaa, Hassan, Ahmed, Hoda, Korashy (2014). Sentiment analysis algorithms and applications: A survey. </a:t>
            </a:r>
            <a:r>
              <a:rPr i="1" lang="en-US" sz="1900"/>
              <a:t>Ain Sham Engineering Journals.</a:t>
            </a:r>
            <a:r>
              <a:rPr lang="en-US" sz="1900"/>
              <a:t> </a:t>
            </a:r>
            <a:r>
              <a:rPr lang="en-US" sz="1900">
                <a:solidFill>
                  <a:schemeClr val="hlink"/>
                </a:solidFill>
                <a:uFill>
                  <a:noFill/>
                </a:uFill>
                <a:hlinkClick r:id="rId3"/>
              </a:rPr>
              <a:t>https://doi.org/10.1016/j.asej.2014.04.011</a:t>
            </a:r>
            <a:endParaRPr sz="1900"/>
          </a:p>
          <a:p>
            <a:pPr indent="-349250" lvl="0" marL="457200" rtl="0" algn="l">
              <a:lnSpc>
                <a:spcPct val="115000"/>
              </a:lnSpc>
              <a:spcBef>
                <a:spcPts val="0"/>
              </a:spcBef>
              <a:spcAft>
                <a:spcPts val="0"/>
              </a:spcAft>
              <a:buSzPts val="1900"/>
              <a:buFont typeface="Roboto"/>
              <a:buAutoNum type="arabicPeriod"/>
            </a:pPr>
            <a:r>
              <a:rPr lang="en-US" sz="1900"/>
              <a:t>MacMillan, Kelsey, and James D. Wilson. </a:t>
            </a:r>
            <a:r>
              <a:rPr i="1" lang="en-US" sz="1900"/>
              <a:t>Topic Supervised Non-Negative Matrix Factorization</a:t>
            </a:r>
            <a:r>
              <a:rPr lang="en-US" sz="1900"/>
              <a:t>, Arxiv, 4 July 2017, https://arxiv.org/pdf/1706.05084.pdf. </a:t>
            </a:r>
            <a:endParaRPr sz="1900"/>
          </a:p>
          <a:p>
            <a:pPr indent="-349250" lvl="0" marL="457200" rtl="0" algn="l">
              <a:lnSpc>
                <a:spcPct val="115000"/>
              </a:lnSpc>
              <a:spcBef>
                <a:spcPts val="0"/>
              </a:spcBef>
              <a:spcAft>
                <a:spcPts val="0"/>
              </a:spcAft>
              <a:buSzPts val="1900"/>
              <a:buFont typeface="Roboto"/>
              <a:buAutoNum type="arabicPeriod"/>
            </a:pPr>
            <a:r>
              <a:rPr lang="en-US" sz="1900"/>
              <a:t>Beri, Aditya. “Latent Dirichlet Allocation.” </a:t>
            </a:r>
            <a:r>
              <a:rPr i="1" lang="en-US" sz="1900"/>
              <a:t>Latent Dirichlet Allocation</a:t>
            </a:r>
            <a:r>
              <a:rPr lang="en-US" sz="1900"/>
              <a:t>, CodeChef-VIT, 27 Jan. 2021, https://medium.com/codechef-vit/latent-dirichlet-allocation-812bb8099518. </a:t>
            </a:r>
            <a:endParaRPr sz="1900"/>
          </a:p>
        </p:txBody>
      </p:sp>
      <p:sp>
        <p:nvSpPr>
          <p:cNvPr id="257" name="Google Shape;257;g9d48565bb2_0_1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Citations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2"/>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Questions?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6" name="Shape 266"/>
        <p:cNvGrpSpPr/>
        <p:nvPr/>
      </p:nvGrpSpPr>
      <p:grpSpPr>
        <a:xfrm>
          <a:off x="0" y="0"/>
          <a:ext cx="0" cy="0"/>
          <a:chOff x="0" y="0"/>
          <a:chExt cx="0" cy="0"/>
        </a:xfrm>
      </p:grpSpPr>
      <p:sp>
        <p:nvSpPr>
          <p:cNvPr id="267" name="Google Shape;267;gbea1223c9f_0_1"/>
          <p:cNvSpPr txBox="1"/>
          <p:nvPr>
            <p:ph idx="1" type="body"/>
          </p:nvPr>
        </p:nvSpPr>
        <p:spPr>
          <a:xfrm>
            <a:off x="6091850" y="1215475"/>
            <a:ext cx="5718900" cy="4596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1000"/>
              </a:spcBef>
              <a:spcAft>
                <a:spcPts val="0"/>
              </a:spcAft>
              <a:buSzPts val="1800"/>
              <a:buNone/>
            </a:pPr>
            <a:r>
              <a:rPr lang="en-US"/>
              <a:t>“a group of individuals who collaboratively engage in purposeful critical discourse and reflection to construct personal meaning and confirm mutual understanding”</a:t>
            </a:r>
            <a:endParaRPr/>
          </a:p>
        </p:txBody>
      </p:sp>
      <p:sp>
        <p:nvSpPr>
          <p:cNvPr id="268" name="Google Shape;268;gbea1223c9f_0_1"/>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Community of Inquiry</a:t>
            </a:r>
            <a:endParaRPr/>
          </a:p>
        </p:txBody>
      </p:sp>
      <p:pic>
        <p:nvPicPr>
          <p:cNvPr id="269" name="Google Shape;269;gbea1223c9f_0_1"/>
          <p:cNvPicPr preferRelativeResize="0"/>
          <p:nvPr/>
        </p:nvPicPr>
        <p:blipFill rotWithShape="1">
          <a:blip r:embed="rId3">
            <a:alphaModFix/>
          </a:blip>
          <a:srcRect b="11793" l="0" r="0" t="0"/>
          <a:stretch/>
        </p:blipFill>
        <p:spPr>
          <a:xfrm>
            <a:off x="488775" y="1215475"/>
            <a:ext cx="5117075" cy="4054150"/>
          </a:xfrm>
          <a:prstGeom prst="rect">
            <a:avLst/>
          </a:prstGeom>
          <a:noFill/>
          <a:ln>
            <a:noFill/>
          </a:ln>
        </p:spPr>
      </p:pic>
      <p:sp>
        <p:nvSpPr>
          <p:cNvPr id="270" name="Google Shape;270;gbea1223c9f_0_1"/>
          <p:cNvSpPr txBox="1"/>
          <p:nvPr/>
        </p:nvSpPr>
        <p:spPr>
          <a:xfrm>
            <a:off x="488763" y="5411575"/>
            <a:ext cx="5117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Elements of an Educational Experience (Garrison et al., 1999)</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2016-03-09T16:46:53Z</dcterms:created>
  <dc:creator>Microsoft Office User</dc:creator>
</cp:coreProperties>
</file>