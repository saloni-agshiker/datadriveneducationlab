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5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y="6858000" cx="12192000"/>
  <p:notesSz cx="6858000" cy="9144000"/>
  <p:embeddedFontLst>
    <p:embeddedFont>
      <p:font typeface="Roboto"/>
      <p:regular r:id="rId35"/>
      <p:bold r:id="rId36"/>
      <p:italic r:id="rId37"/>
      <p:boldItalic r:id="rId38"/>
    </p:embeddedFont>
    <p:embeddedFont>
      <p:font typeface="Roboto Condensed Light"/>
      <p:regular r:id="rId39"/>
      <p:bold r:id="rId40"/>
      <p:italic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773">
          <p15:clr>
            <a:srgbClr val="000000"/>
          </p15:clr>
        </p15:guide>
        <p15:guide id="2" pos="244">
          <p15:clr>
            <a:srgbClr val="000000"/>
          </p15:clr>
        </p15:guide>
      </p15:sldGuideLst>
    </p:ext>
    <p:ext uri="http://customooxmlschemas.google.com/">
      <go:slidesCustomData xmlns:go="http://customooxmlschemas.google.com/" r:id="rId43" roundtripDataSignature="AMtx7mgKzH9Ii5HcKci6RgynVm368FebM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4FDA035-7656-49B7-A457-31317C3F0DB3}">
  <a:tblStyle styleId="{74FDA035-7656-49B7-A457-31317C3F0DB3}"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773" orient="horz"/>
        <p:guide pos="244"/>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CondensedLight-bold.fntdata"/><Relationship Id="rId20" Type="http://schemas.openxmlformats.org/officeDocument/2006/relationships/slide" Target="slides/slide13.xml"/><Relationship Id="rId42" Type="http://schemas.openxmlformats.org/officeDocument/2006/relationships/font" Target="fonts/RobotoCondensedLight-boldItalic.fntdata"/><Relationship Id="rId41" Type="http://schemas.openxmlformats.org/officeDocument/2006/relationships/font" Target="fonts/RobotoCondensedLight-italic.fntdata"/><Relationship Id="rId22" Type="http://schemas.openxmlformats.org/officeDocument/2006/relationships/slide" Target="slides/slide15.xml"/><Relationship Id="rId21" Type="http://schemas.openxmlformats.org/officeDocument/2006/relationships/slide" Target="slides/slide14.xml"/><Relationship Id="rId43" Type="http://customschemas.google.com/relationships/presentationmetadata" Target="metadata"/><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slide" Target="slides/slide26.xml"/><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35" Type="http://schemas.openxmlformats.org/officeDocument/2006/relationships/font" Target="fonts/Roboto-regular.fntdata"/><Relationship Id="rId12" Type="http://schemas.openxmlformats.org/officeDocument/2006/relationships/slide" Target="slides/slide5.xml"/><Relationship Id="rId34" Type="http://schemas.openxmlformats.org/officeDocument/2006/relationships/slide" Target="slides/slide27.xml"/><Relationship Id="rId15" Type="http://schemas.openxmlformats.org/officeDocument/2006/relationships/slide" Target="slides/slide8.xml"/><Relationship Id="rId37" Type="http://schemas.openxmlformats.org/officeDocument/2006/relationships/font" Target="fonts/Roboto-italic.fntdata"/><Relationship Id="rId14" Type="http://schemas.openxmlformats.org/officeDocument/2006/relationships/slide" Target="slides/slide7.xml"/><Relationship Id="rId36" Type="http://schemas.openxmlformats.org/officeDocument/2006/relationships/font" Target="fonts/Roboto-bold.fntdata"/><Relationship Id="rId17" Type="http://schemas.openxmlformats.org/officeDocument/2006/relationships/slide" Target="slides/slide10.xml"/><Relationship Id="rId39" Type="http://schemas.openxmlformats.org/officeDocument/2006/relationships/font" Target="fonts/RobotoCondensedLight-regular.fntdata"/><Relationship Id="rId16" Type="http://schemas.openxmlformats.org/officeDocument/2006/relationships/slide" Target="slides/slide9.xml"/><Relationship Id="rId38" Type="http://schemas.openxmlformats.org/officeDocument/2006/relationships/font" Target="fonts/Roboto-boldItalic.fntdata"/><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Jisan</a:t>
            </a:r>
            <a:endParaRPr/>
          </a:p>
        </p:txBody>
      </p:sp>
      <p:sp>
        <p:nvSpPr>
          <p:cNvPr id="74" name="Google Shape;74;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15db474c58e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 name="Google Shape;80;g15db474c58e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All</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9d48565bb2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8" name="Google Shape;98;g9d48565bb2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US">
                <a:solidFill>
                  <a:schemeClr val="dk1"/>
                </a:solidFill>
              </a:rPr>
              <a:t>Jisan</a:t>
            </a:r>
            <a:endParaRPr/>
          </a:p>
          <a:p>
            <a:pPr indent="0" lvl="0" marL="0" rtl="0" algn="l">
              <a:lnSpc>
                <a:spcPct val="100000"/>
              </a:lnSpc>
              <a:spcBef>
                <a:spcPts val="0"/>
              </a:spcBef>
              <a:spcAft>
                <a:spcPts val="0"/>
              </a:spcAft>
              <a:buSzPts val="1100"/>
              <a:buNone/>
            </a:pPr>
            <a:r>
              <a:rPr lang="en-US"/>
              <a:t>Discussion forums are the primary source of class interaction in an online asynchronous course. ABSA and Seeded topic modeling are used to increase student interaction. The activity on these forums can be used as an indicator for assessing students’ engagement and understanding in the course.</a:t>
            </a:r>
            <a:endParaRPr/>
          </a:p>
          <a:p>
            <a:pPr indent="0" lvl="0" marL="0" rtl="0" algn="l">
              <a:lnSpc>
                <a:spcPct val="100000"/>
              </a:lnSpc>
              <a:spcBef>
                <a:spcPts val="0"/>
              </a:spcBef>
              <a:spcAft>
                <a:spcPts val="0"/>
              </a:spcAft>
              <a:buSzPts val="1100"/>
              <a:buNone/>
            </a:pPr>
            <a:r>
              <a:rPr lang="en-US"/>
              <a:t>Therefore, our goals are to complete our dashboard for two courses to provide more accuracy and insights for our instructors.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ba764dde3e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5" name="Google Shape;105;gba764dde3e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US">
                <a:solidFill>
                  <a:schemeClr val="dk1"/>
                </a:solidFill>
              </a:rPr>
              <a:t>Jisan</a:t>
            </a:r>
            <a:endParaRPr/>
          </a:p>
          <a:p>
            <a:pPr indent="0" lvl="0" marL="0" rtl="0" algn="l">
              <a:lnSpc>
                <a:spcPct val="100000"/>
              </a:lnSpc>
              <a:spcBef>
                <a:spcPts val="0"/>
              </a:spcBef>
              <a:spcAft>
                <a:spcPts val="0"/>
              </a:spcAft>
              <a:buSzPts val="1100"/>
              <a:buNone/>
            </a:pPr>
            <a:r>
              <a:rPr lang="en-US"/>
              <a:t>This semester we focused on deploying all the data for our dashboard</a:t>
            </a:r>
            <a:r>
              <a:rPr lang="en-US">
                <a:solidFill>
                  <a:schemeClr val="dk1"/>
                </a:solidFill>
              </a:rPr>
              <a:t> which should help instructors get insights on class participation, forum activity, instructor involvement etc. The data science team delivered the results for Topic Modeling and ABSA as well as the organized data for the dashboard. Based on the interview feedback, we decided to </a:t>
            </a:r>
            <a:r>
              <a:rPr lang="en-US">
                <a:solidFill>
                  <a:schemeClr val="dk1"/>
                </a:solidFill>
              </a:rPr>
              <a:t>make</a:t>
            </a:r>
            <a:r>
              <a:rPr lang="en-US">
                <a:solidFill>
                  <a:schemeClr val="dk1"/>
                </a:solidFill>
              </a:rPr>
              <a:t> some changes on dashboard. Data science team will research new </a:t>
            </a:r>
            <a:r>
              <a:rPr lang="en-US">
                <a:solidFill>
                  <a:schemeClr val="dk1"/>
                </a:solidFill>
              </a:rPr>
              <a:t>actionable</a:t>
            </a:r>
            <a:r>
              <a:rPr lang="en-US">
                <a:solidFill>
                  <a:schemeClr val="dk1"/>
                </a:solidFill>
              </a:rPr>
              <a:t> feature that help instructors. Web-dev team received all the data from data science team, so we have filled dashboard with the data we have. Since there is a new uprising discussion forum which is Ed discussion, web-dev team researched on the API, and they will explore further how to obtain the data.</a:t>
            </a:r>
            <a:endParaRPr>
              <a:solidFill>
                <a:schemeClr val="dk1"/>
              </a:solidFill>
            </a:endParaRPr>
          </a:p>
          <a:p>
            <a:pPr indent="0" lvl="0" marL="0" rtl="0" algn="l">
              <a:lnSpc>
                <a:spcPct val="100000"/>
              </a:lnSpc>
              <a:spcBef>
                <a:spcPts val="0"/>
              </a:spcBef>
              <a:spcAft>
                <a:spcPts val="0"/>
              </a:spcAft>
              <a:buSzPts val="1100"/>
              <a:buNone/>
            </a:pPr>
            <a:r>
              <a:rPr lang="en-US">
                <a:solidFill>
                  <a:schemeClr val="dk1"/>
                </a:solidFill>
              </a:rPr>
              <a:t>As a project manager for a short time, I learned a lot of new things. firstly, having team’s own deliverables made the team members more engaged. I also found that I need more communication skills to make team feel more comfortable and I noticed that creating an environment that promotes communication between team members was also PM’s job. Finally, creating 4 weekly sprints every month is very helpful in improving team member’s focus and engagement.</a:t>
            </a:r>
            <a:endParaRPr>
              <a:solidFill>
                <a:schemeClr val="dk1"/>
              </a:solidFill>
            </a:endParaRPr>
          </a:p>
          <a:p>
            <a:pPr indent="0" lvl="0" marL="0" rtl="0" algn="l">
              <a:lnSpc>
                <a:spcPct val="100000"/>
              </a:lnSpc>
              <a:spcBef>
                <a:spcPts val="0"/>
              </a:spcBef>
              <a:spcAft>
                <a:spcPts val="0"/>
              </a:spcAft>
              <a:buSzPts val="1100"/>
              <a:buNone/>
            </a:pPr>
            <a:r>
              <a:rPr lang="en-US"/>
              <a:t>Now, I’d like to hand over to Data science team.</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efbeba6a1c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2" name="Google Shape;112;gefbeba6a1c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bea1223c9f_0_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7" name="Google Shape;117;gbea1223c9f_0_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1100"/>
              </a:spcBef>
              <a:spcAft>
                <a:spcPts val="0"/>
              </a:spcAft>
              <a:buSzPts val="1100"/>
              <a:buNone/>
            </a:pPr>
            <a:r>
              <a:rPr lang="en-US"/>
              <a:t>Emily</a:t>
            </a:r>
            <a:endParaRPr/>
          </a:p>
          <a:p>
            <a:pPr indent="0" lvl="0" marL="0" rtl="0" algn="l">
              <a:lnSpc>
                <a:spcPct val="100000"/>
              </a:lnSpc>
              <a:spcBef>
                <a:spcPts val="1100"/>
              </a:spcBef>
              <a:spcAft>
                <a:spcPts val="0"/>
              </a:spcAft>
              <a:buSzPts val="1100"/>
              <a:buNone/>
            </a:pPr>
            <a:r>
              <a:rPr lang="en-US"/>
              <a:t>Here is a reminder of the research questions we focused on this semester</a:t>
            </a:r>
            <a:endParaRPr/>
          </a:p>
          <a:p>
            <a:pPr indent="0" lvl="0" marL="0" rtl="0" algn="l">
              <a:lnSpc>
                <a:spcPct val="100000"/>
              </a:lnSpc>
              <a:spcBef>
                <a:spcPts val="1100"/>
              </a:spcBef>
              <a:spcAft>
                <a:spcPts val="0"/>
              </a:spcAft>
              <a:buSzPts val="1100"/>
              <a:buNone/>
            </a:pPr>
            <a:r>
              <a:rPr lang="en-US"/>
              <a:t>To summarize, we wanted to find useful metrics for student engagement/performance through online discussion forums, </a:t>
            </a:r>
            <a:r>
              <a:rPr lang="en-US"/>
              <a:t>expand</a:t>
            </a:r>
            <a:r>
              <a:rPr lang="en-US"/>
              <a:t> our research from last semester's feedback, improve our accuracy on past models, and make an effective and user-friendly web dashboard that provided helpful insights to the instructors</a:t>
            </a:r>
            <a:endParaRPr/>
          </a:p>
          <a:p>
            <a:pPr indent="0" lvl="0" marL="0" rtl="0" algn="l">
              <a:lnSpc>
                <a:spcPct val="100000"/>
              </a:lnSpc>
              <a:spcBef>
                <a:spcPts val="1100"/>
              </a:spcBef>
              <a:spcAft>
                <a:spcPts val="0"/>
              </a:spcAft>
              <a:buSzPts val="1100"/>
              <a:buNone/>
            </a:pPr>
            <a:r>
              <a:rPr lang="en-US"/>
              <a:t>we will answer/address each of these questions throughout the presentation</a:t>
            </a:r>
            <a:endParaRPr/>
          </a:p>
          <a:p>
            <a:pPr indent="0" lvl="0" marL="0" rtl="0" algn="l">
              <a:lnSpc>
                <a:spcPct val="100000"/>
              </a:lnSpc>
              <a:spcBef>
                <a:spcPts val="1100"/>
              </a:spcBef>
              <a:spcAft>
                <a:spcPts val="0"/>
              </a:spcAft>
              <a:buSzPts val="1100"/>
              <a:buNone/>
            </a:pPr>
            <a:r>
              <a:t/>
            </a:r>
            <a:endParaRPr/>
          </a:p>
          <a:p>
            <a:pPr indent="0" lvl="0" marL="0" rtl="0" algn="l">
              <a:lnSpc>
                <a:spcPct val="100000"/>
              </a:lnSpc>
              <a:spcBef>
                <a:spcPts val="1100"/>
              </a:spcBef>
              <a:spcAft>
                <a:spcPts val="0"/>
              </a:spcAft>
              <a:buSzPts val="1100"/>
              <a:buNone/>
            </a:pPr>
            <a:r>
              <a:t/>
            </a:r>
            <a:endParaRPr/>
          </a:p>
          <a:p>
            <a:pPr indent="0" lvl="0" marL="0" rtl="0" algn="l">
              <a:lnSpc>
                <a:spcPct val="100000"/>
              </a:lnSpc>
              <a:spcBef>
                <a:spcPts val="1100"/>
              </a:spcBef>
              <a:spcAft>
                <a:spcPts val="0"/>
              </a:spcAft>
              <a:buSzPts val="1100"/>
              <a:buNone/>
            </a:pPr>
            <a:r>
              <a:rPr lang="en-US"/>
              <a:t>- fortunately, we've been making progress toward answering each question</a:t>
            </a:r>
            <a:endParaRPr/>
          </a:p>
          <a:p>
            <a:pPr indent="-298450" lvl="0" marL="457200" rtl="0" algn="l">
              <a:lnSpc>
                <a:spcPct val="100000"/>
              </a:lnSpc>
              <a:spcBef>
                <a:spcPts val="0"/>
              </a:spcBef>
              <a:spcAft>
                <a:spcPts val="0"/>
              </a:spcAft>
              <a:buSzPts val="1100"/>
              <a:buAutoNum type="arabicPeriod"/>
            </a:pPr>
            <a:r>
              <a:rPr lang="en-US"/>
              <a:t>paraphrase question. Through our use of different data science methodologies (discussed in next slide), we are analyzing various data to formulate potential metrics and answers for measuring/improving student engagement</a:t>
            </a:r>
            <a:endParaRPr/>
          </a:p>
          <a:p>
            <a:pPr indent="-298450" lvl="0" marL="457200" rtl="0" algn="l">
              <a:lnSpc>
                <a:spcPct val="100000"/>
              </a:lnSpc>
              <a:spcBef>
                <a:spcPts val="0"/>
              </a:spcBef>
              <a:spcAft>
                <a:spcPts val="0"/>
              </a:spcAft>
              <a:buSzPts val="1100"/>
              <a:buAutoNum type="arabicPeriod"/>
            </a:pPr>
            <a:r>
              <a:rPr lang="en-US"/>
              <a:t>paraphrase question (we've been expanding our research by for example exploring different types of topic modeling and seeing which one provides more promising and reliable models for instructors to use, and we will continue to expand our research</a:t>
            </a:r>
            <a:endParaRPr/>
          </a:p>
          <a:p>
            <a:pPr indent="-298450" lvl="0" marL="457200" rtl="0" algn="l">
              <a:lnSpc>
                <a:spcPct val="100000"/>
              </a:lnSpc>
              <a:spcBef>
                <a:spcPts val="0"/>
              </a:spcBef>
              <a:spcAft>
                <a:spcPts val="0"/>
              </a:spcAft>
              <a:buSzPts val="1100"/>
              <a:buAutoNum type="arabicPeriod"/>
            </a:pPr>
            <a:r>
              <a:rPr lang="en-US"/>
              <a:t>paraphrase question (we cannot actually base our accuracy of the models off of percentages or statistics, so we are trying our best to improve accuracy of these models based on their relevance/importance and I'll talk about that later)</a:t>
            </a:r>
            <a:endParaRPr/>
          </a:p>
          <a:p>
            <a:pPr indent="-298450" lvl="0" marL="457200" rtl="0" algn="l">
              <a:lnSpc>
                <a:spcPct val="100000"/>
              </a:lnSpc>
              <a:spcBef>
                <a:spcPts val="0"/>
              </a:spcBef>
              <a:spcAft>
                <a:spcPts val="0"/>
              </a:spcAft>
              <a:buSzPts val="1100"/>
              <a:buAutoNum type="arabicPeriod"/>
            </a:pPr>
            <a:r>
              <a:rPr lang="en-US"/>
              <a:t>two dashboards are still in the process of being created (will be shown in later slides), and the data science team will try their best to provide the web-dev team with useful insights from our created models/data results.</a:t>
            </a:r>
            <a:endParaRPr/>
          </a:p>
          <a:p>
            <a:pPr indent="-298450" lvl="0" marL="457200" rtl="0" algn="l">
              <a:lnSpc>
                <a:spcPct val="100000"/>
              </a:lnSpc>
              <a:spcBef>
                <a:spcPts val="0"/>
              </a:spcBef>
              <a:spcAft>
                <a:spcPts val="0"/>
              </a:spcAft>
              <a:buSzPts val="1100"/>
              <a:buAutoNum type="arabicPeriod"/>
            </a:pPr>
            <a:r>
              <a:rPr lang="en-US"/>
              <a:t>while the dashboards are being finalized we will focus on how to make the dashboards user-friendly and compatible with various devices</a:t>
            </a:r>
            <a:endParaRPr/>
          </a:p>
          <a:p>
            <a:pPr indent="0" lvl="0" marL="0" rtl="0" algn="l">
              <a:lnSpc>
                <a:spcPct val="100000"/>
              </a:lnSpc>
              <a:spcBef>
                <a:spcPts val="110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efbeba6a1c_0_50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 name="Google Shape;124;gefbeba6a1c_0_50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1100"/>
              </a:spcBef>
              <a:spcAft>
                <a:spcPts val="0"/>
              </a:spcAft>
              <a:buSzPts val="1100"/>
              <a:buChar char="-"/>
            </a:pPr>
            <a:r>
              <a:rPr lang="en-US">
                <a:solidFill>
                  <a:schemeClr val="dk1"/>
                </a:solidFill>
              </a:rPr>
              <a:t>Emily</a:t>
            </a:r>
            <a:endParaRPr>
              <a:solidFill>
                <a:schemeClr val="dk1"/>
              </a:solidFill>
            </a:endParaRPr>
          </a:p>
          <a:p>
            <a:pPr indent="-298450" lvl="0" marL="457200" rtl="0" algn="l">
              <a:lnSpc>
                <a:spcPct val="100000"/>
              </a:lnSpc>
              <a:spcBef>
                <a:spcPts val="1100"/>
              </a:spcBef>
              <a:spcAft>
                <a:spcPts val="0"/>
              </a:spcAft>
              <a:buClr>
                <a:schemeClr val="dk1"/>
              </a:buClr>
              <a:buSzPts val="1100"/>
              <a:buChar char="-"/>
            </a:pPr>
            <a:r>
              <a:rPr lang="en-US">
                <a:solidFill>
                  <a:schemeClr val="dk1"/>
                </a:solidFill>
              </a:rPr>
              <a:t>From our CS 1301 (Intro to Programming) and CS6601 (AI) data from ed and piazza, we are using Topic Modeling and ABSA to output data that we can analyze. With this data, we are trying to pinpoint indications of student engagement to provide useful data to instructors in the dashboards</a:t>
            </a:r>
            <a:endParaRPr>
              <a:solidFill>
                <a:schemeClr val="dk1"/>
              </a:solidFill>
            </a:endParaRPr>
          </a:p>
          <a:p>
            <a:pPr indent="-298450" lvl="0" marL="457200" rtl="0" algn="l">
              <a:lnSpc>
                <a:spcPct val="100000"/>
              </a:lnSpc>
              <a:spcBef>
                <a:spcPts val="1100"/>
              </a:spcBef>
              <a:spcAft>
                <a:spcPts val="0"/>
              </a:spcAft>
              <a:buClr>
                <a:schemeClr val="dk1"/>
              </a:buClr>
              <a:buSzPts val="1100"/>
              <a:buChar char="-"/>
            </a:pPr>
            <a:r>
              <a:rPr lang="en-US">
                <a:solidFill>
                  <a:schemeClr val="dk1"/>
                </a:solidFill>
              </a:rPr>
              <a:t>Last semester, the data science subteam utilized unsupervised topic modeling (issues with accuracy), and this semester we've decided to replace this with guided topic modeling. The accuracy seems to have already increased with our models, which are outputting more relevant topics from the discussion forums</a:t>
            </a:r>
            <a:endParaRPr>
              <a:solidFill>
                <a:schemeClr val="dk1"/>
              </a:solidFill>
            </a:endParaRPr>
          </a:p>
          <a:p>
            <a:pPr indent="-298450" lvl="0" marL="457200" rtl="0" algn="l">
              <a:lnSpc>
                <a:spcPct val="100000"/>
              </a:lnSpc>
              <a:spcBef>
                <a:spcPts val="1100"/>
              </a:spcBef>
              <a:spcAft>
                <a:spcPts val="0"/>
              </a:spcAft>
              <a:buClr>
                <a:schemeClr val="dk1"/>
              </a:buClr>
              <a:buSzPts val="1100"/>
              <a:buChar char="-"/>
            </a:pPr>
            <a:r>
              <a:rPr lang="en-US">
                <a:solidFill>
                  <a:schemeClr val="dk1"/>
                </a:solidFill>
              </a:rPr>
              <a:t>topic modeling (scans a set of documents and clusters word groups and similar expressions together to pinpoint what students are mainly discussing)</a:t>
            </a:r>
            <a:endParaRPr>
              <a:solidFill>
                <a:schemeClr val="dk1"/>
              </a:solidFill>
            </a:endParaRPr>
          </a:p>
          <a:p>
            <a:pPr indent="-298450" lvl="0" marL="457200" rtl="0" algn="l">
              <a:lnSpc>
                <a:spcPct val="100000"/>
              </a:lnSpc>
              <a:spcBef>
                <a:spcPts val="1100"/>
              </a:spcBef>
              <a:spcAft>
                <a:spcPts val="0"/>
              </a:spcAft>
              <a:buClr>
                <a:schemeClr val="dk1"/>
              </a:buClr>
              <a:buSzPts val="1100"/>
              <a:buChar char="-"/>
            </a:pPr>
            <a:r>
              <a:rPr lang="en-US">
                <a:solidFill>
                  <a:schemeClr val="dk1"/>
                </a:solidFill>
              </a:rPr>
              <a:t>Though we are focusing on topic modeling right now, we are still interested in using Aspect-based sentiment analysis (ABSA) to examine student sentiment towards certain aspects in education</a:t>
            </a:r>
            <a:endParaRPr>
              <a:solidFill>
                <a:schemeClr val="dk1"/>
              </a:solidFill>
            </a:endParaRPr>
          </a:p>
          <a:p>
            <a:pPr indent="-298450" lvl="0" marL="457200" rtl="0" algn="l">
              <a:lnSpc>
                <a:spcPct val="100000"/>
              </a:lnSpc>
              <a:spcBef>
                <a:spcPts val="1100"/>
              </a:spcBef>
              <a:spcAft>
                <a:spcPts val="0"/>
              </a:spcAft>
              <a:buClr>
                <a:schemeClr val="dk1"/>
              </a:buClr>
              <a:buSzPts val="1100"/>
              <a:buChar char="-"/>
            </a:pPr>
            <a:r>
              <a:rPr lang="en-US">
                <a:solidFill>
                  <a:schemeClr val="dk1"/>
                </a:solidFill>
              </a:rPr>
              <a:t>In terms of metacognitive data, we are focusing on visualizing the effects of this presence in a classroom setting, and this will be elaborated on later in the presentation</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22e504b637d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22e504b637d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Emily</a:t>
            </a:r>
            <a:endParaRPr/>
          </a:p>
          <a:p>
            <a:pPr indent="-298450" lvl="0" marL="457200" rtl="0" algn="l">
              <a:spcBef>
                <a:spcPts val="0"/>
              </a:spcBef>
              <a:spcAft>
                <a:spcPts val="0"/>
              </a:spcAft>
              <a:buSzPts val="1100"/>
              <a:buChar char="-"/>
            </a:pPr>
            <a:r>
              <a:rPr lang="en-US"/>
              <a:t>For both cs 1301 and cs 6601, I was able to calculate and visualize the average frequency of posts by both students and instructors separately, but the 1301 data did not give as much sufficient information as cs 6601, which i will elaborate on in the next slide</a:t>
            </a:r>
            <a:endParaRPr/>
          </a:p>
          <a:p>
            <a:pPr indent="-298450" lvl="0" marL="457200" rtl="0" algn="l">
              <a:spcBef>
                <a:spcPts val="0"/>
              </a:spcBef>
              <a:spcAft>
                <a:spcPts val="0"/>
              </a:spcAft>
              <a:buSzPts val="1100"/>
              <a:buChar char="-"/>
            </a:pPr>
            <a:r>
              <a:rPr lang="en-US"/>
              <a:t>for 1301 </a:t>
            </a:r>
            <a:r>
              <a:rPr lang="en-US"/>
              <a:t>specifically</a:t>
            </a:r>
            <a:r>
              <a:rPr lang="en-US"/>
              <a:t>, there was a data point that was over 100 values away from the rest of the data, (200+, 1), so I adjusted the code to make the maximum x-value 50 as seen on the right-&gt; but it makes sense why the coordinate pair exists (over 200 students posted exactly once) -&gt; this is definitely something to consider for next semester</a:t>
            </a:r>
            <a:endParaRPr/>
          </a:p>
          <a:p>
            <a:pPr indent="-298450" lvl="0" marL="457200" rtl="0" algn="l">
              <a:spcBef>
                <a:spcPts val="0"/>
              </a:spcBef>
              <a:spcAft>
                <a:spcPts val="0"/>
              </a:spcAft>
              <a:buSzPts val="1100"/>
              <a:buChar char="-"/>
            </a:pPr>
            <a:r>
              <a:rPr lang="en-US"/>
              <a:t>the code on the bottom right shows how I was able to distinguish instructor responses from student responses</a:t>
            </a:r>
            <a:endParaRPr/>
          </a:p>
          <a:p>
            <a:pPr indent="-298450" lvl="0" marL="457200" rtl="0" algn="l">
              <a:spcBef>
                <a:spcPts val="0"/>
              </a:spcBef>
              <a:spcAft>
                <a:spcPts val="0"/>
              </a:spcAft>
              <a:buSzPts val="1100"/>
              <a:buChar char="-"/>
            </a:pPr>
            <a:r>
              <a:rPr lang="en-US"/>
              <a:t>Since the cs 6601 data had more information, I was also able to visualize the frequency of posts by students as well as instructors overtime every few days using line graphs, which will be seen in a later slide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22f72c6f34a_0_1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22f72c6f34a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Emily</a:t>
            </a:r>
            <a:endParaRPr/>
          </a:p>
          <a:p>
            <a:pPr indent="-298450" lvl="0" marL="457200" rtl="0" algn="l">
              <a:spcBef>
                <a:spcPts val="0"/>
              </a:spcBef>
              <a:spcAft>
                <a:spcPts val="0"/>
              </a:spcAft>
              <a:buSzPts val="1100"/>
              <a:buChar char="-"/>
            </a:pPr>
            <a:r>
              <a:rPr lang="en-US"/>
              <a:t>So here are the graphs I created from the 1301 data. The graph on the left basically displays how many students posted however many times. For example, *</a:t>
            </a:r>
            <a:r>
              <a:rPr lang="en-US"/>
              <a:t>I read bullets*</a:t>
            </a:r>
            <a:endParaRPr/>
          </a:p>
          <a:p>
            <a:pPr indent="-298450" lvl="0" marL="457200" rtl="0" algn="l">
              <a:spcBef>
                <a:spcPts val="0"/>
              </a:spcBef>
              <a:spcAft>
                <a:spcPts val="0"/>
              </a:spcAft>
              <a:buSzPts val="1100"/>
              <a:buChar char="-"/>
            </a:pPr>
            <a:r>
              <a:rPr lang="en-US"/>
              <a:t>I made the graph more organized by grouping the x-axis into intervals of size 10 for now and I simply averaged all of their responses within each interval</a:t>
            </a:r>
            <a:endParaRPr/>
          </a:p>
          <a:p>
            <a:pPr indent="-298450" lvl="0" marL="457200" rtl="0" algn="l">
              <a:spcBef>
                <a:spcPts val="0"/>
              </a:spcBef>
              <a:spcAft>
                <a:spcPts val="0"/>
              </a:spcAft>
              <a:buSzPts val="1100"/>
              <a:buChar char="-"/>
            </a:pPr>
            <a:r>
              <a:rPr lang="en-US"/>
              <a:t>as said before, the 1301 data did not have as much information compared to 6601. *read bullets* total of 164 instructor responses, which </a:t>
            </a:r>
            <a:r>
              <a:rPr lang="en-US"/>
              <a:t>explains</a:t>
            </a:r>
            <a:r>
              <a:rPr lang="en-US"/>
              <a:t> why it's 82 on the graph</a:t>
            </a:r>
            <a:endParaRPr/>
          </a:p>
          <a:p>
            <a:pPr indent="-298450" lvl="0" marL="457200" rtl="0" algn="l">
              <a:spcBef>
                <a:spcPts val="0"/>
              </a:spcBef>
              <a:spcAft>
                <a:spcPts val="0"/>
              </a:spcAft>
              <a:buSzPts val="1100"/>
              <a:buChar char="-"/>
            </a:pPr>
            <a:r>
              <a:rPr lang="en-US"/>
              <a:t>therefore, the graph on the bottom left does not provide insightful or even accurate information due to the data's lack of time stamps and unique user ids, so we will keep this in mind for the future and see if we can create more effective graphs with limited data</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22f72c6f34a_0_16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22f72c6f34a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Emily</a:t>
            </a:r>
            <a:endParaRPr/>
          </a:p>
          <a:p>
            <a:pPr indent="-298450" lvl="0" marL="457200" rtl="0" algn="l">
              <a:spcBef>
                <a:spcPts val="0"/>
              </a:spcBef>
              <a:spcAft>
                <a:spcPts val="0"/>
              </a:spcAft>
              <a:buSzPts val="1100"/>
              <a:buChar char="-"/>
            </a:pPr>
            <a:r>
              <a:rPr lang="en-US"/>
              <a:t>For cs 6601, I was able to create line graphs, displaying the number of posts by students every 4-5 days, and compared it the same graph but for instructors</a:t>
            </a:r>
            <a:endParaRPr/>
          </a:p>
          <a:p>
            <a:pPr indent="-298450" lvl="0" marL="457200" rtl="0" algn="l">
              <a:spcBef>
                <a:spcPts val="0"/>
              </a:spcBef>
              <a:spcAft>
                <a:spcPts val="0"/>
              </a:spcAft>
              <a:buSzPts val="1100"/>
              <a:buChar char="-"/>
            </a:pPr>
            <a:r>
              <a:rPr lang="en-US"/>
              <a:t>insights: seems as though there is more student and instructor engagement during midterm weeks, as shown by the 3 peaks. The shapes of the graphs are very similar, showing that instructors respond more when students ask more questions -&gt; makes sense</a:t>
            </a:r>
            <a:endParaRPr/>
          </a:p>
          <a:p>
            <a:pPr indent="-298450" lvl="0" marL="457200" rtl="0" algn="l">
              <a:spcBef>
                <a:spcPts val="0"/>
              </a:spcBef>
              <a:spcAft>
                <a:spcPts val="0"/>
              </a:spcAft>
              <a:buSzPts val="1100"/>
              <a:buChar char="-"/>
            </a:pPr>
            <a:r>
              <a:rPr lang="en-US"/>
              <a:t>however, instructors posted less than students on average (as seen by y-axis </a:t>
            </a:r>
            <a:r>
              <a:rPr lang="en-US"/>
              <a:t>values</a:t>
            </a:r>
            <a:r>
              <a:rPr lang="en-US"/>
              <a:t> 30 vs 50), so the </a:t>
            </a:r>
            <a:r>
              <a:rPr lang="en-US"/>
              <a:t>instructors, including the TAs,</a:t>
            </a:r>
            <a:r>
              <a:rPr lang="en-US"/>
              <a:t> could make this insight and try to be more active in </a:t>
            </a:r>
            <a:r>
              <a:rPr lang="en-US"/>
              <a:t>discussion</a:t>
            </a:r>
            <a:r>
              <a:rPr lang="en-US"/>
              <a:t> forums to improve the experience for the students (more likely to use it in the future)</a:t>
            </a:r>
            <a:endParaRPr/>
          </a:p>
          <a:p>
            <a:pPr indent="-298450" lvl="0" marL="457200" rtl="0" algn="l">
              <a:spcBef>
                <a:spcPts val="0"/>
              </a:spcBef>
              <a:spcAft>
                <a:spcPts val="0"/>
              </a:spcAft>
              <a:buSzPts val="1100"/>
              <a:buChar char="-"/>
            </a:pPr>
            <a:r>
              <a:rPr lang="en-US"/>
              <a:t>If the trends were different however, such as instructors responses didn't peak at the same time as student responses, this would ALSO allow the </a:t>
            </a:r>
            <a:r>
              <a:rPr lang="en-US"/>
              <a:t>instructor</a:t>
            </a:r>
            <a:r>
              <a:rPr lang="en-US"/>
              <a:t> to maybe take action and ensure that the TAs are prepared for these predictable peaks for when students post</a:t>
            </a:r>
            <a:endParaRPr/>
          </a:p>
          <a:p>
            <a:pPr indent="-298450" lvl="0" marL="457200" rtl="0" algn="l">
              <a:spcBef>
                <a:spcPts val="0"/>
              </a:spcBef>
              <a:spcAft>
                <a:spcPts val="0"/>
              </a:spcAft>
              <a:buSzPts val="1100"/>
              <a:buChar char="-"/>
            </a:pPr>
            <a:r>
              <a:rPr lang="en-US"/>
              <a:t>the graph on the bottom left displays a similar trend as the same graph for 1301 *read only last bullet*</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18953f727dd_1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8" name="Google Shape;178;g18953f727dd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Harriet</a:t>
            </a:r>
            <a:endParaRPr/>
          </a:p>
          <a:p>
            <a:pPr indent="0" lvl="0" marL="0" rtl="0" algn="l">
              <a:lnSpc>
                <a:spcPct val="100000"/>
              </a:lnSpc>
              <a:spcBef>
                <a:spcPts val="0"/>
              </a:spcBef>
              <a:spcAft>
                <a:spcPts val="0"/>
              </a:spcAft>
              <a:buSzPts val="1100"/>
              <a:buNone/>
            </a:pPr>
            <a:r>
              <a:rPr lang="en-US"/>
              <a:t>Topic Modeling is unsupervised ML technique that can scan a set of documents, detect words and phrase patterns within document, cluster word groups, and classify document by topic. We expected that Teaching team is aware of what students mainly talk about and what question comes frequently in the discussion forum. But, we faced the limitation that is the top topic has too wide range and general words. We made a bubble chart to see topic distribution by documents, 273 documents has topic 4 which has a left word cloud. Those two word clouds for the top two topics are irrelevant to the course contents. So we think of it needs labels to guide the model.</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21b583a11e7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7" name="Google Shape;187;g21b583a11e7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US">
                <a:solidFill>
                  <a:schemeClr val="dk1"/>
                </a:solidFill>
              </a:rPr>
              <a:t>Emily</a:t>
            </a:r>
            <a:endParaRPr/>
          </a:p>
          <a:p>
            <a:pPr indent="-298450" lvl="0" marL="457200" rtl="0" algn="l">
              <a:lnSpc>
                <a:spcPct val="100000"/>
              </a:lnSpc>
              <a:spcBef>
                <a:spcPts val="0"/>
              </a:spcBef>
              <a:spcAft>
                <a:spcPts val="0"/>
              </a:spcAft>
              <a:buSzPts val="1100"/>
              <a:buChar char="-"/>
            </a:pPr>
            <a:r>
              <a:rPr lang="en-US"/>
              <a:t>guided (aka seeded) topic modeling</a:t>
            </a:r>
            <a:endParaRPr/>
          </a:p>
          <a:p>
            <a:pPr indent="-298450" lvl="0" marL="457200" rtl="0" algn="l">
              <a:lnSpc>
                <a:spcPct val="100000"/>
              </a:lnSpc>
              <a:spcBef>
                <a:spcPts val="0"/>
              </a:spcBef>
              <a:spcAft>
                <a:spcPts val="0"/>
              </a:spcAft>
              <a:buSzPts val="1100"/>
              <a:buChar char="-"/>
            </a:pPr>
            <a:r>
              <a:rPr lang="en-US"/>
              <a:t>(read first bullet) seeded topics essentially "train" or "guide" our model as an attempt to output more accurate/relevant topics from the discussion forum responses that we were given from the two courses</a:t>
            </a:r>
            <a:endParaRPr/>
          </a:p>
          <a:p>
            <a:pPr indent="-298450" lvl="0" marL="457200" rtl="0" algn="l">
              <a:lnSpc>
                <a:spcPct val="100000"/>
              </a:lnSpc>
              <a:spcBef>
                <a:spcPts val="0"/>
              </a:spcBef>
              <a:spcAft>
                <a:spcPts val="0"/>
              </a:spcAft>
              <a:buSzPts val="1100"/>
              <a:buChar char="-"/>
            </a:pPr>
            <a:r>
              <a:rPr lang="en-US"/>
              <a:t>Seeded topic models pass a collection of keywords to the model, outlining the sought out themes before the estimation</a:t>
            </a:r>
            <a:endParaRPr/>
          </a:p>
          <a:p>
            <a:pPr indent="-298450" lvl="0" marL="457200" rtl="0" algn="l">
              <a:lnSpc>
                <a:spcPct val="100000"/>
              </a:lnSpc>
              <a:spcBef>
                <a:spcPts val="0"/>
              </a:spcBef>
              <a:spcAft>
                <a:spcPts val="0"/>
              </a:spcAft>
              <a:buSzPts val="1100"/>
              <a:buChar char="-"/>
            </a:pPr>
            <a:r>
              <a:rPr lang="en-US"/>
              <a:t>as you can see below, the seeded topic lists are 2-d arrays, where each row is composed of words closely associated with one another, whether they were mentioned in the same discussion forum post, or they had relatively similar meaning</a:t>
            </a:r>
            <a:endParaRPr/>
          </a:p>
          <a:p>
            <a:pPr indent="-298450" lvl="0" marL="457200" rtl="0" algn="l">
              <a:lnSpc>
                <a:spcPct val="100000"/>
              </a:lnSpc>
              <a:spcBef>
                <a:spcPts val="0"/>
              </a:spcBef>
              <a:spcAft>
                <a:spcPts val="0"/>
              </a:spcAft>
              <a:buSzPts val="1100"/>
              <a:buChar char="-"/>
            </a:pPr>
            <a:r>
              <a:rPr lang="en-US"/>
              <a:t>however, once we ran our model with the topic list on the left, the model outputted topics seemingly irrelevant to the course content and didn't help us with potentially indicating student engagement, so we improved this by making our seeded topic list more narrow and adding more stop words such as "if","you","him", and "hello" (stop words are terms we want our model to disregard since they are unimportant words in discussion posts)</a:t>
            </a:r>
            <a:endParaRPr/>
          </a:p>
          <a:p>
            <a:pPr indent="-298450" lvl="0" marL="457200" rtl="0" algn="l">
              <a:lnSpc>
                <a:spcPct val="100000"/>
              </a:lnSpc>
              <a:spcBef>
                <a:spcPts val="0"/>
              </a:spcBef>
              <a:spcAft>
                <a:spcPts val="0"/>
              </a:spcAft>
              <a:buSzPts val="1100"/>
              <a:buChar char="-"/>
            </a:pPr>
            <a:r>
              <a:rPr lang="en-US"/>
              <a:t>"programming" and "code" too vague</a:t>
            </a:r>
            <a:endParaRPr/>
          </a:p>
          <a:p>
            <a:pPr indent="-298450" lvl="0" marL="457200" rtl="0" algn="l">
              <a:lnSpc>
                <a:spcPct val="100000"/>
              </a:lnSpc>
              <a:spcBef>
                <a:spcPts val="0"/>
              </a:spcBef>
              <a:spcAft>
                <a:spcPts val="0"/>
              </a:spcAft>
              <a:buSzPts val="1100"/>
              <a:buChar char="-"/>
            </a:pPr>
            <a:r>
              <a:rPr lang="en-US"/>
              <a:t>as a result, our model began outputting more meaningful and thus more accurate results!</a:t>
            </a:r>
            <a:endParaRPr/>
          </a:p>
          <a:p>
            <a:pPr indent="-298450" lvl="0" marL="457200" rtl="0" algn="l">
              <a:lnSpc>
                <a:spcPct val="100000"/>
              </a:lnSpc>
              <a:spcBef>
                <a:spcPts val="0"/>
              </a:spcBef>
              <a:spcAft>
                <a:spcPts val="0"/>
              </a:spcAft>
              <a:buSzPts val="1100"/>
              <a:buChar char="-"/>
            </a:pPr>
            <a:r>
              <a:rPr lang="en-US"/>
              <a:t>expectations and plans for the rest of the semester (read them) </a:t>
            </a:r>
            <a:endParaRPr/>
          </a:p>
          <a:p>
            <a:pPr indent="-298450" lvl="0" marL="457200" rtl="0" algn="l">
              <a:lnSpc>
                <a:spcPct val="100000"/>
              </a:lnSpc>
              <a:spcBef>
                <a:spcPts val="0"/>
              </a:spcBef>
              <a:spcAft>
                <a:spcPts val="0"/>
              </a:spcAft>
              <a:buSzPts val="1100"/>
              <a:buChar char="-"/>
            </a:pPr>
            <a:r>
              <a:rPr lang="en-US"/>
              <a:t>such as looking at model output, adding more stop words based on the output, discussing with other team members on their approaches that have worked</a:t>
            </a:r>
            <a:endParaRPr/>
          </a:p>
          <a:p>
            <a:pPr indent="-298450" lvl="0" marL="457200" rtl="0" algn="l">
              <a:lnSpc>
                <a:spcPct val="100000"/>
              </a:lnSpc>
              <a:spcBef>
                <a:spcPts val="0"/>
              </a:spcBef>
              <a:spcAft>
                <a:spcPts val="0"/>
              </a:spcAft>
              <a:buSzPts val="1100"/>
              <a:buChar char="-"/>
            </a:pPr>
            <a:r>
              <a:rPr lang="en-US"/>
              <a:t>brainstorm other ideas for improving accuracy, experiment with code by making small changes and seeing how the model's output also changes; gathered that small changes are better than major ones so we know what changes caused what results in order to maximize accuracy</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218e1e64d64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8" name="Google Shape;198;g218e1e64d64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US">
                <a:solidFill>
                  <a:schemeClr val="dk1"/>
                </a:solidFill>
              </a:rPr>
              <a:t>Harriet</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US">
                <a:solidFill>
                  <a:schemeClr val="dk1"/>
                </a:solidFill>
              </a:rPr>
              <a:t>The data science team also implemented 2 models, guided topic modeling and aspect based sentiment analysis. Since we covered the result for the guided topic modeling in the last presentation, I will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US">
                <a:solidFill>
                  <a:schemeClr val="dk1"/>
                </a:solidFill>
              </a:rPr>
              <a:t>pass this slide and just say that we could get the result with high accuracy by applying a lot of pre-processing to this model.</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US">
                <a:solidFill>
                  <a:schemeClr val="dk1"/>
                </a:solidFill>
                <a:highlight>
                  <a:schemeClr val="dk1"/>
                </a:highlight>
              </a:rPr>
              <a:t>The data science team also implemented 2 models, guided topic modeling and aspect based sentiment analysis. Since we covered the result for the guided topic modeling in the last presentation, I will go over this slide really fast. We used general topic modeling model last semester, and we switched the model into guided topic modeling which takes in the guided topics and generate the topics regarding those given topics. We added a lot of pre-processing as well, and we could get the meaningful result with higher accuracy.</a:t>
            </a:r>
            <a:endParaRPr>
              <a:highlight>
                <a:schemeClr val="dk1"/>
              </a:highlight>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22e0a18201f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0" name="Google Shape;210;g22e0a18201f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US">
                <a:solidFill>
                  <a:schemeClr val="dk1"/>
                </a:solidFill>
              </a:rPr>
              <a:t>Harriet</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US">
                <a:solidFill>
                  <a:schemeClr val="dk1"/>
                </a:solidFill>
              </a:rPr>
              <a:t>Aspect-based sentiment analysis is basically performing sentiment analysis in respect to given aspects. The major change we’ve gone through is that we switched our model to Bert-Sentiment. We could get higher accuracy with this model. We generated overall class sentiment and aspect-based sentiment for each post/comment, if it is positive, neutral, or negative. We applied the result from the topic modeling process as aspects, and simplified the pre-processing step, because there were some meaningless pre-processing codes. We simply removed HTML tags from the posts so that they look more like human-written posts, and removed the extra spaces between words as well. Also, we modified the hard-coded code into variable-based code. For example, we accessed the aspect values by using fixed string of the aspects, but now we are accessing them by indexing into an aspect array. Finally, we generated .json file so that Web-dev team can easily show the result on the dashboard. One challenge is that it is hard to calculate F1 score which computes the accuracy of the model, because there is no true answer that the model should generate.</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US">
                <a:solidFill>
                  <a:schemeClr val="dk1"/>
                </a:solidFill>
              </a:rPr>
              <a:t>On the right side of the slide, I brought 2 examples to show you the result. And since we don't have much time, I will only introduce the second example. In the comment, it says “OK. Right now I am only calling my fit function in my unit tests, so I'm not sure how that's going to help me when I submit to GradeScope.” and our model says that the comment is neutral for the aspects “test” and ‘functions” but negative for the aspect “gradescope”. Like this, we could get pretty reasonable result for the implementation.</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US">
                <a:solidFill>
                  <a:schemeClr val="dk1"/>
                </a:solidFill>
                <a:highlight>
                  <a:schemeClr val="dk1"/>
                </a:highlight>
              </a:rPr>
              <a:t>Aspect-based sentiment analysis is basically performing sentiment analysis in respect to given aspects. The major change we’ve gone through is that we switched our model to Bert-Sentiment. We first did so because the library that we imported for the model last semester crashed, but after switching to the new model, we figured out that it actually works better than before, so we decided to stick to it. So we generated overall class sentiment and aspect-based sentiment for each post/comment, if it is </a:t>
            </a:r>
            <a:r>
              <a:rPr lang="en-US">
                <a:solidFill>
                  <a:schemeClr val="dk1"/>
                </a:solidFill>
                <a:highlight>
                  <a:schemeClr val="dk1"/>
                </a:highlight>
              </a:rPr>
              <a:t>positive</a:t>
            </a:r>
            <a:r>
              <a:rPr lang="en-US">
                <a:solidFill>
                  <a:schemeClr val="dk1"/>
                </a:solidFill>
                <a:highlight>
                  <a:schemeClr val="dk1"/>
                </a:highlight>
              </a:rPr>
              <a:t>, neutral, or negative. We applied the result from the topic modeling process as aspects, and simplified the pre-processing step, because there were some meaningless pre-processing codes. We simply removed HTML tags from the posts so that they look more like human-written posts, and removed the extra spaces between words as well. Also, we modified the hard-coded code into variable-based code. For example, we accessed the aspect values by using fixed string of the aspects, but now we are accessing them by indexing into an </a:t>
            </a:r>
            <a:r>
              <a:rPr lang="en-US">
                <a:solidFill>
                  <a:schemeClr val="dk1"/>
                </a:solidFill>
                <a:highlight>
                  <a:schemeClr val="dk1"/>
                </a:highlight>
              </a:rPr>
              <a:t>aspect</a:t>
            </a:r>
            <a:r>
              <a:rPr lang="en-US">
                <a:solidFill>
                  <a:schemeClr val="dk1"/>
                </a:solidFill>
                <a:highlight>
                  <a:schemeClr val="dk1"/>
                </a:highlight>
              </a:rPr>
              <a:t> array. Finally, we generated .json file so that Web-dev </a:t>
            </a:r>
            <a:r>
              <a:rPr lang="en-US">
                <a:solidFill>
                  <a:schemeClr val="dk1"/>
                </a:solidFill>
                <a:highlight>
                  <a:schemeClr val="dk1"/>
                </a:highlight>
              </a:rPr>
              <a:t>team can easily show the result on the dashboard. One challenge is that it is hard to calculate F1 score which determines the accuracy of the model, because there is no true answer that the model should generate.</a:t>
            </a:r>
            <a:endParaRPr>
              <a:solidFill>
                <a:schemeClr val="dk1"/>
              </a:solidFill>
              <a:highlight>
                <a:schemeClr val="dk1"/>
              </a:highlight>
            </a:endParaRPr>
          </a:p>
          <a:p>
            <a:pPr indent="0" lvl="0" marL="0" rtl="0" algn="l">
              <a:lnSpc>
                <a:spcPct val="100000"/>
              </a:lnSpc>
              <a:spcBef>
                <a:spcPts val="0"/>
              </a:spcBef>
              <a:spcAft>
                <a:spcPts val="0"/>
              </a:spcAft>
              <a:buClr>
                <a:schemeClr val="dk1"/>
              </a:buClr>
              <a:buSzPts val="1100"/>
              <a:buFont typeface="Arial"/>
              <a:buNone/>
            </a:pPr>
            <a:r>
              <a:rPr lang="en-US">
                <a:solidFill>
                  <a:schemeClr val="dk1"/>
                </a:solidFill>
                <a:highlight>
                  <a:schemeClr val="dk1"/>
                </a:highlight>
              </a:rPr>
              <a:t>On the right side of the slide, I brought 2 examples to show you the result. The first comment says “I've finished my submission for Assignment 4 and marked it active in Gradescope (should be the final one scored as 100).” And our ABSA model generates the result that the comment is positive for both aspects “gradescope” and “assignment”. In the second example, the comment says “OK. Right now I am only calling my fit function in my unit tests, so I'm not sure how that's going to help me when I submit to GradeScope. Should I be calling fit somewhere else?” and our model generates the result that the comment is neutral for the aspects “test” and ‘functions” but negative for the aspect “gradescope”. Like this, we could get pretty reasonable result for the implementation.</a:t>
            </a:r>
            <a:endParaRPr>
              <a:solidFill>
                <a:schemeClr val="dk1"/>
              </a:solidFill>
              <a:highlight>
                <a:schemeClr val="dk1"/>
              </a:highlight>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15e2f3f4d0a_0_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0" name="Google Shape;220;g15e2f3f4d0a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Harriet</a:t>
            </a:r>
            <a:endParaRPr/>
          </a:p>
          <a:p>
            <a:pPr indent="0" lvl="0" marL="0" rtl="0" algn="l">
              <a:lnSpc>
                <a:spcPct val="100000"/>
              </a:lnSpc>
              <a:spcBef>
                <a:spcPts val="0"/>
              </a:spcBef>
              <a:spcAft>
                <a:spcPts val="0"/>
              </a:spcAft>
              <a:buSzPts val="1100"/>
              <a:buNone/>
            </a:pPr>
            <a:r>
              <a:rPr lang="en-US"/>
              <a:t>Last semester, we worked on Aspect-based sentiment analysis. To give you guys a brief overview, it is a </a:t>
            </a:r>
            <a:r>
              <a:rPr lang="en-US">
                <a:solidFill>
                  <a:schemeClr val="dk1"/>
                </a:solidFill>
                <a:latin typeface="Roboto"/>
                <a:ea typeface="Roboto"/>
                <a:cs typeface="Roboto"/>
                <a:sym typeface="Roboto"/>
              </a:rPr>
              <a:t>Technique that categorizes text data by aspect and identifies the sentiment attributed to each one. We thought this is efficient to analyze Piazza data, because we can provide reasonable sentiment for aspects depending on students’ current circumstance for multiple aspects at once. As you see on the slide, here is an example text input and output. A student posted that “for some reason from my end the gradescope submission is still not happening.” You can see that the word “gradescope” is acting as a negative word in this text. We used 6 aspects, and for the “Gradescope” aspect, you can see that it is evaluated as “93% negative” from our model.</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rPr lang="en-US">
                <a:solidFill>
                  <a:schemeClr val="dk1"/>
                </a:solidFill>
                <a:latin typeface="Roboto"/>
                <a:ea typeface="Roboto"/>
                <a:cs typeface="Roboto"/>
                <a:sym typeface="Roboto"/>
              </a:rPr>
              <a:t>I will pass the slide to Jisan to talk about our work with topic modeling from the last semester.</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18953f727dd_1_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7" name="Google Shape;227;g18953f727dd_1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Rohan</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15e2f3f4d0a_0_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5" name="Google Shape;235;g15e2f3f4d0a_0_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Rohan</a:t>
            </a:r>
            <a:endParaRPr/>
          </a:p>
          <a:p>
            <a:pPr indent="0" lvl="0" marL="0" rtl="0" algn="l">
              <a:lnSpc>
                <a:spcPct val="100000"/>
              </a:lnSpc>
              <a:spcBef>
                <a:spcPts val="0"/>
              </a:spcBef>
              <a:spcAft>
                <a:spcPts val="0"/>
              </a:spcAft>
              <a:buSzPts val="1100"/>
              <a:buNone/>
            </a:pPr>
            <a:r>
              <a:rPr lang="en-US"/>
              <a:t>Our goal for this semester is to show our result from the data science models to our web page dashboard. So we are going to generate our result as .json file and transfer them to the Web-dev team.  Currently, we are dealing with the Ed data from CS1301 class and Piazza data from CS6601 class. As we have presented today, we have been working on topic modeling with guided BERTopic. We have also worked on visualizing the metacognitive presence result we received from C21U research team. We are planning to provide more data from this, and we are on our process of brain-storming which feature we can get from the data. The last thing we are going to do is to improve accuracy of our Aspect-based sentiment analysis model from the last semester and also apply CS1301 dataset to our model.</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efbeba6a1c_0_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1" name="Google Shape;241;gefbeba6a1c_0_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efb32003ea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6" name="Google Shape;246;gefb32003ea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Ankit</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21c66e4ba4c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2" name="Google Shape;252;g21c66e4ba4c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solidFill>
                  <a:schemeClr val="dk1"/>
                </a:solidFill>
              </a:rPr>
              <a:t>Ankit</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21c66e4ba4c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8" name="Google Shape;258;g21c66e4ba4c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solidFill>
                  <a:schemeClr val="dk1"/>
                </a:solidFill>
              </a:rPr>
              <a:t>Ankit</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21c66e4ba4c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4" name="Google Shape;264;g21c66e4ba4c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solidFill>
                  <a:schemeClr val="dk1"/>
                </a:solidFill>
              </a:rPr>
              <a:t>Ankit</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22e0a18201f_0_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0" name="Google Shape;270;g22e0a18201f_0_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Youngwook Kang</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1897b4b8f7f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7" name="Google Shape;287;g1897b4b8f7f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Youngwook Kang</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3" name="Google Shape;293;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Jisan</a:t>
            </a:r>
            <a:endParaRPr/>
          </a:p>
          <a:p>
            <a:pPr indent="0" lvl="0" marL="0" rtl="0" algn="l">
              <a:lnSpc>
                <a:spcPct val="100000"/>
              </a:lnSpc>
              <a:spcBef>
                <a:spcPts val="0"/>
              </a:spcBef>
              <a:spcAft>
                <a:spcPts val="0"/>
              </a:spcAft>
              <a:buSzPts val="1100"/>
              <a:buNone/>
            </a:pPr>
            <a:r>
              <a:rPr lang="en-US"/>
              <a:t>To conclude, we have successfully deployed our analyzed data to our </a:t>
            </a:r>
            <a:r>
              <a:rPr lang="en-US"/>
              <a:t>dashboards of two courses.</a:t>
            </a:r>
            <a:endParaRPr/>
          </a:p>
          <a:p>
            <a:pPr indent="0" lvl="0" marL="0" rtl="0" algn="l">
              <a:lnSpc>
                <a:spcPct val="100000"/>
              </a:lnSpc>
              <a:spcBef>
                <a:spcPts val="0"/>
              </a:spcBef>
              <a:spcAft>
                <a:spcPts val="0"/>
              </a:spcAft>
              <a:buSzPts val="1100"/>
              <a:buNone/>
            </a:pPr>
            <a:r>
              <a:rPr lang="en-US"/>
              <a:t>One of the next step is to improve the accuracy of our models. With that, integrating topic modeling and ABSA will give insights for the instructors. The other future step is to expand user research to specific applications of dashboards and research on ed discussion api and real-time api.</a:t>
            </a:r>
            <a:endParaRPr/>
          </a:p>
          <a:p>
            <a:pPr indent="0" lvl="0" marL="0" rtl="0" algn="l">
              <a:lnSpc>
                <a:spcPct val="100000"/>
              </a:lnSpc>
              <a:spcBef>
                <a:spcPts val="0"/>
              </a:spcBef>
              <a:spcAft>
                <a:spcPts val="0"/>
              </a:spcAft>
              <a:buSzPts val="1100"/>
              <a:buNone/>
            </a:pPr>
            <a:r>
              <a:rPr lang="en-US"/>
              <a:t>Thank you for your time.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Piazza data from ML class, edX data from CS1301</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9d48565bb2_0_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9" name="Google Shape;299;g9d48565bb2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Jisan</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5" name="Google Shape;305;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Jisan</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6" name="Shape 6"/>
        <p:cNvGrpSpPr/>
        <p:nvPr/>
      </p:nvGrpSpPr>
      <p:grpSpPr>
        <a:xfrm>
          <a:off x="0" y="0"/>
          <a:ext cx="0" cy="0"/>
          <a:chOff x="0" y="0"/>
          <a:chExt cx="0" cy="0"/>
        </a:xfrm>
      </p:grpSpPr>
      <p:sp>
        <p:nvSpPr>
          <p:cNvPr id="7" name="Google Shape;7;p14"/>
          <p:cNvSpPr txBox="1"/>
          <p:nvPr>
            <p:ph idx="1" type="subTitle"/>
          </p:nvPr>
        </p:nvSpPr>
        <p:spPr>
          <a:xfrm>
            <a:off x="4024461" y="3793068"/>
            <a:ext cx="6795913" cy="1684868"/>
          </a:xfrm>
          <a:prstGeom prst="rect">
            <a:avLst/>
          </a:prstGeom>
          <a:noFill/>
          <a:ln>
            <a:noFill/>
          </a:ln>
        </p:spPr>
        <p:txBody>
          <a:bodyPr anchorCtr="0" anchor="t" bIns="45700" lIns="91425" spcFirstLastPara="1" rIns="91425" wrap="square" tIns="45700">
            <a:noAutofit/>
          </a:bodyPr>
          <a:lstStyle>
            <a:lvl1pPr lvl="0" marR="0" rtl="0" algn="l">
              <a:lnSpc>
                <a:spcPct val="120000"/>
              </a:lnSpc>
              <a:spcBef>
                <a:spcPts val="600"/>
              </a:spcBef>
              <a:spcAft>
                <a:spcPts val="0"/>
              </a:spcAft>
              <a:buClr>
                <a:srgbClr val="7F7F7F"/>
              </a:buClr>
              <a:buSzPts val="3000"/>
              <a:buFont typeface="Arial"/>
              <a:buNone/>
              <a:defRPr b="0" i="0" sz="3000" u="none" cap="none" strike="noStrike">
                <a:solidFill>
                  <a:srgbClr val="7F7F7F"/>
                </a:solidFill>
                <a:latin typeface="Roboto Condensed Light"/>
                <a:ea typeface="Roboto Condensed Light"/>
                <a:cs typeface="Roboto Condensed Light"/>
                <a:sym typeface="Roboto Condensed Light"/>
              </a:defRPr>
            </a:lvl1pPr>
            <a:lvl2pPr lvl="1" marR="0" rtl="0" algn="ctr">
              <a:lnSpc>
                <a:spcPct val="100000"/>
              </a:lnSpc>
              <a:spcBef>
                <a:spcPts val="420"/>
              </a:spcBef>
              <a:spcAft>
                <a:spcPts val="0"/>
              </a:spcAft>
              <a:buClr>
                <a:srgbClr val="888888"/>
              </a:buClr>
              <a:buSzPts val="2100"/>
              <a:buFont typeface="Arial"/>
              <a:buNone/>
              <a:defRPr b="0" i="0" sz="2100" u="none" cap="none" strike="noStrike">
                <a:solidFill>
                  <a:srgbClr val="888888"/>
                </a:solidFill>
                <a:latin typeface="Arial"/>
                <a:ea typeface="Arial"/>
                <a:cs typeface="Arial"/>
                <a:sym typeface="Arial"/>
              </a:defRPr>
            </a:lvl2pPr>
            <a:lvl3pPr lvl="2" marR="0" rtl="0" algn="ctr">
              <a:lnSpc>
                <a:spcPct val="100000"/>
              </a:lnSpc>
              <a:spcBef>
                <a:spcPts val="360"/>
              </a:spcBef>
              <a:spcAft>
                <a:spcPts val="0"/>
              </a:spcAft>
              <a:buClr>
                <a:srgbClr val="888888"/>
              </a:buClr>
              <a:buSzPts val="1800"/>
              <a:buFont typeface="Arial"/>
              <a:buNone/>
              <a:defRPr b="0" i="0" sz="1800" u="none" cap="none" strike="noStrike">
                <a:solidFill>
                  <a:srgbClr val="888888"/>
                </a:solidFill>
                <a:latin typeface="Arial"/>
                <a:ea typeface="Arial"/>
                <a:cs typeface="Arial"/>
                <a:sym typeface="Arial"/>
              </a:defRPr>
            </a:lvl3pPr>
            <a:lvl4pPr lvl="3" marR="0" rtl="0" algn="ctr">
              <a:lnSpc>
                <a:spcPct val="100000"/>
              </a:lnSpc>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4pPr>
            <a:lvl5pPr lvl="4" marR="0" rtl="0" algn="ctr">
              <a:lnSpc>
                <a:spcPct val="100000"/>
              </a:lnSpc>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5pPr>
            <a:lvl6pPr lvl="5" marR="0" rtl="0" algn="ctr">
              <a:lnSpc>
                <a:spcPct val="100000"/>
              </a:lnSpc>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6pPr>
            <a:lvl7pPr lvl="6" marR="0" rtl="0" algn="ctr">
              <a:lnSpc>
                <a:spcPct val="100000"/>
              </a:lnSpc>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7pPr>
            <a:lvl8pPr lvl="7" marR="0" rtl="0" algn="ctr">
              <a:lnSpc>
                <a:spcPct val="100000"/>
              </a:lnSpc>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8pPr>
            <a:lvl9pPr lvl="8" marR="0" rtl="0" algn="ctr">
              <a:lnSpc>
                <a:spcPct val="100000"/>
              </a:lnSpc>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9pPr>
          </a:lstStyle>
          <a:p/>
        </p:txBody>
      </p:sp>
      <p:sp>
        <p:nvSpPr>
          <p:cNvPr id="8" name="Google Shape;8;p14"/>
          <p:cNvSpPr txBox="1"/>
          <p:nvPr>
            <p:ph type="ctrTitle"/>
          </p:nvPr>
        </p:nvSpPr>
        <p:spPr>
          <a:xfrm>
            <a:off x="4024462" y="333633"/>
            <a:ext cx="6795913" cy="3459435"/>
          </a:xfrm>
          <a:prstGeom prst="rect">
            <a:avLst/>
          </a:prstGeom>
          <a:noFill/>
          <a:ln>
            <a:noFill/>
          </a:ln>
        </p:spPr>
        <p:txBody>
          <a:bodyPr anchorCtr="0" anchor="b" bIns="45700" lIns="91425" spcFirstLastPara="1" rIns="91425" wrap="square" tIns="45700">
            <a:normAutofit/>
          </a:bodyPr>
          <a:lstStyle>
            <a:lvl1pPr lvl="0" marR="0" rtl="0" algn="l">
              <a:lnSpc>
                <a:spcPct val="114285"/>
              </a:lnSpc>
              <a:spcBef>
                <a:spcPts val="0"/>
              </a:spcBef>
              <a:spcAft>
                <a:spcPts val="0"/>
              </a:spcAft>
              <a:buClr>
                <a:srgbClr val="A7934B"/>
              </a:buClr>
              <a:buSzPts val="4200"/>
              <a:buFont typeface="Roboto"/>
              <a:buNone/>
              <a:defRPr b="1" i="0" sz="4200" u="none" cap="none" strike="noStrike">
                <a:solidFill>
                  <a:srgbClr val="A7934B"/>
                </a:solidFill>
                <a:latin typeface="Roboto"/>
                <a:ea typeface="Roboto"/>
                <a:cs typeface="Roboto"/>
                <a:sym typeface="Robo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5" name="Shape 15"/>
        <p:cNvGrpSpPr/>
        <p:nvPr/>
      </p:nvGrpSpPr>
      <p:grpSpPr>
        <a:xfrm>
          <a:off x="0" y="0"/>
          <a:ext cx="0" cy="0"/>
          <a:chOff x="0" y="0"/>
          <a:chExt cx="0" cy="0"/>
        </a:xfrm>
      </p:grpSpPr>
      <p:sp>
        <p:nvSpPr>
          <p:cNvPr id="16" name="Google Shape;16;p16"/>
          <p:cNvSpPr txBox="1"/>
          <p:nvPr>
            <p:ph idx="1" type="body"/>
          </p:nvPr>
        </p:nvSpPr>
        <p:spPr>
          <a:xfrm>
            <a:off x="381000" y="1215484"/>
            <a:ext cx="11430000" cy="459635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 name="Google Shape;17;p16"/>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16"/>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6"/>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20" name="Google Shape;20;p16"/>
          <p:cNvSpPr txBox="1"/>
          <p:nvPr>
            <p:ph type="title"/>
          </p:nvPr>
        </p:nvSpPr>
        <p:spPr>
          <a:xfrm>
            <a:off x="381000" y="200722"/>
            <a:ext cx="11430000" cy="1014761"/>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A7934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ONLY" type="titleOnly">
  <p:cSld name="TITLE_ONLY">
    <p:spTree>
      <p:nvGrpSpPr>
        <p:cNvPr id="21" name="Shape 21"/>
        <p:cNvGrpSpPr/>
        <p:nvPr/>
      </p:nvGrpSpPr>
      <p:grpSpPr>
        <a:xfrm>
          <a:off x="0" y="0"/>
          <a:ext cx="0" cy="0"/>
          <a:chOff x="0" y="0"/>
          <a:chExt cx="0" cy="0"/>
        </a:xfrm>
      </p:grpSpPr>
      <p:sp>
        <p:nvSpPr>
          <p:cNvPr id="22" name="Google Shape;22;p20"/>
          <p:cNvSpPr txBox="1"/>
          <p:nvPr>
            <p:ph type="title"/>
          </p:nvPr>
        </p:nvSpPr>
        <p:spPr>
          <a:xfrm>
            <a:off x="381000" y="200722"/>
            <a:ext cx="11430000" cy="1014761"/>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A7934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0"/>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20"/>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0"/>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6" name="Shape 26"/>
        <p:cNvGrpSpPr/>
        <p:nvPr/>
      </p:nvGrpSpPr>
      <p:grpSpPr>
        <a:xfrm>
          <a:off x="0" y="0"/>
          <a:ext cx="0" cy="0"/>
          <a:chOff x="0" y="0"/>
          <a:chExt cx="0" cy="0"/>
        </a:xfrm>
      </p:grpSpPr>
      <p:sp>
        <p:nvSpPr>
          <p:cNvPr id="27" name="Google Shape;27;p17"/>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7"/>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7"/>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_OBJECTS" type="twoObj">
  <p:cSld name="TWO_OBJECTS">
    <p:spTree>
      <p:nvGrpSpPr>
        <p:cNvPr id="30" name="Shape 30"/>
        <p:cNvGrpSpPr/>
        <p:nvPr/>
      </p:nvGrpSpPr>
      <p:grpSpPr>
        <a:xfrm>
          <a:off x="0" y="0"/>
          <a:ext cx="0" cy="0"/>
          <a:chOff x="0" y="0"/>
          <a:chExt cx="0" cy="0"/>
        </a:xfrm>
      </p:grpSpPr>
      <p:sp>
        <p:nvSpPr>
          <p:cNvPr id="31" name="Google Shape;31;p18"/>
          <p:cNvSpPr txBox="1"/>
          <p:nvPr>
            <p:ph type="title"/>
          </p:nvPr>
        </p:nvSpPr>
        <p:spPr>
          <a:xfrm>
            <a:off x="381000" y="200722"/>
            <a:ext cx="11430000" cy="1014761"/>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A7934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8"/>
          <p:cNvSpPr txBox="1"/>
          <p:nvPr>
            <p:ph idx="1" type="body"/>
          </p:nvPr>
        </p:nvSpPr>
        <p:spPr>
          <a:xfrm>
            <a:off x="379048" y="1215483"/>
            <a:ext cx="5615353" cy="496148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18"/>
          <p:cNvSpPr txBox="1"/>
          <p:nvPr>
            <p:ph idx="2" type="body"/>
          </p:nvPr>
        </p:nvSpPr>
        <p:spPr>
          <a:xfrm>
            <a:off x="6197600" y="1215483"/>
            <a:ext cx="5613400" cy="496148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 name="Google Shape;34;p18"/>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8"/>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18"/>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37" name="Shape 37"/>
        <p:cNvGrpSpPr/>
        <p:nvPr/>
      </p:nvGrpSpPr>
      <p:grpSpPr>
        <a:xfrm>
          <a:off x="0" y="0"/>
          <a:ext cx="0" cy="0"/>
          <a:chOff x="0" y="0"/>
          <a:chExt cx="0" cy="0"/>
        </a:xfrm>
      </p:grpSpPr>
      <p:sp>
        <p:nvSpPr>
          <p:cNvPr id="38" name="Google Shape;38;p19"/>
          <p:cNvSpPr txBox="1"/>
          <p:nvPr>
            <p:ph idx="1" type="body"/>
          </p:nvPr>
        </p:nvSpPr>
        <p:spPr>
          <a:xfrm>
            <a:off x="381001" y="1235113"/>
            <a:ext cx="5617633"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19"/>
          <p:cNvSpPr txBox="1"/>
          <p:nvPr>
            <p:ph idx="2" type="body"/>
          </p:nvPr>
        </p:nvSpPr>
        <p:spPr>
          <a:xfrm>
            <a:off x="381001" y="2078657"/>
            <a:ext cx="5617633" cy="411100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19"/>
          <p:cNvSpPr txBox="1"/>
          <p:nvPr>
            <p:ph idx="3" type="body"/>
          </p:nvPr>
        </p:nvSpPr>
        <p:spPr>
          <a:xfrm>
            <a:off x="6172200" y="1235113"/>
            <a:ext cx="5638800"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19"/>
          <p:cNvSpPr txBox="1"/>
          <p:nvPr>
            <p:ph idx="4" type="body"/>
          </p:nvPr>
        </p:nvSpPr>
        <p:spPr>
          <a:xfrm>
            <a:off x="6172200" y="2078657"/>
            <a:ext cx="5638800" cy="411100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19"/>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19"/>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9"/>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45" name="Google Shape;45;p19"/>
          <p:cNvSpPr txBox="1"/>
          <p:nvPr>
            <p:ph type="title"/>
          </p:nvPr>
        </p:nvSpPr>
        <p:spPr>
          <a:xfrm>
            <a:off x="381000" y="200722"/>
            <a:ext cx="11430000" cy="1014761"/>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A7934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_WITH_CAPTION_TEXT" type="objTx">
  <p:cSld name="OBJECT_WITH_CAPTION_TEXT">
    <p:spTree>
      <p:nvGrpSpPr>
        <p:cNvPr id="46" name="Shape 46"/>
        <p:cNvGrpSpPr/>
        <p:nvPr/>
      </p:nvGrpSpPr>
      <p:grpSpPr>
        <a:xfrm>
          <a:off x="0" y="0"/>
          <a:ext cx="0" cy="0"/>
          <a:chOff x="0" y="0"/>
          <a:chExt cx="0" cy="0"/>
        </a:xfrm>
      </p:grpSpPr>
      <p:sp>
        <p:nvSpPr>
          <p:cNvPr id="47" name="Google Shape;47;p21"/>
          <p:cNvSpPr txBox="1"/>
          <p:nvPr>
            <p:ph type="title"/>
          </p:nvPr>
        </p:nvSpPr>
        <p:spPr>
          <a:xfrm>
            <a:off x="381001" y="457200"/>
            <a:ext cx="393276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A7934B"/>
              </a:buClr>
              <a:buSzPts val="3200"/>
              <a:buFont typeface="Roboto"/>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1"/>
          <p:cNvSpPr txBox="1"/>
          <p:nvPr>
            <p:ph idx="1" type="body"/>
          </p:nvPr>
        </p:nvSpPr>
        <p:spPr>
          <a:xfrm>
            <a:off x="4313768" y="457201"/>
            <a:ext cx="7497233" cy="5403850"/>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49" name="Google Shape;49;p21"/>
          <p:cNvSpPr txBox="1"/>
          <p:nvPr>
            <p:ph idx="2" type="body"/>
          </p:nvPr>
        </p:nvSpPr>
        <p:spPr>
          <a:xfrm>
            <a:off x="381001" y="2274849"/>
            <a:ext cx="3932767" cy="359413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0" name="Google Shape;50;p21"/>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1"/>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1"/>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_WITH_CAPTION_TEXT" type="picTx">
  <p:cSld name="PICTURE_WITH_CAPTION_TEXT">
    <p:spTree>
      <p:nvGrpSpPr>
        <p:cNvPr id="53" name="Shape 53"/>
        <p:cNvGrpSpPr/>
        <p:nvPr/>
      </p:nvGrpSpPr>
      <p:grpSpPr>
        <a:xfrm>
          <a:off x="0" y="0"/>
          <a:ext cx="0" cy="0"/>
          <a:chOff x="0" y="0"/>
          <a:chExt cx="0" cy="0"/>
        </a:xfrm>
      </p:grpSpPr>
      <p:sp>
        <p:nvSpPr>
          <p:cNvPr id="54" name="Google Shape;54;p22"/>
          <p:cNvSpPr txBox="1"/>
          <p:nvPr>
            <p:ph type="title"/>
          </p:nvPr>
        </p:nvSpPr>
        <p:spPr>
          <a:xfrm>
            <a:off x="381001" y="457200"/>
            <a:ext cx="393276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A7934B"/>
              </a:buClr>
              <a:buSzPts val="3200"/>
              <a:buFont typeface="Roboto"/>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2"/>
          <p:cNvSpPr/>
          <p:nvPr>
            <p:ph idx="2" type="pic"/>
          </p:nvPr>
        </p:nvSpPr>
        <p:spPr>
          <a:xfrm>
            <a:off x="4313768" y="457201"/>
            <a:ext cx="7497233" cy="5403850"/>
          </a:xfrm>
          <a:prstGeom prst="rect">
            <a:avLst/>
          </a:prstGeom>
          <a:noFill/>
          <a:ln>
            <a:noFill/>
          </a:ln>
        </p:spPr>
      </p:sp>
      <p:sp>
        <p:nvSpPr>
          <p:cNvPr id="56" name="Google Shape;56;p22"/>
          <p:cNvSpPr txBox="1"/>
          <p:nvPr>
            <p:ph idx="1" type="body"/>
          </p:nvPr>
        </p:nvSpPr>
        <p:spPr>
          <a:xfrm>
            <a:off x="381001" y="2274849"/>
            <a:ext cx="3932767" cy="359413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7" name="Google Shape;57;p22"/>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22"/>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2"/>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_TEXT" type="vertTx">
  <p:cSld name="VERTICAL_TEXT">
    <p:spTree>
      <p:nvGrpSpPr>
        <p:cNvPr id="60" name="Shape 60"/>
        <p:cNvGrpSpPr/>
        <p:nvPr/>
      </p:nvGrpSpPr>
      <p:grpSpPr>
        <a:xfrm>
          <a:off x="0" y="0"/>
          <a:ext cx="0" cy="0"/>
          <a:chOff x="0" y="0"/>
          <a:chExt cx="0" cy="0"/>
        </a:xfrm>
      </p:grpSpPr>
      <p:sp>
        <p:nvSpPr>
          <p:cNvPr id="61" name="Google Shape;61;p23"/>
          <p:cNvSpPr txBox="1"/>
          <p:nvPr>
            <p:ph type="title"/>
          </p:nvPr>
        </p:nvSpPr>
        <p:spPr>
          <a:xfrm>
            <a:off x="381000" y="200722"/>
            <a:ext cx="11430000" cy="1014761"/>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A7934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23"/>
          <p:cNvSpPr txBox="1"/>
          <p:nvPr>
            <p:ph idx="1" type="body"/>
          </p:nvPr>
        </p:nvSpPr>
        <p:spPr>
          <a:xfrm rot="5400000">
            <a:off x="3797823" y="-2201338"/>
            <a:ext cx="4596355" cy="114300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3" name="Google Shape;63;p23"/>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3"/>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23"/>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_TITLE_AND_VERTICAL_TEXT" type="vertTitleAndTx">
  <p:cSld name="VERTICAL_TITLE_AND_VERTICAL_TEXT">
    <p:spTree>
      <p:nvGrpSpPr>
        <p:cNvPr id="66" name="Shape 66"/>
        <p:cNvGrpSpPr/>
        <p:nvPr/>
      </p:nvGrpSpPr>
      <p:grpSpPr>
        <a:xfrm>
          <a:off x="0" y="0"/>
          <a:ext cx="0" cy="0"/>
          <a:chOff x="0" y="0"/>
          <a:chExt cx="0" cy="0"/>
        </a:xfrm>
      </p:grpSpPr>
      <p:sp>
        <p:nvSpPr>
          <p:cNvPr id="67" name="Google Shape;67;p24"/>
          <p:cNvSpPr txBox="1"/>
          <p:nvPr>
            <p:ph type="title"/>
          </p:nvPr>
        </p:nvSpPr>
        <p:spPr>
          <a:xfrm rot="5400000">
            <a:off x="7590632"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A7934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24"/>
          <p:cNvSpPr txBox="1"/>
          <p:nvPr>
            <p:ph idx="1" type="body"/>
          </p:nvPr>
        </p:nvSpPr>
        <p:spPr>
          <a:xfrm rot="5400000">
            <a:off x="1875632" y="-1129506"/>
            <a:ext cx="5811838" cy="88011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 name="Google Shape;69;p24"/>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4"/>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4"/>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4.jpg"/><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1.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15"/>
          <p:cNvSpPr txBox="1"/>
          <p:nvPr>
            <p:ph type="title"/>
          </p:nvPr>
        </p:nvSpPr>
        <p:spPr>
          <a:xfrm>
            <a:off x="381000" y="200722"/>
            <a:ext cx="11430000" cy="1014761"/>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A7934B"/>
              </a:buClr>
              <a:buSzPts val="3600"/>
              <a:buFont typeface="Roboto"/>
              <a:buNone/>
              <a:defRPr b="1" i="0" sz="3600" u="none" cap="none" strike="noStrike">
                <a:solidFill>
                  <a:srgbClr val="A7934B"/>
                </a:solidFill>
                <a:latin typeface="Roboto"/>
                <a:ea typeface="Roboto"/>
                <a:cs typeface="Roboto"/>
                <a:sym typeface="Robo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5"/>
          <p:cNvSpPr txBox="1"/>
          <p:nvPr>
            <p:ph idx="1" type="body"/>
          </p:nvPr>
        </p:nvSpPr>
        <p:spPr>
          <a:xfrm>
            <a:off x="381000" y="1215484"/>
            <a:ext cx="11430000" cy="4596355"/>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Roboto"/>
                <a:ea typeface="Roboto"/>
                <a:cs typeface="Roboto"/>
                <a:sym typeface="Roboto"/>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Roboto"/>
                <a:ea typeface="Roboto"/>
                <a:cs typeface="Roboto"/>
                <a:sym typeface="Roboto"/>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Roboto"/>
                <a:ea typeface="Roboto"/>
                <a:cs typeface="Roboto"/>
                <a:sym typeface="Roboto"/>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Roboto"/>
                <a:ea typeface="Roboto"/>
                <a:cs typeface="Roboto"/>
                <a:sym typeface="Roboto"/>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Roboto"/>
                <a:ea typeface="Roboto"/>
                <a:cs typeface="Roboto"/>
                <a:sym typeface="Robo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15"/>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15"/>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15"/>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6.jpg"/><Relationship Id="rId5" Type="http://schemas.openxmlformats.org/officeDocument/2006/relationships/image" Target="../media/image27.png"/><Relationship Id="rId6" Type="http://schemas.openxmlformats.org/officeDocument/2006/relationships/image" Target="../media/image8.jpg"/><Relationship Id="rId7" Type="http://schemas.openxmlformats.org/officeDocument/2006/relationships/image" Target="../media/image5.jpg"/><Relationship Id="rId8"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3.png"/><Relationship Id="rId4" Type="http://schemas.openxmlformats.org/officeDocument/2006/relationships/image" Target="../media/image3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30.png"/><Relationship Id="rId5" Type="http://schemas.openxmlformats.org/officeDocument/2006/relationships/image" Target="../media/image2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1.png"/><Relationship Id="rId4" Type="http://schemas.openxmlformats.org/officeDocument/2006/relationships/image" Target="../media/image10.png"/><Relationship Id="rId5"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8.png"/><Relationship Id="rId4" Type="http://schemas.openxmlformats.org/officeDocument/2006/relationships/image" Target="../media/image17.png"/><Relationship Id="rId5"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1.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hyperlink" Target="https://docs.python.org/3.7/library/stdtypes.html" TargetMode="External"/><Relationship Id="rId4" Type="http://schemas.openxmlformats.org/officeDocument/2006/relationships/hyperlink" Target="https://docs.python.org/3.7/library/stdtypes.html"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8.png"/><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hyperlink" Target="http://drive.google.com/file/d/1Qn1UQyZZAq6LV_VAtEkxZlvyUmB1uNjT/view" TargetMode="External"/><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34.png"/><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6.png"/><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2.png"/><Relationship Id="rId4" Type="http://schemas.openxmlformats.org/officeDocument/2006/relationships/image" Target="../media/image2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hyperlink" Target="https://doi.org/10.19173/irrodl.v17i5.2602"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5" name="Shape 75"/>
        <p:cNvGrpSpPr/>
        <p:nvPr/>
      </p:nvGrpSpPr>
      <p:grpSpPr>
        <a:xfrm>
          <a:off x="0" y="0"/>
          <a:ext cx="0" cy="0"/>
          <a:chOff x="0" y="0"/>
          <a:chExt cx="0" cy="0"/>
        </a:xfrm>
      </p:grpSpPr>
      <p:sp>
        <p:nvSpPr>
          <p:cNvPr id="76" name="Google Shape;76;p1"/>
          <p:cNvSpPr txBox="1"/>
          <p:nvPr>
            <p:ph idx="1" type="subTitle"/>
          </p:nvPr>
        </p:nvSpPr>
        <p:spPr>
          <a:xfrm>
            <a:off x="4024461" y="3793068"/>
            <a:ext cx="6795913" cy="1684868"/>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0"/>
              </a:spcBef>
              <a:spcAft>
                <a:spcPts val="0"/>
              </a:spcAft>
              <a:buClr>
                <a:srgbClr val="7F7F7F"/>
              </a:buClr>
              <a:buSzPts val="3000"/>
              <a:buNone/>
            </a:pPr>
            <a:r>
              <a:rPr lang="en-US"/>
              <a:t>Discussion Forum Subteam</a:t>
            </a:r>
            <a:endParaRPr/>
          </a:p>
          <a:p>
            <a:pPr indent="0" lvl="0" marL="0" rtl="0" algn="l">
              <a:lnSpc>
                <a:spcPct val="120000"/>
              </a:lnSpc>
              <a:spcBef>
                <a:spcPts val="600"/>
              </a:spcBef>
              <a:spcAft>
                <a:spcPts val="0"/>
              </a:spcAft>
              <a:buClr>
                <a:srgbClr val="7F7F7F"/>
              </a:buClr>
              <a:buSzPts val="3000"/>
              <a:buNone/>
            </a:pPr>
            <a:r>
              <a:rPr lang="en-US"/>
              <a:t>Presentation 3 - 04/19/2023</a:t>
            </a:r>
            <a:endParaRPr/>
          </a:p>
        </p:txBody>
      </p:sp>
      <p:sp>
        <p:nvSpPr>
          <p:cNvPr id="77" name="Google Shape;77;p1"/>
          <p:cNvSpPr txBox="1"/>
          <p:nvPr>
            <p:ph type="ctrTitle"/>
          </p:nvPr>
        </p:nvSpPr>
        <p:spPr>
          <a:xfrm>
            <a:off x="4024462" y="333633"/>
            <a:ext cx="6795913" cy="3459435"/>
          </a:xfrm>
          <a:prstGeom prst="rect">
            <a:avLst/>
          </a:prstGeom>
          <a:noFill/>
          <a:ln>
            <a:noFill/>
          </a:ln>
        </p:spPr>
        <p:txBody>
          <a:bodyPr anchorCtr="0" anchor="b" bIns="45700" lIns="91425" spcFirstLastPara="1" rIns="91425" wrap="square" tIns="45700">
            <a:normAutofit/>
          </a:bodyPr>
          <a:lstStyle/>
          <a:p>
            <a:pPr indent="0" lvl="0" marL="0" rtl="0" algn="l">
              <a:lnSpc>
                <a:spcPct val="114285"/>
              </a:lnSpc>
              <a:spcBef>
                <a:spcPts val="0"/>
              </a:spcBef>
              <a:spcAft>
                <a:spcPts val="0"/>
              </a:spcAft>
              <a:buClr>
                <a:srgbClr val="A7934B"/>
              </a:buClr>
              <a:buSzPts val="4200"/>
              <a:buFont typeface="Roboto"/>
              <a:buNone/>
            </a:pPr>
            <a:r>
              <a:rPr lang="en-US"/>
              <a:t>Data Driven Education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g15db474c58e_0_0"/>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800"/>
              <a:buNone/>
            </a:pPr>
            <a:r>
              <a:rPr lang="en-US"/>
              <a:t>Team Members</a:t>
            </a:r>
            <a:endParaRPr/>
          </a:p>
        </p:txBody>
      </p:sp>
      <p:sp>
        <p:nvSpPr>
          <p:cNvPr id="83" name="Google Shape;83;g15db474c58e_0_0"/>
          <p:cNvSpPr txBox="1"/>
          <p:nvPr/>
        </p:nvSpPr>
        <p:spPr>
          <a:xfrm>
            <a:off x="3893025" y="5571825"/>
            <a:ext cx="2192400" cy="647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Youngwook Kang</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Back-end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Developer</a:t>
            </a:r>
            <a:endParaRPr b="0" i="0" sz="1400" u="none" cap="none" strike="noStrike">
              <a:solidFill>
                <a:srgbClr val="000000"/>
              </a:solidFill>
              <a:latin typeface="Roboto"/>
              <a:ea typeface="Roboto"/>
              <a:cs typeface="Roboto"/>
              <a:sym typeface="Roboto"/>
            </a:endParaRPr>
          </a:p>
        </p:txBody>
      </p:sp>
      <p:sp>
        <p:nvSpPr>
          <p:cNvPr id="84" name="Google Shape;84;g15db474c58e_0_0"/>
          <p:cNvSpPr txBox="1"/>
          <p:nvPr/>
        </p:nvSpPr>
        <p:spPr>
          <a:xfrm>
            <a:off x="6680900" y="5539150"/>
            <a:ext cx="1790400" cy="647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Rohan Karthik</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Data Scientist</a:t>
            </a:r>
            <a:endParaRPr b="0" i="0" sz="1400" u="none" cap="none" strike="noStrike">
              <a:solidFill>
                <a:srgbClr val="000000"/>
              </a:solidFill>
              <a:latin typeface="Roboto"/>
              <a:ea typeface="Roboto"/>
              <a:cs typeface="Roboto"/>
              <a:sym typeface="Roboto"/>
            </a:endParaRPr>
          </a:p>
        </p:txBody>
      </p:sp>
      <p:sp>
        <p:nvSpPr>
          <p:cNvPr id="85" name="Google Shape;85;g15db474c58e_0_0"/>
          <p:cNvSpPr/>
          <p:nvPr/>
        </p:nvSpPr>
        <p:spPr>
          <a:xfrm>
            <a:off x="6977400" y="4214050"/>
            <a:ext cx="1153200" cy="1183500"/>
          </a:xfrm>
          <a:prstGeom prst="smileyFace">
            <a:avLst>
              <a:gd fmla="val 4653"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g15db474c58e_0_0"/>
          <p:cNvSpPr txBox="1"/>
          <p:nvPr/>
        </p:nvSpPr>
        <p:spPr>
          <a:xfrm>
            <a:off x="9501950" y="4420025"/>
            <a:ext cx="1790400" cy="647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Jisan Park</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Project Manager</a:t>
            </a:r>
            <a:endParaRPr b="0" i="0" sz="1400" u="none" cap="none" strike="noStrike">
              <a:solidFill>
                <a:srgbClr val="000000"/>
              </a:solidFill>
              <a:latin typeface="Roboto"/>
              <a:ea typeface="Roboto"/>
              <a:cs typeface="Roboto"/>
              <a:sym typeface="Roboto"/>
            </a:endParaRPr>
          </a:p>
        </p:txBody>
      </p:sp>
      <p:sp>
        <p:nvSpPr>
          <p:cNvPr id="87" name="Google Shape;87;g15db474c58e_0_0"/>
          <p:cNvSpPr txBox="1"/>
          <p:nvPr/>
        </p:nvSpPr>
        <p:spPr>
          <a:xfrm>
            <a:off x="2806575" y="2805400"/>
            <a:ext cx="1790400" cy="647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Emily Cai</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Data Scientist</a:t>
            </a:r>
            <a:endParaRPr b="0" i="0" sz="1400" u="none" cap="none" strike="noStrike">
              <a:solidFill>
                <a:srgbClr val="000000"/>
              </a:solidFill>
              <a:latin typeface="Roboto"/>
              <a:ea typeface="Roboto"/>
              <a:cs typeface="Roboto"/>
              <a:sym typeface="Roboto"/>
            </a:endParaRPr>
          </a:p>
        </p:txBody>
      </p:sp>
      <p:sp>
        <p:nvSpPr>
          <p:cNvPr id="88" name="Google Shape;88;g15db474c58e_0_0"/>
          <p:cNvSpPr txBox="1"/>
          <p:nvPr/>
        </p:nvSpPr>
        <p:spPr>
          <a:xfrm>
            <a:off x="5381475" y="2830325"/>
            <a:ext cx="1790400" cy="647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Hyun Soo Kim</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Data Scientist</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pic>
        <p:nvPicPr>
          <p:cNvPr id="89" name="Google Shape;89;g15db474c58e_0_0"/>
          <p:cNvPicPr preferRelativeResize="0"/>
          <p:nvPr/>
        </p:nvPicPr>
        <p:blipFill rotWithShape="1">
          <a:blip r:embed="rId3">
            <a:alphaModFix/>
          </a:blip>
          <a:srcRect b="0" l="0" r="0" t="0"/>
          <a:stretch/>
        </p:blipFill>
        <p:spPr>
          <a:xfrm>
            <a:off x="5650275" y="1534300"/>
            <a:ext cx="1301963" cy="1320300"/>
          </a:xfrm>
          <a:prstGeom prst="rect">
            <a:avLst/>
          </a:prstGeom>
          <a:noFill/>
          <a:ln>
            <a:noFill/>
          </a:ln>
        </p:spPr>
      </p:pic>
      <p:pic>
        <p:nvPicPr>
          <p:cNvPr id="90" name="Google Shape;90;g15db474c58e_0_0"/>
          <p:cNvPicPr preferRelativeResize="0"/>
          <p:nvPr/>
        </p:nvPicPr>
        <p:blipFill rotWithShape="1">
          <a:blip r:embed="rId4">
            <a:alphaModFix/>
          </a:blip>
          <a:srcRect b="0" l="0" r="0" t="0"/>
          <a:stretch/>
        </p:blipFill>
        <p:spPr>
          <a:xfrm>
            <a:off x="9661250" y="2360700"/>
            <a:ext cx="1471800" cy="1816800"/>
          </a:xfrm>
          <a:prstGeom prst="ellipse">
            <a:avLst/>
          </a:prstGeom>
          <a:noFill/>
          <a:ln>
            <a:noFill/>
          </a:ln>
        </p:spPr>
      </p:pic>
      <p:sp>
        <p:nvSpPr>
          <p:cNvPr id="91" name="Google Shape;91;g15db474c58e_0_0"/>
          <p:cNvSpPr txBox="1"/>
          <p:nvPr/>
        </p:nvSpPr>
        <p:spPr>
          <a:xfrm>
            <a:off x="1537750" y="5539150"/>
            <a:ext cx="1790400" cy="647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Ankit Mishra</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Front-end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Web Developer</a:t>
            </a:r>
            <a:endParaRPr b="0" i="0" sz="1400" u="none" cap="none" strike="noStrike">
              <a:solidFill>
                <a:srgbClr val="000000"/>
              </a:solidFill>
              <a:latin typeface="Roboto"/>
              <a:ea typeface="Roboto"/>
              <a:cs typeface="Roboto"/>
              <a:sym typeface="Roboto"/>
            </a:endParaRPr>
          </a:p>
        </p:txBody>
      </p:sp>
      <p:pic>
        <p:nvPicPr>
          <p:cNvPr id="92" name="Google Shape;92;g15db474c58e_0_0"/>
          <p:cNvPicPr preferRelativeResize="0"/>
          <p:nvPr/>
        </p:nvPicPr>
        <p:blipFill rotWithShape="1">
          <a:blip r:embed="rId5">
            <a:alphaModFix/>
          </a:blip>
          <a:srcRect b="0" l="0" r="0" t="0"/>
          <a:stretch/>
        </p:blipFill>
        <p:spPr>
          <a:xfrm>
            <a:off x="1748438" y="4269862"/>
            <a:ext cx="1301975" cy="1301975"/>
          </a:xfrm>
          <a:prstGeom prst="rect">
            <a:avLst/>
          </a:prstGeom>
          <a:noFill/>
          <a:ln>
            <a:noFill/>
          </a:ln>
        </p:spPr>
      </p:pic>
      <p:pic>
        <p:nvPicPr>
          <p:cNvPr id="93" name="Google Shape;93;g15db474c58e_0_0"/>
          <p:cNvPicPr preferRelativeResize="0"/>
          <p:nvPr/>
        </p:nvPicPr>
        <p:blipFill rotWithShape="1">
          <a:blip r:embed="rId6">
            <a:alphaModFix/>
          </a:blip>
          <a:srcRect b="23565" l="10311" r="10304" t="14170"/>
          <a:stretch/>
        </p:blipFill>
        <p:spPr>
          <a:xfrm>
            <a:off x="3089675" y="1503425"/>
            <a:ext cx="1249500" cy="1302000"/>
          </a:xfrm>
          <a:prstGeom prst="ellipse">
            <a:avLst/>
          </a:prstGeom>
          <a:noFill/>
          <a:ln>
            <a:noFill/>
          </a:ln>
        </p:spPr>
      </p:pic>
      <p:pic>
        <p:nvPicPr>
          <p:cNvPr id="94" name="Google Shape;94;g15db474c58e_0_0"/>
          <p:cNvPicPr preferRelativeResize="0"/>
          <p:nvPr/>
        </p:nvPicPr>
        <p:blipFill rotWithShape="1">
          <a:blip r:embed="rId7">
            <a:alphaModFix/>
          </a:blip>
          <a:srcRect b="2015" l="0" r="0" t="2015"/>
          <a:stretch/>
        </p:blipFill>
        <p:spPr>
          <a:xfrm>
            <a:off x="4412625" y="4209075"/>
            <a:ext cx="1153200" cy="1423500"/>
          </a:xfrm>
          <a:prstGeom prst="ellipse">
            <a:avLst/>
          </a:prstGeom>
          <a:noFill/>
          <a:ln>
            <a:noFill/>
          </a:ln>
        </p:spPr>
      </p:pic>
      <p:pic>
        <p:nvPicPr>
          <p:cNvPr id="95" name="Google Shape;95;g15db474c58e_0_0"/>
          <p:cNvPicPr preferRelativeResize="0"/>
          <p:nvPr/>
        </p:nvPicPr>
        <p:blipFill rotWithShape="1">
          <a:blip r:embed="rId8">
            <a:alphaModFix/>
          </a:blip>
          <a:srcRect b="0" l="0" r="0" t="0"/>
          <a:stretch/>
        </p:blipFill>
        <p:spPr>
          <a:xfrm>
            <a:off x="6797987" y="4069889"/>
            <a:ext cx="1471800" cy="1471800"/>
          </a:xfrm>
          <a:prstGeom prst="ellipse">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9" name="Shape 99"/>
        <p:cNvGrpSpPr/>
        <p:nvPr/>
      </p:nvGrpSpPr>
      <p:grpSpPr>
        <a:xfrm>
          <a:off x="0" y="0"/>
          <a:ext cx="0" cy="0"/>
          <a:chOff x="0" y="0"/>
          <a:chExt cx="0" cy="0"/>
        </a:xfrm>
      </p:grpSpPr>
      <p:sp>
        <p:nvSpPr>
          <p:cNvPr id="100" name="Google Shape;100;g9d48565bb2_0_0"/>
          <p:cNvSpPr txBox="1"/>
          <p:nvPr>
            <p:ph idx="1" type="body"/>
          </p:nvPr>
        </p:nvSpPr>
        <p:spPr>
          <a:xfrm>
            <a:off x="203425" y="1127700"/>
            <a:ext cx="8596800" cy="5067900"/>
          </a:xfrm>
          <a:prstGeom prst="rect">
            <a:avLst/>
          </a:prstGeom>
          <a:noFill/>
          <a:ln>
            <a:noFill/>
          </a:ln>
        </p:spPr>
        <p:txBody>
          <a:bodyPr anchorCtr="0" anchor="t" bIns="45700" lIns="91425" spcFirstLastPara="1" rIns="91425" wrap="square" tIns="45700">
            <a:noAutofit/>
          </a:bodyPr>
          <a:lstStyle/>
          <a:p>
            <a:pPr indent="-330200" lvl="0" marL="457200" rtl="0" algn="l">
              <a:lnSpc>
                <a:spcPct val="100000"/>
              </a:lnSpc>
              <a:spcBef>
                <a:spcPts val="1500"/>
              </a:spcBef>
              <a:spcAft>
                <a:spcPts val="0"/>
              </a:spcAft>
              <a:buSzPts val="1600"/>
              <a:buChar char="●"/>
            </a:pPr>
            <a:r>
              <a:rPr lang="en-US" sz="2600"/>
              <a:t>Discussion forums</a:t>
            </a:r>
            <a:endParaRPr/>
          </a:p>
          <a:p>
            <a:pPr indent="-330200" lvl="1" marL="914400" rtl="0" algn="l">
              <a:lnSpc>
                <a:spcPct val="100000"/>
              </a:lnSpc>
              <a:spcBef>
                <a:spcPts val="1500"/>
              </a:spcBef>
              <a:spcAft>
                <a:spcPts val="0"/>
              </a:spcAft>
              <a:buSzPts val="1600"/>
              <a:buChar char="•"/>
            </a:pPr>
            <a:r>
              <a:rPr lang="en-US" sz="2200"/>
              <a:t>main source of interaction in MOOCs</a:t>
            </a:r>
            <a:endParaRPr sz="2200"/>
          </a:p>
          <a:p>
            <a:pPr indent="-330200" lvl="0" marL="457200" rtl="0" algn="l">
              <a:lnSpc>
                <a:spcPct val="100000"/>
              </a:lnSpc>
              <a:spcBef>
                <a:spcPts val="1500"/>
              </a:spcBef>
              <a:spcAft>
                <a:spcPts val="0"/>
              </a:spcAft>
              <a:buSzPts val="1600"/>
              <a:buChar char="●"/>
            </a:pPr>
            <a:r>
              <a:rPr lang="en-US" sz="2600"/>
              <a:t>Student interaction</a:t>
            </a:r>
            <a:endParaRPr/>
          </a:p>
          <a:p>
            <a:pPr indent="-330200" lvl="1" marL="914400" rtl="0" algn="l">
              <a:lnSpc>
                <a:spcPct val="100000"/>
              </a:lnSpc>
              <a:spcBef>
                <a:spcPts val="1500"/>
              </a:spcBef>
              <a:spcAft>
                <a:spcPts val="0"/>
              </a:spcAft>
              <a:buSzPts val="1600"/>
              <a:buChar char="●"/>
            </a:pPr>
            <a:r>
              <a:rPr lang="en-US" sz="2200"/>
              <a:t>Aspect-Based Sentiment Analysis model </a:t>
            </a:r>
            <a:endParaRPr sz="1800"/>
          </a:p>
          <a:p>
            <a:pPr indent="-330200" lvl="1" marL="914400" rtl="0" algn="l">
              <a:lnSpc>
                <a:spcPct val="100000"/>
              </a:lnSpc>
              <a:spcBef>
                <a:spcPts val="1500"/>
              </a:spcBef>
              <a:spcAft>
                <a:spcPts val="0"/>
              </a:spcAft>
              <a:buSzPts val="1600"/>
              <a:buChar char="●"/>
            </a:pPr>
            <a:r>
              <a:rPr lang="en-US" sz="2200"/>
              <a:t>Seeded Topic Modeling</a:t>
            </a:r>
            <a:endParaRPr sz="2200"/>
          </a:p>
          <a:p>
            <a:pPr indent="-393700" lvl="0" marL="457200" rtl="0" algn="l">
              <a:lnSpc>
                <a:spcPct val="100000"/>
              </a:lnSpc>
              <a:spcBef>
                <a:spcPts val="1500"/>
              </a:spcBef>
              <a:spcAft>
                <a:spcPts val="0"/>
              </a:spcAft>
              <a:buSzPts val="2600"/>
              <a:buChar char="•"/>
            </a:pPr>
            <a:r>
              <a:rPr lang="en-US" sz="2600"/>
              <a:t>Activity on forums indicative of student engagement and interest</a:t>
            </a:r>
            <a:endParaRPr sz="2600"/>
          </a:p>
          <a:p>
            <a:pPr indent="0" lvl="0" marL="127000" rtl="0" algn="l">
              <a:lnSpc>
                <a:spcPct val="100000"/>
              </a:lnSpc>
              <a:spcBef>
                <a:spcPts val="1500"/>
              </a:spcBef>
              <a:spcAft>
                <a:spcPts val="1500"/>
              </a:spcAft>
              <a:buSzPts val="1600"/>
              <a:buNone/>
            </a:pPr>
            <a:r>
              <a:rPr b="1" lang="en-US" sz="2600"/>
              <a:t>Goal:</a:t>
            </a:r>
            <a:r>
              <a:rPr lang="en-US" sz="2600"/>
              <a:t> Complete the applications of our dashboards to provide more accuracy and insights for our instructors</a:t>
            </a:r>
            <a:endParaRPr sz="2600"/>
          </a:p>
        </p:txBody>
      </p:sp>
      <p:sp>
        <p:nvSpPr>
          <p:cNvPr id="101" name="Google Shape;101;g9d48565bb2_0_0"/>
          <p:cNvSpPr txBox="1"/>
          <p:nvPr>
            <p:ph type="title"/>
          </p:nvPr>
        </p:nvSpPr>
        <p:spPr>
          <a:xfrm>
            <a:off x="203425" y="-3"/>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Introduction</a:t>
            </a:r>
            <a:endParaRPr/>
          </a:p>
        </p:txBody>
      </p:sp>
      <p:sp>
        <p:nvSpPr>
          <p:cNvPr id="102" name="Google Shape;102;g9d48565bb2_0_0"/>
          <p:cNvSpPr txBox="1"/>
          <p:nvPr/>
        </p:nvSpPr>
        <p:spPr>
          <a:xfrm>
            <a:off x="304800" y="304800"/>
            <a:ext cx="3000000" cy="4776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gba764dde3e_0_0"/>
          <p:cNvSpPr txBox="1"/>
          <p:nvPr>
            <p:ph type="title"/>
          </p:nvPr>
        </p:nvSpPr>
        <p:spPr>
          <a:xfrm>
            <a:off x="381000" y="-61128"/>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Outcomes for Spring 2023</a:t>
            </a:r>
            <a:endParaRPr/>
          </a:p>
        </p:txBody>
      </p:sp>
      <p:sp>
        <p:nvSpPr>
          <p:cNvPr id="108" name="Google Shape;108;gba764dde3e_0_0"/>
          <p:cNvSpPr txBox="1"/>
          <p:nvPr/>
        </p:nvSpPr>
        <p:spPr>
          <a:xfrm>
            <a:off x="387338" y="4821550"/>
            <a:ext cx="11162100" cy="1816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1500"/>
              </a:spcBef>
              <a:spcAft>
                <a:spcPts val="0"/>
              </a:spcAft>
              <a:buClr>
                <a:srgbClr val="000000"/>
              </a:buClr>
              <a:buSzPts val="2600"/>
              <a:buFont typeface="Arial"/>
              <a:buNone/>
            </a:pPr>
            <a:r>
              <a:rPr b="1" lang="en-US" sz="2600">
                <a:solidFill>
                  <a:schemeClr val="dk1"/>
                </a:solidFill>
                <a:latin typeface="Roboto"/>
                <a:ea typeface="Roboto"/>
                <a:cs typeface="Roboto"/>
                <a:sym typeface="Roboto"/>
              </a:rPr>
              <a:t>Thoughts</a:t>
            </a:r>
            <a:r>
              <a:rPr b="1" i="0" lang="en-US" sz="2600" u="none" cap="none" strike="noStrike">
                <a:solidFill>
                  <a:schemeClr val="dk1"/>
                </a:solidFill>
                <a:latin typeface="Roboto"/>
                <a:ea typeface="Roboto"/>
                <a:cs typeface="Roboto"/>
                <a:sym typeface="Roboto"/>
              </a:rPr>
              <a:t> as a Project Manager:</a:t>
            </a:r>
            <a:endParaRPr b="1" sz="2600">
              <a:solidFill>
                <a:schemeClr val="dk1"/>
              </a:solidFill>
              <a:latin typeface="Roboto"/>
              <a:ea typeface="Roboto"/>
              <a:cs typeface="Roboto"/>
              <a:sym typeface="Roboto"/>
            </a:endParaRPr>
          </a:p>
          <a:p>
            <a:pPr indent="0" lvl="0" marL="457200" marR="0" rtl="0" algn="l">
              <a:lnSpc>
                <a:spcPct val="100000"/>
              </a:lnSpc>
              <a:spcBef>
                <a:spcPts val="0"/>
              </a:spcBef>
              <a:spcAft>
                <a:spcPts val="0"/>
              </a:spcAft>
              <a:buNone/>
            </a:pPr>
            <a:r>
              <a:t/>
            </a:r>
            <a:endParaRPr sz="2000">
              <a:solidFill>
                <a:schemeClr val="dk1"/>
              </a:solidFill>
              <a:latin typeface="Roboto"/>
              <a:ea typeface="Roboto"/>
              <a:cs typeface="Roboto"/>
              <a:sym typeface="Roboto"/>
            </a:endParaRPr>
          </a:p>
          <a:p>
            <a:pPr indent="-355600" lvl="0" marL="457200" marR="0" rtl="0" algn="l">
              <a:lnSpc>
                <a:spcPct val="100000"/>
              </a:lnSpc>
              <a:spcBef>
                <a:spcPts val="0"/>
              </a:spcBef>
              <a:spcAft>
                <a:spcPts val="0"/>
              </a:spcAft>
              <a:buClr>
                <a:schemeClr val="dk1"/>
              </a:buClr>
              <a:buSzPts val="2000"/>
              <a:buFont typeface="Roboto"/>
              <a:buChar char="•"/>
            </a:pPr>
            <a:r>
              <a:rPr lang="en-US" sz="2000">
                <a:solidFill>
                  <a:schemeClr val="dk1"/>
                </a:solidFill>
                <a:latin typeface="Roboto"/>
                <a:ea typeface="Roboto"/>
                <a:cs typeface="Roboto"/>
                <a:sym typeface="Roboto"/>
              </a:rPr>
              <a:t>Having team’s own </a:t>
            </a:r>
            <a:r>
              <a:rPr b="0" i="0" lang="en-US" sz="2000" u="none" cap="none" strike="noStrike">
                <a:solidFill>
                  <a:schemeClr val="dk1"/>
                </a:solidFill>
                <a:latin typeface="Roboto"/>
                <a:ea typeface="Roboto"/>
                <a:cs typeface="Roboto"/>
                <a:sym typeface="Roboto"/>
              </a:rPr>
              <a:t>deliverables </a:t>
            </a:r>
            <a:r>
              <a:rPr lang="en-US" sz="2000">
                <a:solidFill>
                  <a:schemeClr val="dk1"/>
                </a:solidFill>
                <a:latin typeface="Roboto"/>
                <a:ea typeface="Roboto"/>
                <a:cs typeface="Roboto"/>
                <a:sym typeface="Roboto"/>
              </a:rPr>
              <a:t>every</a:t>
            </a:r>
            <a:r>
              <a:rPr b="0" i="0" lang="en-US" sz="2000" u="none" cap="none" strike="noStrike">
                <a:solidFill>
                  <a:schemeClr val="dk1"/>
                </a:solidFill>
                <a:latin typeface="Roboto"/>
                <a:ea typeface="Roboto"/>
                <a:cs typeface="Roboto"/>
                <a:sym typeface="Roboto"/>
              </a:rPr>
              <a:t> week</a:t>
            </a:r>
            <a:r>
              <a:rPr lang="en-US" sz="2000">
                <a:solidFill>
                  <a:schemeClr val="dk1"/>
                </a:solidFill>
                <a:latin typeface="Roboto"/>
                <a:ea typeface="Roboto"/>
                <a:cs typeface="Roboto"/>
                <a:sym typeface="Roboto"/>
              </a:rPr>
              <a:t> made the team more engaged.</a:t>
            </a:r>
            <a:endParaRPr b="0" i="0" sz="2000" u="none" cap="none" strike="noStrike">
              <a:solidFill>
                <a:schemeClr val="dk1"/>
              </a:solidFill>
              <a:latin typeface="Roboto"/>
              <a:ea typeface="Roboto"/>
              <a:cs typeface="Roboto"/>
              <a:sym typeface="Roboto"/>
            </a:endParaRPr>
          </a:p>
          <a:p>
            <a:pPr indent="-355600" lvl="0" marL="457200" marR="0" rtl="0" algn="l">
              <a:lnSpc>
                <a:spcPct val="100000"/>
              </a:lnSpc>
              <a:spcBef>
                <a:spcPts val="0"/>
              </a:spcBef>
              <a:spcAft>
                <a:spcPts val="0"/>
              </a:spcAft>
              <a:buClr>
                <a:schemeClr val="dk1"/>
              </a:buClr>
              <a:buSzPts val="2000"/>
              <a:buFont typeface="Roboto"/>
              <a:buChar char="•"/>
            </a:pPr>
            <a:r>
              <a:rPr lang="en-US" sz="2000">
                <a:solidFill>
                  <a:schemeClr val="dk1"/>
                </a:solidFill>
                <a:latin typeface="Roboto"/>
                <a:ea typeface="Roboto"/>
                <a:cs typeface="Roboto"/>
                <a:sym typeface="Roboto"/>
              </a:rPr>
              <a:t>Communication among team members is important.</a:t>
            </a:r>
            <a:endParaRPr b="0" i="0" sz="2000" u="none" cap="none" strike="noStrike">
              <a:solidFill>
                <a:schemeClr val="dk1"/>
              </a:solidFill>
              <a:latin typeface="Roboto"/>
              <a:ea typeface="Roboto"/>
              <a:cs typeface="Roboto"/>
              <a:sym typeface="Roboto"/>
            </a:endParaRPr>
          </a:p>
          <a:p>
            <a:pPr indent="-355600" lvl="0" marL="457200" marR="0" rtl="0" algn="l">
              <a:lnSpc>
                <a:spcPct val="100000"/>
              </a:lnSpc>
              <a:spcBef>
                <a:spcPts val="0"/>
              </a:spcBef>
              <a:spcAft>
                <a:spcPts val="0"/>
              </a:spcAft>
              <a:buClr>
                <a:schemeClr val="dk1"/>
              </a:buClr>
              <a:buSzPts val="2000"/>
              <a:buFont typeface="Roboto"/>
              <a:buChar char="•"/>
            </a:pPr>
            <a:r>
              <a:rPr lang="en-US" sz="2000">
                <a:solidFill>
                  <a:schemeClr val="dk1"/>
                </a:solidFill>
                <a:latin typeface="Roboto"/>
                <a:ea typeface="Roboto"/>
                <a:cs typeface="Roboto"/>
                <a:sym typeface="Roboto"/>
              </a:rPr>
              <a:t>Building weekly sprint for next month stays team member focused.</a:t>
            </a:r>
            <a:endParaRPr b="0" i="0" sz="2000" u="none" cap="none" strike="noStrike">
              <a:solidFill>
                <a:schemeClr val="dk1"/>
              </a:solidFill>
              <a:latin typeface="Roboto"/>
              <a:ea typeface="Roboto"/>
              <a:cs typeface="Roboto"/>
              <a:sym typeface="Roboto"/>
            </a:endParaRPr>
          </a:p>
        </p:txBody>
      </p:sp>
      <p:graphicFrame>
        <p:nvGraphicFramePr>
          <p:cNvPr id="109" name="Google Shape;109;gba764dde3e_0_0"/>
          <p:cNvGraphicFramePr/>
          <p:nvPr/>
        </p:nvGraphicFramePr>
        <p:xfrm>
          <a:off x="189188" y="1134892"/>
          <a:ext cx="3000000" cy="3000000"/>
        </p:xfrm>
        <a:graphic>
          <a:graphicData uri="http://schemas.openxmlformats.org/drawingml/2006/table">
            <a:tbl>
              <a:tblPr>
                <a:noFill/>
                <a:tableStyleId>{74FDA035-7656-49B7-A457-31317C3F0DB3}</a:tableStyleId>
              </a:tblPr>
              <a:tblGrid>
                <a:gridCol w="2385850"/>
                <a:gridCol w="4878800"/>
                <a:gridCol w="4548975"/>
              </a:tblGrid>
              <a:tr h="744975">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latin typeface="Roboto"/>
                          <a:ea typeface="Roboto"/>
                          <a:cs typeface="Roboto"/>
                          <a:sym typeface="Roboto"/>
                        </a:rPr>
                        <a:t>Category</a:t>
                      </a:r>
                      <a:endParaRPr b="1" sz="2400" u="none" cap="none" strike="noStrike">
                        <a:latin typeface="Roboto"/>
                        <a:ea typeface="Roboto"/>
                        <a:cs typeface="Roboto"/>
                        <a:sym typeface="Roboto"/>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latin typeface="Roboto"/>
                          <a:ea typeface="Roboto"/>
                          <a:cs typeface="Roboto"/>
                          <a:sym typeface="Roboto"/>
                        </a:rPr>
                        <a:t>Accomplished</a:t>
                      </a:r>
                      <a:endParaRPr b="1" sz="2400" u="none" cap="none" strike="noStrike">
                        <a:latin typeface="Roboto"/>
                        <a:ea typeface="Roboto"/>
                        <a:cs typeface="Roboto"/>
                        <a:sym typeface="Roboto"/>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latin typeface="Roboto"/>
                          <a:ea typeface="Roboto"/>
                          <a:cs typeface="Roboto"/>
                          <a:sym typeface="Roboto"/>
                        </a:rPr>
                        <a:t>Next Goals</a:t>
                      </a:r>
                      <a:endParaRPr b="1" sz="2400" u="none" cap="none" strike="noStrike">
                        <a:latin typeface="Roboto"/>
                        <a:ea typeface="Roboto"/>
                        <a:cs typeface="Roboto"/>
                        <a:sym typeface="Roboto"/>
                      </a:endParaRPr>
                    </a:p>
                  </a:txBody>
                  <a:tcPr marT="91425" marB="91425" marR="91425" marL="91425"/>
                </a:tc>
              </a:tr>
              <a:tr h="1024325">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Roboto"/>
                          <a:ea typeface="Roboto"/>
                          <a:cs typeface="Roboto"/>
                          <a:sym typeface="Roboto"/>
                        </a:rPr>
                        <a:t>Web Dev</a:t>
                      </a:r>
                      <a:endParaRPr sz="1600" u="none" cap="none" strike="noStrike">
                        <a:latin typeface="Roboto"/>
                        <a:ea typeface="Roboto"/>
                        <a:cs typeface="Roboto"/>
                        <a:sym typeface="Roboto"/>
                      </a:endParaRPr>
                    </a:p>
                  </a:txBody>
                  <a:tcPr marT="91425" marB="91425" marR="91425" marL="91425"/>
                </a:tc>
                <a:tc>
                  <a:txBody>
                    <a:bodyPr/>
                    <a:lstStyle/>
                    <a:p>
                      <a:pPr indent="-330200" lvl="0" marL="457200" marR="0" rtl="0" algn="l">
                        <a:lnSpc>
                          <a:spcPct val="100000"/>
                        </a:lnSpc>
                        <a:spcBef>
                          <a:spcPts val="0"/>
                        </a:spcBef>
                        <a:spcAft>
                          <a:spcPts val="0"/>
                        </a:spcAft>
                        <a:buSzPts val="1600"/>
                        <a:buFont typeface="Roboto"/>
                        <a:buChar char="●"/>
                      </a:pPr>
                      <a:r>
                        <a:rPr lang="en-US" sz="1600">
                          <a:latin typeface="Roboto"/>
                          <a:ea typeface="Roboto"/>
                          <a:cs typeface="Roboto"/>
                          <a:sym typeface="Roboto"/>
                        </a:rPr>
                        <a:t>Received data from Data Science team</a:t>
                      </a:r>
                      <a:endParaRPr sz="1600">
                        <a:latin typeface="Roboto"/>
                        <a:ea typeface="Roboto"/>
                        <a:cs typeface="Roboto"/>
                        <a:sym typeface="Roboto"/>
                      </a:endParaRPr>
                    </a:p>
                    <a:p>
                      <a:pPr indent="-330200" lvl="0" marL="457200" marR="0" rtl="0" algn="l">
                        <a:lnSpc>
                          <a:spcPct val="100000"/>
                        </a:lnSpc>
                        <a:spcBef>
                          <a:spcPts val="0"/>
                        </a:spcBef>
                        <a:spcAft>
                          <a:spcPts val="0"/>
                        </a:spcAft>
                        <a:buSzPts val="1600"/>
                        <a:buFont typeface="Roboto"/>
                        <a:buChar char="●"/>
                      </a:pPr>
                      <a:r>
                        <a:rPr lang="en-US" sz="1600">
                          <a:latin typeface="Roboto"/>
                          <a:ea typeface="Roboto"/>
                          <a:cs typeface="Roboto"/>
                          <a:sym typeface="Roboto"/>
                        </a:rPr>
                        <a:t>Completed </a:t>
                      </a:r>
                      <a:r>
                        <a:rPr lang="en-US" sz="1600" u="none" cap="none" strike="noStrike">
                          <a:latin typeface="Roboto"/>
                          <a:ea typeface="Roboto"/>
                          <a:cs typeface="Roboto"/>
                          <a:sym typeface="Roboto"/>
                        </a:rPr>
                        <a:t>two dashboards</a:t>
                      </a:r>
                      <a:r>
                        <a:rPr lang="en-US" sz="1600">
                          <a:latin typeface="Roboto"/>
                          <a:ea typeface="Roboto"/>
                          <a:cs typeface="Roboto"/>
                          <a:sym typeface="Roboto"/>
                        </a:rPr>
                        <a:t>.</a:t>
                      </a:r>
                      <a:endParaRPr sz="1600">
                        <a:latin typeface="Roboto"/>
                        <a:ea typeface="Roboto"/>
                        <a:cs typeface="Roboto"/>
                        <a:sym typeface="Roboto"/>
                      </a:endParaRPr>
                    </a:p>
                    <a:p>
                      <a:pPr indent="-330200" lvl="0" marL="457200" rtl="0" algn="l">
                        <a:spcBef>
                          <a:spcPts val="0"/>
                        </a:spcBef>
                        <a:spcAft>
                          <a:spcPts val="0"/>
                        </a:spcAft>
                        <a:buSzPts val="1600"/>
                        <a:buFont typeface="Roboto"/>
                        <a:buChar char="●"/>
                      </a:pPr>
                      <a:r>
                        <a:rPr lang="en-US" sz="1600">
                          <a:solidFill>
                            <a:schemeClr val="dk1"/>
                          </a:solidFill>
                          <a:latin typeface="Roboto"/>
                          <a:ea typeface="Roboto"/>
                          <a:cs typeface="Roboto"/>
                          <a:sym typeface="Roboto"/>
                        </a:rPr>
                        <a:t>Researched Ed Discussion API</a:t>
                      </a:r>
                      <a:endParaRPr sz="1600">
                        <a:latin typeface="Roboto"/>
                        <a:ea typeface="Roboto"/>
                        <a:cs typeface="Roboto"/>
                        <a:sym typeface="Roboto"/>
                      </a:endParaRPr>
                    </a:p>
                  </a:txBody>
                  <a:tcPr marT="91425" marB="91425" marR="91425" marL="91425"/>
                </a:tc>
                <a:tc>
                  <a:txBody>
                    <a:bodyPr/>
                    <a:lstStyle/>
                    <a:p>
                      <a:pPr indent="-330200" lvl="0" marL="457200" marR="0" rtl="0" algn="l">
                        <a:lnSpc>
                          <a:spcPct val="100000"/>
                        </a:lnSpc>
                        <a:spcBef>
                          <a:spcPts val="0"/>
                        </a:spcBef>
                        <a:spcAft>
                          <a:spcPts val="0"/>
                        </a:spcAft>
                        <a:buClr>
                          <a:schemeClr val="dk1"/>
                        </a:buClr>
                        <a:buSzPts val="1600"/>
                        <a:buFont typeface="Roboto"/>
                        <a:buChar char="●"/>
                      </a:pPr>
                      <a:r>
                        <a:rPr lang="en-US" sz="1600">
                          <a:latin typeface="Roboto"/>
                          <a:ea typeface="Roboto"/>
                          <a:cs typeface="Roboto"/>
                          <a:sym typeface="Roboto"/>
                        </a:rPr>
                        <a:t>Explore Ed discussion data</a:t>
                      </a:r>
                      <a:endParaRPr sz="1600" u="none" cap="none" strike="noStrike">
                        <a:latin typeface="Roboto"/>
                        <a:ea typeface="Roboto"/>
                        <a:cs typeface="Roboto"/>
                        <a:sym typeface="Roboto"/>
                      </a:endParaRPr>
                    </a:p>
                    <a:p>
                      <a:pPr indent="-330200" lvl="0" marL="457200" rtl="0" algn="l">
                        <a:spcBef>
                          <a:spcPts val="0"/>
                        </a:spcBef>
                        <a:spcAft>
                          <a:spcPts val="0"/>
                        </a:spcAft>
                        <a:buSzPts val="1600"/>
                        <a:buFont typeface="Roboto"/>
                        <a:buChar char="●"/>
                      </a:pPr>
                      <a:r>
                        <a:rPr lang="en-US" sz="1600">
                          <a:solidFill>
                            <a:schemeClr val="dk1"/>
                          </a:solidFill>
                          <a:latin typeface="Roboto"/>
                          <a:ea typeface="Roboto"/>
                          <a:cs typeface="Roboto"/>
                          <a:sym typeface="Roboto"/>
                        </a:rPr>
                        <a:t>Research on real-time API (REST)</a:t>
                      </a:r>
                      <a:endParaRPr sz="1600">
                        <a:solidFill>
                          <a:schemeClr val="dk1"/>
                        </a:solidFill>
                        <a:latin typeface="Roboto"/>
                        <a:ea typeface="Roboto"/>
                        <a:cs typeface="Roboto"/>
                        <a:sym typeface="Roboto"/>
                      </a:endParaRPr>
                    </a:p>
                    <a:p>
                      <a:pPr indent="0" lvl="0" marL="0" marR="0" rtl="0" algn="l">
                        <a:lnSpc>
                          <a:spcPct val="100000"/>
                        </a:lnSpc>
                        <a:spcBef>
                          <a:spcPts val="0"/>
                        </a:spcBef>
                        <a:spcAft>
                          <a:spcPts val="0"/>
                        </a:spcAft>
                        <a:buNone/>
                      </a:pPr>
                      <a:r>
                        <a:t/>
                      </a:r>
                      <a:endParaRPr sz="1600">
                        <a:solidFill>
                          <a:schemeClr val="dk1"/>
                        </a:solidFill>
                        <a:latin typeface="Roboto"/>
                        <a:ea typeface="Roboto"/>
                        <a:cs typeface="Roboto"/>
                        <a:sym typeface="Roboto"/>
                      </a:endParaRPr>
                    </a:p>
                  </a:txBody>
                  <a:tcPr marT="91425" marB="91425" marR="91425" marL="91425"/>
                </a:tc>
              </a:tr>
              <a:tr h="669850">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Roboto"/>
                          <a:ea typeface="Roboto"/>
                          <a:cs typeface="Roboto"/>
                          <a:sym typeface="Roboto"/>
                        </a:rPr>
                        <a:t>UX Research</a:t>
                      </a:r>
                      <a:endParaRPr sz="1600" u="none" cap="none" strike="noStrike">
                        <a:latin typeface="Roboto"/>
                        <a:ea typeface="Roboto"/>
                        <a:cs typeface="Roboto"/>
                        <a:sym typeface="Roboto"/>
                      </a:endParaRPr>
                    </a:p>
                  </a:txBody>
                  <a:tcPr marT="91425" marB="91425" marR="91425" marL="91425"/>
                </a:tc>
                <a:tc>
                  <a:txBody>
                    <a:bodyPr/>
                    <a:lstStyle/>
                    <a:p>
                      <a:pPr indent="-330200" lvl="0" marL="457200" marR="0" rtl="0" algn="l">
                        <a:lnSpc>
                          <a:spcPct val="100000"/>
                        </a:lnSpc>
                        <a:spcBef>
                          <a:spcPts val="0"/>
                        </a:spcBef>
                        <a:spcAft>
                          <a:spcPts val="0"/>
                        </a:spcAft>
                        <a:buSzPts val="1600"/>
                        <a:buFont typeface="Roboto"/>
                        <a:buChar char="●"/>
                      </a:pPr>
                      <a:r>
                        <a:rPr lang="en-US" sz="1600">
                          <a:latin typeface="Roboto"/>
                          <a:ea typeface="Roboto"/>
                          <a:cs typeface="Roboto"/>
                          <a:sym typeface="Roboto"/>
                        </a:rPr>
                        <a:t>Received Interview Feedback from TA</a:t>
                      </a:r>
                      <a:endParaRPr sz="1600">
                        <a:latin typeface="Roboto"/>
                        <a:ea typeface="Roboto"/>
                        <a:cs typeface="Roboto"/>
                        <a:sym typeface="Roboto"/>
                      </a:endParaRPr>
                    </a:p>
                  </a:txBody>
                  <a:tcPr marT="91425" marB="91425" marR="91425" marL="91425"/>
                </a:tc>
                <a:tc>
                  <a:txBody>
                    <a:bodyPr/>
                    <a:lstStyle/>
                    <a:p>
                      <a:pPr indent="-330200" lvl="0" marL="457200" marR="0" rtl="0" algn="l">
                        <a:lnSpc>
                          <a:spcPct val="100000"/>
                        </a:lnSpc>
                        <a:spcBef>
                          <a:spcPts val="0"/>
                        </a:spcBef>
                        <a:spcAft>
                          <a:spcPts val="0"/>
                        </a:spcAft>
                        <a:buSzPts val="1600"/>
                        <a:buFont typeface="Roboto"/>
                        <a:buChar char="●"/>
                      </a:pPr>
                      <a:r>
                        <a:rPr lang="en-US" sz="1600">
                          <a:latin typeface="Roboto"/>
                          <a:ea typeface="Roboto"/>
                          <a:cs typeface="Roboto"/>
                          <a:sym typeface="Roboto"/>
                        </a:rPr>
                        <a:t>Get more feedback based on UX</a:t>
                      </a:r>
                      <a:endParaRPr sz="1600" u="none" cap="none" strike="noStrike">
                        <a:latin typeface="Roboto"/>
                        <a:ea typeface="Roboto"/>
                        <a:cs typeface="Roboto"/>
                        <a:sym typeface="Roboto"/>
                      </a:endParaRPr>
                    </a:p>
                  </a:txBody>
                  <a:tcPr marT="91425" marB="91425" marR="91425" marL="91425"/>
                </a:tc>
              </a:tr>
              <a:tr h="945050">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Roboto"/>
                          <a:ea typeface="Roboto"/>
                          <a:cs typeface="Roboto"/>
                          <a:sym typeface="Roboto"/>
                        </a:rPr>
                        <a:t>Data Science</a:t>
                      </a:r>
                      <a:endParaRPr sz="1600" u="none" cap="none" strike="noStrike">
                        <a:latin typeface="Roboto"/>
                        <a:ea typeface="Roboto"/>
                        <a:cs typeface="Roboto"/>
                        <a:sym typeface="Roboto"/>
                      </a:endParaRPr>
                    </a:p>
                  </a:txBody>
                  <a:tcPr marT="91425" marB="91425" marR="91425" marL="91425"/>
                </a:tc>
                <a:tc>
                  <a:txBody>
                    <a:bodyPr/>
                    <a:lstStyle/>
                    <a:p>
                      <a:pPr indent="-330200" lvl="0" marL="457200" marR="0" rtl="0" algn="l">
                        <a:lnSpc>
                          <a:spcPct val="100000"/>
                        </a:lnSpc>
                        <a:spcBef>
                          <a:spcPts val="0"/>
                        </a:spcBef>
                        <a:spcAft>
                          <a:spcPts val="0"/>
                        </a:spcAft>
                        <a:buClr>
                          <a:srgbClr val="000000"/>
                        </a:buClr>
                        <a:buSzPts val="1600"/>
                        <a:buFont typeface="Roboto"/>
                        <a:buChar char="●"/>
                      </a:pPr>
                      <a:r>
                        <a:rPr lang="en-US" sz="1600" u="none" cap="none" strike="noStrike">
                          <a:latin typeface="Roboto"/>
                          <a:ea typeface="Roboto"/>
                          <a:cs typeface="Roboto"/>
                          <a:sym typeface="Roboto"/>
                        </a:rPr>
                        <a:t>Seeded Topic Modeling with each course data</a:t>
                      </a:r>
                      <a:endParaRPr sz="1600" u="none" cap="none" strike="noStrike">
                        <a:latin typeface="Roboto"/>
                        <a:ea typeface="Roboto"/>
                        <a:cs typeface="Roboto"/>
                        <a:sym typeface="Roboto"/>
                      </a:endParaRPr>
                    </a:p>
                    <a:p>
                      <a:pPr indent="-330200" lvl="0" marL="457200" marR="0" rtl="0" algn="l">
                        <a:lnSpc>
                          <a:spcPct val="100000"/>
                        </a:lnSpc>
                        <a:spcBef>
                          <a:spcPts val="0"/>
                        </a:spcBef>
                        <a:spcAft>
                          <a:spcPts val="0"/>
                        </a:spcAft>
                        <a:buClr>
                          <a:srgbClr val="000000"/>
                        </a:buClr>
                        <a:buSzPts val="1600"/>
                        <a:buFont typeface="Roboto"/>
                        <a:buChar char="●"/>
                      </a:pPr>
                      <a:r>
                        <a:rPr lang="en-US" sz="1600">
                          <a:latin typeface="Roboto"/>
                          <a:ea typeface="Roboto"/>
                          <a:cs typeface="Roboto"/>
                          <a:sym typeface="Roboto"/>
                        </a:rPr>
                        <a:t>M</a:t>
                      </a:r>
                      <a:r>
                        <a:rPr lang="en-US" sz="1600" u="none" cap="none" strike="noStrike">
                          <a:latin typeface="Roboto"/>
                          <a:ea typeface="Roboto"/>
                          <a:cs typeface="Roboto"/>
                          <a:sym typeface="Roboto"/>
                        </a:rPr>
                        <a:t>etacognitive </a:t>
                      </a:r>
                      <a:r>
                        <a:rPr lang="en-US" sz="1600">
                          <a:latin typeface="Roboto"/>
                          <a:ea typeface="Roboto"/>
                          <a:cs typeface="Roboto"/>
                          <a:sym typeface="Roboto"/>
                        </a:rPr>
                        <a:t>P</a:t>
                      </a:r>
                      <a:r>
                        <a:rPr lang="en-US" sz="1600" u="none" cap="none" strike="noStrike">
                          <a:latin typeface="Roboto"/>
                          <a:ea typeface="Roboto"/>
                          <a:cs typeface="Roboto"/>
                          <a:sym typeface="Roboto"/>
                        </a:rPr>
                        <a:t>resence Visualization</a:t>
                      </a:r>
                      <a:endParaRPr sz="1600" u="none" cap="none" strike="noStrike">
                        <a:latin typeface="Roboto"/>
                        <a:ea typeface="Roboto"/>
                        <a:cs typeface="Roboto"/>
                        <a:sym typeface="Roboto"/>
                      </a:endParaRPr>
                    </a:p>
                    <a:p>
                      <a:pPr indent="-330200" lvl="0" marL="457200" marR="0" rtl="0" algn="l">
                        <a:lnSpc>
                          <a:spcPct val="100000"/>
                        </a:lnSpc>
                        <a:spcBef>
                          <a:spcPts val="0"/>
                        </a:spcBef>
                        <a:spcAft>
                          <a:spcPts val="0"/>
                        </a:spcAft>
                        <a:buSzPts val="1600"/>
                        <a:buFont typeface="Roboto"/>
                        <a:buChar char="●"/>
                      </a:pPr>
                      <a:r>
                        <a:rPr lang="en-US" sz="1600">
                          <a:latin typeface="Roboto"/>
                          <a:ea typeface="Roboto"/>
                          <a:cs typeface="Roboto"/>
                          <a:sym typeface="Roboto"/>
                        </a:rPr>
                        <a:t>ABSA</a:t>
                      </a:r>
                      <a:endParaRPr sz="1600">
                        <a:latin typeface="Roboto"/>
                        <a:ea typeface="Roboto"/>
                        <a:cs typeface="Roboto"/>
                        <a:sym typeface="Roboto"/>
                      </a:endParaRPr>
                    </a:p>
                  </a:txBody>
                  <a:tcPr marT="91425" marB="91425" marR="91425" marL="91425"/>
                </a:tc>
                <a:tc>
                  <a:txBody>
                    <a:bodyPr/>
                    <a:lstStyle/>
                    <a:p>
                      <a:pPr indent="-330200" lvl="0" marL="457200" marR="0" rtl="0" algn="l">
                        <a:lnSpc>
                          <a:spcPct val="100000"/>
                        </a:lnSpc>
                        <a:spcBef>
                          <a:spcPts val="0"/>
                        </a:spcBef>
                        <a:spcAft>
                          <a:spcPts val="0"/>
                        </a:spcAft>
                        <a:buClr>
                          <a:srgbClr val="000000"/>
                        </a:buClr>
                        <a:buSzPts val="1600"/>
                        <a:buFont typeface="Roboto"/>
                        <a:buChar char="●"/>
                      </a:pPr>
                      <a:r>
                        <a:rPr lang="en-US" sz="1600" u="none" cap="none" strike="noStrike">
                          <a:latin typeface="Roboto"/>
                          <a:ea typeface="Roboto"/>
                          <a:cs typeface="Roboto"/>
                          <a:sym typeface="Roboto"/>
                        </a:rPr>
                        <a:t>Increase the accuracy for each model</a:t>
                      </a:r>
                      <a:endParaRPr sz="1600">
                        <a:latin typeface="Roboto"/>
                        <a:ea typeface="Roboto"/>
                        <a:cs typeface="Roboto"/>
                        <a:sym typeface="Roboto"/>
                      </a:endParaRPr>
                    </a:p>
                    <a:p>
                      <a:pPr indent="-330200" lvl="0" marL="457200" rtl="0" algn="l">
                        <a:spcBef>
                          <a:spcPts val="0"/>
                        </a:spcBef>
                        <a:spcAft>
                          <a:spcPts val="0"/>
                        </a:spcAft>
                        <a:buSzPts val="1600"/>
                        <a:buFont typeface="Roboto"/>
                        <a:buChar char="●"/>
                      </a:pPr>
                      <a:r>
                        <a:rPr lang="en-US" sz="1600">
                          <a:solidFill>
                            <a:schemeClr val="dk1"/>
                          </a:solidFill>
                          <a:latin typeface="Roboto"/>
                          <a:ea typeface="Roboto"/>
                          <a:cs typeface="Roboto"/>
                          <a:sym typeface="Roboto"/>
                        </a:rPr>
                        <a:t>Research new feature that help instructors</a:t>
                      </a:r>
                      <a:endParaRPr sz="1600">
                        <a:latin typeface="Roboto"/>
                        <a:ea typeface="Roboto"/>
                        <a:cs typeface="Roboto"/>
                        <a:sym typeface="Roboto"/>
                      </a:endParaRPr>
                    </a:p>
                  </a:txBody>
                  <a:tcPr marT="91425" marB="91425" marR="91425" marL="91425"/>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gefbeba6a1c_0_0"/>
          <p:cNvSpPr txBox="1"/>
          <p:nvPr>
            <p:ph idx="4294967295" type="title"/>
          </p:nvPr>
        </p:nvSpPr>
        <p:spPr>
          <a:xfrm>
            <a:off x="381000" y="2921547"/>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sz="7000"/>
              <a:t>Data Science</a:t>
            </a:r>
            <a:endParaRPr sz="7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gbea1223c9f_0_11"/>
          <p:cNvSpPr txBox="1"/>
          <p:nvPr>
            <p:ph idx="1" type="body"/>
          </p:nvPr>
        </p:nvSpPr>
        <p:spPr>
          <a:xfrm>
            <a:off x="443250" y="996975"/>
            <a:ext cx="11430000" cy="5483400"/>
          </a:xfrm>
          <a:prstGeom prst="rect">
            <a:avLst/>
          </a:prstGeom>
          <a:noFill/>
          <a:ln>
            <a:noFill/>
          </a:ln>
        </p:spPr>
        <p:txBody>
          <a:bodyPr anchorCtr="0" anchor="t" bIns="45700" lIns="91425" spcFirstLastPara="1" rIns="91425" wrap="square" tIns="45700">
            <a:noAutofit/>
          </a:bodyPr>
          <a:lstStyle/>
          <a:p>
            <a:pPr indent="0" lvl="0" marL="457200" rtl="0" algn="l">
              <a:lnSpc>
                <a:spcPct val="90000"/>
              </a:lnSpc>
              <a:spcBef>
                <a:spcPts val="1000"/>
              </a:spcBef>
              <a:spcAft>
                <a:spcPts val="0"/>
              </a:spcAft>
              <a:buSzPts val="1800"/>
              <a:buNone/>
            </a:pPr>
            <a:r>
              <a:t/>
            </a:r>
            <a:endParaRPr sz="2700"/>
          </a:p>
          <a:p>
            <a:pPr indent="-400050" lvl="0" marL="457200" rtl="0" algn="l">
              <a:lnSpc>
                <a:spcPct val="100000"/>
              </a:lnSpc>
              <a:spcBef>
                <a:spcPts val="1000"/>
              </a:spcBef>
              <a:spcAft>
                <a:spcPts val="0"/>
              </a:spcAft>
              <a:buSzPts val="2700"/>
              <a:buChar char="•"/>
            </a:pPr>
            <a:r>
              <a:rPr lang="en-US" sz="2700"/>
              <a:t>Based on the community of inquiry framework, what are some useful metrics for student engagement and performance in an asynchronous online classroom? </a:t>
            </a:r>
            <a:endParaRPr sz="2700"/>
          </a:p>
          <a:p>
            <a:pPr indent="-400050" lvl="1" marL="914400" rtl="0" algn="l">
              <a:lnSpc>
                <a:spcPct val="100000"/>
              </a:lnSpc>
              <a:spcBef>
                <a:spcPts val="0"/>
              </a:spcBef>
              <a:spcAft>
                <a:spcPts val="0"/>
              </a:spcAft>
              <a:buSzPts val="2700"/>
              <a:buChar char="•"/>
            </a:pPr>
            <a:r>
              <a:rPr lang="en-US" sz="2700"/>
              <a:t>how can we use the user feedback from last semester and expand our research to understand specific applications for the models we are developing?</a:t>
            </a:r>
            <a:endParaRPr sz="2700"/>
          </a:p>
          <a:p>
            <a:pPr indent="-400050" lvl="1" marL="914400" rtl="0" algn="l">
              <a:lnSpc>
                <a:spcPct val="100000"/>
              </a:lnSpc>
              <a:spcBef>
                <a:spcPts val="0"/>
              </a:spcBef>
              <a:spcAft>
                <a:spcPts val="0"/>
              </a:spcAft>
              <a:buSzPts val="2700"/>
              <a:buChar char="•"/>
            </a:pPr>
            <a:r>
              <a:rPr lang="en-US" sz="2700"/>
              <a:t>how can we improve upon the accuracy of the models we've already developed without quantified indications?</a:t>
            </a:r>
            <a:endParaRPr sz="2700"/>
          </a:p>
          <a:p>
            <a:pPr indent="-400050" lvl="0" marL="457200" rtl="0" algn="l">
              <a:lnSpc>
                <a:spcPct val="100000"/>
              </a:lnSpc>
              <a:spcBef>
                <a:spcPts val="0"/>
              </a:spcBef>
              <a:spcAft>
                <a:spcPts val="0"/>
              </a:spcAft>
              <a:buSzPts val="2700"/>
              <a:buChar char="•"/>
            </a:pPr>
            <a:r>
              <a:rPr lang="en-US" sz="2700"/>
              <a:t>How can we design a web app that can provide actionable insights to the instructor?</a:t>
            </a:r>
            <a:endParaRPr sz="2700"/>
          </a:p>
          <a:p>
            <a:pPr indent="-400050" lvl="1" marL="914400" rtl="0" algn="l">
              <a:lnSpc>
                <a:spcPct val="100000"/>
              </a:lnSpc>
              <a:spcBef>
                <a:spcPts val="0"/>
              </a:spcBef>
              <a:spcAft>
                <a:spcPts val="0"/>
              </a:spcAft>
              <a:buSzPts val="2700"/>
              <a:buChar char="•"/>
            </a:pPr>
            <a:r>
              <a:rPr lang="en-US" sz="2700"/>
              <a:t>how can we make the web app user-friendly and compatible with different devices?</a:t>
            </a:r>
            <a:endParaRPr sz="2700"/>
          </a:p>
          <a:p>
            <a:pPr indent="0" lvl="0" marL="0" rtl="0" algn="just">
              <a:lnSpc>
                <a:spcPct val="90000"/>
              </a:lnSpc>
              <a:spcBef>
                <a:spcPts val="1000"/>
              </a:spcBef>
              <a:spcAft>
                <a:spcPts val="0"/>
              </a:spcAft>
              <a:buSzPts val="1800"/>
              <a:buNone/>
            </a:pPr>
            <a:r>
              <a:t/>
            </a:r>
            <a:endParaRPr/>
          </a:p>
        </p:txBody>
      </p:sp>
      <p:sp>
        <p:nvSpPr>
          <p:cNvPr id="120" name="Google Shape;120;gbea1223c9f_0_11"/>
          <p:cNvSpPr txBox="1"/>
          <p:nvPr>
            <p:ph type="title"/>
          </p:nvPr>
        </p:nvSpPr>
        <p:spPr>
          <a:xfrm>
            <a:off x="305475" y="212247"/>
            <a:ext cx="11430000" cy="10149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Review of Research Questions</a:t>
            </a:r>
            <a:endParaRPr/>
          </a:p>
        </p:txBody>
      </p:sp>
      <p:pic>
        <p:nvPicPr>
          <p:cNvPr id="121" name="Google Shape;121;gbea1223c9f_0_11"/>
          <p:cNvPicPr preferRelativeResize="0"/>
          <p:nvPr/>
        </p:nvPicPr>
        <p:blipFill rotWithShape="1">
          <a:blip r:embed="rId3">
            <a:alphaModFix/>
          </a:blip>
          <a:srcRect b="0" l="0" r="0" t="0"/>
          <a:stretch/>
        </p:blipFill>
        <p:spPr>
          <a:xfrm>
            <a:off x="9519300" y="212250"/>
            <a:ext cx="2083574" cy="130222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5" name="Shape 125"/>
        <p:cNvGrpSpPr/>
        <p:nvPr/>
      </p:nvGrpSpPr>
      <p:grpSpPr>
        <a:xfrm>
          <a:off x="0" y="0"/>
          <a:ext cx="0" cy="0"/>
          <a:chOff x="0" y="0"/>
          <a:chExt cx="0" cy="0"/>
        </a:xfrm>
      </p:grpSpPr>
      <p:sp>
        <p:nvSpPr>
          <p:cNvPr id="126" name="Google Shape;126;gefbeba6a1c_0_509"/>
          <p:cNvSpPr txBox="1"/>
          <p:nvPr>
            <p:ph idx="1" type="body"/>
          </p:nvPr>
        </p:nvSpPr>
        <p:spPr>
          <a:xfrm>
            <a:off x="381000" y="1215475"/>
            <a:ext cx="11563500" cy="2274000"/>
          </a:xfrm>
          <a:prstGeom prst="rect">
            <a:avLst/>
          </a:prstGeom>
          <a:noFill/>
          <a:ln>
            <a:noFill/>
          </a:ln>
        </p:spPr>
        <p:txBody>
          <a:bodyPr anchorCtr="0" anchor="t" bIns="45700" lIns="91425" spcFirstLastPara="1" rIns="91425" wrap="square" tIns="45700">
            <a:noAutofit/>
          </a:bodyPr>
          <a:lstStyle/>
          <a:p>
            <a:pPr indent="-368300" lvl="0" marL="457200" rtl="0" algn="l">
              <a:lnSpc>
                <a:spcPct val="115000"/>
              </a:lnSpc>
              <a:spcBef>
                <a:spcPts val="1000"/>
              </a:spcBef>
              <a:spcAft>
                <a:spcPts val="0"/>
              </a:spcAft>
              <a:buSzPts val="2200"/>
              <a:buChar char="-"/>
            </a:pPr>
            <a:r>
              <a:rPr lang="en-US" sz="2200"/>
              <a:t>Analyzing CS1301 and CS6601 Discussion Forums Data</a:t>
            </a:r>
            <a:endParaRPr sz="2200"/>
          </a:p>
          <a:p>
            <a:pPr indent="-368300" lvl="0" marL="457200" rtl="0" algn="l">
              <a:lnSpc>
                <a:spcPct val="115000"/>
              </a:lnSpc>
              <a:spcBef>
                <a:spcPts val="0"/>
              </a:spcBef>
              <a:spcAft>
                <a:spcPts val="0"/>
              </a:spcAft>
              <a:buSzPts val="2200"/>
              <a:buChar char="-"/>
            </a:pPr>
            <a:r>
              <a:rPr lang="en-US" sz="2200"/>
              <a:t>Replacing unsupervised topic modeling with guided topic modeling -&gt; increased accuracy determined by more relevant topics outputted by models</a:t>
            </a:r>
            <a:endParaRPr sz="2200"/>
          </a:p>
          <a:p>
            <a:pPr indent="-368300" lvl="0" marL="457200" rtl="0" algn="l">
              <a:lnSpc>
                <a:spcPct val="115000"/>
              </a:lnSpc>
              <a:spcBef>
                <a:spcPts val="0"/>
              </a:spcBef>
              <a:spcAft>
                <a:spcPts val="0"/>
              </a:spcAft>
              <a:buSzPts val="2200"/>
              <a:buChar char="-"/>
            </a:pPr>
            <a:r>
              <a:rPr lang="en-US" sz="2200"/>
              <a:t>Connecting student sentiment/attitude in education with ABSA</a:t>
            </a:r>
            <a:endParaRPr sz="2200"/>
          </a:p>
          <a:p>
            <a:pPr indent="-368300" lvl="0" marL="457200" rtl="0" algn="l">
              <a:lnSpc>
                <a:spcPct val="115000"/>
              </a:lnSpc>
              <a:spcBef>
                <a:spcPts val="0"/>
              </a:spcBef>
              <a:spcAft>
                <a:spcPts val="0"/>
              </a:spcAft>
              <a:buSzPts val="2200"/>
              <a:buChar char="-"/>
            </a:pPr>
            <a:r>
              <a:rPr lang="en-US" sz="2200"/>
              <a:t>Visualizing the effect of metacognitive presence in a classroom</a:t>
            </a:r>
            <a:endParaRPr sz="2200"/>
          </a:p>
        </p:txBody>
      </p:sp>
      <p:sp>
        <p:nvSpPr>
          <p:cNvPr id="127" name="Google Shape;127;gefbeba6a1c_0_509"/>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Data Science Updated Big Picture</a:t>
            </a:r>
            <a:endParaRPr/>
          </a:p>
        </p:txBody>
      </p:sp>
      <p:sp>
        <p:nvSpPr>
          <p:cNvPr id="128" name="Google Shape;128;gefbeba6a1c_0_509"/>
          <p:cNvSpPr/>
          <p:nvPr/>
        </p:nvSpPr>
        <p:spPr>
          <a:xfrm>
            <a:off x="5002788" y="4795525"/>
            <a:ext cx="2186400" cy="710100"/>
          </a:xfrm>
          <a:prstGeom prst="roundRect">
            <a:avLst>
              <a:gd fmla="val 16667" name="adj"/>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300"/>
              <a:buFont typeface="Arial"/>
              <a:buNone/>
            </a:pPr>
            <a:r>
              <a:rPr b="0" i="0" lang="en-US" sz="2300" u="none" cap="none" strike="noStrike">
                <a:solidFill>
                  <a:schemeClr val="lt1"/>
                </a:solidFill>
                <a:latin typeface="Arial"/>
                <a:ea typeface="Arial"/>
                <a:cs typeface="Arial"/>
                <a:sym typeface="Arial"/>
              </a:rPr>
              <a:t>Data Science</a:t>
            </a:r>
            <a:endParaRPr b="0" i="0" sz="2300" u="none" cap="none" strike="noStrike">
              <a:solidFill>
                <a:schemeClr val="lt1"/>
              </a:solidFill>
              <a:latin typeface="Arial"/>
              <a:ea typeface="Arial"/>
              <a:cs typeface="Arial"/>
              <a:sym typeface="Arial"/>
            </a:endParaRPr>
          </a:p>
        </p:txBody>
      </p:sp>
      <p:sp>
        <p:nvSpPr>
          <p:cNvPr id="129" name="Google Shape;129;gefbeba6a1c_0_509"/>
          <p:cNvSpPr/>
          <p:nvPr/>
        </p:nvSpPr>
        <p:spPr>
          <a:xfrm>
            <a:off x="4611888" y="3713275"/>
            <a:ext cx="2968200" cy="912600"/>
          </a:xfrm>
          <a:prstGeom prst="roundRect">
            <a:avLst>
              <a:gd fmla="val 16667" name="adj"/>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300"/>
              <a:buFont typeface="Arial"/>
              <a:buNone/>
            </a:pPr>
            <a:r>
              <a:rPr b="0" i="0" lang="en-US" sz="2300" u="none" cap="none" strike="noStrike">
                <a:solidFill>
                  <a:schemeClr val="lt1"/>
                </a:solidFill>
                <a:latin typeface="Arial"/>
                <a:ea typeface="Arial"/>
                <a:cs typeface="Arial"/>
                <a:sym typeface="Arial"/>
              </a:rPr>
              <a:t>Cognitive Presence </a:t>
            </a:r>
            <a:endParaRPr b="0" i="0" sz="2300" u="none" cap="none" strike="noStrike">
              <a:solidFill>
                <a:schemeClr val="lt1"/>
              </a:solidFill>
              <a:latin typeface="Arial"/>
              <a:ea typeface="Arial"/>
              <a:cs typeface="Arial"/>
              <a:sym typeface="Arial"/>
            </a:endParaRPr>
          </a:p>
        </p:txBody>
      </p:sp>
      <p:sp>
        <p:nvSpPr>
          <p:cNvPr id="130" name="Google Shape;130;gefbeba6a1c_0_509"/>
          <p:cNvSpPr/>
          <p:nvPr/>
        </p:nvSpPr>
        <p:spPr>
          <a:xfrm>
            <a:off x="4611900" y="5675275"/>
            <a:ext cx="2968200" cy="912600"/>
          </a:xfrm>
          <a:prstGeom prst="roundRect">
            <a:avLst>
              <a:gd fmla="val 16667" name="adj"/>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300"/>
              <a:buFont typeface="Arial"/>
              <a:buNone/>
            </a:pPr>
            <a:r>
              <a:rPr b="0" i="0" lang="en-US" sz="2100" u="none" cap="none" strike="noStrike">
                <a:solidFill>
                  <a:schemeClr val="lt1"/>
                </a:solidFill>
                <a:latin typeface="Arial"/>
                <a:ea typeface="Arial"/>
                <a:cs typeface="Arial"/>
                <a:sym typeface="Arial"/>
              </a:rPr>
              <a:t>Aspect-Based Sentiment Analysis</a:t>
            </a:r>
            <a:endParaRPr b="0" i="0" sz="2100" u="none" cap="none" strike="noStrike">
              <a:solidFill>
                <a:schemeClr val="lt1"/>
              </a:solidFill>
              <a:latin typeface="Arial"/>
              <a:ea typeface="Arial"/>
              <a:cs typeface="Arial"/>
              <a:sym typeface="Arial"/>
            </a:endParaRPr>
          </a:p>
        </p:txBody>
      </p:sp>
      <p:sp>
        <p:nvSpPr>
          <p:cNvPr id="131" name="Google Shape;131;gefbeba6a1c_0_509"/>
          <p:cNvSpPr/>
          <p:nvPr/>
        </p:nvSpPr>
        <p:spPr>
          <a:xfrm>
            <a:off x="7990275" y="4694275"/>
            <a:ext cx="2968200" cy="912600"/>
          </a:xfrm>
          <a:prstGeom prst="roundRect">
            <a:avLst>
              <a:gd fmla="val 16667" name="adj"/>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300"/>
              <a:buFont typeface="Arial"/>
              <a:buNone/>
            </a:pPr>
            <a:r>
              <a:rPr b="0" i="0" lang="en-US" sz="2300" u="none" cap="none" strike="noStrike">
                <a:solidFill>
                  <a:schemeClr val="lt1"/>
                </a:solidFill>
                <a:latin typeface="Arial"/>
                <a:ea typeface="Arial"/>
                <a:cs typeface="Arial"/>
                <a:sym typeface="Arial"/>
              </a:rPr>
              <a:t>Topic Modeling</a:t>
            </a:r>
            <a:endParaRPr b="0" i="0" sz="2300" u="none" cap="none" strike="noStrike">
              <a:solidFill>
                <a:schemeClr val="lt1"/>
              </a:solidFill>
              <a:latin typeface="Arial"/>
              <a:ea typeface="Arial"/>
              <a:cs typeface="Arial"/>
              <a:sym typeface="Arial"/>
            </a:endParaRPr>
          </a:p>
        </p:txBody>
      </p:sp>
      <p:sp>
        <p:nvSpPr>
          <p:cNvPr id="132" name="Google Shape;132;gefbeba6a1c_0_509"/>
          <p:cNvSpPr/>
          <p:nvPr/>
        </p:nvSpPr>
        <p:spPr>
          <a:xfrm>
            <a:off x="1233525" y="4694275"/>
            <a:ext cx="2968200" cy="912600"/>
          </a:xfrm>
          <a:prstGeom prst="roundRect">
            <a:avLst>
              <a:gd fmla="val 16667" name="adj"/>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300"/>
              <a:buFont typeface="Arial"/>
              <a:buNone/>
            </a:pPr>
            <a:r>
              <a:rPr b="0" i="0" lang="en-US" sz="2300" u="none" cap="none" strike="noStrike">
                <a:solidFill>
                  <a:schemeClr val="lt1"/>
                </a:solidFill>
                <a:latin typeface="Arial"/>
                <a:ea typeface="Arial"/>
                <a:cs typeface="Arial"/>
                <a:sym typeface="Arial"/>
              </a:rPr>
              <a:t>Metacognitive Presence</a:t>
            </a:r>
            <a:endParaRPr b="0" i="0" sz="2300" u="none" cap="none" strike="noStrike">
              <a:solidFill>
                <a:schemeClr val="lt1"/>
              </a:solidFill>
              <a:latin typeface="Arial"/>
              <a:ea typeface="Arial"/>
              <a:cs typeface="Arial"/>
              <a:sym typeface="Arial"/>
            </a:endParaRPr>
          </a:p>
        </p:txBody>
      </p:sp>
      <p:cxnSp>
        <p:nvCxnSpPr>
          <p:cNvPr id="133" name="Google Shape;133;gefbeba6a1c_0_509"/>
          <p:cNvCxnSpPr/>
          <p:nvPr/>
        </p:nvCxnSpPr>
        <p:spPr>
          <a:xfrm rot="10800000">
            <a:off x="6095988" y="4625875"/>
            <a:ext cx="0" cy="169500"/>
          </a:xfrm>
          <a:prstGeom prst="straightConnector1">
            <a:avLst/>
          </a:prstGeom>
          <a:noFill/>
          <a:ln cap="flat" cmpd="sng" w="9525">
            <a:solidFill>
              <a:schemeClr val="dk2"/>
            </a:solidFill>
            <a:prstDash val="solid"/>
            <a:round/>
            <a:headEnd len="sm" w="sm" type="none"/>
            <a:tailEnd len="med" w="med" type="triangle"/>
          </a:ln>
        </p:spPr>
      </p:cxnSp>
      <p:cxnSp>
        <p:nvCxnSpPr>
          <p:cNvPr id="134" name="Google Shape;134;gefbeba6a1c_0_509"/>
          <p:cNvCxnSpPr>
            <a:stCxn id="128" idx="1"/>
            <a:endCxn id="132" idx="3"/>
          </p:cNvCxnSpPr>
          <p:nvPr/>
        </p:nvCxnSpPr>
        <p:spPr>
          <a:xfrm rot="10800000">
            <a:off x="4201788" y="5150575"/>
            <a:ext cx="801000" cy="0"/>
          </a:xfrm>
          <a:prstGeom prst="straightConnector1">
            <a:avLst/>
          </a:prstGeom>
          <a:noFill/>
          <a:ln cap="flat" cmpd="sng" w="9525">
            <a:solidFill>
              <a:schemeClr val="dk2"/>
            </a:solidFill>
            <a:prstDash val="solid"/>
            <a:round/>
            <a:headEnd len="sm" w="sm" type="none"/>
            <a:tailEnd len="med" w="med" type="triangle"/>
          </a:ln>
        </p:spPr>
      </p:cxnSp>
      <p:cxnSp>
        <p:nvCxnSpPr>
          <p:cNvPr id="135" name="Google Shape;135;gefbeba6a1c_0_509"/>
          <p:cNvCxnSpPr>
            <a:stCxn id="128" idx="3"/>
            <a:endCxn id="131" idx="1"/>
          </p:cNvCxnSpPr>
          <p:nvPr/>
        </p:nvCxnSpPr>
        <p:spPr>
          <a:xfrm>
            <a:off x="7189188" y="5150575"/>
            <a:ext cx="801000" cy="0"/>
          </a:xfrm>
          <a:prstGeom prst="straightConnector1">
            <a:avLst/>
          </a:prstGeom>
          <a:noFill/>
          <a:ln cap="flat" cmpd="sng" w="9525">
            <a:solidFill>
              <a:schemeClr val="dk2"/>
            </a:solidFill>
            <a:prstDash val="solid"/>
            <a:round/>
            <a:headEnd len="sm" w="sm" type="none"/>
            <a:tailEnd len="med" w="med" type="triangle"/>
          </a:ln>
        </p:spPr>
      </p:cxnSp>
      <p:cxnSp>
        <p:nvCxnSpPr>
          <p:cNvPr id="136" name="Google Shape;136;gefbeba6a1c_0_509"/>
          <p:cNvCxnSpPr>
            <a:stCxn id="128" idx="2"/>
            <a:endCxn id="130" idx="0"/>
          </p:cNvCxnSpPr>
          <p:nvPr/>
        </p:nvCxnSpPr>
        <p:spPr>
          <a:xfrm>
            <a:off x="6095988" y="5505625"/>
            <a:ext cx="0" cy="169800"/>
          </a:xfrm>
          <a:prstGeom prst="straightConnector1">
            <a:avLst/>
          </a:prstGeom>
          <a:noFill/>
          <a:ln cap="flat" cmpd="sng" w="9525">
            <a:solidFill>
              <a:schemeClr val="dk2"/>
            </a:solidFill>
            <a:prstDash val="solid"/>
            <a:round/>
            <a:headEnd len="sm" w="sm" type="none"/>
            <a:tailEnd len="med" w="med" type="triangl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g22e504b637d_1_0"/>
          <p:cNvSpPr txBox="1"/>
          <p:nvPr>
            <p:ph idx="1" type="body"/>
          </p:nvPr>
        </p:nvSpPr>
        <p:spPr>
          <a:xfrm>
            <a:off x="387350" y="1030800"/>
            <a:ext cx="7853100" cy="5827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b="1" lang="en-US"/>
              <a:t>CS 1301 and CS 6601: </a:t>
            </a:r>
            <a:endParaRPr b="1"/>
          </a:p>
          <a:p>
            <a:pPr indent="0" lvl="0" marL="0" rtl="0" algn="l">
              <a:lnSpc>
                <a:spcPct val="100000"/>
              </a:lnSpc>
              <a:spcBef>
                <a:spcPts val="1000"/>
              </a:spcBef>
              <a:spcAft>
                <a:spcPts val="0"/>
              </a:spcAft>
              <a:buNone/>
            </a:pPr>
            <a:r>
              <a:rPr lang="en-US" sz="2458"/>
              <a:t>Calculated and visualized:</a:t>
            </a:r>
            <a:endParaRPr sz="2458"/>
          </a:p>
          <a:p>
            <a:pPr indent="-384690" lvl="1" marL="914400" rtl="0" algn="l">
              <a:lnSpc>
                <a:spcPct val="100000"/>
              </a:lnSpc>
              <a:spcBef>
                <a:spcPts val="500"/>
              </a:spcBef>
              <a:spcAft>
                <a:spcPts val="0"/>
              </a:spcAft>
              <a:buSzPts val="2458"/>
              <a:buChar char="•"/>
            </a:pPr>
            <a:r>
              <a:rPr lang="en-US" sz="2458"/>
              <a:t>average frequency/number of posts by students</a:t>
            </a:r>
            <a:endParaRPr sz="2458"/>
          </a:p>
          <a:p>
            <a:pPr indent="-384690" lvl="1" marL="914400" rtl="0" algn="l">
              <a:lnSpc>
                <a:spcPct val="100000"/>
              </a:lnSpc>
              <a:spcBef>
                <a:spcPts val="0"/>
              </a:spcBef>
              <a:spcAft>
                <a:spcPts val="0"/>
              </a:spcAft>
              <a:buSzPts val="2458"/>
              <a:buChar char="•"/>
            </a:pPr>
            <a:r>
              <a:rPr lang="en-US" sz="2458"/>
              <a:t>average frequency/number of posts by instructors, but 1301 data did not give sufficient information (seen in next slide)</a:t>
            </a:r>
            <a:endParaRPr sz="2458"/>
          </a:p>
          <a:p>
            <a:pPr indent="0" lvl="0" marL="0" rtl="0" algn="l">
              <a:lnSpc>
                <a:spcPct val="100000"/>
              </a:lnSpc>
              <a:spcBef>
                <a:spcPts val="1000"/>
              </a:spcBef>
              <a:spcAft>
                <a:spcPts val="0"/>
              </a:spcAft>
              <a:buNone/>
            </a:pPr>
            <a:r>
              <a:rPr b="1" lang="en-US"/>
              <a:t>CS 6601:				</a:t>
            </a:r>
            <a:endParaRPr sz="2150"/>
          </a:p>
          <a:p>
            <a:pPr indent="0" lvl="0" marL="0" rtl="0" algn="l">
              <a:lnSpc>
                <a:spcPct val="100000"/>
              </a:lnSpc>
              <a:spcBef>
                <a:spcPts val="1000"/>
              </a:spcBef>
              <a:spcAft>
                <a:spcPts val="0"/>
              </a:spcAft>
              <a:buNone/>
            </a:pPr>
            <a:r>
              <a:rPr lang="en-US" sz="2500"/>
              <a:t>Also visualized:</a:t>
            </a:r>
            <a:endParaRPr sz="2500"/>
          </a:p>
          <a:p>
            <a:pPr indent="-387350" lvl="1" marL="914400" rtl="0" algn="l">
              <a:lnSpc>
                <a:spcPct val="100000"/>
              </a:lnSpc>
              <a:spcBef>
                <a:spcPts val="500"/>
              </a:spcBef>
              <a:spcAft>
                <a:spcPts val="0"/>
              </a:spcAft>
              <a:buSzPts val="2500"/>
              <a:buChar char="•"/>
            </a:pPr>
            <a:r>
              <a:rPr lang="en-US" sz="2500"/>
              <a:t>the frequency of posts by students every 4-5 days </a:t>
            </a:r>
            <a:endParaRPr sz="2500"/>
          </a:p>
          <a:p>
            <a:pPr indent="-387350" lvl="1" marL="914400" rtl="0" algn="l">
              <a:lnSpc>
                <a:spcPct val="100000"/>
              </a:lnSpc>
              <a:spcBef>
                <a:spcPts val="0"/>
              </a:spcBef>
              <a:spcAft>
                <a:spcPts val="0"/>
              </a:spcAft>
              <a:buSzPts val="2500"/>
              <a:buChar char="•"/>
            </a:pPr>
            <a:r>
              <a:rPr lang="en-US" sz="2500"/>
              <a:t>the frequency of posts by instructors every 4-5 days</a:t>
            </a:r>
            <a:endParaRPr sz="2500"/>
          </a:p>
        </p:txBody>
      </p:sp>
      <p:sp>
        <p:nvSpPr>
          <p:cNvPr id="142" name="Google Shape;142;g22e504b637d_1_0"/>
          <p:cNvSpPr txBox="1"/>
          <p:nvPr>
            <p:ph type="title"/>
          </p:nvPr>
        </p:nvSpPr>
        <p:spPr>
          <a:xfrm>
            <a:off x="381000" y="212247"/>
            <a:ext cx="11430000" cy="1014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Results from Real-Time Piazza/EdX Data </a:t>
            </a:r>
            <a:endParaRPr/>
          </a:p>
        </p:txBody>
      </p:sp>
      <p:cxnSp>
        <p:nvCxnSpPr>
          <p:cNvPr id="143" name="Google Shape;143;g22e504b637d_1_0"/>
          <p:cNvCxnSpPr/>
          <p:nvPr/>
        </p:nvCxnSpPr>
        <p:spPr>
          <a:xfrm flipH="1" rot="10800000">
            <a:off x="7972650" y="1924375"/>
            <a:ext cx="804900" cy="1648500"/>
          </a:xfrm>
          <a:prstGeom prst="straightConnector1">
            <a:avLst/>
          </a:prstGeom>
          <a:noFill/>
          <a:ln cap="flat" cmpd="sng" w="9525">
            <a:solidFill>
              <a:schemeClr val="dk2"/>
            </a:solidFill>
            <a:prstDash val="solid"/>
            <a:round/>
            <a:headEnd len="med" w="med" type="none"/>
            <a:tailEnd len="med" w="med" type="triangle"/>
          </a:ln>
        </p:spPr>
      </p:cxnSp>
      <p:sp>
        <p:nvSpPr>
          <p:cNvPr id="144" name="Google Shape;144;g22e504b637d_1_0"/>
          <p:cNvSpPr txBox="1"/>
          <p:nvPr/>
        </p:nvSpPr>
        <p:spPr>
          <a:xfrm>
            <a:off x="5646750" y="3287100"/>
            <a:ext cx="2325900" cy="13146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000"/>
              </a:spcBef>
              <a:spcAft>
                <a:spcPts val="0"/>
              </a:spcAft>
              <a:buClr>
                <a:schemeClr val="dk1"/>
              </a:buClr>
              <a:buSzPts val="1100"/>
              <a:buFont typeface="Arial"/>
              <a:buNone/>
            </a:pPr>
            <a:r>
              <a:rPr lang="en-US" sz="1650">
                <a:solidFill>
                  <a:schemeClr val="dk1"/>
                </a:solidFill>
                <a:latin typeface="Roboto"/>
                <a:ea typeface="Roboto"/>
                <a:cs typeface="Roboto"/>
                <a:sym typeface="Roboto"/>
              </a:rPr>
              <a:t>Separated student and instructor responses to visualize graphs for each user type</a:t>
            </a:r>
            <a:endParaRPr sz="1650">
              <a:solidFill>
                <a:schemeClr val="dk1"/>
              </a:solidFill>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p:txBody>
      </p:sp>
      <p:cxnSp>
        <p:nvCxnSpPr>
          <p:cNvPr id="145" name="Google Shape;145;g22e504b637d_1_0"/>
          <p:cNvCxnSpPr/>
          <p:nvPr/>
        </p:nvCxnSpPr>
        <p:spPr>
          <a:xfrm>
            <a:off x="7330550" y="4447575"/>
            <a:ext cx="909900" cy="228000"/>
          </a:xfrm>
          <a:prstGeom prst="straightConnector1">
            <a:avLst/>
          </a:prstGeom>
          <a:noFill/>
          <a:ln cap="flat" cmpd="sng" w="9525">
            <a:solidFill>
              <a:schemeClr val="dk2"/>
            </a:solidFill>
            <a:prstDash val="solid"/>
            <a:round/>
            <a:headEnd len="med" w="med" type="none"/>
            <a:tailEnd len="med" w="med" type="triangle"/>
          </a:ln>
        </p:spPr>
      </p:cxnSp>
      <p:pic>
        <p:nvPicPr>
          <p:cNvPr id="146" name="Google Shape;146;g22e504b637d_1_0"/>
          <p:cNvPicPr preferRelativeResize="0"/>
          <p:nvPr/>
        </p:nvPicPr>
        <p:blipFill>
          <a:blip r:embed="rId3">
            <a:alphaModFix/>
          </a:blip>
          <a:stretch>
            <a:fillRect/>
          </a:stretch>
        </p:blipFill>
        <p:spPr>
          <a:xfrm>
            <a:off x="8301775" y="3713626"/>
            <a:ext cx="3890224" cy="2776257"/>
          </a:xfrm>
          <a:prstGeom prst="rect">
            <a:avLst/>
          </a:prstGeom>
          <a:noFill/>
          <a:ln>
            <a:noFill/>
          </a:ln>
        </p:spPr>
      </p:pic>
      <p:pic>
        <p:nvPicPr>
          <p:cNvPr id="147" name="Google Shape;147;g22e504b637d_1_0"/>
          <p:cNvPicPr preferRelativeResize="0"/>
          <p:nvPr/>
        </p:nvPicPr>
        <p:blipFill>
          <a:blip r:embed="rId4">
            <a:alphaModFix/>
          </a:blip>
          <a:stretch>
            <a:fillRect/>
          </a:stretch>
        </p:blipFill>
        <p:spPr>
          <a:xfrm>
            <a:off x="9081325" y="471025"/>
            <a:ext cx="3110676" cy="31018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g22f72c6f34a_0_139"/>
          <p:cNvSpPr txBox="1"/>
          <p:nvPr>
            <p:ph idx="1" type="body"/>
          </p:nvPr>
        </p:nvSpPr>
        <p:spPr>
          <a:xfrm>
            <a:off x="9641550" y="954338"/>
            <a:ext cx="2405400" cy="2711100"/>
          </a:xfrm>
          <a:prstGeom prst="rect">
            <a:avLst/>
          </a:prstGeom>
        </p:spPr>
        <p:txBody>
          <a:bodyPr anchorCtr="0" anchor="t" bIns="45700" lIns="91425" spcFirstLastPara="1" rIns="91425" wrap="square" tIns="45700">
            <a:normAutofit fontScale="85000" lnSpcReduction="10000"/>
          </a:bodyPr>
          <a:lstStyle/>
          <a:p>
            <a:pPr indent="-336550" lvl="0" marL="457200" rtl="0" algn="l">
              <a:spcBef>
                <a:spcPts val="1000"/>
              </a:spcBef>
              <a:spcAft>
                <a:spcPts val="0"/>
              </a:spcAft>
              <a:buSzPct val="100000"/>
              <a:buChar char="•"/>
            </a:pPr>
            <a:r>
              <a:rPr lang="en-US" sz="2000"/>
              <a:t>"There were between 0 and 10 students that have posted 17.5 times on average"</a:t>
            </a:r>
            <a:endParaRPr sz="2000"/>
          </a:p>
          <a:p>
            <a:pPr indent="0" lvl="0" marL="0" rtl="0" algn="l">
              <a:spcBef>
                <a:spcPts val="1000"/>
              </a:spcBef>
              <a:spcAft>
                <a:spcPts val="0"/>
              </a:spcAft>
              <a:buNone/>
            </a:pPr>
            <a:r>
              <a:t/>
            </a:r>
            <a:endParaRPr sz="2000"/>
          </a:p>
          <a:p>
            <a:pPr indent="-336550" lvl="0" marL="457200" rtl="0" algn="l">
              <a:spcBef>
                <a:spcPts val="1000"/>
              </a:spcBef>
              <a:spcAft>
                <a:spcPts val="0"/>
              </a:spcAft>
              <a:buSzPct val="100000"/>
              <a:buChar char="•"/>
            </a:pPr>
            <a:r>
              <a:rPr lang="en-US" sz="2000"/>
              <a:t>"There were between 11 and 20 students that have posted 4 times on average"</a:t>
            </a:r>
            <a:endParaRPr sz="2000"/>
          </a:p>
        </p:txBody>
      </p:sp>
      <p:sp>
        <p:nvSpPr>
          <p:cNvPr id="153" name="Google Shape;153;g22f72c6f34a_0_139"/>
          <p:cNvSpPr txBox="1"/>
          <p:nvPr>
            <p:ph type="title"/>
          </p:nvPr>
        </p:nvSpPr>
        <p:spPr>
          <a:xfrm>
            <a:off x="381000" y="185947"/>
            <a:ext cx="11430000" cy="1014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Graphs Displaying Data (CS 1301)</a:t>
            </a:r>
            <a:endParaRPr/>
          </a:p>
        </p:txBody>
      </p:sp>
      <p:pic>
        <p:nvPicPr>
          <p:cNvPr id="154" name="Google Shape;154;g22f72c6f34a_0_139"/>
          <p:cNvPicPr preferRelativeResize="0"/>
          <p:nvPr/>
        </p:nvPicPr>
        <p:blipFill>
          <a:blip r:embed="rId3">
            <a:alphaModFix/>
          </a:blip>
          <a:stretch>
            <a:fillRect/>
          </a:stretch>
        </p:blipFill>
        <p:spPr>
          <a:xfrm>
            <a:off x="131900" y="1077425"/>
            <a:ext cx="3321075" cy="2464925"/>
          </a:xfrm>
          <a:prstGeom prst="rect">
            <a:avLst/>
          </a:prstGeom>
          <a:noFill/>
          <a:ln>
            <a:noFill/>
          </a:ln>
        </p:spPr>
      </p:pic>
      <p:sp>
        <p:nvSpPr>
          <p:cNvPr id="155" name="Google Shape;155;g22f72c6f34a_0_139"/>
          <p:cNvSpPr txBox="1"/>
          <p:nvPr>
            <p:ph idx="1" type="body"/>
          </p:nvPr>
        </p:nvSpPr>
        <p:spPr>
          <a:xfrm>
            <a:off x="3452975" y="1271888"/>
            <a:ext cx="2738400" cy="2076000"/>
          </a:xfrm>
          <a:prstGeom prst="rect">
            <a:avLst/>
          </a:prstGeom>
        </p:spPr>
        <p:txBody>
          <a:bodyPr anchorCtr="0" anchor="t" bIns="45700" lIns="91425" spcFirstLastPara="1" rIns="91425" wrap="square" tIns="45700">
            <a:normAutofit/>
          </a:bodyPr>
          <a:lstStyle/>
          <a:p>
            <a:pPr indent="-355600" lvl="0" marL="457200" rtl="0" algn="l">
              <a:spcBef>
                <a:spcPts val="1000"/>
              </a:spcBef>
              <a:spcAft>
                <a:spcPts val="0"/>
              </a:spcAft>
              <a:buSzPts val="2000"/>
              <a:buChar char="•"/>
            </a:pPr>
            <a:r>
              <a:rPr lang="en-US" sz="2000"/>
              <a:t>"1 student posted 94 times"</a:t>
            </a:r>
            <a:endParaRPr sz="2000"/>
          </a:p>
          <a:p>
            <a:pPr indent="0" lvl="0" marL="914400" rtl="0" algn="l">
              <a:spcBef>
                <a:spcPts val="1000"/>
              </a:spcBef>
              <a:spcAft>
                <a:spcPts val="0"/>
              </a:spcAft>
              <a:buNone/>
            </a:pPr>
            <a:r>
              <a:t/>
            </a:r>
            <a:endParaRPr sz="2000"/>
          </a:p>
          <a:p>
            <a:pPr indent="-355600" lvl="0" marL="457200" rtl="0" algn="l">
              <a:spcBef>
                <a:spcPts val="1000"/>
              </a:spcBef>
              <a:spcAft>
                <a:spcPts val="0"/>
              </a:spcAft>
              <a:buSzPts val="2000"/>
              <a:buChar char="•"/>
            </a:pPr>
            <a:r>
              <a:rPr lang="en-US" sz="2000"/>
              <a:t>"41 students posted 1 time"</a:t>
            </a:r>
            <a:endParaRPr sz="2000"/>
          </a:p>
        </p:txBody>
      </p:sp>
      <p:sp>
        <p:nvSpPr>
          <p:cNvPr id="156" name="Google Shape;156;g22f72c6f34a_0_139"/>
          <p:cNvSpPr/>
          <p:nvPr/>
        </p:nvSpPr>
        <p:spPr>
          <a:xfrm>
            <a:off x="4585074" y="1890925"/>
            <a:ext cx="1435500" cy="5070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57" name="Google Shape;157;g22f72c6f34a_0_139"/>
          <p:cNvCxnSpPr/>
          <p:nvPr/>
        </p:nvCxnSpPr>
        <p:spPr>
          <a:xfrm>
            <a:off x="-133200" y="3680775"/>
            <a:ext cx="12325200" cy="24000"/>
          </a:xfrm>
          <a:prstGeom prst="straightConnector1">
            <a:avLst/>
          </a:prstGeom>
          <a:noFill/>
          <a:ln cap="flat" cmpd="sng" w="9525">
            <a:solidFill>
              <a:schemeClr val="dk2"/>
            </a:solidFill>
            <a:prstDash val="solid"/>
            <a:round/>
            <a:headEnd len="med" w="med" type="none"/>
            <a:tailEnd len="med" w="med" type="none"/>
          </a:ln>
        </p:spPr>
      </p:cxnSp>
      <p:sp>
        <p:nvSpPr>
          <p:cNvPr id="158" name="Google Shape;158;g22f72c6f34a_0_139"/>
          <p:cNvSpPr txBox="1"/>
          <p:nvPr/>
        </p:nvSpPr>
        <p:spPr>
          <a:xfrm>
            <a:off x="4585075" y="3942300"/>
            <a:ext cx="7046100" cy="25296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000"/>
              </a:spcBef>
              <a:spcAft>
                <a:spcPts val="0"/>
              </a:spcAft>
              <a:buNone/>
            </a:pPr>
            <a:r>
              <a:rPr lang="en-US" sz="2000">
                <a:solidFill>
                  <a:schemeClr val="dk1"/>
                </a:solidFill>
                <a:latin typeface="Roboto"/>
                <a:ea typeface="Roboto"/>
                <a:cs typeface="Roboto"/>
                <a:sym typeface="Roboto"/>
              </a:rPr>
              <a:t>Drawbacks of CS1301 Data:</a:t>
            </a:r>
            <a:endParaRPr sz="2000">
              <a:solidFill>
                <a:schemeClr val="dk1"/>
              </a:solidFill>
              <a:latin typeface="Roboto"/>
              <a:ea typeface="Roboto"/>
              <a:cs typeface="Roboto"/>
              <a:sym typeface="Roboto"/>
            </a:endParaRPr>
          </a:p>
          <a:p>
            <a:pPr indent="-355600" lvl="0" marL="457200" rtl="0" algn="l">
              <a:lnSpc>
                <a:spcPct val="90000"/>
              </a:lnSpc>
              <a:spcBef>
                <a:spcPts val="1000"/>
              </a:spcBef>
              <a:spcAft>
                <a:spcPts val="0"/>
              </a:spcAft>
              <a:buClr>
                <a:schemeClr val="dk1"/>
              </a:buClr>
              <a:buSzPts val="2000"/>
              <a:buFont typeface="Roboto"/>
              <a:buChar char="●"/>
            </a:pPr>
            <a:r>
              <a:rPr lang="en-US" sz="2000">
                <a:solidFill>
                  <a:schemeClr val="dk1"/>
                </a:solidFill>
                <a:latin typeface="Roboto"/>
                <a:ea typeface="Roboto"/>
                <a:cs typeface="Roboto"/>
                <a:sym typeface="Roboto"/>
              </a:rPr>
              <a:t>The date/time stamp of each post was not given, so could not calculate number of posts over time</a:t>
            </a:r>
            <a:endParaRPr sz="2000">
              <a:solidFill>
                <a:schemeClr val="dk1"/>
              </a:solidFill>
              <a:latin typeface="Roboto"/>
              <a:ea typeface="Roboto"/>
              <a:cs typeface="Roboto"/>
              <a:sym typeface="Roboto"/>
            </a:endParaRPr>
          </a:p>
          <a:p>
            <a:pPr indent="-355600" lvl="0" marL="457200" rtl="0" algn="l">
              <a:lnSpc>
                <a:spcPct val="90000"/>
              </a:lnSpc>
              <a:spcBef>
                <a:spcPts val="0"/>
              </a:spcBef>
              <a:spcAft>
                <a:spcPts val="0"/>
              </a:spcAft>
              <a:buClr>
                <a:schemeClr val="dk1"/>
              </a:buClr>
              <a:buSzPts val="2000"/>
              <a:buFont typeface="Roboto"/>
              <a:buChar char="●"/>
            </a:pPr>
            <a:r>
              <a:rPr lang="en-US" sz="2000">
                <a:solidFill>
                  <a:schemeClr val="dk1"/>
                </a:solidFill>
                <a:latin typeface="Roboto"/>
                <a:ea typeface="Roboto"/>
                <a:cs typeface="Roboto"/>
                <a:sym typeface="Roboto"/>
              </a:rPr>
              <a:t>Each TA had the same user ID and title ("Community TA") -&gt; </a:t>
            </a:r>
            <a:r>
              <a:rPr lang="en-US" sz="2000">
                <a:solidFill>
                  <a:schemeClr val="dk1"/>
                </a:solidFill>
                <a:latin typeface="Roboto"/>
                <a:ea typeface="Roboto"/>
                <a:cs typeface="Roboto"/>
                <a:sym typeface="Roboto"/>
              </a:rPr>
              <a:t>impossible</a:t>
            </a:r>
            <a:r>
              <a:rPr lang="en-US" sz="2000">
                <a:solidFill>
                  <a:schemeClr val="dk1"/>
                </a:solidFill>
                <a:latin typeface="Roboto"/>
                <a:ea typeface="Roboto"/>
                <a:cs typeface="Roboto"/>
                <a:sym typeface="Roboto"/>
              </a:rPr>
              <a:t> to distinguish between distinct TAs</a:t>
            </a:r>
            <a:endParaRPr sz="2000">
              <a:solidFill>
                <a:schemeClr val="dk1"/>
              </a:solidFill>
              <a:latin typeface="Roboto"/>
              <a:ea typeface="Roboto"/>
              <a:cs typeface="Roboto"/>
              <a:sym typeface="Roboto"/>
            </a:endParaRPr>
          </a:p>
          <a:p>
            <a:pPr indent="-355600" lvl="0" marL="457200" rtl="0" algn="l">
              <a:lnSpc>
                <a:spcPct val="90000"/>
              </a:lnSpc>
              <a:spcBef>
                <a:spcPts val="0"/>
              </a:spcBef>
              <a:spcAft>
                <a:spcPts val="0"/>
              </a:spcAft>
              <a:buClr>
                <a:schemeClr val="dk1"/>
              </a:buClr>
              <a:buSzPts val="2000"/>
              <a:buFont typeface="Roboto"/>
              <a:buChar char="●"/>
            </a:pPr>
            <a:r>
              <a:rPr lang="en-US" sz="2000">
                <a:solidFill>
                  <a:schemeClr val="dk1"/>
                </a:solidFill>
                <a:latin typeface="Roboto"/>
                <a:ea typeface="Roboto"/>
                <a:cs typeface="Roboto"/>
                <a:sym typeface="Roboto"/>
              </a:rPr>
              <a:t>From the data only one unique Instructor, one unique Community TA -&gt; number of total </a:t>
            </a:r>
            <a:r>
              <a:rPr lang="en-US" sz="2000">
                <a:solidFill>
                  <a:schemeClr val="dk1"/>
                </a:solidFill>
                <a:latin typeface="Roboto"/>
                <a:ea typeface="Roboto"/>
                <a:cs typeface="Roboto"/>
                <a:sym typeface="Roboto"/>
              </a:rPr>
              <a:t>instructor</a:t>
            </a:r>
            <a:r>
              <a:rPr lang="en-US" sz="2000">
                <a:solidFill>
                  <a:schemeClr val="dk1"/>
                </a:solidFill>
                <a:latin typeface="Roboto"/>
                <a:ea typeface="Roboto"/>
                <a:cs typeface="Roboto"/>
                <a:sym typeface="Roboto"/>
              </a:rPr>
              <a:t> posts was divided by 2 (not accurate)</a:t>
            </a:r>
            <a:endParaRPr sz="2000">
              <a:solidFill>
                <a:schemeClr val="dk1"/>
              </a:solidFill>
              <a:latin typeface="Roboto"/>
              <a:ea typeface="Roboto"/>
              <a:cs typeface="Roboto"/>
              <a:sym typeface="Roboto"/>
            </a:endParaRPr>
          </a:p>
        </p:txBody>
      </p:sp>
      <p:pic>
        <p:nvPicPr>
          <p:cNvPr id="159" name="Google Shape;159;g22f72c6f34a_0_139"/>
          <p:cNvPicPr preferRelativeResize="0"/>
          <p:nvPr/>
        </p:nvPicPr>
        <p:blipFill>
          <a:blip r:embed="rId4">
            <a:alphaModFix/>
          </a:blip>
          <a:stretch>
            <a:fillRect/>
          </a:stretch>
        </p:blipFill>
        <p:spPr>
          <a:xfrm>
            <a:off x="245575" y="3843200"/>
            <a:ext cx="3991052" cy="2643126"/>
          </a:xfrm>
          <a:prstGeom prst="rect">
            <a:avLst/>
          </a:prstGeom>
          <a:noFill/>
          <a:ln>
            <a:noFill/>
          </a:ln>
        </p:spPr>
      </p:pic>
      <p:pic>
        <p:nvPicPr>
          <p:cNvPr id="160" name="Google Shape;160;g22f72c6f34a_0_139"/>
          <p:cNvPicPr preferRelativeResize="0"/>
          <p:nvPr/>
        </p:nvPicPr>
        <p:blipFill>
          <a:blip r:embed="rId5">
            <a:alphaModFix/>
          </a:blip>
          <a:stretch>
            <a:fillRect/>
          </a:stretch>
        </p:blipFill>
        <p:spPr>
          <a:xfrm>
            <a:off x="6165600" y="1200849"/>
            <a:ext cx="3475949" cy="2242409"/>
          </a:xfrm>
          <a:prstGeom prst="rect">
            <a:avLst/>
          </a:prstGeom>
          <a:noFill/>
          <a:ln>
            <a:noFill/>
          </a:ln>
        </p:spPr>
      </p:pic>
      <p:sp>
        <p:nvSpPr>
          <p:cNvPr id="161" name="Google Shape;161;g22f72c6f34a_0_139"/>
          <p:cNvSpPr txBox="1"/>
          <p:nvPr>
            <p:ph idx="1" type="body"/>
          </p:nvPr>
        </p:nvSpPr>
        <p:spPr>
          <a:xfrm>
            <a:off x="3904325" y="3222890"/>
            <a:ext cx="1835700" cy="412200"/>
          </a:xfrm>
          <a:prstGeom prst="rect">
            <a:avLst/>
          </a:prstGeom>
        </p:spPr>
        <p:txBody>
          <a:bodyPr anchorCtr="0" anchor="t" bIns="45700" lIns="91425" spcFirstLastPara="1" rIns="91425" wrap="square" tIns="45700">
            <a:normAutofit lnSpcReduction="10000"/>
          </a:bodyPr>
          <a:lstStyle/>
          <a:p>
            <a:pPr indent="0" lvl="0" marL="0" rtl="0" algn="l">
              <a:spcBef>
                <a:spcPts val="1000"/>
              </a:spcBef>
              <a:spcAft>
                <a:spcPts val="0"/>
              </a:spcAft>
              <a:buNone/>
            </a:pPr>
            <a:r>
              <a:rPr lang="en-US" sz="1300"/>
              <a:t>*outlier (200+, 1) not shown in either graph* </a:t>
            </a:r>
            <a:endParaRPr sz="1300"/>
          </a:p>
        </p:txBody>
      </p:sp>
      <p:sp>
        <p:nvSpPr>
          <p:cNvPr id="162" name="Google Shape;162;g22f72c6f34a_0_139"/>
          <p:cNvSpPr txBox="1"/>
          <p:nvPr/>
        </p:nvSpPr>
        <p:spPr>
          <a:xfrm>
            <a:off x="8212825" y="0"/>
            <a:ext cx="2589600" cy="1015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1800">
                <a:latin typeface="Roboto"/>
                <a:ea typeface="Roboto"/>
                <a:cs typeface="Roboto"/>
                <a:sym typeface="Roboto"/>
              </a:rPr>
              <a:t>More readable/organized for instructors</a:t>
            </a:r>
            <a:endParaRPr sz="1800">
              <a:latin typeface="Roboto"/>
              <a:ea typeface="Roboto"/>
              <a:cs typeface="Roboto"/>
              <a:sym typeface="Roboto"/>
            </a:endParaRPr>
          </a:p>
        </p:txBody>
      </p:sp>
      <p:cxnSp>
        <p:nvCxnSpPr>
          <p:cNvPr id="163" name="Google Shape;163;g22f72c6f34a_0_139"/>
          <p:cNvCxnSpPr/>
          <p:nvPr/>
        </p:nvCxnSpPr>
        <p:spPr>
          <a:xfrm flipH="1">
            <a:off x="8260875" y="731350"/>
            <a:ext cx="239700" cy="4077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22f72c6f34a_0_161"/>
          <p:cNvSpPr txBox="1"/>
          <p:nvPr>
            <p:ph idx="1" type="body"/>
          </p:nvPr>
        </p:nvSpPr>
        <p:spPr>
          <a:xfrm>
            <a:off x="387350" y="1115025"/>
            <a:ext cx="5235600" cy="3213300"/>
          </a:xfrm>
          <a:prstGeom prst="rect">
            <a:avLst/>
          </a:prstGeom>
        </p:spPr>
        <p:txBody>
          <a:bodyPr anchorCtr="0" anchor="t" bIns="45700" lIns="91425" spcFirstLastPara="1" rIns="91425" wrap="square" tIns="45700">
            <a:normAutofit/>
          </a:bodyPr>
          <a:lstStyle/>
          <a:p>
            <a:pPr indent="-349250" lvl="0" marL="457200" rtl="0" algn="l">
              <a:lnSpc>
                <a:spcPct val="100000"/>
              </a:lnSpc>
              <a:spcBef>
                <a:spcPts val="1000"/>
              </a:spcBef>
              <a:spcAft>
                <a:spcPts val="0"/>
              </a:spcAft>
              <a:buSzPts val="1900"/>
              <a:buChar char="•"/>
            </a:pPr>
            <a:r>
              <a:rPr lang="en-US" sz="1900"/>
              <a:t>N</a:t>
            </a:r>
            <a:r>
              <a:rPr lang="en-US" sz="1900"/>
              <a:t>umber of posts increased during midterm/exam weeks from both Students and Instructors</a:t>
            </a:r>
            <a:endParaRPr sz="1900"/>
          </a:p>
          <a:p>
            <a:pPr indent="-349250" lvl="0" marL="457200" rtl="0" algn="l">
              <a:lnSpc>
                <a:spcPct val="100000"/>
              </a:lnSpc>
              <a:spcBef>
                <a:spcPts val="0"/>
              </a:spcBef>
              <a:spcAft>
                <a:spcPts val="0"/>
              </a:spcAft>
              <a:buSzPts val="1900"/>
              <a:buChar char="•"/>
            </a:pPr>
            <a:r>
              <a:rPr lang="en-US" sz="1900"/>
              <a:t>First two peak dates, the instructors posted about half as much as the students total</a:t>
            </a:r>
            <a:endParaRPr sz="1900"/>
          </a:p>
          <a:p>
            <a:pPr indent="-349250" lvl="0" marL="457200" rtl="0" algn="l">
              <a:lnSpc>
                <a:spcPct val="100000"/>
              </a:lnSpc>
              <a:spcBef>
                <a:spcPts val="0"/>
              </a:spcBef>
              <a:spcAft>
                <a:spcPts val="0"/>
              </a:spcAft>
              <a:buSzPts val="1900"/>
              <a:buChar char="•"/>
            </a:pPr>
            <a:r>
              <a:rPr lang="en-US" sz="1900"/>
              <a:t>Number of posts by Instructors depend on those of the </a:t>
            </a:r>
            <a:r>
              <a:rPr lang="en-US" sz="1900"/>
              <a:t>students -&gt; students post more, instructors respond more</a:t>
            </a:r>
            <a:r>
              <a:rPr lang="en-US" sz="1900"/>
              <a:t> </a:t>
            </a:r>
            <a:endParaRPr sz="1900"/>
          </a:p>
        </p:txBody>
      </p:sp>
      <p:sp>
        <p:nvSpPr>
          <p:cNvPr id="169" name="Google Shape;169;g22f72c6f34a_0_161"/>
          <p:cNvSpPr txBox="1"/>
          <p:nvPr>
            <p:ph type="title"/>
          </p:nvPr>
        </p:nvSpPr>
        <p:spPr>
          <a:xfrm>
            <a:off x="387350" y="200572"/>
            <a:ext cx="11430000" cy="1014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1100"/>
              <a:buFont typeface="Arial"/>
              <a:buNone/>
            </a:pPr>
            <a:r>
              <a:rPr lang="en-US"/>
              <a:t>Graphs Displaying Data (CS 6601)</a:t>
            </a:r>
            <a:endParaRPr/>
          </a:p>
        </p:txBody>
      </p:sp>
      <p:pic>
        <p:nvPicPr>
          <p:cNvPr id="170" name="Google Shape;170;g22f72c6f34a_0_161"/>
          <p:cNvPicPr preferRelativeResize="0"/>
          <p:nvPr/>
        </p:nvPicPr>
        <p:blipFill>
          <a:blip r:embed="rId3">
            <a:alphaModFix/>
          </a:blip>
          <a:stretch>
            <a:fillRect/>
          </a:stretch>
        </p:blipFill>
        <p:spPr>
          <a:xfrm>
            <a:off x="135575" y="4184461"/>
            <a:ext cx="3782226" cy="2440325"/>
          </a:xfrm>
          <a:prstGeom prst="rect">
            <a:avLst/>
          </a:prstGeom>
          <a:noFill/>
          <a:ln>
            <a:noFill/>
          </a:ln>
        </p:spPr>
      </p:pic>
      <p:pic>
        <p:nvPicPr>
          <p:cNvPr id="171" name="Google Shape;171;g22f72c6f34a_0_161"/>
          <p:cNvPicPr preferRelativeResize="0"/>
          <p:nvPr/>
        </p:nvPicPr>
        <p:blipFill>
          <a:blip r:embed="rId4">
            <a:alphaModFix/>
          </a:blip>
          <a:stretch>
            <a:fillRect/>
          </a:stretch>
        </p:blipFill>
        <p:spPr>
          <a:xfrm>
            <a:off x="5777612" y="936000"/>
            <a:ext cx="6268483" cy="1759950"/>
          </a:xfrm>
          <a:prstGeom prst="rect">
            <a:avLst/>
          </a:prstGeom>
          <a:noFill/>
          <a:ln>
            <a:noFill/>
          </a:ln>
        </p:spPr>
      </p:pic>
      <p:pic>
        <p:nvPicPr>
          <p:cNvPr id="172" name="Google Shape;172;g22f72c6f34a_0_161"/>
          <p:cNvPicPr preferRelativeResize="0"/>
          <p:nvPr/>
        </p:nvPicPr>
        <p:blipFill>
          <a:blip r:embed="rId5">
            <a:alphaModFix/>
          </a:blip>
          <a:stretch>
            <a:fillRect/>
          </a:stretch>
        </p:blipFill>
        <p:spPr>
          <a:xfrm>
            <a:off x="5777625" y="2767900"/>
            <a:ext cx="6268477" cy="1744637"/>
          </a:xfrm>
          <a:prstGeom prst="rect">
            <a:avLst/>
          </a:prstGeom>
          <a:noFill/>
          <a:ln>
            <a:noFill/>
          </a:ln>
        </p:spPr>
      </p:pic>
      <p:cxnSp>
        <p:nvCxnSpPr>
          <p:cNvPr id="173" name="Google Shape;173;g22f72c6f34a_0_161"/>
          <p:cNvCxnSpPr/>
          <p:nvPr/>
        </p:nvCxnSpPr>
        <p:spPr>
          <a:xfrm>
            <a:off x="4939550" y="1227150"/>
            <a:ext cx="683400" cy="0"/>
          </a:xfrm>
          <a:prstGeom prst="straightConnector1">
            <a:avLst/>
          </a:prstGeom>
          <a:noFill/>
          <a:ln cap="flat" cmpd="sng" w="9525">
            <a:solidFill>
              <a:schemeClr val="dk2"/>
            </a:solidFill>
            <a:prstDash val="solid"/>
            <a:round/>
            <a:headEnd len="med" w="med" type="none"/>
            <a:tailEnd len="med" w="med" type="triangle"/>
          </a:ln>
        </p:spPr>
      </p:cxnSp>
      <p:sp>
        <p:nvSpPr>
          <p:cNvPr id="174" name="Google Shape;174;g22f72c6f34a_0_161"/>
          <p:cNvSpPr txBox="1"/>
          <p:nvPr>
            <p:ph idx="1" type="body"/>
          </p:nvPr>
        </p:nvSpPr>
        <p:spPr>
          <a:xfrm>
            <a:off x="4276250" y="4656425"/>
            <a:ext cx="7541100" cy="1901700"/>
          </a:xfrm>
          <a:prstGeom prst="rect">
            <a:avLst/>
          </a:prstGeom>
        </p:spPr>
        <p:txBody>
          <a:bodyPr anchorCtr="0" anchor="t" bIns="45700" lIns="91425" spcFirstLastPara="1" rIns="91425" wrap="square" tIns="45700">
            <a:normAutofit lnSpcReduction="10000"/>
          </a:bodyPr>
          <a:lstStyle/>
          <a:p>
            <a:pPr indent="-361950" lvl="0" marL="457200" rtl="0" algn="l">
              <a:spcBef>
                <a:spcPts val="1000"/>
              </a:spcBef>
              <a:spcAft>
                <a:spcPts val="0"/>
              </a:spcAft>
              <a:buSzPts val="2100"/>
              <a:buChar char="•"/>
            </a:pPr>
            <a:r>
              <a:rPr lang="en-US" sz="2100"/>
              <a:t>displays very similar trend compared to the same graph for 1301</a:t>
            </a:r>
            <a:endParaRPr sz="2100"/>
          </a:p>
          <a:p>
            <a:pPr indent="-361950" lvl="0" marL="457200" rtl="0" algn="l">
              <a:spcBef>
                <a:spcPts val="0"/>
              </a:spcBef>
              <a:spcAft>
                <a:spcPts val="0"/>
              </a:spcAft>
              <a:buSzPts val="2100"/>
              <a:buChar char="•"/>
            </a:pPr>
            <a:r>
              <a:rPr lang="en-US" sz="2100"/>
              <a:t>less than or equal to 10 students posted frequently (20x on average), while over 41 students posted about once on average</a:t>
            </a:r>
            <a:endParaRPr sz="2100"/>
          </a:p>
          <a:p>
            <a:pPr indent="-361950" lvl="0" marL="457200" rtl="0" algn="l">
              <a:spcBef>
                <a:spcPts val="0"/>
              </a:spcBef>
              <a:spcAft>
                <a:spcPts val="0"/>
              </a:spcAft>
              <a:buSzPts val="2100"/>
              <a:buChar char="•"/>
            </a:pPr>
            <a:r>
              <a:rPr lang="en-US" sz="2100"/>
              <a:t>only a select few are frequently involved/engaged in the online discussion forums</a:t>
            </a:r>
            <a:endParaRPr sz="2100"/>
          </a:p>
        </p:txBody>
      </p:sp>
      <p:cxnSp>
        <p:nvCxnSpPr>
          <p:cNvPr id="175" name="Google Shape;175;g22f72c6f34a_0_161"/>
          <p:cNvCxnSpPr/>
          <p:nvPr/>
        </p:nvCxnSpPr>
        <p:spPr>
          <a:xfrm rot="10800000">
            <a:off x="4112425" y="4512550"/>
            <a:ext cx="647400" cy="1917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79" name="Shape 179"/>
        <p:cNvGrpSpPr/>
        <p:nvPr/>
      </p:nvGrpSpPr>
      <p:grpSpPr>
        <a:xfrm>
          <a:off x="0" y="0"/>
          <a:ext cx="0" cy="0"/>
          <a:chOff x="0" y="0"/>
          <a:chExt cx="0" cy="0"/>
        </a:xfrm>
      </p:grpSpPr>
      <p:sp>
        <p:nvSpPr>
          <p:cNvPr id="180" name="Google Shape;180;g18953f727dd_1_0"/>
          <p:cNvSpPr txBox="1"/>
          <p:nvPr>
            <p:ph idx="1" type="body"/>
          </p:nvPr>
        </p:nvSpPr>
        <p:spPr>
          <a:xfrm>
            <a:off x="381000" y="1215474"/>
            <a:ext cx="11430000" cy="5208600"/>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SzPts val="1800"/>
              <a:buChar char="•"/>
            </a:pPr>
            <a:r>
              <a:rPr lang="en-US"/>
              <a:t>Topic Modeling - unsupervised</a:t>
            </a:r>
            <a:endParaRPr/>
          </a:p>
          <a:p>
            <a:pPr indent="-342900" lvl="1" marL="914400" rtl="0" algn="l">
              <a:lnSpc>
                <a:spcPct val="90000"/>
              </a:lnSpc>
              <a:spcBef>
                <a:spcPts val="1000"/>
              </a:spcBef>
              <a:spcAft>
                <a:spcPts val="0"/>
              </a:spcAft>
              <a:buSzPts val="1800"/>
              <a:buChar char="•"/>
            </a:pPr>
            <a:r>
              <a:rPr lang="en-US"/>
              <a:t>scan documents, detect words, cluster groups</a:t>
            </a:r>
            <a:endParaRPr/>
          </a:p>
          <a:p>
            <a:pPr indent="-342900" lvl="1" marL="914400" rtl="0" algn="l">
              <a:lnSpc>
                <a:spcPct val="90000"/>
              </a:lnSpc>
              <a:spcBef>
                <a:spcPts val="1000"/>
              </a:spcBef>
              <a:spcAft>
                <a:spcPts val="0"/>
              </a:spcAft>
              <a:buSzPts val="1800"/>
              <a:buChar char="•"/>
            </a:pPr>
            <a:r>
              <a:rPr lang="en-US"/>
              <a:t>should be aware of dominant topic</a:t>
            </a:r>
            <a:endParaRPr/>
          </a:p>
          <a:p>
            <a:pPr indent="-342900" lvl="1" marL="914400" rtl="0" algn="l">
              <a:lnSpc>
                <a:spcPct val="90000"/>
              </a:lnSpc>
              <a:spcBef>
                <a:spcPts val="1000"/>
              </a:spcBef>
              <a:spcAft>
                <a:spcPts val="0"/>
              </a:spcAft>
              <a:buSzPts val="1800"/>
              <a:buChar char="•"/>
            </a:pPr>
            <a:r>
              <a:rPr lang="en-US" sz="2300"/>
              <a:t>limitation: the top topic was irrelevant to the course contents</a:t>
            </a:r>
            <a:endParaRPr sz="2300"/>
          </a:p>
          <a:p>
            <a:pPr indent="-374650" lvl="0" marL="457200" rtl="0" algn="l">
              <a:lnSpc>
                <a:spcPct val="90000"/>
              </a:lnSpc>
              <a:spcBef>
                <a:spcPts val="1000"/>
              </a:spcBef>
              <a:spcAft>
                <a:spcPts val="0"/>
              </a:spcAft>
              <a:buSzPts val="2300"/>
              <a:buChar char="•"/>
            </a:pPr>
            <a:r>
              <a:rPr lang="en-US" sz="2300"/>
              <a:t>Visualization on Piazza data</a:t>
            </a:r>
            <a:endParaRPr sz="2300"/>
          </a:p>
        </p:txBody>
      </p:sp>
      <p:sp>
        <p:nvSpPr>
          <p:cNvPr id="181" name="Google Shape;181;g18953f727dd_1_0"/>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Topic Modeling</a:t>
            </a:r>
            <a:endParaRPr/>
          </a:p>
        </p:txBody>
      </p:sp>
      <p:pic>
        <p:nvPicPr>
          <p:cNvPr id="182" name="Google Shape;182;g18953f727dd_1_0"/>
          <p:cNvPicPr preferRelativeResize="0"/>
          <p:nvPr/>
        </p:nvPicPr>
        <p:blipFill rotWithShape="1">
          <a:blip r:embed="rId3">
            <a:alphaModFix/>
          </a:blip>
          <a:srcRect b="0" l="0" r="0" t="0"/>
          <a:stretch/>
        </p:blipFill>
        <p:spPr>
          <a:xfrm>
            <a:off x="809525" y="3677000"/>
            <a:ext cx="3689045" cy="2633475"/>
          </a:xfrm>
          <a:prstGeom prst="rect">
            <a:avLst/>
          </a:prstGeom>
          <a:noFill/>
          <a:ln>
            <a:noFill/>
          </a:ln>
        </p:spPr>
      </p:pic>
      <p:pic>
        <p:nvPicPr>
          <p:cNvPr id="183" name="Google Shape;183;g18953f727dd_1_0"/>
          <p:cNvPicPr preferRelativeResize="0"/>
          <p:nvPr/>
        </p:nvPicPr>
        <p:blipFill rotWithShape="1">
          <a:blip r:embed="rId4">
            <a:alphaModFix/>
          </a:blip>
          <a:srcRect b="0" l="0" r="0" t="0"/>
          <a:stretch/>
        </p:blipFill>
        <p:spPr>
          <a:xfrm>
            <a:off x="8423300" y="3223483"/>
            <a:ext cx="3387701" cy="2410692"/>
          </a:xfrm>
          <a:prstGeom prst="rect">
            <a:avLst/>
          </a:prstGeom>
          <a:noFill/>
          <a:ln>
            <a:noFill/>
          </a:ln>
        </p:spPr>
      </p:pic>
      <p:pic>
        <p:nvPicPr>
          <p:cNvPr id="184" name="Google Shape;184;g18953f727dd_1_0"/>
          <p:cNvPicPr preferRelativeResize="0"/>
          <p:nvPr/>
        </p:nvPicPr>
        <p:blipFill rotWithShape="1">
          <a:blip r:embed="rId5">
            <a:alphaModFix/>
          </a:blip>
          <a:srcRect b="0" l="0" r="0" t="0"/>
          <a:stretch/>
        </p:blipFill>
        <p:spPr>
          <a:xfrm>
            <a:off x="4932350" y="3219763"/>
            <a:ext cx="3387700" cy="241812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88" name="Shape 188"/>
        <p:cNvGrpSpPr/>
        <p:nvPr/>
      </p:nvGrpSpPr>
      <p:grpSpPr>
        <a:xfrm>
          <a:off x="0" y="0"/>
          <a:ext cx="0" cy="0"/>
          <a:chOff x="0" y="0"/>
          <a:chExt cx="0" cy="0"/>
        </a:xfrm>
      </p:grpSpPr>
      <p:sp>
        <p:nvSpPr>
          <p:cNvPr id="189" name="Google Shape;189;g21b583a11e7_0_0"/>
          <p:cNvSpPr txBox="1"/>
          <p:nvPr>
            <p:ph idx="1" type="body"/>
          </p:nvPr>
        </p:nvSpPr>
        <p:spPr>
          <a:xfrm>
            <a:off x="381000" y="1215625"/>
            <a:ext cx="11430000" cy="5642400"/>
          </a:xfrm>
          <a:prstGeom prst="rect">
            <a:avLst/>
          </a:prstGeom>
          <a:noFill/>
          <a:ln>
            <a:noFill/>
          </a:ln>
        </p:spPr>
        <p:txBody>
          <a:bodyPr anchorCtr="0" anchor="t" bIns="45700" lIns="91425" spcFirstLastPara="1" rIns="91425" wrap="square" tIns="45700">
            <a:normAutofit fontScale="92500" lnSpcReduction="10000"/>
          </a:bodyPr>
          <a:lstStyle/>
          <a:p>
            <a:pPr indent="-344621" lvl="0" marL="457200" rtl="0" algn="l">
              <a:lnSpc>
                <a:spcPct val="115000"/>
              </a:lnSpc>
              <a:spcBef>
                <a:spcPts val="1000"/>
              </a:spcBef>
              <a:spcAft>
                <a:spcPts val="0"/>
              </a:spcAft>
              <a:buSzPct val="100000"/>
              <a:buChar char="•"/>
            </a:pPr>
            <a:r>
              <a:rPr lang="en-US" sz="1974"/>
              <a:t>Topic Modeling with predefined seeded topics</a:t>
            </a:r>
            <a:endParaRPr sz="1974"/>
          </a:p>
          <a:p>
            <a:pPr indent="-344621" lvl="1" marL="914400" rtl="0" algn="l">
              <a:lnSpc>
                <a:spcPct val="115000"/>
              </a:lnSpc>
              <a:spcBef>
                <a:spcPts val="1000"/>
              </a:spcBef>
              <a:spcAft>
                <a:spcPts val="0"/>
              </a:spcAft>
              <a:buSzPct val="100000"/>
              <a:buChar char="•"/>
            </a:pPr>
            <a:r>
              <a:rPr lang="en-US" sz="1974"/>
              <a:t>Set several seeded topics to which the model will converge towards (assuming the seeded topics are accurate/relevant)</a:t>
            </a:r>
            <a:endParaRPr sz="1974"/>
          </a:p>
          <a:p>
            <a:pPr indent="-344621" lvl="1" marL="914400" rtl="0" algn="l">
              <a:lnSpc>
                <a:spcPct val="115000"/>
              </a:lnSpc>
              <a:spcBef>
                <a:spcPts val="1000"/>
              </a:spcBef>
              <a:spcAft>
                <a:spcPts val="0"/>
              </a:spcAft>
              <a:buSzPct val="100000"/>
              <a:buChar char="•"/>
            </a:pPr>
            <a:r>
              <a:rPr lang="en-US" sz="1974"/>
              <a:t>Provided seeded words for each topic, so each word is related to a specific topic/content</a:t>
            </a:r>
            <a:endParaRPr sz="1974"/>
          </a:p>
          <a:p>
            <a:pPr indent="-344621" lvl="1" marL="914400" rtl="0" algn="l">
              <a:lnSpc>
                <a:spcPct val="115000"/>
              </a:lnSpc>
              <a:spcBef>
                <a:spcPts val="1000"/>
              </a:spcBef>
              <a:spcAft>
                <a:spcPts val="0"/>
              </a:spcAft>
              <a:buSzPct val="100000"/>
              <a:buChar char="•"/>
            </a:pPr>
            <a:r>
              <a:rPr lang="en-US" sz="1974"/>
              <a:t>Recognized the accuracy/specificity of each seeded topic was important -&gt; made topic lists less vague and more narrowed; added potential stop words such as "if", "you", "him", and "thank":</a:t>
            </a:r>
            <a:endParaRPr sz="1974"/>
          </a:p>
          <a:p>
            <a:pPr indent="0" lvl="0" marL="0" rtl="0" algn="l">
              <a:lnSpc>
                <a:spcPct val="115000"/>
              </a:lnSpc>
              <a:spcBef>
                <a:spcPts val="1000"/>
              </a:spcBef>
              <a:spcAft>
                <a:spcPts val="0"/>
              </a:spcAft>
              <a:buSzPct val="81818"/>
              <a:buNone/>
            </a:pPr>
            <a:r>
              <a:t/>
            </a:r>
            <a:endParaRPr sz="2200"/>
          </a:p>
          <a:p>
            <a:pPr indent="0" lvl="0" marL="0" rtl="0" algn="l">
              <a:lnSpc>
                <a:spcPct val="90000"/>
              </a:lnSpc>
              <a:spcBef>
                <a:spcPts val="1000"/>
              </a:spcBef>
              <a:spcAft>
                <a:spcPts val="0"/>
              </a:spcAft>
              <a:buSzPct val="64285"/>
              <a:buNone/>
            </a:pPr>
            <a:r>
              <a:t/>
            </a:r>
            <a:endParaRPr/>
          </a:p>
          <a:p>
            <a:pPr indent="0" lvl="0" marL="0" rtl="0" algn="l">
              <a:lnSpc>
                <a:spcPct val="90000"/>
              </a:lnSpc>
              <a:spcBef>
                <a:spcPts val="1000"/>
              </a:spcBef>
              <a:spcAft>
                <a:spcPts val="0"/>
              </a:spcAft>
              <a:buSzPct val="64285"/>
              <a:buNone/>
            </a:pPr>
            <a:r>
              <a:t/>
            </a:r>
            <a:endParaRPr/>
          </a:p>
          <a:p>
            <a:pPr indent="0" lvl="0" marL="0" rtl="0" algn="l">
              <a:lnSpc>
                <a:spcPct val="90000"/>
              </a:lnSpc>
              <a:spcBef>
                <a:spcPts val="1000"/>
              </a:spcBef>
              <a:spcAft>
                <a:spcPts val="0"/>
              </a:spcAft>
              <a:buSzPct val="84606"/>
              <a:buNone/>
            </a:pPr>
            <a:r>
              <a:t/>
            </a:r>
            <a:endParaRPr sz="2300"/>
          </a:p>
          <a:p>
            <a:pPr indent="0" lvl="0" marL="0" rtl="0" algn="l">
              <a:lnSpc>
                <a:spcPct val="90000"/>
              </a:lnSpc>
              <a:spcBef>
                <a:spcPts val="1000"/>
              </a:spcBef>
              <a:spcAft>
                <a:spcPts val="0"/>
              </a:spcAft>
              <a:buSzPct val="80811"/>
              <a:buNone/>
            </a:pPr>
            <a:r>
              <a:t/>
            </a:r>
            <a:endParaRPr sz="2408"/>
          </a:p>
          <a:p>
            <a:pPr indent="-338795" lvl="0" marL="457200" rtl="0" algn="l">
              <a:lnSpc>
                <a:spcPct val="90000"/>
              </a:lnSpc>
              <a:spcBef>
                <a:spcPts val="1000"/>
              </a:spcBef>
              <a:spcAft>
                <a:spcPts val="0"/>
              </a:spcAft>
              <a:buSzPct val="100000"/>
              <a:buChar char="•"/>
            </a:pPr>
            <a:r>
              <a:rPr lang="en-US" sz="1875"/>
              <a:t>Expectations/Plans:</a:t>
            </a:r>
            <a:endParaRPr sz="1875"/>
          </a:p>
          <a:p>
            <a:pPr indent="-338795" lvl="1" marL="914400" rtl="0" algn="l">
              <a:lnSpc>
                <a:spcPct val="115000"/>
              </a:lnSpc>
              <a:spcBef>
                <a:spcPts val="1000"/>
              </a:spcBef>
              <a:spcAft>
                <a:spcPts val="0"/>
              </a:spcAft>
              <a:buSzPct val="100000"/>
              <a:buChar char="•"/>
            </a:pPr>
            <a:r>
              <a:rPr lang="en-US" sz="1875"/>
              <a:t>Continually try to improve the accuracy of classification by topic through already reliable methods </a:t>
            </a:r>
            <a:endParaRPr sz="1875"/>
          </a:p>
          <a:p>
            <a:pPr indent="-338795" lvl="1" marL="914400" rtl="0" algn="l">
              <a:lnSpc>
                <a:spcPct val="115000"/>
              </a:lnSpc>
              <a:spcBef>
                <a:spcPts val="1000"/>
              </a:spcBef>
              <a:spcAft>
                <a:spcPts val="0"/>
              </a:spcAft>
              <a:buSzPct val="100000"/>
              <a:buChar char="•"/>
            </a:pPr>
            <a:r>
              <a:rPr lang="en-US" sz="1875"/>
              <a:t>Experiment with code and discover more potential methods to increase relevance/accuracy</a:t>
            </a:r>
            <a:endParaRPr sz="1875"/>
          </a:p>
        </p:txBody>
      </p:sp>
      <p:sp>
        <p:nvSpPr>
          <p:cNvPr id="190" name="Google Shape;190;g21b583a11e7_0_0"/>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Guided Topic Modeling</a:t>
            </a:r>
            <a:endParaRPr/>
          </a:p>
        </p:txBody>
      </p:sp>
      <p:pic>
        <p:nvPicPr>
          <p:cNvPr id="191" name="Google Shape;191;g21b583a11e7_0_0"/>
          <p:cNvPicPr preferRelativeResize="0"/>
          <p:nvPr/>
        </p:nvPicPr>
        <p:blipFill rotWithShape="1">
          <a:blip r:embed="rId3">
            <a:alphaModFix/>
          </a:blip>
          <a:srcRect b="0" l="0" r="0" t="0"/>
          <a:stretch/>
        </p:blipFill>
        <p:spPr>
          <a:xfrm>
            <a:off x="6025900" y="3435675"/>
            <a:ext cx="3812175" cy="1616300"/>
          </a:xfrm>
          <a:prstGeom prst="rect">
            <a:avLst/>
          </a:prstGeom>
          <a:noFill/>
          <a:ln>
            <a:noFill/>
          </a:ln>
        </p:spPr>
      </p:pic>
      <p:pic>
        <p:nvPicPr>
          <p:cNvPr id="192" name="Google Shape;192;g21b583a11e7_0_0"/>
          <p:cNvPicPr preferRelativeResize="0"/>
          <p:nvPr/>
        </p:nvPicPr>
        <p:blipFill rotWithShape="1">
          <a:blip r:embed="rId4">
            <a:alphaModFix/>
          </a:blip>
          <a:srcRect b="0" l="0" r="0" t="0"/>
          <a:stretch/>
        </p:blipFill>
        <p:spPr>
          <a:xfrm>
            <a:off x="1373925" y="3435675"/>
            <a:ext cx="3014675" cy="1616300"/>
          </a:xfrm>
          <a:prstGeom prst="rect">
            <a:avLst/>
          </a:prstGeom>
          <a:noFill/>
          <a:ln>
            <a:noFill/>
          </a:ln>
        </p:spPr>
      </p:pic>
      <p:sp>
        <p:nvSpPr>
          <p:cNvPr id="193" name="Google Shape;193;g21b583a11e7_0_0"/>
          <p:cNvSpPr/>
          <p:nvPr/>
        </p:nvSpPr>
        <p:spPr>
          <a:xfrm>
            <a:off x="4734138" y="4002175"/>
            <a:ext cx="946200" cy="4833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g21b583a11e7_0_0"/>
          <p:cNvSpPr txBox="1"/>
          <p:nvPr/>
        </p:nvSpPr>
        <p:spPr>
          <a:xfrm>
            <a:off x="2375450" y="5112950"/>
            <a:ext cx="720000" cy="400200"/>
          </a:xfrm>
          <a:prstGeom prst="rect">
            <a:avLst/>
          </a:prstGeom>
          <a:noFill/>
          <a:ln>
            <a:noFill/>
          </a:ln>
        </p:spPr>
        <p:txBody>
          <a:bodyPr anchorCtr="0" anchor="ctr"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Before</a:t>
            </a:r>
            <a:endParaRPr b="0" i="0" sz="1400" u="none" cap="none" strike="noStrike">
              <a:solidFill>
                <a:srgbClr val="000000"/>
              </a:solidFill>
              <a:latin typeface="Roboto"/>
              <a:ea typeface="Roboto"/>
              <a:cs typeface="Roboto"/>
              <a:sym typeface="Roboto"/>
            </a:endParaRPr>
          </a:p>
        </p:txBody>
      </p:sp>
      <p:sp>
        <p:nvSpPr>
          <p:cNvPr id="195" name="Google Shape;195;g21b583a11e7_0_0"/>
          <p:cNvSpPr txBox="1"/>
          <p:nvPr/>
        </p:nvSpPr>
        <p:spPr>
          <a:xfrm>
            <a:off x="7571988" y="5166975"/>
            <a:ext cx="720000" cy="400200"/>
          </a:xfrm>
          <a:prstGeom prst="rect">
            <a:avLst/>
          </a:prstGeom>
          <a:noFill/>
          <a:ln>
            <a:noFill/>
          </a:ln>
        </p:spPr>
        <p:txBody>
          <a:bodyPr anchorCtr="0" anchor="ctr"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After</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g218e1e64d64_0_0"/>
          <p:cNvSpPr txBox="1"/>
          <p:nvPr>
            <p:ph idx="1" type="body"/>
          </p:nvPr>
        </p:nvSpPr>
        <p:spPr>
          <a:xfrm>
            <a:off x="381000" y="1130850"/>
            <a:ext cx="6330600" cy="5238900"/>
          </a:xfrm>
          <a:prstGeom prst="rect">
            <a:avLst/>
          </a:prstGeom>
          <a:noFill/>
          <a:ln>
            <a:noFill/>
          </a:ln>
        </p:spPr>
        <p:txBody>
          <a:bodyPr anchorCtr="0" anchor="t" bIns="45700" lIns="91425" spcFirstLastPara="1" rIns="91425" wrap="square" tIns="45700">
            <a:noAutofit/>
          </a:bodyPr>
          <a:lstStyle/>
          <a:p>
            <a:pPr indent="-368300" lvl="0" marL="457200" rtl="0" algn="l">
              <a:lnSpc>
                <a:spcPct val="90000"/>
              </a:lnSpc>
              <a:spcBef>
                <a:spcPts val="1000"/>
              </a:spcBef>
              <a:spcAft>
                <a:spcPts val="0"/>
              </a:spcAft>
              <a:buSzPts val="2200"/>
              <a:buChar char="•"/>
            </a:pPr>
            <a:r>
              <a:rPr lang="en-US" sz="2200"/>
              <a:t>Improvement</a:t>
            </a:r>
            <a:endParaRPr sz="1700"/>
          </a:p>
          <a:p>
            <a:pPr indent="-336550" lvl="1" marL="914400" rtl="0" algn="l">
              <a:lnSpc>
                <a:spcPct val="90000"/>
              </a:lnSpc>
              <a:spcBef>
                <a:spcPts val="1000"/>
              </a:spcBef>
              <a:spcAft>
                <a:spcPts val="0"/>
              </a:spcAft>
              <a:buSzPts val="1700"/>
              <a:buChar char="•"/>
            </a:pPr>
            <a:r>
              <a:rPr lang="en-US" sz="1700"/>
              <a:t>Higher Accuracy with more preprocessing</a:t>
            </a:r>
            <a:endParaRPr sz="1700"/>
          </a:p>
          <a:p>
            <a:pPr indent="-336550" lvl="2" marL="1371600" rtl="0" algn="l">
              <a:lnSpc>
                <a:spcPct val="90000"/>
              </a:lnSpc>
              <a:spcBef>
                <a:spcPts val="1000"/>
              </a:spcBef>
              <a:spcAft>
                <a:spcPts val="0"/>
              </a:spcAft>
              <a:buSzPts val="1700"/>
              <a:buChar char="•"/>
            </a:pPr>
            <a:r>
              <a:rPr lang="en-US" sz="1700"/>
              <a:t>Narrowed seeded topics down</a:t>
            </a:r>
            <a:endParaRPr sz="1700"/>
          </a:p>
          <a:p>
            <a:pPr indent="-336550" lvl="2" marL="1371600" rtl="0" algn="l">
              <a:lnSpc>
                <a:spcPct val="90000"/>
              </a:lnSpc>
              <a:spcBef>
                <a:spcPts val="1000"/>
              </a:spcBef>
              <a:spcAft>
                <a:spcPts val="0"/>
              </a:spcAft>
              <a:buSzPts val="1700"/>
              <a:buChar char="•"/>
            </a:pPr>
            <a:r>
              <a:rPr lang="en-US" sz="1700"/>
              <a:t>Removed tense features(integrating past/present/future tenses)</a:t>
            </a:r>
            <a:endParaRPr sz="1700"/>
          </a:p>
          <a:p>
            <a:pPr indent="-336550" lvl="2" marL="1371600" rtl="0" algn="l">
              <a:lnSpc>
                <a:spcPct val="90000"/>
              </a:lnSpc>
              <a:spcBef>
                <a:spcPts val="1000"/>
              </a:spcBef>
              <a:spcAft>
                <a:spcPts val="0"/>
              </a:spcAft>
              <a:buSzPts val="1700"/>
              <a:buChar char="•"/>
            </a:pPr>
            <a:r>
              <a:rPr lang="en-US" sz="1700"/>
              <a:t>Removed URL/email/punctuation, Integrated upper/lower cases</a:t>
            </a:r>
            <a:endParaRPr sz="1700"/>
          </a:p>
          <a:p>
            <a:pPr indent="-336550" lvl="2" marL="1371600" rtl="0" algn="l">
              <a:lnSpc>
                <a:spcPct val="90000"/>
              </a:lnSpc>
              <a:spcBef>
                <a:spcPts val="1000"/>
              </a:spcBef>
              <a:spcAft>
                <a:spcPts val="0"/>
              </a:spcAft>
              <a:buSzPts val="1700"/>
              <a:buChar char="•"/>
            </a:pPr>
            <a:r>
              <a:rPr lang="en-US" sz="1700"/>
              <a:t>Deleted irrelevant words by setting them manually</a:t>
            </a:r>
            <a:endParaRPr sz="1700"/>
          </a:p>
          <a:p>
            <a:pPr indent="-336550" lvl="1" marL="914400" rtl="0" algn="l">
              <a:lnSpc>
                <a:spcPct val="90000"/>
              </a:lnSpc>
              <a:spcBef>
                <a:spcPts val="1000"/>
              </a:spcBef>
              <a:spcAft>
                <a:spcPts val="0"/>
              </a:spcAft>
              <a:buSzPts val="1700"/>
              <a:buChar char="•"/>
            </a:pPr>
            <a:r>
              <a:rPr lang="en-US" sz="1700"/>
              <a:t>Instructors can match each post with a specific topic from the topic list</a:t>
            </a:r>
            <a:endParaRPr sz="1700"/>
          </a:p>
          <a:p>
            <a:pPr indent="-336550" lvl="1" marL="914400" rtl="0" algn="l">
              <a:lnSpc>
                <a:spcPct val="90000"/>
              </a:lnSpc>
              <a:spcBef>
                <a:spcPts val="1000"/>
              </a:spcBef>
              <a:spcAft>
                <a:spcPts val="0"/>
              </a:spcAft>
              <a:buSzPts val="1700"/>
              <a:buChar char="•"/>
            </a:pPr>
            <a:r>
              <a:rPr lang="en-US" sz="1700"/>
              <a:t>Generated .json file</a:t>
            </a:r>
            <a:endParaRPr sz="1700"/>
          </a:p>
          <a:p>
            <a:pPr indent="-368300" lvl="0" marL="457200" rtl="0" algn="l">
              <a:lnSpc>
                <a:spcPct val="90000"/>
              </a:lnSpc>
              <a:spcBef>
                <a:spcPts val="1000"/>
              </a:spcBef>
              <a:spcAft>
                <a:spcPts val="0"/>
              </a:spcAft>
              <a:buSzPts val="2200"/>
              <a:buChar char="•"/>
            </a:pPr>
            <a:r>
              <a:rPr lang="en-US" sz="2200"/>
              <a:t>Challenges</a:t>
            </a:r>
            <a:endParaRPr sz="2200"/>
          </a:p>
          <a:p>
            <a:pPr indent="-336550" lvl="1" marL="914400" rtl="0" algn="l">
              <a:lnSpc>
                <a:spcPct val="90000"/>
              </a:lnSpc>
              <a:spcBef>
                <a:spcPts val="1000"/>
              </a:spcBef>
              <a:spcAft>
                <a:spcPts val="0"/>
              </a:spcAft>
              <a:buSzPts val="1700"/>
              <a:buChar char="•"/>
            </a:pPr>
            <a:r>
              <a:rPr lang="en-US" sz="1700"/>
              <a:t>Calculate coherence score to see actual improvement</a:t>
            </a:r>
            <a:endParaRPr sz="1700"/>
          </a:p>
          <a:p>
            <a:pPr indent="0" lvl="0" marL="0" rtl="0" algn="l">
              <a:lnSpc>
                <a:spcPct val="90000"/>
              </a:lnSpc>
              <a:spcBef>
                <a:spcPts val="1000"/>
              </a:spcBef>
              <a:spcAft>
                <a:spcPts val="0"/>
              </a:spcAft>
              <a:buSzPts val="1800"/>
              <a:buNone/>
            </a:pPr>
            <a:r>
              <a:t/>
            </a:r>
            <a:endParaRPr sz="2500"/>
          </a:p>
        </p:txBody>
      </p:sp>
      <p:sp>
        <p:nvSpPr>
          <p:cNvPr id="201" name="Google Shape;201;g218e1e64d64_0_0"/>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Guided Topic Modeling</a:t>
            </a:r>
            <a:endParaRPr/>
          </a:p>
        </p:txBody>
      </p:sp>
      <p:sp>
        <p:nvSpPr>
          <p:cNvPr id="202" name="Google Shape;202;g218e1e64d64_0_0"/>
          <p:cNvSpPr/>
          <p:nvPr/>
        </p:nvSpPr>
        <p:spPr>
          <a:xfrm rot="5400000">
            <a:off x="7460550" y="-177650"/>
            <a:ext cx="2932500" cy="4262100"/>
          </a:xfrm>
          <a:prstGeom prst="chevron">
            <a:avLst>
              <a:gd fmla="val 13654" name="adj"/>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g218e1e64d64_0_0"/>
          <p:cNvSpPr txBox="1"/>
          <p:nvPr/>
        </p:nvSpPr>
        <p:spPr>
          <a:xfrm>
            <a:off x="7070550" y="918050"/>
            <a:ext cx="3712500" cy="2329500"/>
          </a:xfrm>
          <a:prstGeom prst="rect">
            <a:avLst/>
          </a:prstGeom>
          <a:noFill/>
          <a:ln>
            <a:noFill/>
          </a:ln>
        </p:spPr>
        <p:txBody>
          <a:bodyPr anchorCtr="0" anchor="t" bIns="91425" lIns="91425" spcFirstLastPara="1" rIns="91425" wrap="square" tIns="91425">
            <a:spAutoFit/>
          </a:bodyPr>
          <a:lstStyle/>
          <a:p>
            <a:pPr indent="0" lvl="0" marL="0" marR="0" rtl="0" algn="ctr">
              <a:lnSpc>
                <a:spcPct val="90000"/>
              </a:lnSpc>
              <a:spcBef>
                <a:spcPts val="0"/>
              </a:spcBef>
              <a:spcAft>
                <a:spcPts val="0"/>
              </a:spcAft>
              <a:buClr>
                <a:srgbClr val="000000"/>
              </a:buClr>
              <a:buSzPts val="1700"/>
              <a:buFont typeface="Arial"/>
              <a:buNone/>
            </a:pPr>
            <a:r>
              <a:rPr b="1" i="0" lang="en-US" sz="1700" u="none" cap="none" strike="noStrike">
                <a:solidFill>
                  <a:schemeClr val="dk1"/>
                </a:solidFill>
                <a:latin typeface="Calibri"/>
                <a:ea typeface="Calibri"/>
                <a:cs typeface="Calibri"/>
                <a:sym typeface="Calibri"/>
              </a:rPr>
              <a:t>&lt;Original&gt;</a:t>
            </a:r>
            <a:endParaRPr b="1" i="0" sz="1700" u="none" cap="none" strike="noStrike">
              <a:solidFill>
                <a:schemeClr val="dk1"/>
              </a:solidFill>
              <a:latin typeface="Calibri"/>
              <a:ea typeface="Calibri"/>
              <a:cs typeface="Calibri"/>
              <a:sym typeface="Calibri"/>
            </a:endParaRPr>
          </a:p>
          <a:p>
            <a:pPr indent="0" lvl="0" marL="0" marR="0" rtl="0" algn="ctr">
              <a:lnSpc>
                <a:spcPct val="90000"/>
              </a:lnSpc>
              <a:spcBef>
                <a:spcPts val="400"/>
              </a:spcBef>
              <a:spcAft>
                <a:spcPts val="400"/>
              </a:spcAft>
              <a:buClr>
                <a:srgbClr val="000000"/>
              </a:buClr>
              <a:buSzPts val="1700"/>
              <a:buFont typeface="Arial"/>
              <a:buNone/>
            </a:pPr>
            <a:r>
              <a:rPr b="0" i="0" lang="en-US" sz="1700" u="none" cap="none" strike="noStrike">
                <a:solidFill>
                  <a:schemeClr val="dk1"/>
                </a:solidFill>
                <a:latin typeface="Calibri"/>
                <a:ea typeface="Calibri"/>
                <a:cs typeface="Calibri"/>
                <a:sym typeface="Calibri"/>
              </a:rPr>
              <a:t>Yeah.. You would need to use the string methods to see if the strings are ints or floats. You can't use int() or float(). There was a link to useful methods in the lesson, which I'll link here:</a:t>
            </a:r>
            <a:r>
              <a:rPr b="0" i="0" lang="en-US" sz="1700" u="none" cap="none" strike="noStrike">
                <a:solidFill>
                  <a:schemeClr val="dk1"/>
                </a:solidFill>
                <a:uFill>
                  <a:noFill/>
                </a:uFill>
                <a:latin typeface="Calibri"/>
                <a:ea typeface="Calibri"/>
                <a:cs typeface="Calibri"/>
                <a:sym typeface="Calibri"/>
                <a:hlinkClick r:id="rId3">
                  <a:extLst>
                    <a:ext uri="{A12FA001-AC4F-418D-AE19-62706E023703}">
                      <ahyp:hlinkClr val="tx"/>
                    </a:ext>
                  </a:extLst>
                </a:hlinkClick>
              </a:rPr>
              <a:t> </a:t>
            </a:r>
            <a:r>
              <a:rPr b="0" i="0" lang="en-US" sz="1700" u="sng" cap="none" strike="noStrike">
                <a:solidFill>
                  <a:schemeClr val="hlink"/>
                </a:solidFill>
                <a:latin typeface="Calibri"/>
                <a:ea typeface="Calibri"/>
                <a:cs typeface="Calibri"/>
                <a:sym typeface="Calibri"/>
                <a:hlinkClick r:id="rId4"/>
              </a:rPr>
              <a:t>https://docs.python.org/3.7/library/stdtypes.html#string-methods</a:t>
            </a:r>
            <a:endParaRPr b="0" i="0" sz="1400" u="none" cap="none" strike="noStrike">
              <a:solidFill>
                <a:srgbClr val="000000"/>
              </a:solidFill>
              <a:latin typeface="Arial"/>
              <a:ea typeface="Arial"/>
              <a:cs typeface="Arial"/>
              <a:sym typeface="Arial"/>
            </a:endParaRPr>
          </a:p>
        </p:txBody>
      </p:sp>
      <p:sp>
        <p:nvSpPr>
          <p:cNvPr id="204" name="Google Shape;204;g218e1e64d64_0_0"/>
          <p:cNvSpPr/>
          <p:nvPr/>
        </p:nvSpPr>
        <p:spPr>
          <a:xfrm rot="5400000">
            <a:off x="8029800" y="1892700"/>
            <a:ext cx="1793700" cy="4262100"/>
          </a:xfrm>
          <a:prstGeom prst="chevron">
            <a:avLst>
              <a:gd fmla="val 27316" name="adj"/>
            </a:avLst>
          </a:prstGeom>
          <a:solidFill>
            <a:srgbClr val="B7B7B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g218e1e64d64_0_0"/>
          <p:cNvSpPr txBox="1"/>
          <p:nvPr/>
        </p:nvSpPr>
        <p:spPr>
          <a:xfrm>
            <a:off x="6801292" y="3552350"/>
            <a:ext cx="4250700" cy="1282800"/>
          </a:xfrm>
          <a:prstGeom prst="rect">
            <a:avLst/>
          </a:prstGeom>
          <a:noFill/>
          <a:ln>
            <a:noFill/>
          </a:ln>
        </p:spPr>
        <p:txBody>
          <a:bodyPr anchorCtr="0" anchor="t" bIns="91425" lIns="91425" spcFirstLastPara="1" rIns="91425" wrap="square" tIns="91425">
            <a:spAutoFit/>
          </a:bodyPr>
          <a:lstStyle/>
          <a:p>
            <a:pPr indent="0" lvl="0" marL="0" marR="0" rtl="0" algn="ctr">
              <a:lnSpc>
                <a:spcPct val="90000"/>
              </a:lnSpc>
              <a:spcBef>
                <a:spcPts val="0"/>
              </a:spcBef>
              <a:spcAft>
                <a:spcPts val="0"/>
              </a:spcAft>
              <a:buClr>
                <a:srgbClr val="000000"/>
              </a:buClr>
              <a:buSzPts val="1700"/>
              <a:buFont typeface="Arial"/>
              <a:buNone/>
            </a:pPr>
            <a:r>
              <a:rPr b="1" i="0" lang="en-US" sz="1700" u="none" cap="none" strike="noStrike">
                <a:solidFill>
                  <a:schemeClr val="dk1"/>
                </a:solidFill>
                <a:latin typeface="Calibri"/>
                <a:ea typeface="Calibri"/>
                <a:cs typeface="Calibri"/>
                <a:sym typeface="Calibri"/>
              </a:rPr>
              <a:t>&lt;Preprocessed&gt;</a:t>
            </a:r>
            <a:endParaRPr b="1" i="0" sz="1700" u="none" cap="none" strike="noStrike">
              <a:solidFill>
                <a:schemeClr val="dk1"/>
              </a:solidFill>
              <a:latin typeface="Calibri"/>
              <a:ea typeface="Calibri"/>
              <a:cs typeface="Calibri"/>
              <a:sym typeface="Calibri"/>
            </a:endParaRPr>
          </a:p>
          <a:p>
            <a:pPr indent="0" lvl="0" marL="0" marR="0" rtl="0" algn="ctr">
              <a:lnSpc>
                <a:spcPct val="90000"/>
              </a:lnSpc>
              <a:spcBef>
                <a:spcPts val="400"/>
              </a:spcBef>
              <a:spcAft>
                <a:spcPts val="400"/>
              </a:spcAft>
              <a:buClr>
                <a:srgbClr val="000000"/>
              </a:buClr>
              <a:buSzPts val="1700"/>
              <a:buFont typeface="Arial"/>
              <a:buNone/>
            </a:pPr>
            <a:r>
              <a:rPr b="0" i="0" lang="en-US" sz="1700" u="none" cap="none" strike="noStrike">
                <a:solidFill>
                  <a:schemeClr val="dk1"/>
                </a:solidFill>
                <a:latin typeface="Calibri"/>
                <a:ea typeface="Calibri"/>
                <a:cs typeface="Calibri"/>
                <a:sym typeface="Calibri"/>
              </a:rPr>
              <a:t>yeah need use string method string int float not use int float link useful method lesson ill link here</a:t>
            </a:r>
            <a:endParaRPr b="0" i="0" sz="1400" u="none" cap="none" strike="noStrike">
              <a:solidFill>
                <a:schemeClr val="dk1"/>
              </a:solidFill>
              <a:latin typeface="Calibri"/>
              <a:ea typeface="Calibri"/>
              <a:cs typeface="Calibri"/>
              <a:sym typeface="Calibri"/>
            </a:endParaRPr>
          </a:p>
        </p:txBody>
      </p:sp>
      <p:sp>
        <p:nvSpPr>
          <p:cNvPr id="206" name="Google Shape;206;g218e1e64d64_0_0"/>
          <p:cNvSpPr/>
          <p:nvPr/>
        </p:nvSpPr>
        <p:spPr>
          <a:xfrm rot="5400000">
            <a:off x="8070750" y="3385850"/>
            <a:ext cx="1723500" cy="4250700"/>
          </a:xfrm>
          <a:prstGeom prst="chevron">
            <a:avLst>
              <a:gd fmla="val 25493" name="adj"/>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g218e1e64d64_0_0"/>
          <p:cNvSpPr txBox="1"/>
          <p:nvPr/>
        </p:nvSpPr>
        <p:spPr>
          <a:xfrm>
            <a:off x="6812694" y="5120250"/>
            <a:ext cx="4239600" cy="1060200"/>
          </a:xfrm>
          <a:prstGeom prst="rect">
            <a:avLst/>
          </a:prstGeom>
          <a:noFill/>
          <a:ln>
            <a:noFill/>
          </a:ln>
        </p:spPr>
        <p:txBody>
          <a:bodyPr anchorCtr="0" anchor="t" bIns="91425" lIns="91425" spcFirstLastPara="1" rIns="91425" wrap="square" tIns="91425">
            <a:spAutoFit/>
          </a:bodyPr>
          <a:lstStyle/>
          <a:p>
            <a:pPr indent="0" lvl="0" marL="0" marR="0" rtl="0" algn="ctr">
              <a:lnSpc>
                <a:spcPct val="90000"/>
              </a:lnSpc>
              <a:spcBef>
                <a:spcPts val="0"/>
              </a:spcBef>
              <a:spcAft>
                <a:spcPts val="0"/>
              </a:spcAft>
              <a:buClr>
                <a:srgbClr val="000000"/>
              </a:buClr>
              <a:buSzPts val="1700"/>
              <a:buFont typeface="Arial"/>
              <a:buNone/>
            </a:pPr>
            <a:r>
              <a:rPr b="1" i="0" lang="en-US" sz="1700" u="none" cap="none" strike="noStrike">
                <a:solidFill>
                  <a:schemeClr val="dk1"/>
                </a:solidFill>
                <a:latin typeface="Calibri"/>
                <a:ea typeface="Calibri"/>
                <a:cs typeface="Calibri"/>
                <a:sym typeface="Calibri"/>
              </a:rPr>
              <a:t>&lt;Topic&gt;</a:t>
            </a:r>
            <a:endParaRPr b="1" i="0" sz="1700" u="none" cap="none" strike="noStrike">
              <a:solidFill>
                <a:schemeClr val="dk1"/>
              </a:solidFill>
              <a:latin typeface="Calibri"/>
              <a:ea typeface="Calibri"/>
              <a:cs typeface="Calibri"/>
              <a:sym typeface="Calibri"/>
            </a:endParaRPr>
          </a:p>
          <a:p>
            <a:pPr indent="0" lvl="0" marL="0" marR="0" rtl="0" algn="ctr">
              <a:lnSpc>
                <a:spcPct val="115000"/>
              </a:lnSpc>
              <a:spcBef>
                <a:spcPts val="400"/>
              </a:spcBef>
              <a:spcAft>
                <a:spcPts val="0"/>
              </a:spcAft>
              <a:buClr>
                <a:srgbClr val="000000"/>
              </a:buClr>
              <a:buSzPts val="1700"/>
              <a:buFont typeface="Arial"/>
              <a:buNone/>
            </a:pPr>
            <a:r>
              <a:rPr b="0" i="0" lang="en-US" sz="1700" u="none" cap="none" strike="noStrike">
                <a:solidFill>
                  <a:schemeClr val="dk1"/>
                </a:solidFill>
                <a:latin typeface="Calibri"/>
                <a:ea typeface="Calibri"/>
                <a:cs typeface="Calibri"/>
                <a:sym typeface="Calibri"/>
              </a:rPr>
              <a:t>['float', 'int', 'string', 'error', 'integer', 'round', 'sort']</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g22e0a18201f_0_0"/>
          <p:cNvSpPr txBox="1"/>
          <p:nvPr>
            <p:ph idx="1" type="body"/>
          </p:nvPr>
        </p:nvSpPr>
        <p:spPr>
          <a:xfrm>
            <a:off x="381000" y="1130850"/>
            <a:ext cx="6330600" cy="5638200"/>
          </a:xfrm>
          <a:prstGeom prst="rect">
            <a:avLst/>
          </a:prstGeom>
          <a:noFill/>
          <a:ln>
            <a:noFill/>
          </a:ln>
        </p:spPr>
        <p:txBody>
          <a:bodyPr anchorCtr="0" anchor="t" bIns="45700" lIns="91425" spcFirstLastPara="1" rIns="91425" wrap="square" tIns="45700">
            <a:noAutofit/>
          </a:bodyPr>
          <a:lstStyle/>
          <a:p>
            <a:pPr indent="-368300" lvl="0" marL="457200" rtl="0" algn="l">
              <a:lnSpc>
                <a:spcPct val="90000"/>
              </a:lnSpc>
              <a:spcBef>
                <a:spcPts val="1000"/>
              </a:spcBef>
              <a:spcAft>
                <a:spcPts val="0"/>
              </a:spcAft>
              <a:buSzPts val="2200"/>
              <a:buChar char="•"/>
            </a:pPr>
            <a:r>
              <a:rPr lang="en-US" sz="2200"/>
              <a:t>Switched the model to Bert-Sentiment</a:t>
            </a:r>
            <a:endParaRPr sz="2200"/>
          </a:p>
          <a:p>
            <a:pPr indent="-336550" lvl="1" marL="914400" rtl="0" algn="l">
              <a:lnSpc>
                <a:spcPct val="90000"/>
              </a:lnSpc>
              <a:spcBef>
                <a:spcPts val="1000"/>
              </a:spcBef>
              <a:spcAft>
                <a:spcPts val="0"/>
              </a:spcAft>
              <a:buSzPts val="1700"/>
              <a:buChar char="•"/>
            </a:pPr>
            <a:r>
              <a:rPr lang="en-US" sz="1700"/>
              <a:t>Overall class sentiment</a:t>
            </a:r>
            <a:endParaRPr sz="1700"/>
          </a:p>
          <a:p>
            <a:pPr indent="-336550" lvl="1" marL="914400" rtl="0" algn="l">
              <a:lnSpc>
                <a:spcPct val="90000"/>
              </a:lnSpc>
              <a:spcBef>
                <a:spcPts val="1000"/>
              </a:spcBef>
              <a:spcAft>
                <a:spcPts val="0"/>
              </a:spcAft>
              <a:buSzPts val="1700"/>
              <a:buChar char="•"/>
            </a:pPr>
            <a:r>
              <a:rPr lang="en-US" sz="1700"/>
              <a:t>A</a:t>
            </a:r>
            <a:r>
              <a:rPr lang="en-US" sz="1700"/>
              <a:t>spect-based sentiment for each post/comment</a:t>
            </a:r>
            <a:endParaRPr sz="1700"/>
          </a:p>
          <a:p>
            <a:pPr indent="-368300" lvl="0" marL="457200" rtl="0" algn="l">
              <a:lnSpc>
                <a:spcPct val="90000"/>
              </a:lnSpc>
              <a:spcBef>
                <a:spcPts val="1000"/>
              </a:spcBef>
              <a:spcAft>
                <a:spcPts val="0"/>
              </a:spcAft>
              <a:buSzPts val="2200"/>
              <a:buChar char="•"/>
            </a:pPr>
            <a:r>
              <a:rPr lang="en-US" sz="2200"/>
              <a:t>Improvement</a:t>
            </a:r>
            <a:endParaRPr sz="1700"/>
          </a:p>
          <a:p>
            <a:pPr indent="-336550" lvl="1" marL="914400" rtl="0" algn="l">
              <a:lnSpc>
                <a:spcPct val="90000"/>
              </a:lnSpc>
              <a:spcBef>
                <a:spcPts val="1000"/>
              </a:spcBef>
              <a:spcAft>
                <a:spcPts val="0"/>
              </a:spcAft>
              <a:buSzPts val="1700"/>
              <a:buChar char="•"/>
            </a:pPr>
            <a:r>
              <a:rPr lang="en-US" sz="1700"/>
              <a:t>Higher Accuracy</a:t>
            </a:r>
            <a:endParaRPr sz="1700"/>
          </a:p>
          <a:p>
            <a:pPr indent="-336550" lvl="1" marL="914400" rtl="0" algn="l">
              <a:lnSpc>
                <a:spcPct val="90000"/>
              </a:lnSpc>
              <a:spcBef>
                <a:spcPts val="1000"/>
              </a:spcBef>
              <a:spcAft>
                <a:spcPts val="0"/>
              </a:spcAft>
              <a:buSzPts val="1700"/>
              <a:buChar char="•"/>
            </a:pPr>
            <a:r>
              <a:rPr lang="en-US" sz="1700"/>
              <a:t>Applied result from topic modeling as aspects</a:t>
            </a:r>
            <a:endParaRPr sz="1700"/>
          </a:p>
          <a:p>
            <a:pPr indent="-336550" lvl="1" marL="914400" rtl="0" algn="l">
              <a:lnSpc>
                <a:spcPct val="90000"/>
              </a:lnSpc>
              <a:spcBef>
                <a:spcPts val="1000"/>
              </a:spcBef>
              <a:spcAft>
                <a:spcPts val="0"/>
              </a:spcAft>
              <a:buSzPts val="1700"/>
              <a:buChar char="•"/>
            </a:pPr>
            <a:r>
              <a:rPr lang="en-US" sz="1700"/>
              <a:t>Applied simpler but more meaningful pre-processing</a:t>
            </a:r>
            <a:endParaRPr sz="1700"/>
          </a:p>
          <a:p>
            <a:pPr indent="-336550" lvl="2" marL="1371600" rtl="0" algn="l">
              <a:lnSpc>
                <a:spcPct val="90000"/>
              </a:lnSpc>
              <a:spcBef>
                <a:spcPts val="1000"/>
              </a:spcBef>
              <a:spcAft>
                <a:spcPts val="0"/>
              </a:spcAft>
              <a:buSzPts val="1700"/>
              <a:buChar char="•"/>
            </a:pPr>
            <a:r>
              <a:rPr lang="en-US" sz="1700"/>
              <a:t>Removed HTML tags</a:t>
            </a:r>
            <a:endParaRPr sz="1700"/>
          </a:p>
          <a:p>
            <a:pPr indent="-336550" lvl="2" marL="1371600" rtl="0" algn="l">
              <a:lnSpc>
                <a:spcPct val="90000"/>
              </a:lnSpc>
              <a:spcBef>
                <a:spcPts val="1000"/>
              </a:spcBef>
              <a:spcAft>
                <a:spcPts val="0"/>
              </a:spcAft>
              <a:buSzPts val="1700"/>
              <a:buChar char="•"/>
            </a:pPr>
            <a:r>
              <a:rPr lang="en-US" sz="1700"/>
              <a:t>Effectively removed extra spaces between words</a:t>
            </a:r>
            <a:endParaRPr sz="1700"/>
          </a:p>
          <a:p>
            <a:pPr indent="-336550" lvl="1" marL="914400" rtl="0" algn="l">
              <a:lnSpc>
                <a:spcPct val="90000"/>
              </a:lnSpc>
              <a:spcBef>
                <a:spcPts val="1000"/>
              </a:spcBef>
              <a:spcAft>
                <a:spcPts val="0"/>
              </a:spcAft>
              <a:buSzPts val="1700"/>
              <a:buChar char="•"/>
            </a:pPr>
            <a:r>
              <a:rPr lang="en-US" sz="1700"/>
              <a:t>Modified hard-coded code into variable-based code</a:t>
            </a:r>
            <a:endParaRPr sz="1700"/>
          </a:p>
          <a:p>
            <a:pPr indent="-336550" lvl="2" marL="1371600" rtl="0" algn="l">
              <a:lnSpc>
                <a:spcPct val="90000"/>
              </a:lnSpc>
              <a:spcBef>
                <a:spcPts val="1000"/>
              </a:spcBef>
              <a:spcAft>
                <a:spcPts val="0"/>
              </a:spcAft>
              <a:buSzPts val="1700"/>
              <a:buChar char="•"/>
            </a:pPr>
            <a:r>
              <a:rPr lang="en-US" sz="1700"/>
              <a:t> Easily change aspect in the future when needed</a:t>
            </a:r>
            <a:endParaRPr sz="1700"/>
          </a:p>
          <a:p>
            <a:pPr indent="-336550" lvl="1" marL="914400" rtl="0" algn="l">
              <a:lnSpc>
                <a:spcPct val="90000"/>
              </a:lnSpc>
              <a:spcBef>
                <a:spcPts val="1000"/>
              </a:spcBef>
              <a:spcAft>
                <a:spcPts val="0"/>
              </a:spcAft>
              <a:buSzPts val="1700"/>
              <a:buChar char="•"/>
            </a:pPr>
            <a:r>
              <a:rPr lang="en-US" sz="1700"/>
              <a:t>Generated .json file</a:t>
            </a:r>
            <a:endParaRPr sz="1700"/>
          </a:p>
          <a:p>
            <a:pPr indent="-368300" lvl="0" marL="457200" rtl="0" algn="l">
              <a:lnSpc>
                <a:spcPct val="90000"/>
              </a:lnSpc>
              <a:spcBef>
                <a:spcPts val="1000"/>
              </a:spcBef>
              <a:spcAft>
                <a:spcPts val="0"/>
              </a:spcAft>
              <a:buSzPts val="2200"/>
              <a:buChar char="•"/>
            </a:pPr>
            <a:r>
              <a:rPr lang="en-US" sz="2200"/>
              <a:t>Challenges</a:t>
            </a:r>
            <a:endParaRPr sz="2200"/>
          </a:p>
          <a:p>
            <a:pPr indent="-336550" lvl="1" marL="914400" rtl="0" algn="l">
              <a:lnSpc>
                <a:spcPct val="90000"/>
              </a:lnSpc>
              <a:spcBef>
                <a:spcPts val="1000"/>
              </a:spcBef>
              <a:spcAft>
                <a:spcPts val="0"/>
              </a:spcAft>
              <a:buSzPts val="1700"/>
              <a:buChar char="•"/>
            </a:pPr>
            <a:r>
              <a:rPr lang="en-US" sz="1700"/>
              <a:t>Calculate F1 score to see actual improvement</a:t>
            </a:r>
            <a:endParaRPr sz="1700"/>
          </a:p>
          <a:p>
            <a:pPr indent="0" lvl="0" marL="0" rtl="0" algn="l">
              <a:lnSpc>
                <a:spcPct val="90000"/>
              </a:lnSpc>
              <a:spcBef>
                <a:spcPts val="1000"/>
              </a:spcBef>
              <a:spcAft>
                <a:spcPts val="0"/>
              </a:spcAft>
              <a:buSzPts val="1800"/>
              <a:buNone/>
            </a:pPr>
            <a:r>
              <a:t/>
            </a:r>
            <a:endParaRPr sz="2500"/>
          </a:p>
        </p:txBody>
      </p:sp>
      <p:sp>
        <p:nvSpPr>
          <p:cNvPr id="213" name="Google Shape;213;g22e0a18201f_0_0"/>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ABSA</a:t>
            </a:r>
            <a:endParaRPr/>
          </a:p>
        </p:txBody>
      </p:sp>
      <p:sp>
        <p:nvSpPr>
          <p:cNvPr id="214" name="Google Shape;214;g22e0a18201f_0_0"/>
          <p:cNvSpPr/>
          <p:nvPr/>
        </p:nvSpPr>
        <p:spPr>
          <a:xfrm rot="5400000">
            <a:off x="6758400" y="676900"/>
            <a:ext cx="4336800" cy="4262100"/>
          </a:xfrm>
          <a:prstGeom prst="chevron">
            <a:avLst>
              <a:gd fmla="val 9941" name="adj"/>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g22e0a18201f_0_0"/>
          <p:cNvSpPr txBox="1"/>
          <p:nvPr/>
        </p:nvSpPr>
        <p:spPr>
          <a:xfrm>
            <a:off x="7070550" y="1146650"/>
            <a:ext cx="3712500" cy="3390000"/>
          </a:xfrm>
          <a:prstGeom prst="rect">
            <a:avLst/>
          </a:prstGeom>
          <a:noFill/>
          <a:ln>
            <a:noFill/>
          </a:ln>
        </p:spPr>
        <p:txBody>
          <a:bodyPr anchorCtr="0" anchor="t" bIns="91425" lIns="91425" spcFirstLastPara="1" rIns="91425" wrap="square" tIns="91425">
            <a:spAutoFit/>
          </a:bodyPr>
          <a:lstStyle/>
          <a:p>
            <a:pPr indent="0" lvl="0" marL="0" marR="0" rtl="0" algn="ctr">
              <a:lnSpc>
                <a:spcPct val="90000"/>
              </a:lnSpc>
              <a:spcBef>
                <a:spcPts val="0"/>
              </a:spcBef>
              <a:spcAft>
                <a:spcPts val="0"/>
              </a:spcAft>
              <a:buClr>
                <a:srgbClr val="000000"/>
              </a:buClr>
              <a:buSzPts val="1700"/>
              <a:buFont typeface="Arial"/>
              <a:buNone/>
            </a:pPr>
            <a:r>
              <a:rPr b="1" i="0" lang="en-US" sz="1700" u="none" cap="none" strike="noStrike">
                <a:solidFill>
                  <a:schemeClr val="dk1"/>
                </a:solidFill>
                <a:latin typeface="Calibri"/>
                <a:ea typeface="Calibri"/>
                <a:cs typeface="Calibri"/>
                <a:sym typeface="Calibri"/>
              </a:rPr>
              <a:t>&lt;</a:t>
            </a:r>
            <a:r>
              <a:rPr b="1" lang="en-US" sz="1700">
                <a:solidFill>
                  <a:schemeClr val="dk1"/>
                </a:solidFill>
                <a:latin typeface="Calibri"/>
                <a:ea typeface="Calibri"/>
                <a:cs typeface="Calibri"/>
                <a:sym typeface="Calibri"/>
              </a:rPr>
              <a:t>Post</a:t>
            </a:r>
            <a:r>
              <a:rPr b="1" i="0" lang="en-US" sz="1700" u="none" cap="none" strike="noStrike">
                <a:solidFill>
                  <a:schemeClr val="dk1"/>
                </a:solidFill>
                <a:latin typeface="Calibri"/>
                <a:ea typeface="Calibri"/>
                <a:cs typeface="Calibri"/>
                <a:sym typeface="Calibri"/>
              </a:rPr>
              <a:t>&gt;</a:t>
            </a:r>
            <a:endParaRPr b="1" sz="1700">
              <a:solidFill>
                <a:schemeClr val="dk1"/>
              </a:solidFill>
              <a:latin typeface="Calibri"/>
              <a:ea typeface="Calibri"/>
              <a:cs typeface="Calibri"/>
              <a:sym typeface="Calibri"/>
            </a:endParaRPr>
          </a:p>
          <a:p>
            <a:pPr indent="-336550" lvl="0" marL="457200" rtl="0" algn="l">
              <a:lnSpc>
                <a:spcPct val="115000"/>
              </a:lnSpc>
              <a:spcBef>
                <a:spcPts val="0"/>
              </a:spcBef>
              <a:spcAft>
                <a:spcPts val="0"/>
              </a:spcAft>
              <a:buClr>
                <a:schemeClr val="dk1"/>
              </a:buClr>
              <a:buSzPts val="1700"/>
              <a:buFont typeface="Calibri"/>
              <a:buAutoNum type="arabicPeriod"/>
            </a:pPr>
            <a:r>
              <a:rPr lang="en-US" sz="1700">
                <a:solidFill>
                  <a:schemeClr val="dk1"/>
                </a:solidFill>
              </a:rPr>
              <a:t>I've finished my submission for Assignment 4 and marked it active in Gradescope (should be the final one scored as 100).</a:t>
            </a:r>
            <a:endParaRPr sz="1700">
              <a:solidFill>
                <a:schemeClr val="dk1"/>
              </a:solidFill>
            </a:endParaRPr>
          </a:p>
          <a:p>
            <a:pPr indent="-336550" lvl="0" marL="457200" rtl="0" algn="l">
              <a:lnSpc>
                <a:spcPct val="115000"/>
              </a:lnSpc>
              <a:spcBef>
                <a:spcPts val="0"/>
              </a:spcBef>
              <a:spcAft>
                <a:spcPts val="0"/>
              </a:spcAft>
              <a:buClr>
                <a:schemeClr val="dk1"/>
              </a:buClr>
              <a:buSzPts val="1700"/>
              <a:buFont typeface="Calibri"/>
              <a:buAutoNum type="arabicPeriod"/>
            </a:pPr>
            <a:r>
              <a:rPr lang="en-US" sz="1700">
                <a:solidFill>
                  <a:schemeClr val="dk1"/>
                </a:solidFill>
              </a:rPr>
              <a:t>OK. Right now I am only calling my fit function in my unit tests, so I'm not sure how that's going to help me when I submit to GradeScope. Should I be calling fit somewhere else?</a:t>
            </a:r>
            <a:endParaRPr b="1" sz="1700">
              <a:solidFill>
                <a:schemeClr val="dk1"/>
              </a:solidFill>
              <a:latin typeface="Calibri"/>
              <a:ea typeface="Calibri"/>
              <a:cs typeface="Calibri"/>
              <a:sym typeface="Calibri"/>
            </a:endParaRPr>
          </a:p>
        </p:txBody>
      </p:sp>
      <p:sp>
        <p:nvSpPr>
          <p:cNvPr id="216" name="Google Shape;216;g22e0a18201f_0_0"/>
          <p:cNvSpPr/>
          <p:nvPr/>
        </p:nvSpPr>
        <p:spPr>
          <a:xfrm rot="5400000">
            <a:off x="8070750" y="3385850"/>
            <a:ext cx="1723500" cy="4250700"/>
          </a:xfrm>
          <a:prstGeom prst="chevron">
            <a:avLst>
              <a:gd fmla="val 25493" name="adj"/>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 name="Google Shape;217;g22e0a18201f_0_0"/>
          <p:cNvSpPr txBox="1"/>
          <p:nvPr/>
        </p:nvSpPr>
        <p:spPr>
          <a:xfrm>
            <a:off x="6812694" y="5044050"/>
            <a:ext cx="4239600" cy="942600"/>
          </a:xfrm>
          <a:prstGeom prst="rect">
            <a:avLst/>
          </a:prstGeom>
          <a:noFill/>
          <a:ln>
            <a:noFill/>
          </a:ln>
        </p:spPr>
        <p:txBody>
          <a:bodyPr anchorCtr="0" anchor="t" bIns="91425" lIns="91425" spcFirstLastPara="1" rIns="91425" wrap="square" tIns="91425">
            <a:spAutoFit/>
          </a:bodyPr>
          <a:lstStyle/>
          <a:p>
            <a:pPr indent="0" lvl="0" marL="0" marR="0" rtl="0" algn="ctr">
              <a:lnSpc>
                <a:spcPct val="90000"/>
              </a:lnSpc>
              <a:spcBef>
                <a:spcPts val="0"/>
              </a:spcBef>
              <a:spcAft>
                <a:spcPts val="0"/>
              </a:spcAft>
              <a:buClr>
                <a:srgbClr val="000000"/>
              </a:buClr>
              <a:buSzPts val="1700"/>
              <a:buFont typeface="Arial"/>
              <a:buNone/>
            </a:pPr>
            <a:r>
              <a:rPr b="1" i="0" lang="en-US" sz="1700" u="none" cap="none" strike="noStrike">
                <a:solidFill>
                  <a:schemeClr val="dk1"/>
                </a:solidFill>
                <a:latin typeface="Calibri"/>
                <a:ea typeface="Calibri"/>
                <a:cs typeface="Calibri"/>
                <a:sym typeface="Calibri"/>
              </a:rPr>
              <a:t>&lt;</a:t>
            </a:r>
            <a:r>
              <a:rPr b="1" lang="en-US" sz="1700">
                <a:solidFill>
                  <a:schemeClr val="dk1"/>
                </a:solidFill>
                <a:latin typeface="Calibri"/>
                <a:ea typeface="Calibri"/>
                <a:cs typeface="Calibri"/>
                <a:sym typeface="Calibri"/>
              </a:rPr>
              <a:t>Result</a:t>
            </a:r>
            <a:r>
              <a:rPr b="1" i="0" lang="en-US" sz="1700" u="none" cap="none" strike="noStrike">
                <a:solidFill>
                  <a:schemeClr val="dk1"/>
                </a:solidFill>
                <a:latin typeface="Calibri"/>
                <a:ea typeface="Calibri"/>
                <a:cs typeface="Calibri"/>
                <a:sym typeface="Calibri"/>
              </a:rPr>
              <a:t>&gt;</a:t>
            </a:r>
            <a:endParaRPr b="1" i="0" sz="1700" u="none" cap="none" strike="noStrike">
              <a:solidFill>
                <a:schemeClr val="dk1"/>
              </a:solidFill>
              <a:latin typeface="Calibri"/>
              <a:ea typeface="Calibri"/>
              <a:cs typeface="Calibri"/>
              <a:sym typeface="Calibri"/>
            </a:endParaRPr>
          </a:p>
          <a:p>
            <a:pPr indent="-317500" lvl="0" marL="457200" rtl="0" algn="ctr">
              <a:lnSpc>
                <a:spcPct val="90000"/>
              </a:lnSpc>
              <a:spcBef>
                <a:spcPts val="400"/>
              </a:spcBef>
              <a:spcAft>
                <a:spcPts val="0"/>
              </a:spcAft>
              <a:buClr>
                <a:schemeClr val="dk1"/>
              </a:buClr>
              <a:buSzPts val="1400"/>
              <a:buFont typeface="Calibri"/>
              <a:buAutoNum type="arabicPeriod"/>
            </a:pPr>
            <a:r>
              <a:rPr lang="en-US" sz="1700">
                <a:solidFill>
                  <a:schemeClr val="dk1"/>
                </a:solidFill>
                <a:latin typeface="Calibri"/>
                <a:ea typeface="Calibri"/>
                <a:cs typeface="Calibri"/>
                <a:sym typeface="Calibri"/>
              </a:rPr>
              <a:t>gradescope(+), assignment(+)</a:t>
            </a:r>
            <a:endParaRPr sz="1700">
              <a:solidFill>
                <a:schemeClr val="dk1"/>
              </a:solidFill>
              <a:latin typeface="Calibri"/>
              <a:ea typeface="Calibri"/>
              <a:cs typeface="Calibri"/>
              <a:sym typeface="Calibri"/>
            </a:endParaRPr>
          </a:p>
          <a:p>
            <a:pPr indent="-336550" lvl="0" marL="457200" rtl="0" algn="ctr">
              <a:lnSpc>
                <a:spcPct val="90000"/>
              </a:lnSpc>
              <a:spcBef>
                <a:spcPts val="0"/>
              </a:spcBef>
              <a:spcAft>
                <a:spcPts val="0"/>
              </a:spcAft>
              <a:buClr>
                <a:schemeClr val="dk1"/>
              </a:buClr>
              <a:buSzPts val="1700"/>
              <a:buFont typeface="Calibri"/>
              <a:buAutoNum type="arabicPeriod"/>
            </a:pPr>
            <a:r>
              <a:rPr lang="en-US" sz="1700">
                <a:solidFill>
                  <a:schemeClr val="dk1"/>
                </a:solidFill>
                <a:latin typeface="Calibri"/>
                <a:ea typeface="Calibri"/>
                <a:cs typeface="Calibri"/>
                <a:sym typeface="Calibri"/>
              </a:rPr>
              <a:t>test(0), functions(0), gradescope(-)</a:t>
            </a:r>
            <a:endParaRPr sz="17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21" name="Shape 221"/>
        <p:cNvGrpSpPr/>
        <p:nvPr/>
      </p:nvGrpSpPr>
      <p:grpSpPr>
        <a:xfrm>
          <a:off x="0" y="0"/>
          <a:ext cx="0" cy="0"/>
          <a:chOff x="0" y="0"/>
          <a:chExt cx="0" cy="0"/>
        </a:xfrm>
      </p:grpSpPr>
      <p:sp>
        <p:nvSpPr>
          <p:cNvPr id="222" name="Google Shape;222;g15e2f3f4d0a_0_5"/>
          <p:cNvSpPr txBox="1"/>
          <p:nvPr>
            <p:ph idx="1" type="body"/>
          </p:nvPr>
        </p:nvSpPr>
        <p:spPr>
          <a:xfrm>
            <a:off x="381000" y="1215484"/>
            <a:ext cx="11430000" cy="4596300"/>
          </a:xfrm>
          <a:prstGeom prst="rect">
            <a:avLst/>
          </a:prstGeom>
          <a:noFill/>
          <a:ln>
            <a:noFill/>
          </a:ln>
        </p:spPr>
        <p:txBody>
          <a:bodyPr anchorCtr="0" anchor="t" bIns="45700" lIns="91425" spcFirstLastPara="1" rIns="91425" wrap="square" tIns="45700">
            <a:normAutofit/>
          </a:bodyPr>
          <a:lstStyle/>
          <a:p>
            <a:pPr indent="-374650" lvl="0" marL="457200" rtl="0" algn="l">
              <a:lnSpc>
                <a:spcPct val="115000"/>
              </a:lnSpc>
              <a:spcBef>
                <a:spcPts val="1000"/>
              </a:spcBef>
              <a:spcAft>
                <a:spcPts val="0"/>
              </a:spcAft>
              <a:buSzPts val="2300"/>
              <a:buChar char="●"/>
            </a:pPr>
            <a:r>
              <a:rPr lang="en-US" sz="2300"/>
              <a:t>Aspect-Based Sentiment Analysis</a:t>
            </a:r>
            <a:endParaRPr sz="2300"/>
          </a:p>
          <a:p>
            <a:pPr indent="-342900" lvl="1" marL="914400" rtl="0" algn="l">
              <a:lnSpc>
                <a:spcPct val="115000"/>
              </a:lnSpc>
              <a:spcBef>
                <a:spcPts val="0"/>
              </a:spcBef>
              <a:spcAft>
                <a:spcPts val="0"/>
              </a:spcAft>
              <a:buSzPts val="1800"/>
              <a:buChar char="○"/>
            </a:pPr>
            <a:r>
              <a:rPr lang="en-US" sz="1800"/>
              <a:t>Technique that categorizes text data by aspect and identifies the sentiment attributed to each one</a:t>
            </a:r>
            <a:endParaRPr sz="1800"/>
          </a:p>
          <a:p>
            <a:pPr indent="-342900" lvl="1" marL="914400" rtl="0" algn="l">
              <a:lnSpc>
                <a:spcPct val="115000"/>
              </a:lnSpc>
              <a:spcBef>
                <a:spcPts val="0"/>
              </a:spcBef>
              <a:spcAft>
                <a:spcPts val="0"/>
              </a:spcAft>
              <a:buSzPts val="1800"/>
              <a:buChar char="○"/>
            </a:pPr>
            <a:r>
              <a:rPr lang="en-US" sz="1800"/>
              <a:t>Can provide reasonable sentiment for aspects depending on students’ current circumstance for multiple aspects at once</a:t>
            </a:r>
            <a:endParaRPr sz="2300"/>
          </a:p>
          <a:p>
            <a:pPr indent="-374650" lvl="0" marL="457200" rtl="0" algn="l">
              <a:lnSpc>
                <a:spcPct val="115000"/>
              </a:lnSpc>
              <a:spcBef>
                <a:spcPts val="0"/>
              </a:spcBef>
              <a:spcAft>
                <a:spcPts val="0"/>
              </a:spcAft>
              <a:buSzPts val="2300"/>
              <a:buChar char="●"/>
            </a:pPr>
            <a:r>
              <a:rPr lang="en-US" sz="2300"/>
              <a:t>Tested and trained on Piazza data</a:t>
            </a:r>
            <a:endParaRPr sz="2300"/>
          </a:p>
          <a:p>
            <a:pPr indent="-374650" lvl="1" marL="914400" rtl="0" algn="l">
              <a:lnSpc>
                <a:spcPct val="115000"/>
              </a:lnSpc>
              <a:spcBef>
                <a:spcPts val="0"/>
              </a:spcBef>
              <a:spcAft>
                <a:spcPts val="0"/>
              </a:spcAft>
              <a:buSzPts val="2300"/>
              <a:buChar char="○"/>
            </a:pPr>
            <a:r>
              <a:rPr lang="en-US" sz="1800"/>
              <a:t>Example input:</a:t>
            </a:r>
            <a:endParaRPr sz="1800"/>
          </a:p>
          <a:p>
            <a:pPr indent="-374650" lvl="2" marL="1371600" rtl="0" algn="l">
              <a:lnSpc>
                <a:spcPct val="115000"/>
              </a:lnSpc>
              <a:spcBef>
                <a:spcPts val="0"/>
              </a:spcBef>
              <a:spcAft>
                <a:spcPts val="0"/>
              </a:spcAft>
              <a:buSzPts val="2300"/>
              <a:buChar char="■"/>
            </a:pPr>
            <a:r>
              <a:rPr b="1" lang="en-US" sz="1500"/>
              <a:t>Text</a:t>
            </a:r>
            <a:r>
              <a:rPr lang="en-US" sz="1500"/>
              <a:t>: for some reason from my end the ' gradescope ' submission is still not happening</a:t>
            </a:r>
            <a:endParaRPr sz="1500"/>
          </a:p>
          <a:p>
            <a:pPr indent="-374650" lvl="2" marL="1371600" rtl="0" algn="l">
              <a:lnSpc>
                <a:spcPct val="115000"/>
              </a:lnSpc>
              <a:spcBef>
                <a:spcPts val="0"/>
              </a:spcBef>
              <a:spcAft>
                <a:spcPts val="0"/>
              </a:spcAft>
              <a:buSzPts val="2300"/>
              <a:buChar char="■"/>
            </a:pPr>
            <a:r>
              <a:rPr b="1" lang="en-US" sz="1500"/>
              <a:t>Aspects</a:t>
            </a:r>
            <a:r>
              <a:rPr lang="en-US" sz="1500"/>
              <a:t>: [test, project, quiz, homework, gradescope, assignment]</a:t>
            </a:r>
            <a:endParaRPr sz="1800"/>
          </a:p>
          <a:p>
            <a:pPr indent="-374650" lvl="1" marL="914400" rtl="0" algn="l">
              <a:lnSpc>
                <a:spcPct val="115000"/>
              </a:lnSpc>
              <a:spcBef>
                <a:spcPts val="0"/>
              </a:spcBef>
              <a:spcAft>
                <a:spcPts val="0"/>
              </a:spcAft>
              <a:buSzPts val="2300"/>
              <a:buChar char="○"/>
            </a:pPr>
            <a:r>
              <a:rPr lang="en-US" sz="1800"/>
              <a:t>Example output:</a:t>
            </a:r>
            <a:endParaRPr sz="2300"/>
          </a:p>
        </p:txBody>
      </p:sp>
      <p:sp>
        <p:nvSpPr>
          <p:cNvPr id="223" name="Google Shape;223;g15e2f3f4d0a_0_5"/>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ABSA</a:t>
            </a:r>
            <a:endParaRPr/>
          </a:p>
        </p:txBody>
      </p:sp>
      <p:pic>
        <p:nvPicPr>
          <p:cNvPr id="224" name="Google Shape;224;g15e2f3f4d0a_0_5"/>
          <p:cNvPicPr preferRelativeResize="0"/>
          <p:nvPr/>
        </p:nvPicPr>
        <p:blipFill rotWithShape="1">
          <a:blip r:embed="rId3">
            <a:alphaModFix/>
          </a:blip>
          <a:srcRect b="0" l="0" r="0" t="0"/>
          <a:stretch/>
        </p:blipFill>
        <p:spPr>
          <a:xfrm>
            <a:off x="1396900" y="4634975"/>
            <a:ext cx="8995075" cy="17990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g18953f727dd_1_5"/>
          <p:cNvSpPr txBox="1"/>
          <p:nvPr>
            <p:ph idx="1" type="body"/>
          </p:nvPr>
        </p:nvSpPr>
        <p:spPr>
          <a:xfrm>
            <a:off x="381000" y="1318700"/>
            <a:ext cx="7342200" cy="4596300"/>
          </a:xfrm>
          <a:prstGeom prst="rect">
            <a:avLst/>
          </a:prstGeom>
          <a:noFill/>
          <a:ln>
            <a:noFill/>
          </a:ln>
        </p:spPr>
        <p:txBody>
          <a:bodyPr anchorCtr="0" anchor="t" bIns="45700" lIns="91425" spcFirstLastPara="1" rIns="91425" wrap="square" tIns="45700">
            <a:noAutofit/>
          </a:bodyPr>
          <a:lstStyle/>
          <a:p>
            <a:pPr indent="-361950" lvl="0" marL="457200" marR="0" rtl="0" algn="l">
              <a:lnSpc>
                <a:spcPct val="115000"/>
              </a:lnSpc>
              <a:spcBef>
                <a:spcPts val="1000"/>
              </a:spcBef>
              <a:spcAft>
                <a:spcPts val="0"/>
              </a:spcAft>
              <a:buClr>
                <a:srgbClr val="434343"/>
              </a:buClr>
              <a:buSzPts val="2100"/>
              <a:buChar char="-"/>
            </a:pPr>
            <a:r>
              <a:rPr lang="en-US" sz="2100">
                <a:solidFill>
                  <a:srgbClr val="434343"/>
                </a:solidFill>
                <a:latin typeface="Arial"/>
                <a:ea typeface="Arial"/>
                <a:cs typeface="Arial"/>
                <a:sym typeface="Arial"/>
              </a:rPr>
              <a:t>The visualizations will ideally show the success of the student related to their metacognitive presence within every post but…</a:t>
            </a:r>
            <a:endParaRPr sz="2100">
              <a:solidFill>
                <a:srgbClr val="434343"/>
              </a:solidFill>
              <a:latin typeface="Arial"/>
              <a:ea typeface="Arial"/>
              <a:cs typeface="Arial"/>
              <a:sym typeface="Arial"/>
            </a:endParaRPr>
          </a:p>
          <a:p>
            <a:pPr indent="0" lvl="0" marL="457200" marR="0" rtl="0" algn="l">
              <a:lnSpc>
                <a:spcPct val="115000"/>
              </a:lnSpc>
              <a:spcBef>
                <a:spcPts val="1000"/>
              </a:spcBef>
              <a:spcAft>
                <a:spcPts val="0"/>
              </a:spcAft>
              <a:buNone/>
            </a:pPr>
            <a:r>
              <a:t/>
            </a:r>
            <a:endParaRPr sz="2100">
              <a:solidFill>
                <a:srgbClr val="434343"/>
              </a:solidFill>
              <a:latin typeface="Arial"/>
              <a:ea typeface="Arial"/>
              <a:cs typeface="Arial"/>
              <a:sym typeface="Arial"/>
            </a:endParaRPr>
          </a:p>
          <a:p>
            <a:pPr indent="-361950" lvl="0" marL="457200" marR="0" rtl="0" algn="l">
              <a:lnSpc>
                <a:spcPct val="115000"/>
              </a:lnSpc>
              <a:spcBef>
                <a:spcPts val="1000"/>
              </a:spcBef>
              <a:spcAft>
                <a:spcPts val="0"/>
              </a:spcAft>
              <a:buClr>
                <a:srgbClr val="434343"/>
              </a:buClr>
              <a:buSzPts val="2100"/>
              <a:buFont typeface="Arial"/>
              <a:buChar char="-"/>
            </a:pPr>
            <a:r>
              <a:rPr lang="en-US" sz="2100">
                <a:solidFill>
                  <a:srgbClr val="434343"/>
                </a:solidFill>
                <a:latin typeface="Arial"/>
                <a:ea typeface="Arial"/>
                <a:cs typeface="Arial"/>
                <a:sym typeface="Arial"/>
              </a:rPr>
              <a:t>Data for the metacognitive presence was limited so not many </a:t>
            </a:r>
            <a:r>
              <a:rPr lang="en-US" sz="2100">
                <a:solidFill>
                  <a:srgbClr val="434343"/>
                </a:solidFill>
                <a:latin typeface="Arial"/>
                <a:ea typeface="Arial"/>
                <a:cs typeface="Arial"/>
                <a:sym typeface="Arial"/>
              </a:rPr>
              <a:t>visualizations</a:t>
            </a:r>
            <a:r>
              <a:rPr lang="en-US" sz="2100">
                <a:solidFill>
                  <a:srgbClr val="434343"/>
                </a:solidFill>
                <a:latin typeface="Arial"/>
                <a:ea typeface="Arial"/>
                <a:cs typeface="Arial"/>
                <a:sym typeface="Arial"/>
              </a:rPr>
              <a:t> were possible</a:t>
            </a:r>
            <a:endParaRPr sz="2100">
              <a:solidFill>
                <a:srgbClr val="434343"/>
              </a:solidFill>
              <a:latin typeface="Arial"/>
              <a:ea typeface="Arial"/>
              <a:cs typeface="Arial"/>
              <a:sym typeface="Arial"/>
            </a:endParaRPr>
          </a:p>
          <a:p>
            <a:pPr indent="0" lvl="0" marL="0" marR="0" rtl="0" algn="l">
              <a:lnSpc>
                <a:spcPct val="115000"/>
              </a:lnSpc>
              <a:spcBef>
                <a:spcPts val="1000"/>
              </a:spcBef>
              <a:spcAft>
                <a:spcPts val="0"/>
              </a:spcAft>
              <a:buSzPts val="1800"/>
              <a:buNone/>
            </a:pPr>
            <a:r>
              <a:t/>
            </a:r>
            <a:endParaRPr sz="2100">
              <a:solidFill>
                <a:srgbClr val="434343"/>
              </a:solidFill>
              <a:latin typeface="Arial"/>
              <a:ea typeface="Arial"/>
              <a:cs typeface="Arial"/>
              <a:sym typeface="Arial"/>
            </a:endParaRPr>
          </a:p>
          <a:p>
            <a:pPr indent="0" lvl="0" marL="0" marR="0" rtl="0" algn="l">
              <a:lnSpc>
                <a:spcPct val="115000"/>
              </a:lnSpc>
              <a:spcBef>
                <a:spcPts val="1000"/>
              </a:spcBef>
              <a:spcAft>
                <a:spcPts val="0"/>
              </a:spcAft>
              <a:buSzPts val="1800"/>
              <a:buNone/>
            </a:pPr>
            <a:r>
              <a:rPr lang="en-US" sz="2100">
                <a:solidFill>
                  <a:srgbClr val="434343"/>
                </a:solidFill>
                <a:latin typeface="Arial"/>
                <a:ea typeface="Arial"/>
                <a:cs typeface="Arial"/>
                <a:sym typeface="Arial"/>
              </a:rPr>
              <a:t>The dashboard utilized more active in discussion forums such as time taken between posts and total number of active posts. </a:t>
            </a:r>
            <a:r>
              <a:rPr lang="en-US" sz="2100">
                <a:solidFill>
                  <a:srgbClr val="434343"/>
                </a:solidFill>
                <a:latin typeface="Arial"/>
                <a:ea typeface="Arial"/>
                <a:cs typeface="Arial"/>
                <a:sym typeface="Arial"/>
              </a:rPr>
              <a:t>Metacognitive</a:t>
            </a:r>
            <a:r>
              <a:rPr lang="en-US" sz="2100">
                <a:solidFill>
                  <a:srgbClr val="434343"/>
                </a:solidFill>
                <a:latin typeface="Arial"/>
                <a:ea typeface="Arial"/>
                <a:cs typeface="Arial"/>
                <a:sym typeface="Arial"/>
              </a:rPr>
              <a:t> data didn’t fit well as it shows a </a:t>
            </a:r>
            <a:r>
              <a:rPr lang="en-US" sz="2100">
                <a:solidFill>
                  <a:srgbClr val="434343"/>
                </a:solidFill>
                <a:latin typeface="Arial"/>
                <a:ea typeface="Arial"/>
                <a:cs typeface="Arial"/>
                <a:sym typeface="Arial"/>
              </a:rPr>
              <a:t>cumulative</a:t>
            </a:r>
            <a:r>
              <a:rPr lang="en-US" sz="2100">
                <a:solidFill>
                  <a:srgbClr val="434343"/>
                </a:solidFill>
                <a:latin typeface="Arial"/>
                <a:ea typeface="Arial"/>
                <a:cs typeface="Arial"/>
                <a:sym typeface="Arial"/>
              </a:rPr>
              <a:t> score for all students over many different posts</a:t>
            </a:r>
            <a:endParaRPr sz="2100">
              <a:solidFill>
                <a:srgbClr val="434343"/>
              </a:solidFill>
              <a:latin typeface="Arial"/>
              <a:ea typeface="Arial"/>
              <a:cs typeface="Arial"/>
              <a:sym typeface="Arial"/>
            </a:endParaRPr>
          </a:p>
          <a:p>
            <a:pPr indent="0" lvl="0" marL="0" rtl="0" algn="l">
              <a:lnSpc>
                <a:spcPct val="90000"/>
              </a:lnSpc>
              <a:spcBef>
                <a:spcPts val="1000"/>
              </a:spcBef>
              <a:spcAft>
                <a:spcPts val="0"/>
              </a:spcAft>
              <a:buNone/>
            </a:pPr>
            <a:r>
              <a:t/>
            </a:r>
            <a:endParaRPr sz="2600"/>
          </a:p>
        </p:txBody>
      </p:sp>
      <p:sp>
        <p:nvSpPr>
          <p:cNvPr id="230" name="Google Shape;230;g18953f727dd_1_5"/>
          <p:cNvSpPr txBox="1"/>
          <p:nvPr>
            <p:ph type="title"/>
          </p:nvPr>
        </p:nvSpPr>
        <p:spPr>
          <a:xfrm>
            <a:off x="381000" y="346475"/>
            <a:ext cx="11430000" cy="678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Metacognitive Presence</a:t>
            </a:r>
            <a:endParaRPr/>
          </a:p>
        </p:txBody>
      </p:sp>
      <p:pic>
        <p:nvPicPr>
          <p:cNvPr id="231" name="Google Shape;231;g18953f727dd_1_5"/>
          <p:cNvPicPr preferRelativeResize="0"/>
          <p:nvPr/>
        </p:nvPicPr>
        <p:blipFill rotWithShape="1">
          <a:blip r:embed="rId3">
            <a:alphaModFix/>
          </a:blip>
          <a:srcRect b="0" l="0" r="0" t="0"/>
          <a:stretch/>
        </p:blipFill>
        <p:spPr>
          <a:xfrm>
            <a:off x="8066688" y="3809450"/>
            <a:ext cx="3705225" cy="2647950"/>
          </a:xfrm>
          <a:prstGeom prst="rect">
            <a:avLst/>
          </a:prstGeom>
          <a:noFill/>
          <a:ln>
            <a:noFill/>
          </a:ln>
        </p:spPr>
      </p:pic>
      <p:pic>
        <p:nvPicPr>
          <p:cNvPr id="232" name="Google Shape;232;g18953f727dd_1_5"/>
          <p:cNvPicPr preferRelativeResize="0"/>
          <p:nvPr/>
        </p:nvPicPr>
        <p:blipFill rotWithShape="1">
          <a:blip r:embed="rId4">
            <a:alphaModFix/>
          </a:blip>
          <a:srcRect b="0" l="0" r="0" t="0"/>
          <a:stretch/>
        </p:blipFill>
        <p:spPr>
          <a:xfrm>
            <a:off x="8066700" y="704732"/>
            <a:ext cx="3705225" cy="264796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g15e2f3f4d0a_0_17"/>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Overall Semester Goals</a:t>
            </a:r>
            <a:endParaRPr/>
          </a:p>
        </p:txBody>
      </p:sp>
      <p:pic>
        <p:nvPicPr>
          <p:cNvPr id="238" name="Google Shape;238;g15e2f3f4d0a_0_17"/>
          <p:cNvPicPr preferRelativeResize="0"/>
          <p:nvPr/>
        </p:nvPicPr>
        <p:blipFill rotWithShape="1">
          <a:blip r:embed="rId3">
            <a:alphaModFix/>
          </a:blip>
          <a:srcRect b="0" l="0" r="0" t="0"/>
          <a:stretch/>
        </p:blipFill>
        <p:spPr>
          <a:xfrm>
            <a:off x="561325" y="1227148"/>
            <a:ext cx="9954124" cy="50721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gefbeba6a1c_0_34"/>
          <p:cNvSpPr txBox="1"/>
          <p:nvPr>
            <p:ph idx="4294967295" type="title"/>
          </p:nvPr>
        </p:nvSpPr>
        <p:spPr>
          <a:xfrm>
            <a:off x="381000" y="2921547"/>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sz="7000"/>
              <a:t>Web Development</a:t>
            </a:r>
            <a:endParaRPr sz="70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gefb32003ea_0_0"/>
          <p:cNvSpPr txBox="1"/>
          <p:nvPr/>
        </p:nvSpPr>
        <p:spPr>
          <a:xfrm>
            <a:off x="509650" y="1278600"/>
            <a:ext cx="10559700" cy="615600"/>
          </a:xfrm>
          <a:prstGeom prst="rect">
            <a:avLst/>
          </a:prstGeom>
          <a:noFill/>
          <a:ln>
            <a:noFill/>
          </a:ln>
        </p:spPr>
        <p:txBody>
          <a:bodyPr anchorCtr="0" anchor="t" bIns="91425" lIns="91425" spcFirstLastPara="1" rIns="91425" wrap="square" tIns="91425">
            <a:spAutoFit/>
          </a:bodyPr>
          <a:lstStyle/>
          <a:p>
            <a:pPr indent="0" lvl="0" marL="45720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Roboto"/>
              <a:ea typeface="Roboto"/>
              <a:cs typeface="Roboto"/>
              <a:sym typeface="Roboto"/>
            </a:endParaRPr>
          </a:p>
        </p:txBody>
      </p:sp>
      <p:pic>
        <p:nvPicPr>
          <p:cNvPr id="249" name="Google Shape;249;gefb32003ea_0_0" title="vip presentation.mov">
            <a:hlinkClick r:id="rId3"/>
          </p:cNvPr>
          <p:cNvPicPr preferRelativeResize="0"/>
          <p:nvPr/>
        </p:nvPicPr>
        <p:blipFill>
          <a:blip r:embed="rId4">
            <a:alphaModFix/>
          </a:blip>
          <a:stretch>
            <a:fillRect/>
          </a:stretch>
        </p:blipFill>
        <p:spPr>
          <a:xfrm>
            <a:off x="1133400" y="-222550"/>
            <a:ext cx="9348750" cy="70115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9"/>
                                        </p:tgtEl>
                                        <p:attrNameLst>
                                          <p:attrName>style.visibility</p:attrName>
                                        </p:attrNameLst>
                                      </p:cBhvr>
                                      <p:to>
                                        <p:strVal val="visible"/>
                                      </p:to>
                                    </p:set>
                                    <p:animEffect filter="fade" transition="in">
                                      <p:cBhvr>
                                        <p:cTn dur="1000"/>
                                        <p:tgtEl>
                                          <p:spTgt spid="2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53" name="Shape 253"/>
        <p:cNvGrpSpPr/>
        <p:nvPr/>
      </p:nvGrpSpPr>
      <p:grpSpPr>
        <a:xfrm>
          <a:off x="0" y="0"/>
          <a:ext cx="0" cy="0"/>
          <a:chOff x="0" y="0"/>
          <a:chExt cx="0" cy="0"/>
        </a:xfrm>
      </p:grpSpPr>
      <p:pic>
        <p:nvPicPr>
          <p:cNvPr id="254" name="Google Shape;254;g21c66e4ba4c_0_0"/>
          <p:cNvPicPr preferRelativeResize="0"/>
          <p:nvPr/>
        </p:nvPicPr>
        <p:blipFill>
          <a:blip r:embed="rId3">
            <a:alphaModFix/>
          </a:blip>
          <a:stretch>
            <a:fillRect/>
          </a:stretch>
        </p:blipFill>
        <p:spPr>
          <a:xfrm>
            <a:off x="196850" y="1557937"/>
            <a:ext cx="5916477" cy="3325101"/>
          </a:xfrm>
          <a:prstGeom prst="rect">
            <a:avLst/>
          </a:prstGeom>
          <a:noFill/>
          <a:ln>
            <a:noFill/>
          </a:ln>
        </p:spPr>
      </p:pic>
      <p:pic>
        <p:nvPicPr>
          <p:cNvPr id="255" name="Google Shape;255;g21c66e4ba4c_0_0"/>
          <p:cNvPicPr preferRelativeResize="0"/>
          <p:nvPr/>
        </p:nvPicPr>
        <p:blipFill>
          <a:blip r:embed="rId4">
            <a:alphaModFix/>
          </a:blip>
          <a:stretch>
            <a:fillRect/>
          </a:stretch>
        </p:blipFill>
        <p:spPr>
          <a:xfrm>
            <a:off x="5974050" y="1552150"/>
            <a:ext cx="5916472" cy="3336682"/>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59" name="Shape 259"/>
        <p:cNvGrpSpPr/>
        <p:nvPr/>
      </p:nvGrpSpPr>
      <p:grpSpPr>
        <a:xfrm>
          <a:off x="0" y="0"/>
          <a:ext cx="0" cy="0"/>
          <a:chOff x="0" y="0"/>
          <a:chExt cx="0" cy="0"/>
        </a:xfrm>
      </p:grpSpPr>
      <p:pic>
        <p:nvPicPr>
          <p:cNvPr id="260" name="Google Shape;260;g21c66e4ba4c_0_5"/>
          <p:cNvPicPr preferRelativeResize="0"/>
          <p:nvPr/>
        </p:nvPicPr>
        <p:blipFill rotWithShape="1">
          <a:blip r:embed="rId3">
            <a:alphaModFix/>
          </a:blip>
          <a:srcRect b="0" l="0" r="0" t="0"/>
          <a:stretch/>
        </p:blipFill>
        <p:spPr>
          <a:xfrm>
            <a:off x="111000" y="1590250"/>
            <a:ext cx="5951749" cy="3379826"/>
          </a:xfrm>
          <a:prstGeom prst="rect">
            <a:avLst/>
          </a:prstGeom>
          <a:noFill/>
          <a:ln>
            <a:noFill/>
          </a:ln>
        </p:spPr>
      </p:pic>
      <p:pic>
        <p:nvPicPr>
          <p:cNvPr id="261" name="Google Shape;261;g21c66e4ba4c_0_5"/>
          <p:cNvPicPr preferRelativeResize="0"/>
          <p:nvPr/>
        </p:nvPicPr>
        <p:blipFill>
          <a:blip r:embed="rId4">
            <a:alphaModFix/>
          </a:blip>
          <a:stretch>
            <a:fillRect/>
          </a:stretch>
        </p:blipFill>
        <p:spPr>
          <a:xfrm>
            <a:off x="5948748" y="1515475"/>
            <a:ext cx="6173676" cy="34546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65" name="Shape 265"/>
        <p:cNvGrpSpPr/>
        <p:nvPr/>
      </p:nvGrpSpPr>
      <p:grpSpPr>
        <a:xfrm>
          <a:off x="0" y="0"/>
          <a:ext cx="0" cy="0"/>
          <a:chOff x="0" y="0"/>
          <a:chExt cx="0" cy="0"/>
        </a:xfrm>
      </p:grpSpPr>
      <p:pic>
        <p:nvPicPr>
          <p:cNvPr id="266" name="Google Shape;266;g21c66e4ba4c_0_10"/>
          <p:cNvPicPr preferRelativeResize="0"/>
          <p:nvPr/>
        </p:nvPicPr>
        <p:blipFill>
          <a:blip r:embed="rId3">
            <a:alphaModFix/>
          </a:blip>
          <a:stretch>
            <a:fillRect/>
          </a:stretch>
        </p:blipFill>
        <p:spPr>
          <a:xfrm>
            <a:off x="149100" y="1366300"/>
            <a:ext cx="5905510" cy="3278599"/>
          </a:xfrm>
          <a:prstGeom prst="rect">
            <a:avLst/>
          </a:prstGeom>
          <a:noFill/>
          <a:ln>
            <a:noFill/>
          </a:ln>
        </p:spPr>
      </p:pic>
      <p:pic>
        <p:nvPicPr>
          <p:cNvPr id="267" name="Google Shape;267;g21c66e4ba4c_0_10"/>
          <p:cNvPicPr preferRelativeResize="0"/>
          <p:nvPr/>
        </p:nvPicPr>
        <p:blipFill>
          <a:blip r:embed="rId4">
            <a:alphaModFix/>
          </a:blip>
          <a:stretch>
            <a:fillRect/>
          </a:stretch>
        </p:blipFill>
        <p:spPr>
          <a:xfrm>
            <a:off x="5998602" y="1295400"/>
            <a:ext cx="6027950" cy="334950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g22e0a18201f_0_11"/>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Ed Discussion API</a:t>
            </a:r>
            <a:endParaRPr/>
          </a:p>
        </p:txBody>
      </p:sp>
      <p:sp>
        <p:nvSpPr>
          <p:cNvPr id="273" name="Google Shape;273;g22e0a18201f_0_11"/>
          <p:cNvSpPr txBox="1"/>
          <p:nvPr/>
        </p:nvSpPr>
        <p:spPr>
          <a:xfrm>
            <a:off x="509650" y="1278600"/>
            <a:ext cx="10559700" cy="615600"/>
          </a:xfrm>
          <a:prstGeom prst="rect">
            <a:avLst/>
          </a:prstGeom>
          <a:noFill/>
          <a:ln>
            <a:noFill/>
          </a:ln>
        </p:spPr>
        <p:txBody>
          <a:bodyPr anchorCtr="0" anchor="t" bIns="91425" lIns="91425" spcFirstLastPara="1" rIns="91425" wrap="square" tIns="91425">
            <a:spAutoFit/>
          </a:bodyPr>
          <a:lstStyle/>
          <a:p>
            <a:pPr indent="0" lvl="0" marL="45720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Roboto"/>
              <a:ea typeface="Roboto"/>
              <a:cs typeface="Roboto"/>
              <a:sym typeface="Roboto"/>
            </a:endParaRPr>
          </a:p>
        </p:txBody>
      </p:sp>
      <p:sp>
        <p:nvSpPr>
          <p:cNvPr id="274" name="Google Shape;274;g22e0a18201f_0_11"/>
          <p:cNvSpPr/>
          <p:nvPr/>
        </p:nvSpPr>
        <p:spPr>
          <a:xfrm>
            <a:off x="4310750" y="2509400"/>
            <a:ext cx="2215500" cy="2193300"/>
          </a:xfrm>
          <a:prstGeom prst="ellipse">
            <a:avLst/>
          </a:prstGeom>
          <a:solidFill>
            <a:srgbClr val="134F5C"/>
          </a:solidFill>
          <a:ln cap="flat" cmpd="sng" w="9525">
            <a:solidFill>
              <a:srgbClr val="FCFC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3100">
                <a:solidFill>
                  <a:schemeClr val="lt1"/>
                </a:solidFill>
              </a:rPr>
              <a:t>API</a:t>
            </a:r>
            <a:endParaRPr b="1" sz="3100">
              <a:solidFill>
                <a:schemeClr val="lt1"/>
              </a:solidFill>
            </a:endParaRPr>
          </a:p>
        </p:txBody>
      </p:sp>
      <p:sp>
        <p:nvSpPr>
          <p:cNvPr id="275" name="Google Shape;275;g22e0a18201f_0_11"/>
          <p:cNvSpPr/>
          <p:nvPr/>
        </p:nvSpPr>
        <p:spPr>
          <a:xfrm>
            <a:off x="7736300" y="2509400"/>
            <a:ext cx="2215500" cy="2193300"/>
          </a:xfrm>
          <a:prstGeom prst="ellipse">
            <a:avLst/>
          </a:prstGeom>
          <a:solidFill>
            <a:srgbClr val="50288C"/>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3400">
                <a:solidFill>
                  <a:schemeClr val="lt1"/>
                </a:solidFill>
              </a:rPr>
              <a:t>Ed</a:t>
            </a:r>
            <a:endParaRPr b="1" sz="3400">
              <a:solidFill>
                <a:schemeClr val="lt1"/>
              </a:solidFill>
            </a:endParaRPr>
          </a:p>
        </p:txBody>
      </p:sp>
      <p:sp>
        <p:nvSpPr>
          <p:cNvPr id="276" name="Google Shape;276;g22e0a18201f_0_11"/>
          <p:cNvSpPr/>
          <p:nvPr/>
        </p:nvSpPr>
        <p:spPr>
          <a:xfrm>
            <a:off x="1153150" y="2558150"/>
            <a:ext cx="2215500" cy="2193300"/>
          </a:xfrm>
          <a:prstGeom prst="ellipse">
            <a:avLst/>
          </a:prstGeom>
          <a:solidFill>
            <a:srgbClr val="385C8C"/>
          </a:solidFill>
          <a:ln cap="flat" cmpd="sng" w="9525">
            <a:solidFill>
              <a:srgbClr val="FCFC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US" sz="2000">
                <a:solidFill>
                  <a:schemeClr val="lt1"/>
                </a:solidFill>
              </a:rPr>
              <a:t>Dashboard</a:t>
            </a:r>
            <a:endParaRPr b="1" sz="2000">
              <a:solidFill>
                <a:schemeClr val="lt1"/>
              </a:solidFill>
            </a:endParaRPr>
          </a:p>
        </p:txBody>
      </p:sp>
      <p:cxnSp>
        <p:nvCxnSpPr>
          <p:cNvPr id="277" name="Google Shape;277;g22e0a18201f_0_11"/>
          <p:cNvCxnSpPr/>
          <p:nvPr/>
        </p:nvCxnSpPr>
        <p:spPr>
          <a:xfrm>
            <a:off x="3386700" y="3233050"/>
            <a:ext cx="823800" cy="0"/>
          </a:xfrm>
          <a:prstGeom prst="straightConnector1">
            <a:avLst/>
          </a:prstGeom>
          <a:noFill/>
          <a:ln cap="flat" cmpd="sng" w="28575">
            <a:solidFill>
              <a:schemeClr val="dk2"/>
            </a:solidFill>
            <a:prstDash val="solid"/>
            <a:round/>
            <a:headEnd len="med" w="med" type="none"/>
            <a:tailEnd len="med" w="med" type="triangle"/>
          </a:ln>
        </p:spPr>
      </p:cxnSp>
      <p:cxnSp>
        <p:nvCxnSpPr>
          <p:cNvPr id="278" name="Google Shape;278;g22e0a18201f_0_11"/>
          <p:cNvCxnSpPr/>
          <p:nvPr/>
        </p:nvCxnSpPr>
        <p:spPr>
          <a:xfrm>
            <a:off x="6719375" y="3233050"/>
            <a:ext cx="823800" cy="0"/>
          </a:xfrm>
          <a:prstGeom prst="straightConnector1">
            <a:avLst/>
          </a:prstGeom>
          <a:noFill/>
          <a:ln cap="flat" cmpd="sng" w="28575">
            <a:solidFill>
              <a:schemeClr val="dk2"/>
            </a:solidFill>
            <a:prstDash val="solid"/>
            <a:round/>
            <a:headEnd len="med" w="med" type="none"/>
            <a:tailEnd len="med" w="med" type="triangle"/>
          </a:ln>
        </p:spPr>
      </p:cxnSp>
      <p:cxnSp>
        <p:nvCxnSpPr>
          <p:cNvPr id="279" name="Google Shape;279;g22e0a18201f_0_11"/>
          <p:cNvCxnSpPr/>
          <p:nvPr/>
        </p:nvCxnSpPr>
        <p:spPr>
          <a:xfrm flipH="1">
            <a:off x="3364350" y="4012375"/>
            <a:ext cx="879600" cy="11100"/>
          </a:xfrm>
          <a:prstGeom prst="straightConnector1">
            <a:avLst/>
          </a:prstGeom>
          <a:noFill/>
          <a:ln cap="flat" cmpd="sng" w="28575">
            <a:solidFill>
              <a:schemeClr val="dk2"/>
            </a:solidFill>
            <a:prstDash val="solid"/>
            <a:round/>
            <a:headEnd len="med" w="med" type="none"/>
            <a:tailEnd len="med" w="med" type="triangle"/>
          </a:ln>
        </p:spPr>
      </p:cxnSp>
      <p:cxnSp>
        <p:nvCxnSpPr>
          <p:cNvPr id="280" name="Google Shape;280;g22e0a18201f_0_11"/>
          <p:cNvCxnSpPr/>
          <p:nvPr/>
        </p:nvCxnSpPr>
        <p:spPr>
          <a:xfrm flipH="1">
            <a:off x="6663575" y="3897575"/>
            <a:ext cx="879600" cy="11100"/>
          </a:xfrm>
          <a:prstGeom prst="straightConnector1">
            <a:avLst/>
          </a:prstGeom>
          <a:noFill/>
          <a:ln cap="flat" cmpd="sng" w="28575">
            <a:solidFill>
              <a:schemeClr val="dk2"/>
            </a:solidFill>
            <a:prstDash val="solid"/>
            <a:round/>
            <a:headEnd len="med" w="med" type="none"/>
            <a:tailEnd len="med" w="med" type="triangle"/>
          </a:ln>
        </p:spPr>
      </p:cxnSp>
      <p:sp>
        <p:nvSpPr>
          <p:cNvPr id="281" name="Google Shape;281;g22e0a18201f_0_11"/>
          <p:cNvSpPr txBox="1"/>
          <p:nvPr/>
        </p:nvSpPr>
        <p:spPr>
          <a:xfrm>
            <a:off x="6620375" y="2509400"/>
            <a:ext cx="10218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a:latin typeface="Roboto"/>
                <a:ea typeface="Roboto"/>
                <a:cs typeface="Roboto"/>
                <a:sym typeface="Roboto"/>
              </a:rPr>
              <a:t>HTTP</a:t>
            </a:r>
            <a:endParaRPr b="1">
              <a:latin typeface="Roboto"/>
              <a:ea typeface="Roboto"/>
              <a:cs typeface="Roboto"/>
              <a:sym typeface="Roboto"/>
            </a:endParaRPr>
          </a:p>
          <a:p>
            <a:pPr indent="0" lvl="0" marL="0" rtl="0" algn="ctr">
              <a:spcBef>
                <a:spcPts val="0"/>
              </a:spcBef>
              <a:spcAft>
                <a:spcPts val="0"/>
              </a:spcAft>
              <a:buNone/>
            </a:pPr>
            <a:r>
              <a:rPr b="1" lang="en-US">
                <a:latin typeface="Roboto"/>
                <a:ea typeface="Roboto"/>
                <a:cs typeface="Roboto"/>
                <a:sym typeface="Roboto"/>
              </a:rPr>
              <a:t>REQUEST</a:t>
            </a:r>
            <a:endParaRPr b="1">
              <a:latin typeface="Roboto"/>
              <a:ea typeface="Roboto"/>
              <a:cs typeface="Roboto"/>
              <a:sym typeface="Roboto"/>
            </a:endParaRPr>
          </a:p>
        </p:txBody>
      </p:sp>
      <p:sp>
        <p:nvSpPr>
          <p:cNvPr id="282" name="Google Shape;282;g22e0a18201f_0_11"/>
          <p:cNvSpPr txBox="1"/>
          <p:nvPr/>
        </p:nvSpPr>
        <p:spPr>
          <a:xfrm>
            <a:off x="6526250" y="4023475"/>
            <a:ext cx="12102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a:latin typeface="Roboto"/>
                <a:ea typeface="Roboto"/>
                <a:cs typeface="Roboto"/>
                <a:sym typeface="Roboto"/>
              </a:rPr>
              <a:t>HTTP</a:t>
            </a:r>
            <a:endParaRPr b="1">
              <a:latin typeface="Roboto"/>
              <a:ea typeface="Roboto"/>
              <a:cs typeface="Roboto"/>
              <a:sym typeface="Roboto"/>
            </a:endParaRPr>
          </a:p>
          <a:p>
            <a:pPr indent="0" lvl="0" marL="0" rtl="0" algn="ctr">
              <a:spcBef>
                <a:spcPts val="0"/>
              </a:spcBef>
              <a:spcAft>
                <a:spcPts val="0"/>
              </a:spcAft>
              <a:buNone/>
            </a:pPr>
            <a:r>
              <a:rPr b="1" lang="en-US">
                <a:latin typeface="Roboto"/>
                <a:ea typeface="Roboto"/>
                <a:cs typeface="Roboto"/>
                <a:sym typeface="Roboto"/>
              </a:rPr>
              <a:t>RESPONSE</a:t>
            </a:r>
            <a:endParaRPr b="1">
              <a:latin typeface="Roboto"/>
              <a:ea typeface="Roboto"/>
              <a:cs typeface="Roboto"/>
              <a:sym typeface="Roboto"/>
            </a:endParaRPr>
          </a:p>
        </p:txBody>
      </p:sp>
      <p:sp>
        <p:nvSpPr>
          <p:cNvPr id="283" name="Google Shape;283;g22e0a18201f_0_11"/>
          <p:cNvSpPr txBox="1"/>
          <p:nvPr/>
        </p:nvSpPr>
        <p:spPr>
          <a:xfrm>
            <a:off x="3199050" y="2419450"/>
            <a:ext cx="1210200" cy="400200"/>
          </a:xfrm>
          <a:prstGeom prst="rect">
            <a:avLst/>
          </a:prstGeom>
          <a:noFill/>
          <a:ln>
            <a:noFill/>
          </a:ln>
        </p:spPr>
        <p:txBody>
          <a:bodyPr anchorCtr="0" anchor="ctr" bIns="91425" lIns="91425" spcFirstLastPara="1" rIns="91425" wrap="square" tIns="91425">
            <a:spAutoFit/>
          </a:bodyPr>
          <a:lstStyle/>
          <a:p>
            <a:pPr indent="0" lvl="0" marL="0" rtl="0" algn="ctr">
              <a:spcBef>
                <a:spcPts val="0"/>
              </a:spcBef>
              <a:spcAft>
                <a:spcPts val="0"/>
              </a:spcAft>
              <a:buNone/>
            </a:pPr>
            <a:r>
              <a:rPr b="1" lang="en-US">
                <a:latin typeface="Roboto"/>
                <a:ea typeface="Roboto"/>
                <a:cs typeface="Roboto"/>
                <a:sym typeface="Roboto"/>
              </a:rPr>
              <a:t>GET</a:t>
            </a:r>
            <a:endParaRPr b="1">
              <a:latin typeface="Roboto"/>
              <a:ea typeface="Roboto"/>
              <a:cs typeface="Roboto"/>
              <a:sym typeface="Roboto"/>
            </a:endParaRPr>
          </a:p>
        </p:txBody>
      </p:sp>
      <p:sp>
        <p:nvSpPr>
          <p:cNvPr id="284" name="Google Shape;284;g22e0a18201f_0_11"/>
          <p:cNvSpPr txBox="1"/>
          <p:nvPr/>
        </p:nvSpPr>
        <p:spPr>
          <a:xfrm>
            <a:off x="3293250" y="4238875"/>
            <a:ext cx="10218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a:latin typeface="Roboto"/>
                <a:ea typeface="Roboto"/>
                <a:cs typeface="Roboto"/>
                <a:sym typeface="Roboto"/>
              </a:rPr>
              <a:t>JSON</a:t>
            </a:r>
            <a:endParaRPr b="1">
              <a:latin typeface="Roboto"/>
              <a:ea typeface="Roboto"/>
              <a:cs typeface="Roboto"/>
              <a:sym typeface="Robot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g1897b4b8f7f_0_7"/>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Goals for this semester</a:t>
            </a:r>
            <a:endParaRPr/>
          </a:p>
        </p:txBody>
      </p:sp>
      <p:sp>
        <p:nvSpPr>
          <p:cNvPr id="290" name="Google Shape;290;g1897b4b8f7f_0_7"/>
          <p:cNvSpPr txBox="1"/>
          <p:nvPr/>
        </p:nvSpPr>
        <p:spPr>
          <a:xfrm>
            <a:off x="509650" y="1070400"/>
            <a:ext cx="10559700" cy="4925400"/>
          </a:xfrm>
          <a:prstGeom prst="rect">
            <a:avLst/>
          </a:prstGeom>
          <a:noFill/>
          <a:ln>
            <a:noFill/>
          </a:ln>
        </p:spPr>
        <p:txBody>
          <a:bodyPr anchorCtr="0" anchor="t" bIns="91425" lIns="91425" spcFirstLastPara="1" rIns="91425" wrap="square" tIns="91425">
            <a:spAutoFit/>
          </a:bodyPr>
          <a:lstStyle/>
          <a:p>
            <a:pPr indent="-406400" lvl="0" marL="457200" marR="0" rtl="0" algn="l">
              <a:lnSpc>
                <a:spcPct val="100000"/>
              </a:lnSpc>
              <a:spcBef>
                <a:spcPts val="0"/>
              </a:spcBef>
              <a:spcAft>
                <a:spcPts val="0"/>
              </a:spcAft>
              <a:buClr>
                <a:srgbClr val="000000"/>
              </a:buClr>
              <a:buSzPts val="2800"/>
              <a:buFont typeface="Roboto"/>
              <a:buChar char="●"/>
            </a:pPr>
            <a:r>
              <a:rPr b="0" i="0" lang="en-US" sz="2800" u="none" cap="none" strike="noStrike">
                <a:solidFill>
                  <a:srgbClr val="000000"/>
                </a:solidFill>
                <a:latin typeface="Roboto"/>
                <a:ea typeface="Roboto"/>
                <a:cs typeface="Roboto"/>
                <a:sym typeface="Roboto"/>
              </a:rPr>
              <a:t>Make the dashboard responsive so that it can be used on devices of all sizes.</a:t>
            </a:r>
            <a:endParaRPr b="0" i="0" sz="2800" u="none" cap="none" strike="noStrike">
              <a:solidFill>
                <a:srgbClr val="000000"/>
              </a:solidFill>
              <a:latin typeface="Roboto"/>
              <a:ea typeface="Roboto"/>
              <a:cs typeface="Roboto"/>
              <a:sym typeface="Roboto"/>
            </a:endParaRPr>
          </a:p>
          <a:p>
            <a:pPr indent="-406400" lvl="0" marL="457200" marR="0" rtl="0" algn="l">
              <a:lnSpc>
                <a:spcPct val="100000"/>
              </a:lnSpc>
              <a:spcBef>
                <a:spcPts val="0"/>
              </a:spcBef>
              <a:spcAft>
                <a:spcPts val="0"/>
              </a:spcAft>
              <a:buClr>
                <a:srgbClr val="000000"/>
              </a:buClr>
              <a:buSzPts val="2800"/>
              <a:buFont typeface="Roboto"/>
              <a:buChar char="●"/>
            </a:pPr>
            <a:r>
              <a:rPr b="0" i="0" lang="en-US" sz="2800" u="none" cap="none" strike="noStrike">
                <a:solidFill>
                  <a:srgbClr val="000000"/>
                </a:solidFill>
                <a:latin typeface="Roboto"/>
                <a:ea typeface="Roboto"/>
                <a:cs typeface="Roboto"/>
                <a:sym typeface="Roboto"/>
              </a:rPr>
              <a:t>Interview with TAs to find out the datas they find important and update the dashboard to show those information</a:t>
            </a:r>
            <a:endParaRPr b="0" i="0" sz="2800" u="none" cap="none" strike="noStrike">
              <a:solidFill>
                <a:srgbClr val="000000"/>
              </a:solidFill>
              <a:latin typeface="Roboto"/>
              <a:ea typeface="Roboto"/>
              <a:cs typeface="Roboto"/>
              <a:sym typeface="Roboto"/>
            </a:endParaRPr>
          </a:p>
          <a:p>
            <a:pPr indent="-406400" lvl="1" marL="914400" marR="0" rtl="0" algn="l">
              <a:lnSpc>
                <a:spcPct val="100000"/>
              </a:lnSpc>
              <a:spcBef>
                <a:spcPts val="0"/>
              </a:spcBef>
              <a:spcAft>
                <a:spcPts val="0"/>
              </a:spcAft>
              <a:buClr>
                <a:srgbClr val="000000"/>
              </a:buClr>
              <a:buSzPts val="2800"/>
              <a:buFont typeface="Roboto"/>
              <a:buChar char="○"/>
            </a:pPr>
            <a:r>
              <a:rPr lang="en-US" sz="2800">
                <a:latin typeface="Roboto"/>
                <a:ea typeface="Roboto"/>
                <a:cs typeface="Roboto"/>
                <a:sym typeface="Roboto"/>
              </a:rPr>
              <a:t>Student page:	Add class sentiment graphs that complement posts over time</a:t>
            </a:r>
            <a:endParaRPr sz="2800">
              <a:latin typeface="Roboto"/>
              <a:ea typeface="Roboto"/>
              <a:cs typeface="Roboto"/>
              <a:sym typeface="Roboto"/>
            </a:endParaRPr>
          </a:p>
          <a:p>
            <a:pPr indent="-406400" lvl="1" marL="914400" marR="0" rtl="0" algn="l">
              <a:lnSpc>
                <a:spcPct val="100000"/>
              </a:lnSpc>
              <a:spcBef>
                <a:spcPts val="0"/>
              </a:spcBef>
              <a:spcAft>
                <a:spcPts val="0"/>
              </a:spcAft>
              <a:buSzPts val="2800"/>
              <a:buFont typeface="Roboto"/>
              <a:buChar char="○"/>
            </a:pPr>
            <a:r>
              <a:rPr lang="en-US" sz="2800">
                <a:latin typeface="Roboto"/>
                <a:ea typeface="Roboto"/>
                <a:cs typeface="Roboto"/>
                <a:sym typeface="Roboto"/>
              </a:rPr>
              <a:t>Teacher page:	Adds direct access to posts</a:t>
            </a:r>
            <a:endParaRPr sz="2800">
              <a:latin typeface="Roboto"/>
              <a:ea typeface="Roboto"/>
              <a:cs typeface="Roboto"/>
              <a:sym typeface="Roboto"/>
            </a:endParaRPr>
          </a:p>
          <a:p>
            <a:pPr indent="0" lvl="0" marL="0" marR="0" rtl="0" algn="l">
              <a:lnSpc>
                <a:spcPct val="100000"/>
              </a:lnSpc>
              <a:spcBef>
                <a:spcPts val="0"/>
              </a:spcBef>
              <a:spcAft>
                <a:spcPts val="0"/>
              </a:spcAft>
              <a:buNone/>
            </a:pPr>
            <a:r>
              <a:rPr lang="en-US" sz="2800">
                <a:latin typeface="Roboto"/>
                <a:ea typeface="Roboto"/>
                <a:cs typeface="Roboto"/>
                <a:sym typeface="Roboto"/>
              </a:rPr>
              <a:t>							Add an option to mark a post as scheduled</a:t>
            </a:r>
            <a:endParaRPr sz="2800">
              <a:latin typeface="Roboto"/>
              <a:ea typeface="Roboto"/>
              <a:cs typeface="Roboto"/>
              <a:sym typeface="Roboto"/>
            </a:endParaRPr>
          </a:p>
          <a:p>
            <a:pPr indent="-406400" lvl="1" marL="914400" marR="0" rtl="0" algn="l">
              <a:lnSpc>
                <a:spcPct val="100000"/>
              </a:lnSpc>
              <a:spcBef>
                <a:spcPts val="0"/>
              </a:spcBef>
              <a:spcAft>
                <a:spcPts val="0"/>
              </a:spcAft>
              <a:buSzPts val="2800"/>
              <a:buFont typeface="Roboto"/>
              <a:buChar char="○"/>
            </a:pPr>
            <a:r>
              <a:rPr lang="en-US" sz="2800">
                <a:latin typeface="Roboto"/>
                <a:ea typeface="Roboto"/>
                <a:cs typeface="Roboto"/>
                <a:sym typeface="Roboto"/>
              </a:rPr>
              <a:t>Topic page: 	Add function to show reason for emotion</a:t>
            </a:r>
            <a:endParaRPr sz="2800">
              <a:latin typeface="Roboto"/>
              <a:ea typeface="Roboto"/>
              <a:cs typeface="Roboto"/>
              <a:sym typeface="Roboto"/>
            </a:endParaRPr>
          </a:p>
          <a:p>
            <a:pPr indent="-406400" lvl="0" marL="457200" marR="0" rtl="0" algn="l">
              <a:lnSpc>
                <a:spcPct val="100000"/>
              </a:lnSpc>
              <a:spcBef>
                <a:spcPts val="0"/>
              </a:spcBef>
              <a:spcAft>
                <a:spcPts val="0"/>
              </a:spcAft>
              <a:buClr>
                <a:srgbClr val="000000"/>
              </a:buClr>
              <a:buSzPts val="2800"/>
              <a:buFont typeface="Roboto"/>
              <a:buChar char="●"/>
            </a:pPr>
            <a:r>
              <a:rPr lang="en-US" sz="2800">
                <a:latin typeface="Roboto"/>
                <a:ea typeface="Roboto"/>
                <a:cs typeface="Roboto"/>
                <a:sym typeface="Roboto"/>
              </a:rPr>
              <a:t>Get real-time data using the ed discussion API</a:t>
            </a:r>
            <a:r>
              <a:rPr b="0" i="0" lang="en-US" sz="2800" u="none" cap="none" strike="noStrike">
                <a:solidFill>
                  <a:srgbClr val="000000"/>
                </a:solidFill>
                <a:latin typeface="Roboto"/>
                <a:ea typeface="Roboto"/>
                <a:cs typeface="Roboto"/>
                <a:sym typeface="Roboto"/>
              </a:rPr>
              <a:t>.</a:t>
            </a:r>
            <a:endParaRPr b="0" i="0" sz="2800" u="none" cap="none" strike="noStrike">
              <a:solidFill>
                <a:srgbClr val="000000"/>
              </a:solidFill>
              <a:latin typeface="Roboto"/>
              <a:ea typeface="Roboto"/>
              <a:cs typeface="Roboto"/>
              <a:sym typeface="Roboto"/>
            </a:endParaRPr>
          </a:p>
          <a:p>
            <a:pPr indent="0" lvl="0" marL="45720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Roboto"/>
              <a:ea typeface="Roboto"/>
              <a:cs typeface="Roboto"/>
              <a:sym typeface="Robot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11"/>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Conclusion</a:t>
            </a:r>
            <a:endParaRPr/>
          </a:p>
        </p:txBody>
      </p:sp>
      <p:sp>
        <p:nvSpPr>
          <p:cNvPr id="296" name="Google Shape;296;p11"/>
          <p:cNvSpPr txBox="1"/>
          <p:nvPr>
            <p:ph idx="1" type="body"/>
          </p:nvPr>
        </p:nvSpPr>
        <p:spPr>
          <a:xfrm>
            <a:off x="381000" y="1215471"/>
            <a:ext cx="11430000" cy="5088300"/>
          </a:xfrm>
          <a:prstGeom prst="rect">
            <a:avLst/>
          </a:prstGeom>
          <a:noFill/>
          <a:ln>
            <a:noFill/>
          </a:ln>
        </p:spPr>
        <p:txBody>
          <a:bodyPr anchorCtr="0" anchor="t" bIns="45700" lIns="91425" spcFirstLastPara="1" rIns="91425" wrap="square" tIns="45700">
            <a:noAutofit/>
          </a:bodyPr>
          <a:lstStyle/>
          <a:p>
            <a:pPr indent="-342900" lvl="0" marL="457200" rtl="0" algn="l">
              <a:lnSpc>
                <a:spcPct val="115000"/>
              </a:lnSpc>
              <a:spcBef>
                <a:spcPts val="1000"/>
              </a:spcBef>
              <a:spcAft>
                <a:spcPts val="0"/>
              </a:spcAft>
              <a:buClr>
                <a:srgbClr val="000000"/>
              </a:buClr>
              <a:buSzPts val="1800"/>
              <a:buChar char="●"/>
            </a:pPr>
            <a:r>
              <a:rPr b="1" lang="en-US"/>
              <a:t>Accomplished</a:t>
            </a:r>
            <a:endParaRPr b="1"/>
          </a:p>
          <a:p>
            <a:pPr indent="-342900" lvl="1" marL="914400" rtl="0" algn="l">
              <a:lnSpc>
                <a:spcPct val="115000"/>
              </a:lnSpc>
              <a:spcBef>
                <a:spcPts val="1000"/>
              </a:spcBef>
              <a:spcAft>
                <a:spcPts val="0"/>
              </a:spcAft>
              <a:buSzPts val="1800"/>
              <a:buChar char="•"/>
            </a:pPr>
            <a:r>
              <a:rPr lang="en-US"/>
              <a:t>Deployed all the data to our dashboards of two courses</a:t>
            </a:r>
            <a:endParaRPr/>
          </a:p>
          <a:p>
            <a:pPr indent="-342900" lvl="0" marL="457200" rtl="0" algn="l">
              <a:lnSpc>
                <a:spcPct val="115000"/>
              </a:lnSpc>
              <a:spcBef>
                <a:spcPts val="1000"/>
              </a:spcBef>
              <a:spcAft>
                <a:spcPts val="0"/>
              </a:spcAft>
              <a:buSzPts val="1800"/>
              <a:buChar char="●"/>
            </a:pPr>
            <a:r>
              <a:rPr b="1" lang="en-US"/>
              <a:t>Future Step</a:t>
            </a:r>
            <a:endParaRPr/>
          </a:p>
          <a:p>
            <a:pPr indent="-342900" lvl="1" marL="914400" rtl="0" algn="l">
              <a:lnSpc>
                <a:spcPct val="115000"/>
              </a:lnSpc>
              <a:spcBef>
                <a:spcPts val="1000"/>
              </a:spcBef>
              <a:spcAft>
                <a:spcPts val="0"/>
              </a:spcAft>
              <a:buSzPts val="1800"/>
              <a:buChar char="•"/>
            </a:pPr>
            <a:r>
              <a:rPr lang="en-US"/>
              <a:t>Keep improving the accuracy of our models</a:t>
            </a:r>
            <a:endParaRPr/>
          </a:p>
          <a:p>
            <a:pPr indent="-342900" lvl="1" marL="914400" rtl="0" algn="l">
              <a:lnSpc>
                <a:spcPct val="115000"/>
              </a:lnSpc>
              <a:spcBef>
                <a:spcPts val="1000"/>
              </a:spcBef>
              <a:spcAft>
                <a:spcPts val="0"/>
              </a:spcAft>
              <a:buSzPts val="1800"/>
              <a:buChar char="•"/>
            </a:pPr>
            <a:r>
              <a:rPr lang="en-US"/>
              <a:t>Integrate Topic Modeling and ABSA with increased accuracy</a:t>
            </a:r>
            <a:endParaRPr/>
          </a:p>
          <a:p>
            <a:pPr indent="-342900" lvl="1" marL="914400" rtl="0" algn="l">
              <a:lnSpc>
                <a:spcPct val="115000"/>
              </a:lnSpc>
              <a:spcBef>
                <a:spcPts val="1000"/>
              </a:spcBef>
              <a:spcAft>
                <a:spcPts val="0"/>
              </a:spcAft>
              <a:buSzPts val="1800"/>
              <a:buChar char="•"/>
            </a:pPr>
            <a:r>
              <a:rPr lang="en-US"/>
              <a:t>Keep e</a:t>
            </a:r>
            <a:r>
              <a:rPr lang="en-US"/>
              <a:t>xpanding</a:t>
            </a:r>
            <a:r>
              <a:rPr lang="en-US"/>
              <a:t> user research to specific applications of dashboards</a:t>
            </a:r>
            <a:endParaRPr/>
          </a:p>
          <a:p>
            <a:pPr indent="-342900" lvl="1" marL="914400" rtl="0" algn="l">
              <a:lnSpc>
                <a:spcPct val="115000"/>
              </a:lnSpc>
              <a:spcBef>
                <a:spcPts val="1000"/>
              </a:spcBef>
              <a:spcAft>
                <a:spcPts val="0"/>
              </a:spcAft>
              <a:buSzPts val="1800"/>
              <a:buChar char="•"/>
            </a:pPr>
            <a:r>
              <a:rPr lang="en-US"/>
              <a:t>Research on </a:t>
            </a:r>
            <a:r>
              <a:rPr lang="en-US"/>
              <a:t>Ed discussion API and</a:t>
            </a:r>
            <a:r>
              <a:rPr lang="en-US"/>
              <a:t> real-time API</a:t>
            </a:r>
            <a:endParaRPr/>
          </a:p>
          <a:p>
            <a:pPr indent="0" lvl="0" marL="0" rtl="0" algn="l">
              <a:lnSpc>
                <a:spcPct val="115000"/>
              </a:lnSpc>
              <a:spcBef>
                <a:spcPts val="1000"/>
              </a:spcBef>
              <a:spcAft>
                <a:spcPts val="0"/>
              </a:spcAft>
              <a:buSzPts val="1800"/>
              <a:buNone/>
            </a:pPr>
            <a:r>
              <a:t/>
            </a:r>
            <a:endParaRPr>
              <a:solidFill>
                <a:srgbClr val="000000"/>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g9d48565bb2_0_10"/>
          <p:cNvSpPr txBox="1"/>
          <p:nvPr>
            <p:ph idx="1" type="body"/>
          </p:nvPr>
        </p:nvSpPr>
        <p:spPr>
          <a:xfrm>
            <a:off x="381000" y="1215475"/>
            <a:ext cx="9917400" cy="5818500"/>
          </a:xfrm>
          <a:prstGeom prst="rect">
            <a:avLst/>
          </a:prstGeom>
          <a:noFill/>
          <a:ln>
            <a:noFill/>
          </a:ln>
        </p:spPr>
        <p:txBody>
          <a:bodyPr anchorCtr="0" anchor="t" bIns="45700" lIns="91425" spcFirstLastPara="1" rIns="91425" wrap="square" tIns="45700">
            <a:noAutofit/>
          </a:bodyPr>
          <a:lstStyle/>
          <a:p>
            <a:pPr indent="-368300" lvl="0" marL="457200" rtl="0" algn="l">
              <a:lnSpc>
                <a:spcPct val="115000"/>
              </a:lnSpc>
              <a:spcBef>
                <a:spcPts val="0"/>
              </a:spcBef>
              <a:spcAft>
                <a:spcPts val="0"/>
              </a:spcAft>
              <a:buSzPts val="2200"/>
              <a:buFont typeface="Times New Roman"/>
              <a:buAutoNum type="arabicPeriod"/>
            </a:pPr>
            <a:r>
              <a:rPr lang="en-US" sz="2200">
                <a:latin typeface="Times New Roman"/>
                <a:ea typeface="Times New Roman"/>
                <a:cs typeface="Times New Roman"/>
                <a:sym typeface="Times New Roman"/>
              </a:rPr>
              <a:t>Peacock, S., &amp; Cowan, J. (2016). From Presences to Linked Influences Within Communities of Inquiry. </a:t>
            </a:r>
            <a:r>
              <a:rPr i="1" lang="en-US" sz="2200">
                <a:latin typeface="Times New Roman"/>
                <a:ea typeface="Times New Roman"/>
                <a:cs typeface="Times New Roman"/>
                <a:sym typeface="Times New Roman"/>
              </a:rPr>
              <a:t>The International Review of Research in Open and Distributed Learning</a:t>
            </a:r>
            <a:r>
              <a:rPr lang="en-US" sz="2200">
                <a:latin typeface="Times New Roman"/>
                <a:ea typeface="Times New Roman"/>
                <a:cs typeface="Times New Roman"/>
                <a:sym typeface="Times New Roman"/>
              </a:rPr>
              <a:t>, </a:t>
            </a:r>
            <a:r>
              <a:rPr i="1" lang="en-US" sz="2200">
                <a:latin typeface="Times New Roman"/>
                <a:ea typeface="Times New Roman"/>
                <a:cs typeface="Times New Roman"/>
                <a:sym typeface="Times New Roman"/>
              </a:rPr>
              <a:t>17</a:t>
            </a:r>
            <a:r>
              <a:rPr lang="en-US" sz="2200">
                <a:latin typeface="Times New Roman"/>
                <a:ea typeface="Times New Roman"/>
                <a:cs typeface="Times New Roman"/>
                <a:sym typeface="Times New Roman"/>
              </a:rPr>
              <a:t>(5). </a:t>
            </a:r>
            <a:r>
              <a:rPr lang="en-US" sz="2200" u="sng">
                <a:solidFill>
                  <a:schemeClr val="hlink"/>
                </a:solidFill>
                <a:latin typeface="Times New Roman"/>
                <a:ea typeface="Times New Roman"/>
                <a:cs typeface="Times New Roman"/>
                <a:sym typeface="Times New Roman"/>
                <a:hlinkClick r:id="rId3"/>
              </a:rPr>
              <a:t>https://doi.org/10.19173/irrodl.v17i5.2602</a:t>
            </a:r>
            <a:endParaRPr i="1" sz="2200">
              <a:latin typeface="Times New Roman"/>
              <a:ea typeface="Times New Roman"/>
              <a:cs typeface="Times New Roman"/>
              <a:sym typeface="Times New Roman"/>
            </a:endParaRPr>
          </a:p>
          <a:p>
            <a:pPr indent="-368300" lvl="0" marL="457200" rtl="0" algn="l">
              <a:lnSpc>
                <a:spcPct val="115000"/>
              </a:lnSpc>
              <a:spcBef>
                <a:spcPts val="0"/>
              </a:spcBef>
              <a:spcAft>
                <a:spcPts val="0"/>
              </a:spcAft>
              <a:buSzPts val="2200"/>
              <a:buFont typeface="Times New Roman"/>
              <a:buAutoNum type="arabicPeriod"/>
            </a:pPr>
            <a:r>
              <a:rPr lang="en-US" sz="2200">
                <a:latin typeface="Times New Roman"/>
                <a:ea typeface="Times New Roman"/>
                <a:cs typeface="Times New Roman"/>
                <a:sym typeface="Times New Roman"/>
              </a:rPr>
              <a:t>Mishra, Ankit, Sugasi Guatam, &amp; Gehani Ritika. (2022). Web Development Team Report. </a:t>
            </a:r>
            <a:r>
              <a:rPr i="1" lang="en-US" sz="2200">
                <a:latin typeface="Times New Roman"/>
                <a:ea typeface="Times New Roman"/>
                <a:cs typeface="Times New Roman"/>
                <a:sym typeface="Times New Roman"/>
              </a:rPr>
              <a:t>Georgia Tech Vertically Integrated Projects.</a:t>
            </a:r>
            <a:endParaRPr i="1" sz="2200">
              <a:latin typeface="Times New Roman"/>
              <a:ea typeface="Times New Roman"/>
              <a:cs typeface="Times New Roman"/>
              <a:sym typeface="Times New Roman"/>
            </a:endParaRPr>
          </a:p>
          <a:p>
            <a:pPr indent="-368300" lvl="0" marL="457200" rtl="0" algn="l">
              <a:lnSpc>
                <a:spcPct val="115000"/>
              </a:lnSpc>
              <a:spcBef>
                <a:spcPts val="0"/>
              </a:spcBef>
              <a:spcAft>
                <a:spcPts val="0"/>
              </a:spcAft>
              <a:buSzPts val="2200"/>
              <a:buFont typeface="Times New Roman"/>
              <a:buAutoNum type="arabicPeriod"/>
            </a:pPr>
            <a:r>
              <a:rPr lang="en-US" sz="2200">
                <a:latin typeface="Times New Roman"/>
                <a:ea typeface="Times New Roman"/>
                <a:cs typeface="Times New Roman"/>
                <a:sym typeface="Times New Roman"/>
              </a:rPr>
              <a:t>Mcdaniel, Rhett. “Metacognition.” </a:t>
            </a:r>
            <a:r>
              <a:rPr i="1" lang="en-US" sz="2200">
                <a:latin typeface="Times New Roman"/>
                <a:ea typeface="Times New Roman"/>
                <a:cs typeface="Times New Roman"/>
                <a:sym typeface="Times New Roman"/>
              </a:rPr>
              <a:t>Vanderbilt University</a:t>
            </a:r>
            <a:r>
              <a:rPr lang="en-US" sz="2200">
                <a:latin typeface="Times New Roman"/>
                <a:ea typeface="Times New Roman"/>
                <a:cs typeface="Times New Roman"/>
                <a:sym typeface="Times New Roman"/>
              </a:rPr>
              <a:t>, Vanderbilt University, 9 Feb. 1970, https://cft.vanderbilt.edu/guides-sub-pages/metacognition/. </a:t>
            </a:r>
            <a:endParaRPr sz="2200">
              <a:latin typeface="Times New Roman"/>
              <a:ea typeface="Times New Roman"/>
              <a:cs typeface="Times New Roman"/>
              <a:sym typeface="Times New Roman"/>
            </a:endParaRPr>
          </a:p>
          <a:p>
            <a:pPr indent="-368300" lvl="0" marL="457200" rtl="0" algn="l">
              <a:lnSpc>
                <a:spcPct val="115000"/>
              </a:lnSpc>
              <a:spcBef>
                <a:spcPts val="0"/>
              </a:spcBef>
              <a:spcAft>
                <a:spcPts val="0"/>
              </a:spcAft>
              <a:buSzPts val="2200"/>
              <a:buFont typeface="Times New Roman"/>
              <a:buAutoNum type="arabicPeriod"/>
            </a:pPr>
            <a:r>
              <a:rPr lang="en-US" sz="2200">
                <a:latin typeface="Times New Roman"/>
                <a:ea typeface="Times New Roman"/>
                <a:cs typeface="Times New Roman"/>
                <a:sym typeface="Times New Roman"/>
              </a:rPr>
              <a:t>“Topic Modeling: A Basic Introduction.” </a:t>
            </a:r>
            <a:r>
              <a:rPr i="1" lang="en-US" sz="2200">
                <a:latin typeface="Times New Roman"/>
                <a:ea typeface="Times New Roman"/>
                <a:cs typeface="Times New Roman"/>
                <a:sym typeface="Times New Roman"/>
              </a:rPr>
              <a:t>Journal of Digital Humanities</a:t>
            </a:r>
            <a:r>
              <a:rPr lang="en-US" sz="2200">
                <a:latin typeface="Times New Roman"/>
                <a:ea typeface="Times New Roman"/>
                <a:cs typeface="Times New Roman"/>
                <a:sym typeface="Times New Roman"/>
              </a:rPr>
              <a:t>, http://journalofdigitalhumanities.org/2-1/topic-modeling-a-basic-introduction-by-megan-r-brett/. </a:t>
            </a:r>
            <a:endParaRPr sz="2200">
              <a:latin typeface="Times New Roman"/>
              <a:ea typeface="Times New Roman"/>
              <a:cs typeface="Times New Roman"/>
              <a:sym typeface="Times New Roman"/>
            </a:endParaRPr>
          </a:p>
          <a:p>
            <a:pPr indent="-419100" lvl="0" marL="457200" rtl="0" algn="l">
              <a:lnSpc>
                <a:spcPct val="115000"/>
              </a:lnSpc>
              <a:spcBef>
                <a:spcPts val="0"/>
              </a:spcBef>
              <a:spcAft>
                <a:spcPts val="0"/>
              </a:spcAft>
              <a:buSzPts val="3000"/>
              <a:buFont typeface="Times New Roman"/>
              <a:buAutoNum type="arabicPeriod"/>
            </a:pPr>
            <a:r>
              <a:rPr lang="en-US" sz="2200">
                <a:solidFill>
                  <a:srgbClr val="333333"/>
                </a:solidFill>
                <a:highlight>
                  <a:srgbClr val="FCFCFC"/>
                </a:highlight>
                <a:latin typeface="Times New Roman"/>
                <a:ea typeface="Times New Roman"/>
                <a:cs typeface="Times New Roman"/>
                <a:sym typeface="Times New Roman"/>
              </a:rPr>
              <a:t>Castellanos-Reyes, D. 20 Years of the Community of Inquiry Framework. </a:t>
            </a:r>
            <a:r>
              <a:rPr i="1" lang="en-US" sz="2200">
                <a:solidFill>
                  <a:srgbClr val="333333"/>
                </a:solidFill>
                <a:latin typeface="Times New Roman"/>
                <a:ea typeface="Times New Roman"/>
                <a:cs typeface="Times New Roman"/>
                <a:sym typeface="Times New Roman"/>
              </a:rPr>
              <a:t>TechTrends</a:t>
            </a:r>
            <a:r>
              <a:rPr lang="en-US" sz="2200">
                <a:solidFill>
                  <a:srgbClr val="333333"/>
                </a:solidFill>
                <a:highlight>
                  <a:srgbClr val="FCFCFC"/>
                </a:highlight>
                <a:latin typeface="Times New Roman"/>
                <a:ea typeface="Times New Roman"/>
                <a:cs typeface="Times New Roman"/>
                <a:sym typeface="Times New Roman"/>
              </a:rPr>
              <a:t> </a:t>
            </a:r>
            <a:r>
              <a:rPr lang="en-US" sz="2200">
                <a:solidFill>
                  <a:srgbClr val="333333"/>
                </a:solidFill>
                <a:latin typeface="Times New Roman"/>
                <a:ea typeface="Times New Roman"/>
                <a:cs typeface="Times New Roman"/>
                <a:sym typeface="Times New Roman"/>
              </a:rPr>
              <a:t>64</a:t>
            </a:r>
            <a:r>
              <a:rPr lang="en-US" sz="2200">
                <a:solidFill>
                  <a:srgbClr val="333333"/>
                </a:solidFill>
                <a:highlight>
                  <a:srgbClr val="FCFCFC"/>
                </a:highlight>
                <a:latin typeface="Times New Roman"/>
                <a:ea typeface="Times New Roman"/>
                <a:cs typeface="Times New Roman"/>
                <a:sym typeface="Times New Roman"/>
              </a:rPr>
              <a:t>, 557–560 (2020). https://doi.org/10.1007/s11528-020-00491-7</a:t>
            </a:r>
            <a:endParaRPr sz="3000">
              <a:latin typeface="Times New Roman"/>
              <a:ea typeface="Times New Roman"/>
              <a:cs typeface="Times New Roman"/>
              <a:sym typeface="Times New Roman"/>
            </a:endParaRPr>
          </a:p>
        </p:txBody>
      </p:sp>
      <p:sp>
        <p:nvSpPr>
          <p:cNvPr id="302" name="Google Shape;302;g9d48565bb2_0_10"/>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Citations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12"/>
          <p:cNvSpPr txBox="1"/>
          <p:nvPr>
            <p:ph type="title"/>
          </p:nvPr>
        </p:nvSpPr>
        <p:spPr>
          <a:xfrm>
            <a:off x="381000" y="3558519"/>
            <a:ext cx="11430000" cy="1014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800"/>
              <a:buNone/>
            </a:pPr>
            <a:br>
              <a:rPr lang="en-US"/>
            </a:br>
            <a:r>
              <a:rPr lang="en-US" sz="6000"/>
              <a:t>Questions?</a:t>
            </a:r>
            <a:endParaRPr sz="6000"/>
          </a:p>
        </p:txBody>
      </p:sp>
      <p:sp>
        <p:nvSpPr>
          <p:cNvPr id="308" name="Google Shape;308;p12"/>
          <p:cNvSpPr txBox="1"/>
          <p:nvPr/>
        </p:nvSpPr>
        <p:spPr>
          <a:xfrm>
            <a:off x="488430" y="907759"/>
            <a:ext cx="11430000" cy="10149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A7934B"/>
              </a:buClr>
              <a:buSzPts val="1800"/>
              <a:buFont typeface="Roboto"/>
              <a:buNone/>
            </a:pPr>
            <a:br>
              <a:rPr b="1" i="0" lang="en-US" sz="3600" u="none" cap="none" strike="noStrike">
                <a:solidFill>
                  <a:srgbClr val="A7934B"/>
                </a:solidFill>
                <a:latin typeface="Roboto"/>
                <a:ea typeface="Roboto"/>
                <a:cs typeface="Roboto"/>
                <a:sym typeface="Roboto"/>
              </a:rPr>
            </a:br>
            <a:r>
              <a:rPr b="1" i="0" lang="en-US" sz="6000" u="none" cap="none" strike="noStrike">
                <a:solidFill>
                  <a:srgbClr val="A7934B"/>
                </a:solidFill>
                <a:latin typeface="Roboto"/>
                <a:ea typeface="Roboto"/>
                <a:cs typeface="Roboto"/>
                <a:sym typeface="Roboto"/>
              </a:rPr>
              <a:t>Thanks for listening!</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1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2016-03-09T16:46:53Z</dcterms:created>
  <dc:creator>Microsoft Office User</dc:creator>
</cp:coreProperties>
</file>