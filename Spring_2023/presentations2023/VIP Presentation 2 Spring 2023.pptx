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6858000" cx="12192000"/>
  <p:notesSz cx="6858000" cy="9144000"/>
  <p:embeddedFontLst>
    <p:embeddedFont>
      <p:font typeface="Roboto"/>
      <p:regular r:id="rId31"/>
      <p:bold r:id="rId32"/>
      <p:italic r:id="rId33"/>
      <p:boldItalic r:id="rId34"/>
    </p:embeddedFont>
    <p:embeddedFont>
      <p:font typeface="Roboto Condensed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39" roundtripDataSignature="AMtx7mhJll9RG5ySM3MV/C/cGrxpUgx6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577AC01-C511-4C30-9EA6-7DD89FE85981}">
  <a:tblStyle styleId="{1577AC01-C511-4C30-9EA6-7DD89FE8598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italic.fntdata"/><Relationship Id="rId10" Type="http://schemas.openxmlformats.org/officeDocument/2006/relationships/slide" Target="slides/slide3.xml"/><Relationship Id="rId32" Type="http://schemas.openxmlformats.org/officeDocument/2006/relationships/font" Target="fonts/Roboto-bold.fntdata"/><Relationship Id="rId13" Type="http://schemas.openxmlformats.org/officeDocument/2006/relationships/slide" Target="slides/slide6.xml"/><Relationship Id="rId35" Type="http://schemas.openxmlformats.org/officeDocument/2006/relationships/font" Target="fonts/RobotoCondensedLight-regular.fntdata"/><Relationship Id="rId12" Type="http://schemas.openxmlformats.org/officeDocument/2006/relationships/slide" Target="slides/slide5.xml"/><Relationship Id="rId34" Type="http://schemas.openxmlformats.org/officeDocument/2006/relationships/font" Target="fonts/Roboto-boldItalic.fntdata"/><Relationship Id="rId15" Type="http://schemas.openxmlformats.org/officeDocument/2006/relationships/slide" Target="slides/slide8.xml"/><Relationship Id="rId37" Type="http://schemas.openxmlformats.org/officeDocument/2006/relationships/font" Target="fonts/RobotoCondensedLight-italic.fntdata"/><Relationship Id="rId14" Type="http://schemas.openxmlformats.org/officeDocument/2006/relationships/slide" Target="slides/slide7.xml"/><Relationship Id="rId36" Type="http://schemas.openxmlformats.org/officeDocument/2006/relationships/font" Target="fonts/RobotoCondensedLight-bold.fntdata"/><Relationship Id="rId17" Type="http://schemas.openxmlformats.org/officeDocument/2006/relationships/slide" Target="slides/slide10.xml"/><Relationship Id="rId39" Type="http://customschemas.google.com/relationships/presentationmetadata" Target="metadata"/><Relationship Id="rId16" Type="http://schemas.openxmlformats.org/officeDocument/2006/relationships/slide" Target="slides/slide9.xml"/><Relationship Id="rId38" Type="http://schemas.openxmlformats.org/officeDocument/2006/relationships/font" Target="fonts/RobotoCondensedLight-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p:txBody>
      </p:sp>
      <p:sp>
        <p:nvSpPr>
          <p:cNvPr id="74" name="Google Shape;7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5db474c58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5db474c58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9d48565bb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Jisan</a:t>
            </a:r>
            <a:endParaRPr/>
          </a:p>
          <a:p>
            <a:pPr indent="0" lvl="0" marL="0" rtl="0" algn="l">
              <a:lnSpc>
                <a:spcPct val="100000"/>
              </a:lnSpc>
              <a:spcBef>
                <a:spcPts val="0"/>
              </a:spcBef>
              <a:spcAft>
                <a:spcPts val="0"/>
              </a:spcAft>
              <a:buSzPts val="1100"/>
              <a:buNone/>
            </a:pPr>
            <a:r>
              <a:rPr lang="en-US"/>
              <a:t>Discussion forums are the primary source of class interaction in an online asynchronous course. ABSA and Seeded topic modeling are used to increase student interaction. The activity on these forums can be used as an indicator for assessing students’ engagement and understanding in the course.</a:t>
            </a:r>
            <a:endParaRPr/>
          </a:p>
          <a:p>
            <a:pPr indent="0" lvl="0" marL="0" rtl="0" algn="l">
              <a:lnSpc>
                <a:spcPct val="100000"/>
              </a:lnSpc>
              <a:spcBef>
                <a:spcPts val="0"/>
              </a:spcBef>
              <a:spcAft>
                <a:spcPts val="0"/>
              </a:spcAft>
              <a:buSzPts val="1100"/>
              <a:buNone/>
            </a:pPr>
            <a:r>
              <a:rPr lang="en-US"/>
              <a:t>Therefore, our goals are to complete our dashboard for two courses to provide more accuracy and insights for our instructors.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ba764dde3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Jisan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Those are our team’s progress. Our web-dev team has developed two dashboard for each course, they will have an interview with TAs and utilize the UX design based on that. As soon as the result from the data gets ready, they will fill in the dashboard with actionable infos.</a:t>
            </a:r>
            <a:endParaRPr/>
          </a:p>
          <a:p>
            <a:pPr indent="0" lvl="0" marL="0" rtl="0" algn="l">
              <a:lnSpc>
                <a:spcPct val="100000"/>
              </a:lnSpc>
              <a:spcBef>
                <a:spcPts val="0"/>
              </a:spcBef>
              <a:spcAft>
                <a:spcPts val="0"/>
              </a:spcAft>
              <a:buSzPts val="1100"/>
              <a:buNone/>
            </a:pPr>
            <a:r>
              <a:rPr lang="en-US"/>
              <a:t>Data science team has implemented seeded topic modeling with each course data. The next goal for Data science team is to utilize the graphical information and transfer the data result to web-dev team. </a:t>
            </a:r>
            <a:endParaRPr/>
          </a:p>
          <a:p>
            <a:pPr indent="0" lvl="0" marL="0" rtl="0" algn="l">
              <a:lnSpc>
                <a:spcPct val="100000"/>
              </a:lnSpc>
              <a:spcBef>
                <a:spcPts val="0"/>
              </a:spcBef>
              <a:spcAft>
                <a:spcPts val="0"/>
              </a:spcAft>
              <a:buSzPts val="1100"/>
              <a:buNone/>
            </a:pPr>
            <a:r>
              <a:rPr lang="en-US"/>
              <a:t>My main goals are to have clear deliverables each week for team members and bridge </a:t>
            </a:r>
            <a:r>
              <a:rPr lang="en-US"/>
              <a:t>the</a:t>
            </a:r>
            <a:r>
              <a:rPr lang="en-US"/>
              <a:t> gap between two teams.</a:t>
            </a:r>
            <a:endParaRPr/>
          </a:p>
          <a:p>
            <a:pPr indent="0" lvl="0" marL="0" rtl="0" algn="l">
              <a:lnSpc>
                <a:spcPct val="100000"/>
              </a:lnSpc>
              <a:spcBef>
                <a:spcPts val="0"/>
              </a:spcBef>
              <a:spcAft>
                <a:spcPts val="0"/>
              </a:spcAft>
              <a:buSzPts val="1100"/>
              <a:buNone/>
            </a:pPr>
            <a:r>
              <a:rPr lang="en-US"/>
              <a:t>Next, Data science team will present their progress in detail.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f4b38d880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f4b38d88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Jisan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efbeba6a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bea1223c9f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100"/>
              </a:spcBef>
              <a:spcAft>
                <a:spcPts val="0"/>
              </a:spcAft>
              <a:buSzPts val="1100"/>
              <a:buNone/>
            </a:pPr>
            <a:r>
              <a:rPr lang="en-US"/>
              <a:t>Emily</a:t>
            </a:r>
            <a:endParaRPr/>
          </a:p>
          <a:p>
            <a:pPr indent="0" lvl="0" marL="0" rtl="0" algn="l">
              <a:lnSpc>
                <a:spcPct val="100000"/>
              </a:lnSpc>
              <a:spcBef>
                <a:spcPts val="1100"/>
              </a:spcBef>
              <a:spcAft>
                <a:spcPts val="0"/>
              </a:spcAft>
              <a:buSzPts val="1100"/>
              <a:buNone/>
            </a:pPr>
            <a:r>
              <a:rPr lang="en-US"/>
              <a:t>Here is a review of our research questions</a:t>
            </a:r>
            <a:endParaRPr/>
          </a:p>
          <a:p>
            <a:pPr indent="0" lvl="0" marL="0" rtl="0" algn="l">
              <a:lnSpc>
                <a:spcPct val="100000"/>
              </a:lnSpc>
              <a:spcBef>
                <a:spcPts val="1100"/>
              </a:spcBef>
              <a:spcAft>
                <a:spcPts val="0"/>
              </a:spcAft>
              <a:buSzPts val="1100"/>
              <a:buNone/>
            </a:pPr>
            <a:r>
              <a:rPr lang="en-US"/>
              <a:t>- fortunately, we've been making progress toward answering each question</a:t>
            </a:r>
            <a:endParaRPr/>
          </a:p>
          <a:p>
            <a:pPr indent="-298450" lvl="0" marL="457200" rtl="0" algn="l">
              <a:lnSpc>
                <a:spcPct val="100000"/>
              </a:lnSpc>
              <a:spcBef>
                <a:spcPts val="0"/>
              </a:spcBef>
              <a:spcAft>
                <a:spcPts val="0"/>
              </a:spcAft>
              <a:buSzPts val="1100"/>
              <a:buAutoNum type="arabicPeriod"/>
            </a:pPr>
            <a:r>
              <a:rPr lang="en-US"/>
              <a:t>paraphrase question. Through our use of different data science methodologies (discussed in next slide), we are analyzing various data to formulate potential metrics and answers for measuring/improving student engagement</a:t>
            </a:r>
            <a:endParaRPr/>
          </a:p>
          <a:p>
            <a:pPr indent="-298450" lvl="0" marL="457200" rtl="0" algn="l">
              <a:lnSpc>
                <a:spcPct val="100000"/>
              </a:lnSpc>
              <a:spcBef>
                <a:spcPts val="0"/>
              </a:spcBef>
              <a:spcAft>
                <a:spcPts val="0"/>
              </a:spcAft>
              <a:buSzPts val="1100"/>
              <a:buAutoNum type="arabicPeriod"/>
            </a:pPr>
            <a:r>
              <a:rPr lang="en-US"/>
              <a:t>paraphrase question (we've been expanding our research by for example exploring different types of topic modeling and seeing which one provides more promising and reliable models for instructors to use, and we will continue to expand our research</a:t>
            </a:r>
            <a:endParaRPr/>
          </a:p>
          <a:p>
            <a:pPr indent="-298450" lvl="0" marL="457200" rtl="0" algn="l">
              <a:lnSpc>
                <a:spcPct val="100000"/>
              </a:lnSpc>
              <a:spcBef>
                <a:spcPts val="0"/>
              </a:spcBef>
              <a:spcAft>
                <a:spcPts val="0"/>
              </a:spcAft>
              <a:buSzPts val="1100"/>
              <a:buAutoNum type="arabicPeriod"/>
            </a:pPr>
            <a:r>
              <a:rPr lang="en-US"/>
              <a:t>paraphrase question (we cannot actually base our accuracy of the models off of percentages or statistics, so we are trying our best to improve accuracy of these models based on their relevance/importance and I'll talk about that later)</a:t>
            </a:r>
            <a:endParaRPr/>
          </a:p>
          <a:p>
            <a:pPr indent="-298450" lvl="0" marL="457200" rtl="0" algn="l">
              <a:lnSpc>
                <a:spcPct val="100000"/>
              </a:lnSpc>
              <a:spcBef>
                <a:spcPts val="0"/>
              </a:spcBef>
              <a:spcAft>
                <a:spcPts val="0"/>
              </a:spcAft>
              <a:buSzPts val="1100"/>
              <a:buAutoNum type="arabicPeriod"/>
            </a:pPr>
            <a:r>
              <a:rPr lang="en-US"/>
              <a:t>two dashboards are still in the process of being created (will be shown in later slides), and the data science team will try their best to provide the web-dev team with useful insights from our created models/data results.</a:t>
            </a:r>
            <a:endParaRPr/>
          </a:p>
          <a:p>
            <a:pPr indent="-298450" lvl="0" marL="457200" rtl="0" algn="l">
              <a:lnSpc>
                <a:spcPct val="100000"/>
              </a:lnSpc>
              <a:spcBef>
                <a:spcPts val="0"/>
              </a:spcBef>
              <a:spcAft>
                <a:spcPts val="0"/>
              </a:spcAft>
              <a:buSzPts val="1100"/>
              <a:buAutoNum type="arabicPeriod"/>
            </a:pPr>
            <a:r>
              <a:rPr lang="en-US"/>
              <a:t>while the dashboards are being finalized we will focus on how to make the dashboards user-friendly and </a:t>
            </a:r>
            <a:r>
              <a:rPr lang="en-US"/>
              <a:t>compatible</a:t>
            </a:r>
            <a:r>
              <a:rPr lang="en-US"/>
              <a:t> with various devices</a:t>
            </a:r>
            <a:endParaRPr/>
          </a:p>
          <a:p>
            <a:pPr indent="0" lvl="0" marL="0" rtl="0" algn="l">
              <a:lnSpc>
                <a:spcPct val="100000"/>
              </a:lnSpc>
              <a:spcBef>
                <a:spcPts val="11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efbeba6a1c_0_5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efbeba6a1c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1100"/>
              </a:spcBef>
              <a:spcAft>
                <a:spcPts val="0"/>
              </a:spcAft>
              <a:buSzPts val="1100"/>
              <a:buChar char="-"/>
            </a:pPr>
            <a:r>
              <a:rPr lang="en-US">
                <a:solidFill>
                  <a:schemeClr val="dk1"/>
                </a:solidFill>
              </a:rPr>
              <a:t>Emily</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From our CS 1301 (Intro to Programming) and CS6601 (AI) data from ed and piazza, </a:t>
            </a:r>
            <a:r>
              <a:rPr lang="en-US">
                <a:solidFill>
                  <a:schemeClr val="dk1"/>
                </a:solidFill>
              </a:rPr>
              <a:t>we are using Topic Modeling and ABSA to output data that we can analyze. With this data, we are trying to pinpoint indications of student engagement to provide useful data to instructors in the dashboards</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Last semester, the data science subteam utilized unsupervised topic modeling (issues with accuracy), and this semester we've decided to replace this with guided topic modeling. The accuracy seems to have already increased with our models, which are outputting more relevant topics from the discussion forums</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topic modeling (scans a set of documents and clusters word groups and similar expressions together to pinpoint what students are mainly discussing)</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Though we are focusing on topic modeling right now, we are still interested in using Aspect-based sentiment analysis (ABSA) to examine student sentiment towards certain aspects in education</a:t>
            </a:r>
            <a:endParaRPr>
              <a:solidFill>
                <a:schemeClr val="dk1"/>
              </a:solidFill>
            </a:endParaRPr>
          </a:p>
          <a:p>
            <a:pPr indent="-298450" lvl="0" marL="457200" rtl="0" algn="l">
              <a:lnSpc>
                <a:spcPct val="100000"/>
              </a:lnSpc>
              <a:spcBef>
                <a:spcPts val="1100"/>
              </a:spcBef>
              <a:spcAft>
                <a:spcPts val="0"/>
              </a:spcAft>
              <a:buClr>
                <a:schemeClr val="dk1"/>
              </a:buClr>
              <a:buSzPts val="1100"/>
              <a:buChar char="-"/>
            </a:pPr>
            <a:r>
              <a:rPr lang="en-US">
                <a:solidFill>
                  <a:schemeClr val="dk1"/>
                </a:solidFill>
              </a:rPr>
              <a:t>In terms of metacognitive data, we are focusing on visualizing the effects of this presence in a classroom setting, and this will be elaborated on later in the presentation</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8953f727dd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18953f727d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a:p>
            <a:pPr indent="0" lvl="0" marL="0" rtl="0" algn="l">
              <a:lnSpc>
                <a:spcPct val="100000"/>
              </a:lnSpc>
              <a:spcBef>
                <a:spcPts val="0"/>
              </a:spcBef>
              <a:spcAft>
                <a:spcPts val="0"/>
              </a:spcAft>
              <a:buSzPts val="1100"/>
              <a:buNone/>
            </a:pPr>
            <a:r>
              <a:rPr lang="en-US"/>
              <a:t>Topic Modeling is unsupervised ML technique that can scan a set of documents, detect words and phrase patterns within document, cluster word groups, and classify document by topic. We expected that Teaching team is aware of what students mainly talk about and what question comes frequently in the discussion forum. But, we faced the limitation that is the top topic has too wide range and general words. We made a bubble chart to see topic distribution by documents, 273 documents has topic 4 which has a left word cloud. Those two word clouds for the top two topics are irrelevant to the course contents. So we think of it needs labels to guide the model.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1b583a11e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21b583a11e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Emily</a:t>
            </a:r>
            <a:endParaRPr/>
          </a:p>
          <a:p>
            <a:pPr indent="-298450" lvl="0" marL="457200" rtl="0" algn="l">
              <a:lnSpc>
                <a:spcPct val="100000"/>
              </a:lnSpc>
              <a:spcBef>
                <a:spcPts val="0"/>
              </a:spcBef>
              <a:spcAft>
                <a:spcPts val="0"/>
              </a:spcAft>
              <a:buSzPts val="1100"/>
              <a:buChar char="-"/>
            </a:pPr>
            <a:r>
              <a:rPr lang="en-US"/>
              <a:t>guided (aka seeded) topic modeling</a:t>
            </a:r>
            <a:endParaRPr/>
          </a:p>
          <a:p>
            <a:pPr indent="-298450" lvl="0" marL="457200" rtl="0" algn="l">
              <a:lnSpc>
                <a:spcPct val="100000"/>
              </a:lnSpc>
              <a:spcBef>
                <a:spcPts val="0"/>
              </a:spcBef>
              <a:spcAft>
                <a:spcPts val="0"/>
              </a:spcAft>
              <a:buSzPts val="1100"/>
              <a:buChar char="-"/>
            </a:pPr>
            <a:r>
              <a:rPr lang="en-US"/>
              <a:t>(read first bullet) seeded topics </a:t>
            </a:r>
            <a:r>
              <a:rPr lang="en-US"/>
              <a:t>essentially</a:t>
            </a:r>
            <a:r>
              <a:rPr lang="en-US"/>
              <a:t> "train" or "guide" our model as an attempt to output more accurate/relevant topics from the discussion forum responses that we were given from the two courses</a:t>
            </a:r>
            <a:endParaRPr/>
          </a:p>
          <a:p>
            <a:pPr indent="-298450" lvl="0" marL="457200" rtl="0" algn="l">
              <a:lnSpc>
                <a:spcPct val="100000"/>
              </a:lnSpc>
              <a:spcBef>
                <a:spcPts val="0"/>
              </a:spcBef>
              <a:spcAft>
                <a:spcPts val="0"/>
              </a:spcAft>
              <a:buSzPts val="1100"/>
              <a:buChar char="-"/>
            </a:pPr>
            <a:r>
              <a:rPr lang="en-US"/>
              <a:t>Seeded topic models pass a collection of keywords to the model, outlining the sought out themes before the estimation</a:t>
            </a:r>
            <a:endParaRPr/>
          </a:p>
          <a:p>
            <a:pPr indent="-298450" lvl="0" marL="457200" rtl="0" algn="l">
              <a:lnSpc>
                <a:spcPct val="100000"/>
              </a:lnSpc>
              <a:spcBef>
                <a:spcPts val="0"/>
              </a:spcBef>
              <a:spcAft>
                <a:spcPts val="0"/>
              </a:spcAft>
              <a:buSzPts val="1100"/>
              <a:buChar char="-"/>
            </a:pPr>
            <a:r>
              <a:rPr lang="en-US"/>
              <a:t>as you can see below, the seeded topic lists are 2-d arrays, where each row is composed of words closely associated with one another, whether they were mentioned in the same discussion forum post, or they had relatively similar meaning</a:t>
            </a:r>
            <a:endParaRPr/>
          </a:p>
          <a:p>
            <a:pPr indent="-298450" lvl="0" marL="457200" rtl="0" algn="l">
              <a:lnSpc>
                <a:spcPct val="100000"/>
              </a:lnSpc>
              <a:spcBef>
                <a:spcPts val="0"/>
              </a:spcBef>
              <a:spcAft>
                <a:spcPts val="0"/>
              </a:spcAft>
              <a:buSzPts val="1100"/>
              <a:buChar char="-"/>
            </a:pPr>
            <a:r>
              <a:rPr lang="en-US"/>
              <a:t>however, once we ran our model with the topic list on the left, the model outputted topics seemingly irrelevant to the course content and didn't help us with potentially indicating student engagement, so we improved this by making our seeded topic list more narrow and adding more stop words such as "if","you","him", and "hello" (stop words are terms we want our model to disregard since they are unimportant words in discussion posts)</a:t>
            </a:r>
            <a:endParaRPr/>
          </a:p>
          <a:p>
            <a:pPr indent="-298450" lvl="0" marL="457200" rtl="0" algn="l">
              <a:lnSpc>
                <a:spcPct val="100000"/>
              </a:lnSpc>
              <a:spcBef>
                <a:spcPts val="0"/>
              </a:spcBef>
              <a:spcAft>
                <a:spcPts val="0"/>
              </a:spcAft>
              <a:buSzPts val="1100"/>
              <a:buChar char="-"/>
            </a:pPr>
            <a:r>
              <a:rPr lang="en-US"/>
              <a:t>"programming" and "code" too vague</a:t>
            </a:r>
            <a:endParaRPr/>
          </a:p>
          <a:p>
            <a:pPr indent="-298450" lvl="0" marL="457200" rtl="0" algn="l">
              <a:lnSpc>
                <a:spcPct val="100000"/>
              </a:lnSpc>
              <a:spcBef>
                <a:spcPts val="0"/>
              </a:spcBef>
              <a:spcAft>
                <a:spcPts val="0"/>
              </a:spcAft>
              <a:buSzPts val="1100"/>
              <a:buChar char="-"/>
            </a:pPr>
            <a:r>
              <a:rPr lang="en-US"/>
              <a:t>as a result, our model began outputting more meaningful and thus more accurate results!</a:t>
            </a:r>
            <a:endParaRPr/>
          </a:p>
          <a:p>
            <a:pPr indent="-298450" lvl="0" marL="457200" rtl="0" algn="l">
              <a:lnSpc>
                <a:spcPct val="100000"/>
              </a:lnSpc>
              <a:spcBef>
                <a:spcPts val="0"/>
              </a:spcBef>
              <a:spcAft>
                <a:spcPts val="0"/>
              </a:spcAft>
              <a:buSzPts val="1100"/>
              <a:buChar char="-"/>
            </a:pPr>
            <a:r>
              <a:rPr lang="en-US"/>
              <a:t>expectations and plans for the rest of the semester (read them) </a:t>
            </a:r>
            <a:endParaRPr/>
          </a:p>
          <a:p>
            <a:pPr indent="-298450" lvl="0" marL="457200" rtl="0" algn="l">
              <a:lnSpc>
                <a:spcPct val="100000"/>
              </a:lnSpc>
              <a:spcBef>
                <a:spcPts val="0"/>
              </a:spcBef>
              <a:spcAft>
                <a:spcPts val="0"/>
              </a:spcAft>
              <a:buSzPts val="1100"/>
              <a:buChar char="-"/>
            </a:pPr>
            <a:r>
              <a:rPr lang="en-US"/>
              <a:t>such as looking at model output, adding more stop words based on the output, discussing with other team members on their approaches that have worked</a:t>
            </a:r>
            <a:endParaRPr/>
          </a:p>
          <a:p>
            <a:pPr indent="-298450" lvl="0" marL="457200" rtl="0" algn="l">
              <a:lnSpc>
                <a:spcPct val="100000"/>
              </a:lnSpc>
              <a:spcBef>
                <a:spcPts val="0"/>
              </a:spcBef>
              <a:spcAft>
                <a:spcPts val="0"/>
              </a:spcAft>
              <a:buSzPts val="1100"/>
              <a:buChar char="-"/>
            </a:pPr>
            <a:r>
              <a:rPr lang="en-US"/>
              <a:t>brainstorm other ideas for improving accuracy, experiment with code by making small changes and seeing how the model's output also changes; gathered that small changes are better than major ones so we know what changes caused what results in order to maximize accuracy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18e1e64d6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218e1e64d6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Harriet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To alter the limitation, we have adapted a guided topic modeling. It guides the topic modeling approach by setting several seed topics to which the model will converge. We will develop this model, and we are going to provide seed words for each topic, so each topic word is related to specific contents. For example, we have four topics as predefined topics in the images. we have tree topic, version topic, grading topic like that. So, we hope to see each document has some other topic. Our expectation is reduction of running time by utilizing pipeline and improvement of accuracy for classification by topic.</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5e2f3f4d0a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15e2f3f4d0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a:p>
            <a:pPr indent="0" lvl="0" marL="0" rtl="0" algn="l">
              <a:lnSpc>
                <a:spcPct val="100000"/>
              </a:lnSpc>
              <a:spcBef>
                <a:spcPts val="0"/>
              </a:spcBef>
              <a:spcAft>
                <a:spcPts val="0"/>
              </a:spcAft>
              <a:buSzPts val="1100"/>
              <a:buNone/>
            </a:pPr>
            <a:r>
              <a:rPr lang="en-US"/>
              <a:t>Last semester, we worked on Aspect-based sentiment analysis. To give you guys a brief overview, it is a </a:t>
            </a:r>
            <a:r>
              <a:rPr lang="en-US">
                <a:solidFill>
                  <a:schemeClr val="dk1"/>
                </a:solidFill>
                <a:latin typeface="Roboto"/>
                <a:ea typeface="Roboto"/>
                <a:cs typeface="Roboto"/>
                <a:sym typeface="Roboto"/>
              </a:rPr>
              <a:t>Technique that categorizes text data by aspect and identifies the sentiment attributed to each one. We thought this is efficient to analyze Piazza data, because we can provide reasonable sentiment for aspects depending on students’ current circumstance for multiple aspects at once. As you see on the slide, here is an example text input and output. A student posted that “for some reason from my end the gradescope submission is still not happening.” You can see that the word “gradescope” is acting as a negative word in this text. We used 6 aspects, and for the “Gradescope” aspect, you can see that it is evaluated as “93% negative” from our model.</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a:solidFill>
                  <a:schemeClr val="dk1"/>
                </a:solidFill>
                <a:latin typeface="Roboto"/>
                <a:ea typeface="Roboto"/>
                <a:cs typeface="Roboto"/>
                <a:sym typeface="Roboto"/>
              </a:rPr>
              <a:t>I will pass the slide to Jisan to talk about our work with topic modeling from the last semester.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8953f727dd_1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18953f727dd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Rohan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5e2f3f4d0a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15e2f3f4d0a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a:p>
            <a:pPr indent="0" lvl="0" marL="0" rtl="0" algn="l">
              <a:lnSpc>
                <a:spcPct val="100000"/>
              </a:lnSpc>
              <a:spcBef>
                <a:spcPts val="0"/>
              </a:spcBef>
              <a:spcAft>
                <a:spcPts val="0"/>
              </a:spcAft>
              <a:buSzPts val="1100"/>
              <a:buNone/>
            </a:pPr>
            <a:r>
              <a:rPr lang="en-US"/>
              <a:t>Our goal for this semester is to show our result from the data science models to our web page dashboard. So we are going to generate our result as .json file and transfer them to the Web-dev team.  Currently, we are dealing with the Ed data from CS1301 class and Piazza data from CS6601 class. As we have presented today, we have been working on topic modeling with guided BERTopic. We have also worked on visualizing the metacognitive presence result we received from C21U research team. We are planning to provide more data from this, and we are on our process of brain-storming which feature we can get from the data. The last thing we are going to do is to improve accuracy of our Aspect-based sentiment analysis model from the last semester and also apply CS1301 dataset to our model.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efbeba6a1c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efbeba6a1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fb32003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efb32003e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Ankit</a:t>
            </a:r>
            <a:endParaRPr/>
          </a:p>
          <a:p>
            <a:pPr indent="0" lvl="0" marL="0" rtl="0" algn="l">
              <a:lnSpc>
                <a:spcPct val="100000"/>
              </a:lnSpc>
              <a:spcBef>
                <a:spcPts val="0"/>
              </a:spcBef>
              <a:spcAft>
                <a:spcPts val="0"/>
              </a:spcAft>
              <a:buSzPts val="1100"/>
              <a:buNone/>
            </a:pPr>
            <a:r>
              <a:rPr lang="en-US"/>
              <a:t>Youngwook Kang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1c66e4ba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1c66e4ba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Youngwook Kang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1c66e4ba4c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1c66e4ba4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Youngwook Kang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1c66e4ba4c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1c66e4ba4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Youngwook Kang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897b4b8f7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1897b4b8f7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Ankit</a:t>
            </a:r>
            <a:endParaRPr/>
          </a:p>
          <a:p>
            <a:pPr indent="0" lvl="0" marL="0" rtl="0" algn="l">
              <a:lnSpc>
                <a:spcPct val="100000"/>
              </a:lnSpc>
              <a:spcBef>
                <a:spcPts val="0"/>
              </a:spcBef>
              <a:spcAft>
                <a:spcPts val="0"/>
              </a:spcAft>
              <a:buSzPts val="1100"/>
              <a:buNone/>
            </a:pPr>
            <a:r>
              <a:rPr lang="en-US"/>
              <a:t>Youngwook Kang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US"/>
              <a:t>The web development team aims to create web applications that enhance the learning experience by reducing instructor workload in managing forums and increasing student engagement. To achieve this objective, the backend team is focused on integrating with the Piazza and EdDiscussion APIs, while the front-end team is responsible for designing user interactions and integrating them with metrics from the back-end and data science teams.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This semester, the web development team has set specific goals to achieve their ultimate objective. One of the primary goals is to ensure that dashboards are displayed consistently across all types of displays. Additionally, the team plans to link the current hardcoded information on the dashboard to backend data generated by the Data Science team, thereby providing more accurate and relevant information to users.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rPr lang="en-US"/>
              <a:t>For this semester, we are focusing on building the concrete dashboards for each course. </a:t>
            </a:r>
            <a:endParaRPr/>
          </a:p>
          <a:p>
            <a:pPr indent="0" lvl="0" marL="0" rtl="0" algn="l">
              <a:lnSpc>
                <a:spcPct val="100000"/>
              </a:lnSpc>
              <a:spcBef>
                <a:spcPts val="0"/>
              </a:spcBef>
              <a:spcAft>
                <a:spcPts val="0"/>
              </a:spcAft>
              <a:buSzPts val="1100"/>
              <a:buNone/>
            </a:pPr>
            <a:r>
              <a:rPr lang="en-US"/>
              <a:t>Our Data science team has implemented seeded topic modeling, and they will increase the model for next step. Since the dashboard is not completed yet, they will utilize </a:t>
            </a:r>
            <a:r>
              <a:rPr lang="en-US"/>
              <a:t>graphical information and then transfer outcomes to Web-dev team. Web-dev team will get user feedback by interviewing with TA then expand user research to specific applications of dashboards.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Piazza data from ML class, edX data from CS1301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9d48565bb2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0" name="Shape 30"/>
        <p:cNvGrpSpPr/>
        <p:nvPr/>
      </p:nvGrpSpPr>
      <p:grpSpPr>
        <a:xfrm>
          <a:off x="0" y="0"/>
          <a:ext cx="0" cy="0"/>
          <a:chOff x="0" y="0"/>
          <a:chExt cx="0" cy="0"/>
        </a:xfrm>
      </p:grpSpPr>
      <p:sp>
        <p:nvSpPr>
          <p:cNvPr id="31" name="Google Shape;31;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 name="Shape 37"/>
        <p:cNvGrpSpPr/>
        <p:nvPr/>
      </p:nvGrpSpPr>
      <p:grpSpPr>
        <a:xfrm>
          <a:off x="0" y="0"/>
          <a:ext cx="0" cy="0"/>
          <a:chOff x="0" y="0"/>
          <a:chExt cx="0" cy="0"/>
        </a:xfrm>
      </p:grpSpPr>
      <p:sp>
        <p:nvSpPr>
          <p:cNvPr id="38" name="Google Shape;38;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7.jpg"/><Relationship Id="rId5" Type="http://schemas.openxmlformats.org/officeDocument/2006/relationships/image" Target="../media/image6.png"/><Relationship Id="rId6" Type="http://schemas.openxmlformats.org/officeDocument/2006/relationships/image" Target="../media/image4.jpg"/><Relationship Id="rId7" Type="http://schemas.openxmlformats.org/officeDocument/2006/relationships/image" Target="../media/image9.jp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cs.python.org/3.7/library/stdtypes.html" TargetMode="External"/><Relationship Id="rId4" Type="http://schemas.openxmlformats.org/officeDocument/2006/relationships/hyperlink" Target="https://docs.python.org/3.7/library/stdtypes.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2.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doi.org/10.19173/irrodl.v17i5.260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2 - 03/15/2023</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15db474c58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g15db474c58e_0_0"/>
          <p:cNvSpPr txBox="1"/>
          <p:nvPr/>
        </p:nvSpPr>
        <p:spPr>
          <a:xfrm>
            <a:off x="3893025" y="5571825"/>
            <a:ext cx="2192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Youngwook Kang</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g15db474c58e_0_0"/>
          <p:cNvSpPr txBox="1"/>
          <p:nvPr/>
        </p:nvSpPr>
        <p:spPr>
          <a:xfrm>
            <a:off x="668090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Rohan Karthik</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a:t>
            </a:r>
            <a:r>
              <a:rPr lang="en-US">
                <a:latin typeface="Roboto"/>
                <a:ea typeface="Roboto"/>
                <a:cs typeface="Roboto"/>
                <a:sym typeface="Roboto"/>
              </a:rPr>
              <a:t>Scientist</a:t>
            </a:r>
            <a:endParaRPr b="0" i="0" sz="1400" u="none" cap="none" strike="noStrike">
              <a:solidFill>
                <a:srgbClr val="000000"/>
              </a:solidFill>
              <a:latin typeface="Roboto"/>
              <a:ea typeface="Roboto"/>
              <a:cs typeface="Roboto"/>
              <a:sym typeface="Roboto"/>
            </a:endParaRPr>
          </a:p>
        </p:txBody>
      </p:sp>
      <p:sp>
        <p:nvSpPr>
          <p:cNvPr id="85" name="Google Shape;85;g15db474c58e_0_0"/>
          <p:cNvSpPr/>
          <p:nvPr/>
        </p:nvSpPr>
        <p:spPr>
          <a:xfrm>
            <a:off x="6977400" y="421405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15db474c58e_0_0"/>
          <p:cNvSpPr txBox="1"/>
          <p:nvPr/>
        </p:nvSpPr>
        <p:spPr>
          <a:xfrm>
            <a:off x="9501950" y="4420025"/>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Jisan Park</a:t>
            </a:r>
            <a:endParaRPr>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sp>
        <p:nvSpPr>
          <p:cNvPr id="87" name="Google Shape;87;g15db474c58e_0_0"/>
          <p:cNvSpPr txBox="1"/>
          <p:nvPr/>
        </p:nvSpPr>
        <p:spPr>
          <a:xfrm>
            <a:off x="2806575" y="280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Emily Cai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8" name="Google Shape;88;g15db474c58e_0_0"/>
          <p:cNvSpPr txBox="1"/>
          <p:nvPr/>
        </p:nvSpPr>
        <p:spPr>
          <a:xfrm>
            <a:off x="5381475" y="2830325"/>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Hyun Soo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89" name="Google Shape;89;g15db474c58e_0_0"/>
          <p:cNvPicPr preferRelativeResize="0"/>
          <p:nvPr/>
        </p:nvPicPr>
        <p:blipFill rotWithShape="1">
          <a:blip r:embed="rId3">
            <a:alphaModFix/>
          </a:blip>
          <a:srcRect b="0" l="0" r="0" t="0"/>
          <a:stretch/>
        </p:blipFill>
        <p:spPr>
          <a:xfrm>
            <a:off x="5650275" y="1534300"/>
            <a:ext cx="1301963" cy="1320300"/>
          </a:xfrm>
          <a:prstGeom prst="rect">
            <a:avLst/>
          </a:prstGeom>
          <a:noFill/>
          <a:ln>
            <a:noFill/>
          </a:ln>
        </p:spPr>
      </p:pic>
      <p:pic>
        <p:nvPicPr>
          <p:cNvPr id="90" name="Google Shape;90;g15db474c58e_0_0"/>
          <p:cNvPicPr preferRelativeResize="0"/>
          <p:nvPr/>
        </p:nvPicPr>
        <p:blipFill rotWithShape="1">
          <a:blip r:embed="rId4">
            <a:alphaModFix/>
          </a:blip>
          <a:srcRect b="0" l="0" r="0" t="0"/>
          <a:stretch/>
        </p:blipFill>
        <p:spPr>
          <a:xfrm>
            <a:off x="9661250" y="2360700"/>
            <a:ext cx="1471800" cy="1816800"/>
          </a:xfrm>
          <a:prstGeom prst="ellipse">
            <a:avLst/>
          </a:prstGeom>
          <a:noFill/>
          <a:ln>
            <a:noFill/>
          </a:ln>
        </p:spPr>
      </p:pic>
      <p:sp>
        <p:nvSpPr>
          <p:cNvPr id="91" name="Google Shape;91;g15db474c58e_0_0"/>
          <p:cNvSpPr txBox="1"/>
          <p:nvPr/>
        </p:nvSpPr>
        <p:spPr>
          <a:xfrm>
            <a:off x="1537750" y="55391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Ankit Mishra</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pic>
        <p:nvPicPr>
          <p:cNvPr id="92" name="Google Shape;92;g15db474c58e_0_0"/>
          <p:cNvPicPr preferRelativeResize="0"/>
          <p:nvPr/>
        </p:nvPicPr>
        <p:blipFill rotWithShape="1">
          <a:blip r:embed="rId5">
            <a:alphaModFix/>
          </a:blip>
          <a:srcRect b="0" l="0" r="0" t="0"/>
          <a:stretch/>
        </p:blipFill>
        <p:spPr>
          <a:xfrm>
            <a:off x="1748438" y="4269862"/>
            <a:ext cx="1301975" cy="1301975"/>
          </a:xfrm>
          <a:prstGeom prst="rect">
            <a:avLst/>
          </a:prstGeom>
          <a:noFill/>
          <a:ln>
            <a:noFill/>
          </a:ln>
        </p:spPr>
      </p:pic>
      <p:pic>
        <p:nvPicPr>
          <p:cNvPr id="93" name="Google Shape;93;g15db474c58e_0_0"/>
          <p:cNvPicPr preferRelativeResize="0"/>
          <p:nvPr/>
        </p:nvPicPr>
        <p:blipFill rotWithShape="1">
          <a:blip r:embed="rId6">
            <a:alphaModFix/>
          </a:blip>
          <a:srcRect b="23565" l="10311" r="10304" t="14170"/>
          <a:stretch/>
        </p:blipFill>
        <p:spPr>
          <a:xfrm>
            <a:off x="3089675" y="1503425"/>
            <a:ext cx="1249500" cy="1302000"/>
          </a:xfrm>
          <a:prstGeom prst="ellipse">
            <a:avLst/>
          </a:prstGeom>
          <a:noFill/>
          <a:ln>
            <a:noFill/>
          </a:ln>
        </p:spPr>
      </p:pic>
      <p:pic>
        <p:nvPicPr>
          <p:cNvPr id="94" name="Google Shape;94;g15db474c58e_0_0"/>
          <p:cNvPicPr preferRelativeResize="0"/>
          <p:nvPr/>
        </p:nvPicPr>
        <p:blipFill rotWithShape="1">
          <a:blip r:embed="rId7">
            <a:alphaModFix/>
          </a:blip>
          <a:srcRect b="2015" l="0" r="0" t="2015"/>
          <a:stretch/>
        </p:blipFill>
        <p:spPr>
          <a:xfrm>
            <a:off x="4412625" y="4209075"/>
            <a:ext cx="1153200" cy="1423500"/>
          </a:xfrm>
          <a:prstGeom prst="ellipse">
            <a:avLst/>
          </a:prstGeom>
          <a:noFill/>
          <a:ln>
            <a:noFill/>
          </a:ln>
        </p:spPr>
      </p:pic>
      <p:pic>
        <p:nvPicPr>
          <p:cNvPr id="95" name="Google Shape;95;g15db474c58e_0_0"/>
          <p:cNvPicPr preferRelativeResize="0"/>
          <p:nvPr/>
        </p:nvPicPr>
        <p:blipFill rotWithShape="1">
          <a:blip r:embed="rId8">
            <a:alphaModFix/>
          </a:blip>
          <a:srcRect b="0" l="0" r="0" t="0"/>
          <a:stretch/>
        </p:blipFill>
        <p:spPr>
          <a:xfrm>
            <a:off x="6797987" y="4069889"/>
            <a:ext cx="1471800" cy="14718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9d48565bb2_0_0"/>
          <p:cNvSpPr txBox="1"/>
          <p:nvPr>
            <p:ph idx="1" type="body"/>
          </p:nvPr>
        </p:nvSpPr>
        <p:spPr>
          <a:xfrm>
            <a:off x="203425" y="1127700"/>
            <a:ext cx="8596800" cy="50679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500"/>
              </a:spcBef>
              <a:spcAft>
                <a:spcPts val="0"/>
              </a:spcAft>
              <a:buSzPts val="1600"/>
              <a:buChar char="●"/>
            </a:pPr>
            <a:r>
              <a:rPr lang="en-US" sz="2600"/>
              <a:t>Discussion forums</a:t>
            </a:r>
            <a:endParaRPr/>
          </a:p>
          <a:p>
            <a:pPr indent="-330200" lvl="1" marL="914400" rtl="0" algn="l">
              <a:lnSpc>
                <a:spcPct val="100000"/>
              </a:lnSpc>
              <a:spcBef>
                <a:spcPts val="1500"/>
              </a:spcBef>
              <a:spcAft>
                <a:spcPts val="0"/>
              </a:spcAft>
              <a:buSzPts val="1600"/>
              <a:buChar char="•"/>
            </a:pPr>
            <a:r>
              <a:rPr lang="en-US" sz="2200"/>
              <a:t>main source of interaction in MOOCs</a:t>
            </a:r>
            <a:endParaRPr sz="2200"/>
          </a:p>
          <a:p>
            <a:pPr indent="-330200" lvl="0" marL="457200" rtl="0" algn="l">
              <a:lnSpc>
                <a:spcPct val="100000"/>
              </a:lnSpc>
              <a:spcBef>
                <a:spcPts val="1500"/>
              </a:spcBef>
              <a:spcAft>
                <a:spcPts val="0"/>
              </a:spcAft>
              <a:buSzPts val="1600"/>
              <a:buChar char="●"/>
            </a:pPr>
            <a:r>
              <a:rPr lang="en-US" sz="2600"/>
              <a:t>Student interaction</a:t>
            </a:r>
            <a:endParaRPr/>
          </a:p>
          <a:p>
            <a:pPr indent="-330200" lvl="1" marL="914400" rtl="0" algn="l">
              <a:lnSpc>
                <a:spcPct val="100000"/>
              </a:lnSpc>
              <a:spcBef>
                <a:spcPts val="1500"/>
              </a:spcBef>
              <a:spcAft>
                <a:spcPts val="0"/>
              </a:spcAft>
              <a:buSzPts val="1600"/>
              <a:buChar char="●"/>
            </a:pPr>
            <a:r>
              <a:rPr lang="en-US" sz="2200"/>
              <a:t>Aspect-Based Sentiment Analysis model </a:t>
            </a:r>
            <a:endParaRPr sz="1800"/>
          </a:p>
          <a:p>
            <a:pPr indent="-330200" lvl="1" marL="914400" rtl="0" algn="l">
              <a:lnSpc>
                <a:spcPct val="100000"/>
              </a:lnSpc>
              <a:spcBef>
                <a:spcPts val="1500"/>
              </a:spcBef>
              <a:spcAft>
                <a:spcPts val="0"/>
              </a:spcAft>
              <a:buSzPts val="1600"/>
              <a:buChar char="●"/>
            </a:pPr>
            <a:r>
              <a:rPr lang="en-US" sz="2200"/>
              <a:t>Seeded </a:t>
            </a:r>
            <a:r>
              <a:rPr lang="en-US" sz="2200"/>
              <a:t>Topic Modeling</a:t>
            </a:r>
            <a:endParaRPr sz="2200"/>
          </a:p>
          <a:p>
            <a:pPr indent="-393700" lvl="0" marL="457200" rtl="0" algn="l">
              <a:lnSpc>
                <a:spcPct val="100000"/>
              </a:lnSpc>
              <a:spcBef>
                <a:spcPts val="1500"/>
              </a:spcBef>
              <a:spcAft>
                <a:spcPts val="0"/>
              </a:spcAft>
              <a:buSzPts val="2600"/>
              <a:buChar char="•"/>
            </a:pPr>
            <a:r>
              <a:rPr lang="en-US" sz="2600"/>
              <a:t>Activity on forums indicative of student engagement and interest</a:t>
            </a:r>
            <a:endParaRPr sz="2600"/>
          </a:p>
          <a:p>
            <a:pPr indent="0" lvl="0" marL="127000" rtl="0" algn="l">
              <a:lnSpc>
                <a:spcPct val="100000"/>
              </a:lnSpc>
              <a:spcBef>
                <a:spcPts val="1500"/>
              </a:spcBef>
              <a:spcAft>
                <a:spcPts val="1500"/>
              </a:spcAft>
              <a:buSzPts val="1600"/>
              <a:buNone/>
            </a:pPr>
            <a:r>
              <a:rPr b="1" lang="en-US" sz="2600"/>
              <a:t>Goal:</a:t>
            </a:r>
            <a:r>
              <a:rPr lang="en-US" sz="2600"/>
              <a:t> Complete the applications of our dashboards to provide more accuracy and insights for our instructors</a:t>
            </a:r>
            <a:endParaRPr sz="2600"/>
          </a:p>
        </p:txBody>
      </p:sp>
      <p:sp>
        <p:nvSpPr>
          <p:cNvPr id="101" name="Google Shape;101;g9d48565bb2_0_0"/>
          <p:cNvSpPr txBox="1"/>
          <p:nvPr>
            <p:ph type="title"/>
          </p:nvPr>
        </p:nvSpPr>
        <p:spPr>
          <a:xfrm>
            <a:off x="203425" y="-3"/>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sp>
        <p:nvSpPr>
          <p:cNvPr id="102" name="Google Shape;102;g9d48565bb2_0_0"/>
          <p:cNvSpPr txBox="1"/>
          <p:nvPr/>
        </p:nvSpPr>
        <p:spPr>
          <a:xfrm>
            <a:off x="304800" y="304800"/>
            <a:ext cx="3000000" cy="4776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ba764dde3e_0_0"/>
          <p:cNvSpPr txBox="1"/>
          <p:nvPr>
            <p:ph type="title"/>
          </p:nvPr>
        </p:nvSpPr>
        <p:spPr>
          <a:xfrm>
            <a:off x="381000" y="-61128"/>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Progress till now</a:t>
            </a:r>
            <a:endParaRPr/>
          </a:p>
        </p:txBody>
      </p:sp>
      <p:sp>
        <p:nvSpPr>
          <p:cNvPr id="108" name="Google Shape;108;gba764dde3e_0_0"/>
          <p:cNvSpPr txBox="1"/>
          <p:nvPr/>
        </p:nvSpPr>
        <p:spPr>
          <a:xfrm>
            <a:off x="386363" y="5193575"/>
            <a:ext cx="11162100" cy="150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2600"/>
              <a:buFont typeface="Arial"/>
              <a:buNone/>
            </a:pPr>
            <a:r>
              <a:rPr b="1" i="0" lang="en-US" sz="2600" u="none" cap="none" strike="noStrike">
                <a:solidFill>
                  <a:schemeClr val="dk1"/>
                </a:solidFill>
                <a:latin typeface="Roboto"/>
                <a:ea typeface="Roboto"/>
                <a:cs typeface="Roboto"/>
                <a:sym typeface="Roboto"/>
              </a:rPr>
              <a:t>Goals as a Project Manager:</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b="0" i="0" lang="en-US" sz="2000" u="none" cap="none" strike="noStrike">
                <a:solidFill>
                  <a:schemeClr val="dk1"/>
                </a:solidFill>
                <a:latin typeface="Roboto"/>
                <a:ea typeface="Roboto"/>
                <a:cs typeface="Roboto"/>
                <a:sym typeface="Roboto"/>
              </a:rPr>
              <a:t>Have clear deliverables each week for team members to make things concrete</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b="0" i="0" lang="en-US" sz="2000" u="none" cap="none" strike="noStrike">
                <a:solidFill>
                  <a:schemeClr val="dk1"/>
                </a:solidFill>
                <a:latin typeface="Roboto"/>
                <a:ea typeface="Roboto"/>
                <a:cs typeface="Roboto"/>
                <a:sym typeface="Roboto"/>
              </a:rPr>
              <a:t>Be a resource for all members of the team</a:t>
            </a:r>
            <a:endParaRPr b="0" i="0" sz="2000" u="none" cap="none" strike="noStrike">
              <a:solidFill>
                <a:schemeClr val="dk1"/>
              </a:solidFill>
              <a:latin typeface="Roboto"/>
              <a:ea typeface="Roboto"/>
              <a:cs typeface="Roboto"/>
              <a:sym typeface="Roboto"/>
            </a:endParaRPr>
          </a:p>
          <a:p>
            <a:pPr indent="-355600" lvl="0" marL="45720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Bridge the gap between Web-Dev team and Data Science team</a:t>
            </a:r>
            <a:endParaRPr b="0" i="0" sz="2000" u="none" cap="none" strike="noStrike">
              <a:solidFill>
                <a:schemeClr val="dk1"/>
              </a:solidFill>
              <a:latin typeface="Roboto"/>
              <a:ea typeface="Roboto"/>
              <a:cs typeface="Roboto"/>
              <a:sym typeface="Roboto"/>
            </a:endParaRPr>
          </a:p>
        </p:txBody>
      </p:sp>
      <p:graphicFrame>
        <p:nvGraphicFramePr>
          <p:cNvPr id="109" name="Google Shape;109;gba764dde3e_0_0"/>
          <p:cNvGraphicFramePr/>
          <p:nvPr/>
        </p:nvGraphicFramePr>
        <p:xfrm>
          <a:off x="130988" y="742367"/>
          <a:ext cx="3000000" cy="3000000"/>
        </p:xfrm>
        <a:graphic>
          <a:graphicData uri="http://schemas.openxmlformats.org/drawingml/2006/table">
            <a:tbl>
              <a:tblPr>
                <a:noFill/>
                <a:tableStyleId>{1577AC01-C511-4C30-9EA6-7DD89FE85981}</a:tableStyleId>
              </a:tblPr>
              <a:tblGrid>
                <a:gridCol w="2385850"/>
                <a:gridCol w="4878800"/>
                <a:gridCol w="4548975"/>
              </a:tblGrid>
              <a:tr h="760000">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Category</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Accomplished</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Next Goals</a:t>
                      </a:r>
                      <a:endParaRPr b="1" sz="2400" u="none" cap="none" strike="noStrike">
                        <a:latin typeface="Roboto"/>
                        <a:ea typeface="Roboto"/>
                        <a:cs typeface="Roboto"/>
                        <a:sym typeface="Roboto"/>
                      </a:endParaRPr>
                    </a:p>
                  </a:txBody>
                  <a:tcPr marT="91425" marB="91425" marR="91425" marL="91425"/>
                </a:tc>
              </a:tr>
              <a:tr h="15625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Web Dev</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A dashboard has been created with dummy data that shows what and how information will be presented to users.</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Developed two dashboards for each course</a:t>
                      </a:r>
                      <a:endParaRPr sz="1600">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Clr>
                          <a:schemeClr val="dk1"/>
                        </a:buClr>
                        <a:buSzPts val="1600"/>
                        <a:buFont typeface="Roboto"/>
                        <a:buChar char="●"/>
                      </a:pPr>
                      <a:r>
                        <a:rPr lang="en-US" sz="1600">
                          <a:latin typeface="Roboto"/>
                          <a:ea typeface="Roboto"/>
                          <a:cs typeface="Roboto"/>
                          <a:sym typeface="Roboto"/>
                        </a:rPr>
                        <a:t>Research API for Ed Discussion</a:t>
                      </a:r>
                      <a:endParaRPr sz="1600">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Improve the dashboard</a:t>
                      </a:r>
                      <a:endParaRPr sz="1600">
                        <a:solidFill>
                          <a:schemeClr val="dk1"/>
                        </a:solidFill>
                        <a:latin typeface="Roboto"/>
                        <a:ea typeface="Roboto"/>
                        <a:cs typeface="Roboto"/>
                        <a:sym typeface="Roboto"/>
                      </a:endParaRPr>
                    </a:p>
                    <a:p>
                      <a:pPr indent="-330200" lvl="1" marL="9144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Utilize new UX research for our specific tools</a:t>
                      </a:r>
                      <a:endParaRPr sz="1600">
                        <a:solidFill>
                          <a:schemeClr val="dk1"/>
                        </a:solidFill>
                        <a:latin typeface="Roboto"/>
                        <a:ea typeface="Roboto"/>
                        <a:cs typeface="Roboto"/>
                        <a:sym typeface="Roboto"/>
                      </a:endParaRPr>
                    </a:p>
                    <a:p>
                      <a:pPr indent="-330200" lvl="1" marL="914400" rtl="0" algn="l">
                        <a:spcBef>
                          <a:spcPts val="0"/>
                        </a:spcBef>
                        <a:spcAft>
                          <a:spcPts val="0"/>
                        </a:spcAft>
                        <a:buClr>
                          <a:schemeClr val="dk1"/>
                        </a:buClr>
                        <a:buSzPts val="1600"/>
                        <a:buFont typeface="Roboto"/>
                        <a:buChar char="○"/>
                      </a:pPr>
                      <a:r>
                        <a:rPr lang="en-US" sz="1600">
                          <a:solidFill>
                            <a:schemeClr val="dk1"/>
                          </a:solidFill>
                          <a:latin typeface="Roboto"/>
                          <a:ea typeface="Roboto"/>
                          <a:cs typeface="Roboto"/>
                          <a:sym typeface="Roboto"/>
                        </a:rPr>
                        <a:t>Fill the dashboard with the result from D.S team</a:t>
                      </a:r>
                      <a:endParaRPr sz="1600">
                        <a:solidFill>
                          <a:schemeClr val="dk1"/>
                        </a:solidFill>
                        <a:latin typeface="Roboto"/>
                        <a:ea typeface="Roboto"/>
                        <a:cs typeface="Roboto"/>
                        <a:sym typeface="Roboto"/>
                      </a:endParaRPr>
                    </a:p>
                  </a:txBody>
                  <a:tcPr marT="91425" marB="91425" marR="91425" marL="91425"/>
                </a:tc>
              </a:tr>
              <a:tr h="914375">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UX Research</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u="none" cap="none" strike="noStrike">
                          <a:latin typeface="Roboto"/>
                          <a:ea typeface="Roboto"/>
                          <a:cs typeface="Roboto"/>
                          <a:sym typeface="Roboto"/>
                        </a:rPr>
                        <a:t>Summary document with user needs for instructors based on thorough interviews</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Conduct </a:t>
                      </a:r>
                      <a:r>
                        <a:rPr lang="en-US" sz="1600" u="none" cap="none" strike="noStrike">
                          <a:latin typeface="Roboto"/>
                          <a:ea typeface="Roboto"/>
                          <a:cs typeface="Roboto"/>
                          <a:sym typeface="Roboto"/>
                        </a:rPr>
                        <a:t>additional interviews specifically to our outputs – ABSA and topic modeling</a:t>
                      </a:r>
                      <a:endParaRPr sz="1600" u="none" cap="none" strike="noStrike">
                        <a:latin typeface="Roboto"/>
                        <a:ea typeface="Roboto"/>
                        <a:cs typeface="Roboto"/>
                        <a:sym typeface="Roboto"/>
                      </a:endParaRPr>
                    </a:p>
                  </a:txBody>
                  <a:tcPr marT="91425" marB="91425" marR="91425" marL="91425"/>
                </a:tc>
              </a:tr>
              <a:tr h="11582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Data Science</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Implemented Seeded Topic Modeling with each course data</a:t>
                      </a:r>
                      <a:endParaRPr sz="1600">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Graph for metacognitive </a:t>
                      </a:r>
                      <a:r>
                        <a:rPr lang="en-US" sz="1600">
                          <a:latin typeface="Roboto"/>
                          <a:ea typeface="Roboto"/>
                          <a:cs typeface="Roboto"/>
                          <a:sym typeface="Roboto"/>
                        </a:rPr>
                        <a:t>presence </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Increase the accuracy for each model</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Utilize the graphical information</a:t>
                      </a:r>
                      <a:endParaRPr sz="1600" u="none" cap="none" strike="noStrike">
                        <a:latin typeface="Roboto"/>
                        <a:ea typeface="Roboto"/>
                        <a:cs typeface="Roboto"/>
                        <a:sym typeface="Roboto"/>
                      </a:endParaRPr>
                    </a:p>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Transfer the data result to Web-dev team</a:t>
                      </a:r>
                      <a:endParaRPr sz="1600">
                        <a:latin typeface="Roboto"/>
                        <a:ea typeface="Roboto"/>
                        <a:cs typeface="Roboto"/>
                        <a:sym typeface="Roboto"/>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gf4b38d8802_0_0"/>
          <p:cNvSpPr txBox="1"/>
          <p:nvPr/>
        </p:nvSpPr>
        <p:spPr>
          <a:xfrm>
            <a:off x="190850" y="910075"/>
            <a:ext cx="11477100" cy="594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1000"/>
              </a:spcBef>
              <a:spcAft>
                <a:spcPts val="0"/>
              </a:spcAft>
              <a:buClr>
                <a:schemeClr val="dk1"/>
              </a:buClr>
              <a:buSzPts val="2400"/>
              <a:buFont typeface="Roboto"/>
              <a:buChar char="●"/>
            </a:pPr>
            <a:r>
              <a:rPr b="1" i="0" lang="en-US" sz="2400" u="none" cap="none" strike="noStrike">
                <a:solidFill>
                  <a:schemeClr val="dk1"/>
                </a:solidFill>
                <a:latin typeface="Roboto"/>
                <a:ea typeface="Roboto"/>
                <a:cs typeface="Roboto"/>
                <a:sym typeface="Roboto"/>
              </a:rPr>
              <a:t>Development</a:t>
            </a:r>
            <a:endParaRPr b="1" i="0" sz="2400" u="none" cap="none" strike="noStrike">
              <a:solidFill>
                <a:schemeClr val="dk1"/>
              </a:solidFill>
              <a:latin typeface="Roboto"/>
              <a:ea typeface="Roboto"/>
              <a:cs typeface="Roboto"/>
              <a:sym typeface="Roboto"/>
            </a:endParaRPr>
          </a:p>
          <a:p>
            <a:pPr indent="-336550" lvl="1" marL="9144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Two separate dashboards </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(ML &amp; CS 1301)</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Sentiment Analysis</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Topic Modeling</a:t>
            </a:r>
            <a:endParaRPr b="0" i="0" sz="1700" u="none" cap="none" strike="noStrike">
              <a:solidFill>
                <a:schemeClr val="dk1"/>
              </a:solidFill>
              <a:latin typeface="Roboto"/>
              <a:ea typeface="Roboto"/>
              <a:cs typeface="Roboto"/>
              <a:sym typeface="Roboto"/>
            </a:endParaRPr>
          </a:p>
          <a:p>
            <a:pPr indent="-336550" lvl="1" marL="9144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Metacognitive data</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Visualization</a:t>
            </a:r>
            <a:endParaRPr b="0" i="0" sz="1700" u="none" cap="none" strike="noStrike">
              <a:solidFill>
                <a:schemeClr val="dk1"/>
              </a:solidFill>
              <a:latin typeface="Roboto"/>
              <a:ea typeface="Roboto"/>
              <a:cs typeface="Roboto"/>
              <a:sym typeface="Roboto"/>
            </a:endParaRPr>
          </a:p>
          <a:p>
            <a:pPr indent="0" lvl="0" marL="0" marR="0" rtl="0" algn="l">
              <a:lnSpc>
                <a:spcPct val="90000"/>
              </a:lnSpc>
              <a:spcBef>
                <a:spcPts val="1000"/>
              </a:spcBef>
              <a:spcAft>
                <a:spcPts val="0"/>
              </a:spcAft>
              <a:buClr>
                <a:srgbClr val="000000"/>
              </a:buClr>
              <a:buSzPts val="1800"/>
              <a:buFont typeface="Arial"/>
              <a:buNone/>
            </a:pPr>
            <a:r>
              <a:t/>
            </a:r>
            <a:endParaRPr b="0" i="0" sz="1700" u="none" cap="none" strike="noStrike">
              <a:solidFill>
                <a:schemeClr val="dk1"/>
              </a:solidFill>
              <a:latin typeface="Roboto"/>
              <a:ea typeface="Roboto"/>
              <a:cs typeface="Roboto"/>
              <a:sym typeface="Roboto"/>
            </a:endParaRPr>
          </a:p>
          <a:p>
            <a:pPr indent="0" lvl="0" marL="0" marR="0" rtl="0" algn="l">
              <a:lnSpc>
                <a:spcPct val="90000"/>
              </a:lnSpc>
              <a:spcBef>
                <a:spcPts val="1000"/>
              </a:spcBef>
              <a:spcAft>
                <a:spcPts val="0"/>
              </a:spcAft>
              <a:buClr>
                <a:srgbClr val="000000"/>
              </a:buClr>
              <a:buSzPts val="1800"/>
              <a:buFont typeface="Arial"/>
              <a:buNone/>
            </a:pPr>
            <a:r>
              <a:t/>
            </a:r>
            <a:endParaRPr b="0" i="0" sz="1700" u="none" cap="none" strike="noStrike">
              <a:solidFill>
                <a:schemeClr val="dk1"/>
              </a:solidFill>
              <a:latin typeface="Roboto"/>
              <a:ea typeface="Roboto"/>
              <a:cs typeface="Roboto"/>
              <a:sym typeface="Roboto"/>
            </a:endParaRPr>
          </a:p>
          <a:p>
            <a:pPr indent="-381000" lvl="0" marL="457200" marR="0" rtl="0" algn="l">
              <a:lnSpc>
                <a:spcPct val="90000"/>
              </a:lnSpc>
              <a:spcBef>
                <a:spcPts val="1000"/>
              </a:spcBef>
              <a:spcAft>
                <a:spcPts val="0"/>
              </a:spcAft>
              <a:buClr>
                <a:schemeClr val="dk1"/>
              </a:buClr>
              <a:buSzPts val="2400"/>
              <a:buFont typeface="Roboto"/>
              <a:buChar char="●"/>
            </a:pPr>
            <a:r>
              <a:rPr b="1" i="0" lang="en-US" sz="2400" u="none" cap="none" strike="noStrike">
                <a:solidFill>
                  <a:schemeClr val="dk1"/>
                </a:solidFill>
                <a:latin typeface="Roboto"/>
                <a:ea typeface="Roboto"/>
                <a:cs typeface="Roboto"/>
                <a:sym typeface="Roboto"/>
              </a:rPr>
              <a:t>Project Management</a:t>
            </a:r>
            <a:endParaRPr b="1" i="0" sz="2400" u="none" cap="none" strike="noStrike">
              <a:solidFill>
                <a:schemeClr val="dk1"/>
              </a:solidFill>
              <a:latin typeface="Roboto"/>
              <a:ea typeface="Roboto"/>
              <a:cs typeface="Roboto"/>
              <a:sym typeface="Roboto"/>
            </a:endParaRPr>
          </a:p>
          <a:p>
            <a:pPr indent="-336550" lvl="1" marL="9144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Integrating topic modeling and Aspect-Based sentiment analysis in the dashboards</a:t>
            </a:r>
            <a:endParaRPr b="0" i="0" sz="1700" u="none" cap="none" strike="noStrike">
              <a:solidFill>
                <a:schemeClr val="dk1"/>
              </a:solidFill>
              <a:latin typeface="Roboto"/>
              <a:ea typeface="Roboto"/>
              <a:cs typeface="Roboto"/>
              <a:sym typeface="Roboto"/>
            </a:endParaRPr>
          </a:p>
          <a:p>
            <a:pPr indent="-336550" lvl="1" marL="9144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Bridging the gap between the Web-Development team and the Data Science team</a:t>
            </a:r>
            <a:endParaRPr b="0" i="0" sz="1700" u="none" cap="none" strike="noStrike">
              <a:solidFill>
                <a:schemeClr val="dk1"/>
              </a:solidFill>
              <a:latin typeface="Roboto"/>
              <a:ea typeface="Roboto"/>
              <a:cs typeface="Roboto"/>
              <a:sym typeface="Roboto"/>
            </a:endParaRPr>
          </a:p>
          <a:p>
            <a:pPr indent="-336550" lvl="1" marL="9144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Research on user needs for this dashboard.</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Supplement research done by previous subteam members by asking more questions with a specific focus on the tools that we are developing</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Bring back focus to Community of Inquiry Framework</a:t>
            </a:r>
            <a:endParaRPr b="0" i="0" sz="1700" u="none" cap="none" strike="noStrike">
              <a:solidFill>
                <a:schemeClr val="dk1"/>
              </a:solidFill>
              <a:latin typeface="Roboto"/>
              <a:ea typeface="Roboto"/>
              <a:cs typeface="Roboto"/>
              <a:sym typeface="Roboto"/>
            </a:endParaRPr>
          </a:p>
        </p:txBody>
      </p:sp>
      <p:sp>
        <p:nvSpPr>
          <p:cNvPr id="115" name="Google Shape;115;gf4b38d8802_0_0"/>
          <p:cNvSpPr txBox="1"/>
          <p:nvPr>
            <p:ph type="title"/>
          </p:nvPr>
        </p:nvSpPr>
        <p:spPr>
          <a:xfrm>
            <a:off x="127300" y="-104828"/>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Focus for this semester</a:t>
            </a:r>
            <a:endParaRPr/>
          </a:p>
        </p:txBody>
      </p:sp>
      <p:sp>
        <p:nvSpPr>
          <p:cNvPr id="116" name="Google Shape;116;gf4b38d8802_0_0"/>
          <p:cNvSpPr txBox="1"/>
          <p:nvPr/>
        </p:nvSpPr>
        <p:spPr>
          <a:xfrm>
            <a:off x="5593150" y="163150"/>
            <a:ext cx="6466800" cy="22077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1000"/>
              </a:spcBef>
              <a:spcAft>
                <a:spcPts val="0"/>
              </a:spcAft>
              <a:buClr>
                <a:schemeClr val="dk1"/>
              </a:buClr>
              <a:buSzPts val="2400"/>
              <a:buFont typeface="Roboto"/>
              <a:buChar char="●"/>
            </a:pPr>
            <a:r>
              <a:rPr b="1" i="0" lang="en-US" sz="2400" u="none" cap="none" strike="noStrike">
                <a:solidFill>
                  <a:schemeClr val="dk1"/>
                </a:solidFill>
                <a:latin typeface="Roboto"/>
                <a:ea typeface="Roboto"/>
                <a:cs typeface="Roboto"/>
                <a:sym typeface="Roboto"/>
              </a:rPr>
              <a:t>Research</a:t>
            </a:r>
            <a:endParaRPr b="0" i="0" sz="1700" u="none" cap="none" strike="noStrike">
              <a:solidFill>
                <a:schemeClr val="dk1"/>
              </a:solidFill>
              <a:latin typeface="Roboto"/>
              <a:ea typeface="Roboto"/>
              <a:cs typeface="Roboto"/>
              <a:sym typeface="Roboto"/>
            </a:endParaRPr>
          </a:p>
          <a:p>
            <a:pPr indent="-336550" lvl="1" marL="9144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Interview professors and students</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Identify primary, secondary and tertiary needs</a:t>
            </a:r>
            <a:endParaRPr b="0" i="0" sz="1700" u="none" cap="none" strike="noStrike">
              <a:solidFill>
                <a:schemeClr val="dk1"/>
              </a:solidFill>
              <a:latin typeface="Roboto"/>
              <a:ea typeface="Roboto"/>
              <a:cs typeface="Roboto"/>
              <a:sym typeface="Roboto"/>
            </a:endParaRPr>
          </a:p>
          <a:p>
            <a:pPr indent="-336550" lvl="2" marL="1371600" marR="0" rtl="0" algn="l">
              <a:lnSpc>
                <a:spcPct val="90000"/>
              </a:lnSpc>
              <a:spcBef>
                <a:spcPts val="1000"/>
              </a:spcBef>
              <a:spcAft>
                <a:spcPts val="0"/>
              </a:spcAft>
              <a:buClr>
                <a:schemeClr val="dk1"/>
              </a:buClr>
              <a:buSzPts val="1700"/>
              <a:buFont typeface="Roboto"/>
              <a:buChar char="■"/>
            </a:pPr>
            <a:r>
              <a:rPr b="0" i="0" lang="en-US" sz="1700" u="none" cap="none" strike="noStrike">
                <a:solidFill>
                  <a:schemeClr val="dk1"/>
                </a:solidFill>
                <a:latin typeface="Roboto"/>
                <a:ea typeface="Roboto"/>
                <a:cs typeface="Roboto"/>
                <a:sym typeface="Roboto"/>
              </a:rPr>
              <a:t>Focus interviews to the specific tools that we are developing</a:t>
            </a:r>
            <a:endParaRPr b="0" i="0" sz="1700" u="none" cap="none" strike="noStrike">
              <a:solidFill>
                <a:schemeClr val="dk1"/>
              </a:solidFill>
              <a:latin typeface="Roboto"/>
              <a:ea typeface="Roboto"/>
              <a:cs typeface="Roboto"/>
              <a:sym typeface="Roboto"/>
            </a:endParaRPr>
          </a:p>
          <a:p>
            <a:pPr indent="0" lvl="0" marL="0" marR="0" rtl="0" algn="l">
              <a:lnSpc>
                <a:spcPct val="90000"/>
              </a:lnSpc>
              <a:spcBef>
                <a:spcPts val="1000"/>
              </a:spcBef>
              <a:spcAft>
                <a:spcPts val="0"/>
              </a:spcAft>
              <a:buClr>
                <a:srgbClr val="000000"/>
              </a:buClr>
              <a:buSzPts val="1700"/>
              <a:buFont typeface="Arial"/>
              <a:buNone/>
            </a:pPr>
            <a:r>
              <a:t/>
            </a:r>
            <a:endParaRPr b="0" i="0" sz="1700" u="none" cap="none" strike="noStrike">
              <a:solidFill>
                <a:schemeClr val="dk1"/>
              </a:solidFill>
              <a:latin typeface="Roboto"/>
              <a:ea typeface="Roboto"/>
              <a:cs typeface="Roboto"/>
              <a:sym typeface="Roboto"/>
            </a:endParaRPr>
          </a:p>
        </p:txBody>
      </p:sp>
      <p:pic>
        <p:nvPicPr>
          <p:cNvPr id="117" name="Google Shape;117;gf4b38d8802_0_0"/>
          <p:cNvPicPr preferRelativeResize="0"/>
          <p:nvPr/>
        </p:nvPicPr>
        <p:blipFill rotWithShape="1">
          <a:blip r:embed="rId3">
            <a:alphaModFix/>
          </a:blip>
          <a:srcRect b="0" l="0" r="0" t="0"/>
          <a:stretch/>
        </p:blipFill>
        <p:spPr>
          <a:xfrm>
            <a:off x="6633125" y="1936649"/>
            <a:ext cx="4679949" cy="2131650"/>
          </a:xfrm>
          <a:prstGeom prst="rect">
            <a:avLst/>
          </a:prstGeom>
          <a:noFill/>
          <a:ln cap="flat" cmpd="sng" w="19050">
            <a:solidFill>
              <a:schemeClr val="accent4"/>
            </a:solidFill>
            <a:prstDash val="solid"/>
            <a:round/>
            <a:headEnd len="sm" w="sm" type="none"/>
            <a:tailEnd len="sm" w="sm" type="none"/>
          </a:ln>
        </p:spPr>
      </p:pic>
      <p:sp>
        <p:nvSpPr>
          <p:cNvPr id="118" name="Google Shape;118;gf4b38d8802_0_0"/>
          <p:cNvSpPr/>
          <p:nvPr/>
        </p:nvSpPr>
        <p:spPr>
          <a:xfrm>
            <a:off x="190850" y="910075"/>
            <a:ext cx="3700500" cy="2823300"/>
          </a:xfrm>
          <a:prstGeom prst="roundRect">
            <a:avLst>
              <a:gd fmla="val 16667" name="adj"/>
            </a:avLst>
          </a:prstGeom>
          <a:noFill/>
          <a:ln cap="flat" cmpd="sng" w="762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gf4b38d8802_0_0"/>
          <p:cNvSpPr/>
          <p:nvPr/>
        </p:nvSpPr>
        <p:spPr>
          <a:xfrm>
            <a:off x="92150" y="4228725"/>
            <a:ext cx="11575800" cy="2508000"/>
          </a:xfrm>
          <a:prstGeom prst="roundRect">
            <a:avLst>
              <a:gd fmla="val 16667" name="adj"/>
            </a:avLst>
          </a:prstGeom>
          <a:noFill/>
          <a:ln cap="flat" cmpd="sng" w="762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gf4b38d8802_0_0"/>
          <p:cNvSpPr/>
          <p:nvPr/>
        </p:nvSpPr>
        <p:spPr>
          <a:xfrm>
            <a:off x="5344200" y="182625"/>
            <a:ext cx="6601500" cy="3905100"/>
          </a:xfrm>
          <a:prstGeom prst="roundRect">
            <a:avLst>
              <a:gd fmla="val 16667" name="adj"/>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bea1223c9f_0_11"/>
          <p:cNvSpPr txBox="1"/>
          <p:nvPr>
            <p:ph idx="1" type="body"/>
          </p:nvPr>
        </p:nvSpPr>
        <p:spPr>
          <a:xfrm>
            <a:off x="443250" y="996975"/>
            <a:ext cx="11430000" cy="5483400"/>
          </a:xfrm>
          <a:prstGeom prst="rect">
            <a:avLst/>
          </a:prstGeom>
          <a:noFill/>
          <a:ln>
            <a:noFill/>
          </a:ln>
        </p:spPr>
        <p:txBody>
          <a:bodyPr anchorCtr="0" anchor="t" bIns="45700" lIns="91425" spcFirstLastPara="1" rIns="91425" wrap="square" tIns="45700">
            <a:noAutofit/>
          </a:bodyPr>
          <a:lstStyle/>
          <a:p>
            <a:pPr indent="0" lvl="0" marL="457200" rtl="0" algn="l">
              <a:lnSpc>
                <a:spcPct val="90000"/>
              </a:lnSpc>
              <a:spcBef>
                <a:spcPts val="1000"/>
              </a:spcBef>
              <a:spcAft>
                <a:spcPts val="0"/>
              </a:spcAft>
              <a:buSzPts val="1800"/>
              <a:buNone/>
            </a:pPr>
            <a:r>
              <a:t/>
            </a:r>
            <a:endParaRPr sz="2700"/>
          </a:p>
          <a:p>
            <a:pPr indent="-400050" lvl="0" marL="457200" rtl="0" algn="l">
              <a:lnSpc>
                <a:spcPct val="100000"/>
              </a:lnSpc>
              <a:spcBef>
                <a:spcPts val="1000"/>
              </a:spcBef>
              <a:spcAft>
                <a:spcPts val="0"/>
              </a:spcAft>
              <a:buSzPts val="2700"/>
              <a:buChar char="•"/>
            </a:pPr>
            <a:r>
              <a:rPr lang="en-US" sz="2700"/>
              <a:t>Based on the community of inquiry framework, what are some useful metrics for student engagement and performance in an asynchronous online classroom? </a:t>
            </a:r>
            <a:endParaRPr sz="2700"/>
          </a:p>
          <a:p>
            <a:pPr indent="-400050" lvl="1" marL="914400" rtl="0" algn="l">
              <a:lnSpc>
                <a:spcPct val="100000"/>
              </a:lnSpc>
              <a:spcBef>
                <a:spcPts val="0"/>
              </a:spcBef>
              <a:spcAft>
                <a:spcPts val="0"/>
              </a:spcAft>
              <a:buSzPts val="2700"/>
              <a:buChar char="•"/>
            </a:pPr>
            <a:r>
              <a:rPr lang="en-US" sz="2700"/>
              <a:t>how can we use the user feedback from last semester and expand our research to understand specific applications for the models we are developing?</a:t>
            </a:r>
            <a:endParaRPr sz="2700"/>
          </a:p>
          <a:p>
            <a:pPr indent="-400050" lvl="1" marL="914400" rtl="0" algn="l">
              <a:lnSpc>
                <a:spcPct val="100000"/>
              </a:lnSpc>
              <a:spcBef>
                <a:spcPts val="0"/>
              </a:spcBef>
              <a:spcAft>
                <a:spcPts val="0"/>
              </a:spcAft>
              <a:buSzPts val="2700"/>
              <a:buChar char="•"/>
            </a:pPr>
            <a:r>
              <a:rPr lang="en-US" sz="2700"/>
              <a:t>how can we improve upon the accuracy of the models we've already developed without quantified indications?</a:t>
            </a:r>
            <a:endParaRPr sz="2700"/>
          </a:p>
          <a:p>
            <a:pPr indent="-400050" lvl="0" marL="457200" rtl="0" algn="l">
              <a:lnSpc>
                <a:spcPct val="100000"/>
              </a:lnSpc>
              <a:spcBef>
                <a:spcPts val="0"/>
              </a:spcBef>
              <a:spcAft>
                <a:spcPts val="0"/>
              </a:spcAft>
              <a:buSzPts val="2700"/>
              <a:buChar char="•"/>
            </a:pPr>
            <a:r>
              <a:rPr lang="en-US" sz="2700"/>
              <a:t>How can we design a web app that can provide actionable insights to the instructor?</a:t>
            </a:r>
            <a:endParaRPr sz="2700"/>
          </a:p>
          <a:p>
            <a:pPr indent="-400050" lvl="1" marL="914400" rtl="0" algn="l">
              <a:lnSpc>
                <a:spcPct val="100000"/>
              </a:lnSpc>
              <a:spcBef>
                <a:spcPts val="0"/>
              </a:spcBef>
              <a:spcAft>
                <a:spcPts val="0"/>
              </a:spcAft>
              <a:buSzPts val="2700"/>
              <a:buChar char="•"/>
            </a:pPr>
            <a:r>
              <a:rPr lang="en-US" sz="2700"/>
              <a:t>how can we make the web app user-friendly and compatible with different devices?</a:t>
            </a:r>
            <a:endParaRPr sz="2700"/>
          </a:p>
          <a:p>
            <a:pPr indent="0" lvl="0" marL="0" rtl="0" algn="just">
              <a:lnSpc>
                <a:spcPct val="90000"/>
              </a:lnSpc>
              <a:spcBef>
                <a:spcPts val="1000"/>
              </a:spcBef>
              <a:spcAft>
                <a:spcPts val="0"/>
              </a:spcAft>
              <a:buSzPts val="1800"/>
              <a:buNone/>
            </a:pPr>
            <a:r>
              <a:t/>
            </a:r>
            <a:endParaRPr/>
          </a:p>
        </p:txBody>
      </p:sp>
      <p:sp>
        <p:nvSpPr>
          <p:cNvPr id="131" name="Google Shape;131;gbea1223c9f_0_11"/>
          <p:cNvSpPr txBox="1"/>
          <p:nvPr>
            <p:ph type="title"/>
          </p:nvPr>
        </p:nvSpPr>
        <p:spPr>
          <a:xfrm>
            <a:off x="305475"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Review of Research Questions</a:t>
            </a:r>
            <a:endParaRPr/>
          </a:p>
        </p:txBody>
      </p:sp>
      <p:pic>
        <p:nvPicPr>
          <p:cNvPr id="132" name="Google Shape;132;gbea1223c9f_0_11"/>
          <p:cNvPicPr preferRelativeResize="0"/>
          <p:nvPr/>
        </p:nvPicPr>
        <p:blipFill rotWithShape="1">
          <a:blip r:embed="rId3">
            <a:alphaModFix/>
          </a:blip>
          <a:srcRect b="0" l="0" r="0" t="0"/>
          <a:stretch/>
        </p:blipFill>
        <p:spPr>
          <a:xfrm>
            <a:off x="9519300" y="212250"/>
            <a:ext cx="2083574" cy="13022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efbeba6a1c_0_509"/>
          <p:cNvSpPr txBox="1"/>
          <p:nvPr>
            <p:ph idx="1" type="body"/>
          </p:nvPr>
        </p:nvSpPr>
        <p:spPr>
          <a:xfrm>
            <a:off x="381000" y="1215475"/>
            <a:ext cx="11563500" cy="22740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1000"/>
              </a:spcBef>
              <a:spcAft>
                <a:spcPts val="0"/>
              </a:spcAft>
              <a:buSzPts val="2200"/>
              <a:buChar char="-"/>
            </a:pPr>
            <a:r>
              <a:rPr lang="en-US" sz="2200"/>
              <a:t>Analyzing CS1301 and CS6601 Discussion Forums Data</a:t>
            </a:r>
            <a:endParaRPr sz="2200"/>
          </a:p>
          <a:p>
            <a:pPr indent="-368300" lvl="0" marL="457200" rtl="0" algn="l">
              <a:lnSpc>
                <a:spcPct val="115000"/>
              </a:lnSpc>
              <a:spcBef>
                <a:spcPts val="0"/>
              </a:spcBef>
              <a:spcAft>
                <a:spcPts val="0"/>
              </a:spcAft>
              <a:buSzPts val="2200"/>
              <a:buChar char="-"/>
            </a:pPr>
            <a:r>
              <a:rPr lang="en-US" sz="2200"/>
              <a:t>Replacing unsupervised topic modeling with guided topic modeling -&gt; increased accuracy determined by more relevant topics outputted by models</a:t>
            </a:r>
            <a:endParaRPr sz="2200"/>
          </a:p>
          <a:p>
            <a:pPr indent="-368300" lvl="0" marL="457200" rtl="0" algn="l">
              <a:lnSpc>
                <a:spcPct val="115000"/>
              </a:lnSpc>
              <a:spcBef>
                <a:spcPts val="0"/>
              </a:spcBef>
              <a:spcAft>
                <a:spcPts val="0"/>
              </a:spcAft>
              <a:buSzPts val="2200"/>
              <a:buChar char="-"/>
            </a:pPr>
            <a:r>
              <a:rPr lang="en-US" sz="2200"/>
              <a:t>Connecting student sentiment/attitude in education with ABSA</a:t>
            </a:r>
            <a:endParaRPr sz="2200"/>
          </a:p>
          <a:p>
            <a:pPr indent="-368300" lvl="0" marL="457200" rtl="0" algn="l">
              <a:lnSpc>
                <a:spcPct val="115000"/>
              </a:lnSpc>
              <a:spcBef>
                <a:spcPts val="0"/>
              </a:spcBef>
              <a:spcAft>
                <a:spcPts val="0"/>
              </a:spcAft>
              <a:buSzPts val="2200"/>
              <a:buChar char="-"/>
            </a:pPr>
            <a:r>
              <a:rPr lang="en-US" sz="2200"/>
              <a:t>Visualizing </a:t>
            </a:r>
            <a:r>
              <a:rPr lang="en-US" sz="2200"/>
              <a:t>the</a:t>
            </a:r>
            <a:r>
              <a:rPr lang="en-US" sz="2200"/>
              <a:t> effect of </a:t>
            </a:r>
            <a:r>
              <a:rPr lang="en-US" sz="2200"/>
              <a:t>metacognitive</a:t>
            </a:r>
            <a:r>
              <a:rPr lang="en-US" sz="2200"/>
              <a:t> presence in a classroom</a:t>
            </a:r>
            <a:endParaRPr sz="2200"/>
          </a:p>
        </p:txBody>
      </p:sp>
      <p:sp>
        <p:nvSpPr>
          <p:cNvPr id="138" name="Google Shape;138;gefbeba6a1c_0_50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Updated Big Picture</a:t>
            </a:r>
            <a:endParaRPr/>
          </a:p>
        </p:txBody>
      </p:sp>
      <p:sp>
        <p:nvSpPr>
          <p:cNvPr id="139" name="Google Shape;139;gefbeba6a1c_0_509"/>
          <p:cNvSpPr/>
          <p:nvPr/>
        </p:nvSpPr>
        <p:spPr>
          <a:xfrm>
            <a:off x="5002788" y="4795525"/>
            <a:ext cx="2186400" cy="7101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Data Science</a:t>
            </a:r>
            <a:endParaRPr b="0" i="0" sz="2300" u="none" cap="none" strike="noStrike">
              <a:solidFill>
                <a:schemeClr val="lt1"/>
              </a:solidFill>
              <a:latin typeface="Arial"/>
              <a:ea typeface="Arial"/>
              <a:cs typeface="Arial"/>
              <a:sym typeface="Arial"/>
            </a:endParaRPr>
          </a:p>
        </p:txBody>
      </p:sp>
      <p:sp>
        <p:nvSpPr>
          <p:cNvPr id="140" name="Google Shape;140;gefbeba6a1c_0_509"/>
          <p:cNvSpPr/>
          <p:nvPr/>
        </p:nvSpPr>
        <p:spPr>
          <a:xfrm>
            <a:off x="4611888" y="3713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Cognitive Presence </a:t>
            </a:r>
            <a:endParaRPr b="0" i="0" sz="2300" u="none" cap="none" strike="noStrike">
              <a:solidFill>
                <a:schemeClr val="lt1"/>
              </a:solidFill>
              <a:latin typeface="Arial"/>
              <a:ea typeface="Arial"/>
              <a:cs typeface="Arial"/>
              <a:sym typeface="Arial"/>
            </a:endParaRPr>
          </a:p>
        </p:txBody>
      </p:sp>
      <p:sp>
        <p:nvSpPr>
          <p:cNvPr id="141" name="Google Shape;141;gefbeba6a1c_0_509"/>
          <p:cNvSpPr/>
          <p:nvPr/>
        </p:nvSpPr>
        <p:spPr>
          <a:xfrm>
            <a:off x="4611900" y="5675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100" u="none" cap="none" strike="noStrike">
                <a:solidFill>
                  <a:schemeClr val="lt1"/>
                </a:solidFill>
                <a:latin typeface="Arial"/>
                <a:ea typeface="Arial"/>
                <a:cs typeface="Arial"/>
                <a:sym typeface="Arial"/>
              </a:rPr>
              <a:t>Aspect-Based Sentiment Analysis</a:t>
            </a:r>
            <a:endParaRPr b="0" i="0" sz="2100" u="none" cap="none" strike="noStrike">
              <a:solidFill>
                <a:schemeClr val="lt1"/>
              </a:solidFill>
              <a:latin typeface="Arial"/>
              <a:ea typeface="Arial"/>
              <a:cs typeface="Arial"/>
              <a:sym typeface="Arial"/>
            </a:endParaRPr>
          </a:p>
        </p:txBody>
      </p:sp>
      <p:sp>
        <p:nvSpPr>
          <p:cNvPr id="142" name="Google Shape;142;gefbeba6a1c_0_509"/>
          <p:cNvSpPr/>
          <p:nvPr/>
        </p:nvSpPr>
        <p:spPr>
          <a:xfrm>
            <a:off x="7990275" y="4694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Topic Modeling</a:t>
            </a:r>
            <a:endParaRPr b="0" i="0" sz="2300" u="none" cap="none" strike="noStrike">
              <a:solidFill>
                <a:schemeClr val="lt1"/>
              </a:solidFill>
              <a:latin typeface="Arial"/>
              <a:ea typeface="Arial"/>
              <a:cs typeface="Arial"/>
              <a:sym typeface="Arial"/>
            </a:endParaRPr>
          </a:p>
        </p:txBody>
      </p:sp>
      <p:sp>
        <p:nvSpPr>
          <p:cNvPr id="143" name="Google Shape;143;gefbeba6a1c_0_509"/>
          <p:cNvSpPr/>
          <p:nvPr/>
        </p:nvSpPr>
        <p:spPr>
          <a:xfrm>
            <a:off x="1233525" y="469427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Metacognitive Presence</a:t>
            </a:r>
            <a:endParaRPr b="0" i="0" sz="2300" u="none" cap="none" strike="noStrike">
              <a:solidFill>
                <a:schemeClr val="lt1"/>
              </a:solidFill>
              <a:latin typeface="Arial"/>
              <a:ea typeface="Arial"/>
              <a:cs typeface="Arial"/>
              <a:sym typeface="Arial"/>
            </a:endParaRPr>
          </a:p>
        </p:txBody>
      </p:sp>
      <p:cxnSp>
        <p:nvCxnSpPr>
          <p:cNvPr id="144" name="Google Shape;144;gefbeba6a1c_0_509"/>
          <p:cNvCxnSpPr/>
          <p:nvPr/>
        </p:nvCxnSpPr>
        <p:spPr>
          <a:xfrm rot="10800000">
            <a:off x="6095988" y="4625875"/>
            <a:ext cx="0" cy="169500"/>
          </a:xfrm>
          <a:prstGeom prst="straightConnector1">
            <a:avLst/>
          </a:prstGeom>
          <a:noFill/>
          <a:ln cap="flat" cmpd="sng" w="9525">
            <a:solidFill>
              <a:schemeClr val="dk2"/>
            </a:solidFill>
            <a:prstDash val="solid"/>
            <a:round/>
            <a:headEnd len="sm" w="sm" type="none"/>
            <a:tailEnd len="med" w="med" type="triangle"/>
          </a:ln>
        </p:spPr>
      </p:cxnSp>
      <p:cxnSp>
        <p:nvCxnSpPr>
          <p:cNvPr id="145" name="Google Shape;145;gefbeba6a1c_0_509"/>
          <p:cNvCxnSpPr>
            <a:stCxn id="139" idx="1"/>
            <a:endCxn id="143" idx="3"/>
          </p:cNvCxnSpPr>
          <p:nvPr/>
        </p:nvCxnSpPr>
        <p:spPr>
          <a:xfrm rot="10800000">
            <a:off x="4201788" y="515057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6" name="Google Shape;146;gefbeba6a1c_0_509"/>
          <p:cNvCxnSpPr>
            <a:stCxn id="139" idx="3"/>
            <a:endCxn id="142" idx="1"/>
          </p:cNvCxnSpPr>
          <p:nvPr/>
        </p:nvCxnSpPr>
        <p:spPr>
          <a:xfrm>
            <a:off x="7189188" y="515057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7" name="Google Shape;147;gefbeba6a1c_0_509"/>
          <p:cNvCxnSpPr>
            <a:stCxn id="139" idx="2"/>
            <a:endCxn id="141" idx="0"/>
          </p:cNvCxnSpPr>
          <p:nvPr/>
        </p:nvCxnSpPr>
        <p:spPr>
          <a:xfrm>
            <a:off x="6095988" y="5505625"/>
            <a:ext cx="0" cy="169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g18953f727dd_1_0"/>
          <p:cNvSpPr txBox="1"/>
          <p:nvPr>
            <p:ph idx="1" type="body"/>
          </p:nvPr>
        </p:nvSpPr>
        <p:spPr>
          <a:xfrm>
            <a:off x="381000" y="1215474"/>
            <a:ext cx="11430000" cy="52086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Topic Modeling - unsupervised</a:t>
            </a:r>
            <a:endParaRPr/>
          </a:p>
          <a:p>
            <a:pPr indent="-342900" lvl="1" marL="914400" rtl="0" algn="l">
              <a:lnSpc>
                <a:spcPct val="90000"/>
              </a:lnSpc>
              <a:spcBef>
                <a:spcPts val="1000"/>
              </a:spcBef>
              <a:spcAft>
                <a:spcPts val="0"/>
              </a:spcAft>
              <a:buSzPts val="1800"/>
              <a:buChar char="•"/>
            </a:pPr>
            <a:r>
              <a:rPr lang="en-US"/>
              <a:t>scan documents, detect words, cluster groups</a:t>
            </a:r>
            <a:endParaRPr/>
          </a:p>
          <a:p>
            <a:pPr indent="-342900" lvl="1" marL="914400" rtl="0" algn="l">
              <a:lnSpc>
                <a:spcPct val="90000"/>
              </a:lnSpc>
              <a:spcBef>
                <a:spcPts val="1000"/>
              </a:spcBef>
              <a:spcAft>
                <a:spcPts val="0"/>
              </a:spcAft>
              <a:buSzPts val="1800"/>
              <a:buChar char="•"/>
            </a:pPr>
            <a:r>
              <a:rPr lang="en-US"/>
              <a:t>should be aware of dominant topic</a:t>
            </a:r>
            <a:endParaRPr/>
          </a:p>
          <a:p>
            <a:pPr indent="-342900" lvl="1" marL="914400" rtl="0" algn="l">
              <a:lnSpc>
                <a:spcPct val="90000"/>
              </a:lnSpc>
              <a:spcBef>
                <a:spcPts val="1000"/>
              </a:spcBef>
              <a:spcAft>
                <a:spcPts val="0"/>
              </a:spcAft>
              <a:buSzPts val="1800"/>
              <a:buChar char="•"/>
            </a:pPr>
            <a:r>
              <a:rPr lang="en-US" sz="2300"/>
              <a:t>limitation: the top topic was irrelevant to the course contents</a:t>
            </a:r>
            <a:endParaRPr sz="2300"/>
          </a:p>
          <a:p>
            <a:pPr indent="-374650" lvl="0" marL="457200" rtl="0" algn="l">
              <a:lnSpc>
                <a:spcPct val="90000"/>
              </a:lnSpc>
              <a:spcBef>
                <a:spcPts val="1000"/>
              </a:spcBef>
              <a:spcAft>
                <a:spcPts val="0"/>
              </a:spcAft>
              <a:buSzPts val="2300"/>
              <a:buChar char="•"/>
            </a:pPr>
            <a:r>
              <a:rPr lang="en-US" sz="2300"/>
              <a:t>Visualization on Piazza data</a:t>
            </a:r>
            <a:endParaRPr sz="2300"/>
          </a:p>
        </p:txBody>
      </p:sp>
      <p:sp>
        <p:nvSpPr>
          <p:cNvPr id="153" name="Google Shape;153;g18953f727dd_1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Topic Modeling</a:t>
            </a:r>
            <a:endParaRPr/>
          </a:p>
        </p:txBody>
      </p:sp>
      <p:pic>
        <p:nvPicPr>
          <p:cNvPr id="154" name="Google Shape;154;g18953f727dd_1_0"/>
          <p:cNvPicPr preferRelativeResize="0"/>
          <p:nvPr/>
        </p:nvPicPr>
        <p:blipFill rotWithShape="1">
          <a:blip r:embed="rId3">
            <a:alphaModFix/>
          </a:blip>
          <a:srcRect b="0" l="0" r="0" t="0"/>
          <a:stretch/>
        </p:blipFill>
        <p:spPr>
          <a:xfrm>
            <a:off x="809525" y="3677000"/>
            <a:ext cx="3689045" cy="2633475"/>
          </a:xfrm>
          <a:prstGeom prst="rect">
            <a:avLst/>
          </a:prstGeom>
          <a:noFill/>
          <a:ln>
            <a:noFill/>
          </a:ln>
        </p:spPr>
      </p:pic>
      <p:pic>
        <p:nvPicPr>
          <p:cNvPr id="155" name="Google Shape;155;g18953f727dd_1_0"/>
          <p:cNvPicPr preferRelativeResize="0"/>
          <p:nvPr/>
        </p:nvPicPr>
        <p:blipFill rotWithShape="1">
          <a:blip r:embed="rId4">
            <a:alphaModFix/>
          </a:blip>
          <a:srcRect b="0" l="0" r="0" t="0"/>
          <a:stretch/>
        </p:blipFill>
        <p:spPr>
          <a:xfrm>
            <a:off x="8423300" y="3223483"/>
            <a:ext cx="3387701" cy="2410692"/>
          </a:xfrm>
          <a:prstGeom prst="rect">
            <a:avLst/>
          </a:prstGeom>
          <a:noFill/>
          <a:ln>
            <a:noFill/>
          </a:ln>
        </p:spPr>
      </p:pic>
      <p:pic>
        <p:nvPicPr>
          <p:cNvPr id="156" name="Google Shape;156;g18953f727dd_1_0"/>
          <p:cNvPicPr preferRelativeResize="0"/>
          <p:nvPr/>
        </p:nvPicPr>
        <p:blipFill rotWithShape="1">
          <a:blip r:embed="rId5">
            <a:alphaModFix/>
          </a:blip>
          <a:srcRect b="0" l="0" r="0" t="0"/>
          <a:stretch/>
        </p:blipFill>
        <p:spPr>
          <a:xfrm>
            <a:off x="4932350" y="3219763"/>
            <a:ext cx="3387700" cy="24181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1b583a11e7_0_0"/>
          <p:cNvSpPr txBox="1"/>
          <p:nvPr>
            <p:ph idx="1" type="body"/>
          </p:nvPr>
        </p:nvSpPr>
        <p:spPr>
          <a:xfrm>
            <a:off x="381000" y="1215625"/>
            <a:ext cx="11430000" cy="5642400"/>
          </a:xfrm>
          <a:prstGeom prst="rect">
            <a:avLst/>
          </a:prstGeom>
          <a:noFill/>
          <a:ln>
            <a:noFill/>
          </a:ln>
        </p:spPr>
        <p:txBody>
          <a:bodyPr anchorCtr="0" anchor="t" bIns="45700" lIns="91425" spcFirstLastPara="1" rIns="91425" wrap="square" tIns="45700">
            <a:normAutofit fontScale="92500" lnSpcReduction="10000"/>
          </a:bodyPr>
          <a:lstStyle/>
          <a:p>
            <a:pPr indent="-344561" lvl="0" marL="457200" rtl="0" algn="l">
              <a:lnSpc>
                <a:spcPct val="115000"/>
              </a:lnSpc>
              <a:spcBef>
                <a:spcPts val="1000"/>
              </a:spcBef>
              <a:spcAft>
                <a:spcPts val="0"/>
              </a:spcAft>
              <a:buSzPct val="100000"/>
              <a:buChar char="•"/>
            </a:pPr>
            <a:r>
              <a:rPr lang="en-US" sz="1974"/>
              <a:t>Topic Modeling with predefined seeded topics</a:t>
            </a:r>
            <a:endParaRPr sz="1974"/>
          </a:p>
          <a:p>
            <a:pPr indent="-344561" lvl="1" marL="914400" rtl="0" algn="l">
              <a:lnSpc>
                <a:spcPct val="115000"/>
              </a:lnSpc>
              <a:spcBef>
                <a:spcPts val="1000"/>
              </a:spcBef>
              <a:spcAft>
                <a:spcPts val="0"/>
              </a:spcAft>
              <a:buSzPct val="100000"/>
              <a:buChar char="•"/>
            </a:pPr>
            <a:r>
              <a:rPr lang="en-US" sz="1974"/>
              <a:t>Set several seeded topics to which the model will converge towards (assuming the seeded topics are accurate/relevant)</a:t>
            </a:r>
            <a:endParaRPr sz="1974"/>
          </a:p>
          <a:p>
            <a:pPr indent="-344561" lvl="1" marL="914400" rtl="0" algn="l">
              <a:lnSpc>
                <a:spcPct val="115000"/>
              </a:lnSpc>
              <a:spcBef>
                <a:spcPts val="1000"/>
              </a:spcBef>
              <a:spcAft>
                <a:spcPts val="0"/>
              </a:spcAft>
              <a:buSzPct val="100000"/>
              <a:buChar char="•"/>
            </a:pPr>
            <a:r>
              <a:rPr lang="en-US" sz="1974"/>
              <a:t>Provided seeded words for each topic, so each word is related to a specific topic/content</a:t>
            </a:r>
            <a:endParaRPr sz="1974"/>
          </a:p>
          <a:p>
            <a:pPr indent="-344561" lvl="1" marL="914400" rtl="0" algn="l">
              <a:lnSpc>
                <a:spcPct val="115000"/>
              </a:lnSpc>
              <a:spcBef>
                <a:spcPts val="1000"/>
              </a:spcBef>
              <a:spcAft>
                <a:spcPts val="0"/>
              </a:spcAft>
              <a:buSzPct val="100000"/>
              <a:buChar char="•"/>
            </a:pPr>
            <a:r>
              <a:rPr lang="en-US" sz="1974"/>
              <a:t>Recognized the</a:t>
            </a:r>
            <a:r>
              <a:rPr lang="en-US" sz="1974"/>
              <a:t> accuracy/specificity of each seeded topic was important -&gt; made topic lists less vague and more narrowed; added potential stop words such as "if", "you", "him", and "thank":</a:t>
            </a:r>
            <a:endParaRPr sz="1974"/>
          </a:p>
          <a:p>
            <a:pPr indent="0" lvl="0" marL="0" rtl="0" algn="l">
              <a:lnSpc>
                <a:spcPct val="115000"/>
              </a:lnSpc>
              <a:spcBef>
                <a:spcPts val="1000"/>
              </a:spcBef>
              <a:spcAft>
                <a:spcPts val="0"/>
              </a:spcAft>
              <a:buSzPct val="81818"/>
              <a:buNone/>
            </a:pPr>
            <a:r>
              <a:t/>
            </a:r>
            <a:endParaRPr sz="2200"/>
          </a:p>
          <a:p>
            <a:pPr indent="0" lvl="0" marL="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None/>
            </a:pPr>
            <a:r>
              <a:t/>
            </a:r>
            <a:endParaRPr sz="2300"/>
          </a:p>
          <a:p>
            <a:pPr indent="0" lvl="0" marL="0" rtl="0" algn="l">
              <a:lnSpc>
                <a:spcPct val="90000"/>
              </a:lnSpc>
              <a:spcBef>
                <a:spcPts val="1000"/>
              </a:spcBef>
              <a:spcAft>
                <a:spcPts val="0"/>
              </a:spcAft>
              <a:buNone/>
            </a:pPr>
            <a:r>
              <a:t/>
            </a:r>
            <a:endParaRPr sz="2408"/>
          </a:p>
          <a:p>
            <a:pPr indent="-338772" lvl="0" marL="457200" rtl="0" algn="l">
              <a:lnSpc>
                <a:spcPct val="90000"/>
              </a:lnSpc>
              <a:spcBef>
                <a:spcPts val="1000"/>
              </a:spcBef>
              <a:spcAft>
                <a:spcPts val="0"/>
              </a:spcAft>
              <a:buSzPct val="100000"/>
              <a:buChar char="•"/>
            </a:pPr>
            <a:r>
              <a:rPr lang="en-US" sz="1875"/>
              <a:t>Expectations/Plans:</a:t>
            </a:r>
            <a:endParaRPr sz="1875"/>
          </a:p>
          <a:p>
            <a:pPr indent="-338772" lvl="1" marL="914400" rtl="0" algn="l">
              <a:lnSpc>
                <a:spcPct val="115000"/>
              </a:lnSpc>
              <a:spcBef>
                <a:spcPts val="1000"/>
              </a:spcBef>
              <a:spcAft>
                <a:spcPts val="0"/>
              </a:spcAft>
              <a:buSzPct val="100000"/>
              <a:buChar char="•"/>
            </a:pPr>
            <a:r>
              <a:rPr lang="en-US" sz="1875"/>
              <a:t>Continually try to improve the accuracy of classification by topic through already reliable methods </a:t>
            </a:r>
            <a:endParaRPr sz="1875"/>
          </a:p>
          <a:p>
            <a:pPr indent="-338772" lvl="1" marL="914400" rtl="0" algn="l">
              <a:lnSpc>
                <a:spcPct val="115000"/>
              </a:lnSpc>
              <a:spcBef>
                <a:spcPts val="1000"/>
              </a:spcBef>
              <a:spcAft>
                <a:spcPts val="0"/>
              </a:spcAft>
              <a:buSzPct val="100000"/>
              <a:buChar char="•"/>
            </a:pPr>
            <a:r>
              <a:rPr lang="en-US" sz="1875"/>
              <a:t>Experiment with code and discover more potential methods to increase relevance/accuracy</a:t>
            </a:r>
            <a:endParaRPr sz="1875"/>
          </a:p>
        </p:txBody>
      </p:sp>
      <p:sp>
        <p:nvSpPr>
          <p:cNvPr id="162" name="Google Shape;162;g21b583a11e7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Guided Topic Modeling</a:t>
            </a:r>
            <a:endParaRPr/>
          </a:p>
        </p:txBody>
      </p:sp>
      <p:pic>
        <p:nvPicPr>
          <p:cNvPr id="163" name="Google Shape;163;g21b583a11e7_0_0"/>
          <p:cNvPicPr preferRelativeResize="0"/>
          <p:nvPr/>
        </p:nvPicPr>
        <p:blipFill>
          <a:blip r:embed="rId3">
            <a:alphaModFix/>
          </a:blip>
          <a:stretch>
            <a:fillRect/>
          </a:stretch>
        </p:blipFill>
        <p:spPr>
          <a:xfrm>
            <a:off x="6025900" y="3435675"/>
            <a:ext cx="3812175" cy="1616300"/>
          </a:xfrm>
          <a:prstGeom prst="rect">
            <a:avLst/>
          </a:prstGeom>
          <a:noFill/>
          <a:ln>
            <a:noFill/>
          </a:ln>
        </p:spPr>
      </p:pic>
      <p:pic>
        <p:nvPicPr>
          <p:cNvPr id="164" name="Google Shape;164;g21b583a11e7_0_0"/>
          <p:cNvPicPr preferRelativeResize="0"/>
          <p:nvPr/>
        </p:nvPicPr>
        <p:blipFill>
          <a:blip r:embed="rId4">
            <a:alphaModFix/>
          </a:blip>
          <a:stretch>
            <a:fillRect/>
          </a:stretch>
        </p:blipFill>
        <p:spPr>
          <a:xfrm>
            <a:off x="1373925" y="3435675"/>
            <a:ext cx="3014675" cy="1616300"/>
          </a:xfrm>
          <a:prstGeom prst="rect">
            <a:avLst/>
          </a:prstGeom>
          <a:noFill/>
          <a:ln>
            <a:noFill/>
          </a:ln>
        </p:spPr>
      </p:pic>
      <p:sp>
        <p:nvSpPr>
          <p:cNvPr id="165" name="Google Shape;165;g21b583a11e7_0_0"/>
          <p:cNvSpPr/>
          <p:nvPr/>
        </p:nvSpPr>
        <p:spPr>
          <a:xfrm>
            <a:off x="4734138" y="4002175"/>
            <a:ext cx="946200" cy="48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21b583a11e7_0_0"/>
          <p:cNvSpPr txBox="1"/>
          <p:nvPr/>
        </p:nvSpPr>
        <p:spPr>
          <a:xfrm>
            <a:off x="2375450" y="5112950"/>
            <a:ext cx="720000" cy="400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lang="en-US">
                <a:latin typeface="Roboto"/>
                <a:ea typeface="Roboto"/>
                <a:cs typeface="Roboto"/>
                <a:sym typeface="Roboto"/>
              </a:rPr>
              <a:t>Before</a:t>
            </a:r>
            <a:endParaRPr>
              <a:latin typeface="Roboto"/>
              <a:ea typeface="Roboto"/>
              <a:cs typeface="Roboto"/>
              <a:sym typeface="Roboto"/>
            </a:endParaRPr>
          </a:p>
        </p:txBody>
      </p:sp>
      <p:sp>
        <p:nvSpPr>
          <p:cNvPr id="167" name="Google Shape;167;g21b583a11e7_0_0"/>
          <p:cNvSpPr txBox="1"/>
          <p:nvPr/>
        </p:nvSpPr>
        <p:spPr>
          <a:xfrm>
            <a:off x="7571988" y="5166975"/>
            <a:ext cx="720000" cy="4002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lang="en-US">
                <a:latin typeface="Roboto"/>
                <a:ea typeface="Roboto"/>
                <a:cs typeface="Roboto"/>
                <a:sym typeface="Roboto"/>
              </a:rPr>
              <a:t>After</a:t>
            </a:r>
            <a:endParaRPr>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218e1e64d64_0_0"/>
          <p:cNvSpPr txBox="1"/>
          <p:nvPr>
            <p:ph idx="1" type="body"/>
          </p:nvPr>
        </p:nvSpPr>
        <p:spPr>
          <a:xfrm>
            <a:off x="381000" y="1130850"/>
            <a:ext cx="6330600" cy="5238900"/>
          </a:xfrm>
          <a:prstGeom prst="rect">
            <a:avLst/>
          </a:prstGeom>
          <a:noFill/>
          <a:ln>
            <a:noFill/>
          </a:ln>
        </p:spPr>
        <p:txBody>
          <a:bodyPr anchorCtr="0" anchor="t" bIns="45700" lIns="91425" spcFirstLastPara="1" rIns="91425" wrap="square" tIns="45700">
            <a:noAutofit/>
          </a:bodyPr>
          <a:lstStyle/>
          <a:p>
            <a:pPr indent="-368300" lvl="0" marL="457200" rtl="0" algn="l">
              <a:lnSpc>
                <a:spcPct val="90000"/>
              </a:lnSpc>
              <a:spcBef>
                <a:spcPts val="1000"/>
              </a:spcBef>
              <a:spcAft>
                <a:spcPts val="0"/>
              </a:spcAft>
              <a:buSzPts val="2200"/>
              <a:buChar char="•"/>
            </a:pPr>
            <a:r>
              <a:rPr lang="en-US" sz="2200"/>
              <a:t>Improvement</a:t>
            </a:r>
            <a:endParaRPr sz="1700"/>
          </a:p>
          <a:p>
            <a:pPr indent="-336550" lvl="1" marL="914400" rtl="0" algn="l">
              <a:spcBef>
                <a:spcPts val="1000"/>
              </a:spcBef>
              <a:spcAft>
                <a:spcPts val="0"/>
              </a:spcAft>
              <a:buSzPts val="1700"/>
              <a:buChar char="•"/>
            </a:pPr>
            <a:r>
              <a:rPr lang="en-US" sz="1700"/>
              <a:t>Higher Accuracy with more preprocessing</a:t>
            </a:r>
            <a:endParaRPr sz="1700"/>
          </a:p>
          <a:p>
            <a:pPr indent="-336550" lvl="2" marL="1371600" rtl="0" algn="l">
              <a:spcBef>
                <a:spcPts val="1000"/>
              </a:spcBef>
              <a:spcAft>
                <a:spcPts val="0"/>
              </a:spcAft>
              <a:buSzPts val="1700"/>
              <a:buChar char="•"/>
            </a:pPr>
            <a:r>
              <a:rPr lang="en-US" sz="1700"/>
              <a:t>Narrowed seeded topics down</a:t>
            </a:r>
            <a:endParaRPr sz="1700"/>
          </a:p>
          <a:p>
            <a:pPr indent="-336550" lvl="2" marL="1371600" rtl="0" algn="l">
              <a:spcBef>
                <a:spcPts val="1000"/>
              </a:spcBef>
              <a:spcAft>
                <a:spcPts val="0"/>
              </a:spcAft>
              <a:buSzPts val="1700"/>
              <a:buChar char="•"/>
            </a:pPr>
            <a:r>
              <a:rPr lang="en-US" sz="1700"/>
              <a:t>Removed tense features(integrating past/present/future tenses)</a:t>
            </a:r>
            <a:endParaRPr sz="1700"/>
          </a:p>
          <a:p>
            <a:pPr indent="-336550" lvl="2" marL="1371600" rtl="0" algn="l">
              <a:spcBef>
                <a:spcPts val="1000"/>
              </a:spcBef>
              <a:spcAft>
                <a:spcPts val="0"/>
              </a:spcAft>
              <a:buSzPts val="1700"/>
              <a:buChar char="•"/>
            </a:pPr>
            <a:r>
              <a:rPr lang="en-US" sz="1700"/>
              <a:t>Removed URL/email/punctuation, Integrated upper/lower cases</a:t>
            </a:r>
            <a:endParaRPr sz="1700"/>
          </a:p>
          <a:p>
            <a:pPr indent="-336550" lvl="2" marL="1371600" rtl="0" algn="l">
              <a:spcBef>
                <a:spcPts val="1000"/>
              </a:spcBef>
              <a:spcAft>
                <a:spcPts val="0"/>
              </a:spcAft>
              <a:buSzPts val="1700"/>
              <a:buChar char="•"/>
            </a:pPr>
            <a:r>
              <a:rPr lang="en-US" sz="1700"/>
              <a:t>Deleted irrelevant words by setting them manually</a:t>
            </a:r>
            <a:endParaRPr sz="1700"/>
          </a:p>
          <a:p>
            <a:pPr indent="-336550" lvl="1" marL="914400" rtl="0" algn="l">
              <a:spcBef>
                <a:spcPts val="1000"/>
              </a:spcBef>
              <a:spcAft>
                <a:spcPts val="0"/>
              </a:spcAft>
              <a:buSzPts val="1700"/>
              <a:buChar char="•"/>
            </a:pPr>
            <a:r>
              <a:rPr lang="en-US" sz="1700"/>
              <a:t>Instructors can match each post with a specific topic from the topic list</a:t>
            </a:r>
            <a:endParaRPr sz="1700"/>
          </a:p>
          <a:p>
            <a:pPr indent="-336550" lvl="1" marL="914400" rtl="0" algn="l">
              <a:spcBef>
                <a:spcPts val="1000"/>
              </a:spcBef>
              <a:spcAft>
                <a:spcPts val="0"/>
              </a:spcAft>
              <a:buSzPts val="1700"/>
              <a:buChar char="•"/>
            </a:pPr>
            <a:r>
              <a:rPr lang="en-US" sz="1700"/>
              <a:t>Generated .json file</a:t>
            </a:r>
            <a:endParaRPr sz="1700"/>
          </a:p>
          <a:p>
            <a:pPr indent="-368300" lvl="0" marL="457200" rtl="0" algn="l">
              <a:lnSpc>
                <a:spcPct val="90000"/>
              </a:lnSpc>
              <a:spcBef>
                <a:spcPts val="1000"/>
              </a:spcBef>
              <a:spcAft>
                <a:spcPts val="0"/>
              </a:spcAft>
              <a:buSzPts val="2200"/>
              <a:buChar char="•"/>
            </a:pPr>
            <a:r>
              <a:rPr lang="en-US" sz="2200"/>
              <a:t>Challenges</a:t>
            </a:r>
            <a:endParaRPr sz="2200"/>
          </a:p>
          <a:p>
            <a:pPr indent="-336550" lvl="1" marL="914400" rtl="0" algn="l">
              <a:lnSpc>
                <a:spcPct val="90000"/>
              </a:lnSpc>
              <a:spcBef>
                <a:spcPts val="1000"/>
              </a:spcBef>
              <a:spcAft>
                <a:spcPts val="0"/>
              </a:spcAft>
              <a:buSzPts val="1700"/>
              <a:buChar char="•"/>
            </a:pPr>
            <a:r>
              <a:rPr lang="en-US" sz="1700"/>
              <a:t>Calculate coherence score to see actual improvement</a:t>
            </a:r>
            <a:endParaRPr sz="1700"/>
          </a:p>
          <a:p>
            <a:pPr indent="0" lvl="0" marL="0" rtl="0" algn="l">
              <a:lnSpc>
                <a:spcPct val="90000"/>
              </a:lnSpc>
              <a:spcBef>
                <a:spcPts val="1000"/>
              </a:spcBef>
              <a:spcAft>
                <a:spcPts val="0"/>
              </a:spcAft>
              <a:buSzPts val="1800"/>
              <a:buNone/>
            </a:pPr>
            <a:r>
              <a:t/>
            </a:r>
            <a:endParaRPr sz="2500"/>
          </a:p>
        </p:txBody>
      </p:sp>
      <p:sp>
        <p:nvSpPr>
          <p:cNvPr id="173" name="Google Shape;173;g218e1e64d64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Guided Topic Modeling</a:t>
            </a:r>
            <a:endParaRPr/>
          </a:p>
        </p:txBody>
      </p:sp>
      <p:sp>
        <p:nvSpPr>
          <p:cNvPr id="174" name="Google Shape;174;g218e1e64d64_0_0"/>
          <p:cNvSpPr/>
          <p:nvPr/>
        </p:nvSpPr>
        <p:spPr>
          <a:xfrm rot="5400000">
            <a:off x="7460550" y="-177650"/>
            <a:ext cx="2932500" cy="4262100"/>
          </a:xfrm>
          <a:prstGeom prst="chevron">
            <a:avLst>
              <a:gd fmla="val 13654"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218e1e64d64_0_0"/>
          <p:cNvSpPr txBox="1"/>
          <p:nvPr/>
        </p:nvSpPr>
        <p:spPr>
          <a:xfrm>
            <a:off x="7070550" y="918050"/>
            <a:ext cx="3712500" cy="23295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1700">
                <a:solidFill>
                  <a:schemeClr val="dk1"/>
                </a:solidFill>
                <a:latin typeface="Calibri"/>
                <a:ea typeface="Calibri"/>
                <a:cs typeface="Calibri"/>
                <a:sym typeface="Calibri"/>
              </a:rPr>
              <a:t>&lt;Original&gt;</a:t>
            </a:r>
            <a:endParaRPr b="1" sz="1700">
              <a:solidFill>
                <a:schemeClr val="dk1"/>
              </a:solidFill>
              <a:latin typeface="Calibri"/>
              <a:ea typeface="Calibri"/>
              <a:cs typeface="Calibri"/>
              <a:sym typeface="Calibri"/>
            </a:endParaRPr>
          </a:p>
          <a:p>
            <a:pPr indent="0" lvl="0" marL="0" rtl="0" algn="ctr">
              <a:lnSpc>
                <a:spcPct val="90000"/>
              </a:lnSpc>
              <a:spcBef>
                <a:spcPts val="400"/>
              </a:spcBef>
              <a:spcAft>
                <a:spcPts val="400"/>
              </a:spcAft>
              <a:buNone/>
            </a:pPr>
            <a:r>
              <a:rPr lang="en-US" sz="1700">
                <a:solidFill>
                  <a:schemeClr val="dk1"/>
                </a:solidFill>
                <a:latin typeface="Calibri"/>
                <a:ea typeface="Calibri"/>
                <a:cs typeface="Calibri"/>
                <a:sym typeface="Calibri"/>
              </a:rPr>
              <a:t>Yeah.. You would need to use the string methods to see if the strings are ints or floats. You can't use int() or float(). There was a link to useful methods in the lesson, which I'll link here:</a:t>
            </a:r>
            <a:r>
              <a:rPr lang="en-US" sz="17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US" sz="1700" u="sng">
                <a:solidFill>
                  <a:schemeClr val="hlink"/>
                </a:solidFill>
                <a:latin typeface="Calibri"/>
                <a:ea typeface="Calibri"/>
                <a:cs typeface="Calibri"/>
                <a:sym typeface="Calibri"/>
                <a:hlinkClick r:id="rId4"/>
              </a:rPr>
              <a:t>https://docs.python.org/3.7/library/stdtypes.html#string-methods</a:t>
            </a:r>
            <a:endParaRPr/>
          </a:p>
        </p:txBody>
      </p:sp>
      <p:sp>
        <p:nvSpPr>
          <p:cNvPr id="176" name="Google Shape;176;g218e1e64d64_0_0"/>
          <p:cNvSpPr/>
          <p:nvPr/>
        </p:nvSpPr>
        <p:spPr>
          <a:xfrm rot="5400000">
            <a:off x="8029800" y="1892700"/>
            <a:ext cx="1793700" cy="4262100"/>
          </a:xfrm>
          <a:prstGeom prst="chevron">
            <a:avLst>
              <a:gd fmla="val 27316"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218e1e64d64_0_0"/>
          <p:cNvSpPr txBox="1"/>
          <p:nvPr/>
        </p:nvSpPr>
        <p:spPr>
          <a:xfrm>
            <a:off x="6801292" y="3552350"/>
            <a:ext cx="4250700" cy="12828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1700">
                <a:solidFill>
                  <a:schemeClr val="dk1"/>
                </a:solidFill>
                <a:latin typeface="Calibri"/>
                <a:ea typeface="Calibri"/>
                <a:cs typeface="Calibri"/>
                <a:sym typeface="Calibri"/>
              </a:rPr>
              <a:t>&lt;Preprocessed&gt;</a:t>
            </a:r>
            <a:endParaRPr b="1" sz="1700">
              <a:solidFill>
                <a:schemeClr val="dk1"/>
              </a:solidFill>
              <a:latin typeface="Calibri"/>
              <a:ea typeface="Calibri"/>
              <a:cs typeface="Calibri"/>
              <a:sym typeface="Calibri"/>
            </a:endParaRPr>
          </a:p>
          <a:p>
            <a:pPr indent="0" lvl="0" marL="0" rtl="0" algn="ctr">
              <a:lnSpc>
                <a:spcPct val="90000"/>
              </a:lnSpc>
              <a:spcBef>
                <a:spcPts val="400"/>
              </a:spcBef>
              <a:spcAft>
                <a:spcPts val="400"/>
              </a:spcAft>
              <a:buNone/>
            </a:pPr>
            <a:r>
              <a:rPr lang="en-US" sz="1700">
                <a:solidFill>
                  <a:schemeClr val="dk1"/>
                </a:solidFill>
                <a:latin typeface="Calibri"/>
                <a:ea typeface="Calibri"/>
                <a:cs typeface="Calibri"/>
                <a:sym typeface="Calibri"/>
              </a:rPr>
              <a:t>yeah need use string method string int float not use int float link useful method lesson ill link here</a:t>
            </a:r>
            <a:endParaRPr>
              <a:solidFill>
                <a:schemeClr val="dk1"/>
              </a:solidFill>
              <a:latin typeface="Calibri"/>
              <a:ea typeface="Calibri"/>
              <a:cs typeface="Calibri"/>
              <a:sym typeface="Calibri"/>
            </a:endParaRPr>
          </a:p>
        </p:txBody>
      </p:sp>
      <p:sp>
        <p:nvSpPr>
          <p:cNvPr id="178" name="Google Shape;178;g218e1e64d64_0_0"/>
          <p:cNvSpPr/>
          <p:nvPr/>
        </p:nvSpPr>
        <p:spPr>
          <a:xfrm rot="5400000">
            <a:off x="8070750" y="3385850"/>
            <a:ext cx="1723500" cy="4250700"/>
          </a:xfrm>
          <a:prstGeom prst="chevron">
            <a:avLst>
              <a:gd fmla="val 25493"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218e1e64d64_0_0"/>
          <p:cNvSpPr txBox="1"/>
          <p:nvPr/>
        </p:nvSpPr>
        <p:spPr>
          <a:xfrm>
            <a:off x="6812694" y="5120250"/>
            <a:ext cx="4239600" cy="1060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1700">
                <a:solidFill>
                  <a:schemeClr val="dk1"/>
                </a:solidFill>
                <a:latin typeface="Calibri"/>
                <a:ea typeface="Calibri"/>
                <a:cs typeface="Calibri"/>
                <a:sym typeface="Calibri"/>
              </a:rPr>
              <a:t>&lt;Topic&gt;</a:t>
            </a:r>
            <a:endParaRPr b="1" sz="1700">
              <a:solidFill>
                <a:schemeClr val="dk1"/>
              </a:solidFill>
              <a:latin typeface="Calibri"/>
              <a:ea typeface="Calibri"/>
              <a:cs typeface="Calibri"/>
              <a:sym typeface="Calibri"/>
            </a:endParaRPr>
          </a:p>
          <a:p>
            <a:pPr indent="0" lvl="0" marL="0" rtl="0" algn="ctr">
              <a:lnSpc>
                <a:spcPct val="115000"/>
              </a:lnSpc>
              <a:spcBef>
                <a:spcPts val="400"/>
              </a:spcBef>
              <a:spcAft>
                <a:spcPts val="0"/>
              </a:spcAft>
              <a:buNone/>
            </a:pPr>
            <a:r>
              <a:rPr lang="en-US" sz="1700">
                <a:solidFill>
                  <a:schemeClr val="dk1"/>
                </a:solidFill>
                <a:latin typeface="Calibri"/>
                <a:ea typeface="Calibri"/>
                <a:cs typeface="Calibri"/>
                <a:sym typeface="Calibri"/>
              </a:rPr>
              <a:t>['float', 'int', 'string', 'error', 'integer', 'round', 'sort']</a:t>
            </a:r>
            <a:endParaRPr>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3" name="Shape 183"/>
        <p:cNvGrpSpPr/>
        <p:nvPr/>
      </p:nvGrpSpPr>
      <p:grpSpPr>
        <a:xfrm>
          <a:off x="0" y="0"/>
          <a:ext cx="0" cy="0"/>
          <a:chOff x="0" y="0"/>
          <a:chExt cx="0" cy="0"/>
        </a:xfrm>
      </p:grpSpPr>
      <p:sp>
        <p:nvSpPr>
          <p:cNvPr id="184" name="Google Shape;184;g15e2f3f4d0a_0_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74650" lvl="0" marL="457200" rtl="0" algn="l">
              <a:lnSpc>
                <a:spcPct val="115000"/>
              </a:lnSpc>
              <a:spcBef>
                <a:spcPts val="1000"/>
              </a:spcBef>
              <a:spcAft>
                <a:spcPts val="0"/>
              </a:spcAft>
              <a:buSzPts val="2300"/>
              <a:buChar char="●"/>
            </a:pPr>
            <a:r>
              <a:rPr lang="en-US" sz="2300"/>
              <a:t>Aspect-Based Sentiment Analysis</a:t>
            </a:r>
            <a:endParaRPr sz="2300"/>
          </a:p>
          <a:p>
            <a:pPr indent="-342900" lvl="1" marL="914400" rtl="0" algn="l">
              <a:lnSpc>
                <a:spcPct val="115000"/>
              </a:lnSpc>
              <a:spcBef>
                <a:spcPts val="0"/>
              </a:spcBef>
              <a:spcAft>
                <a:spcPts val="0"/>
              </a:spcAft>
              <a:buSzPts val="1800"/>
              <a:buChar char="○"/>
            </a:pPr>
            <a:r>
              <a:rPr lang="en-US" sz="1800"/>
              <a:t>Technique that categorizes text data by aspect and identifies the sentiment attributed to each one</a:t>
            </a:r>
            <a:endParaRPr sz="1800"/>
          </a:p>
          <a:p>
            <a:pPr indent="-342900" lvl="1" marL="914400" rtl="0" algn="l">
              <a:lnSpc>
                <a:spcPct val="115000"/>
              </a:lnSpc>
              <a:spcBef>
                <a:spcPts val="0"/>
              </a:spcBef>
              <a:spcAft>
                <a:spcPts val="0"/>
              </a:spcAft>
              <a:buSzPts val="1800"/>
              <a:buChar char="○"/>
            </a:pPr>
            <a:r>
              <a:rPr lang="en-US" sz="1800"/>
              <a:t>Can provide reasonable sentiment for aspects depending on students’ current circumstance for multiple aspects at once</a:t>
            </a:r>
            <a:endParaRPr sz="2300"/>
          </a:p>
          <a:p>
            <a:pPr indent="-374650" lvl="0" marL="457200" rtl="0" algn="l">
              <a:lnSpc>
                <a:spcPct val="115000"/>
              </a:lnSpc>
              <a:spcBef>
                <a:spcPts val="0"/>
              </a:spcBef>
              <a:spcAft>
                <a:spcPts val="0"/>
              </a:spcAft>
              <a:buSzPts val="2300"/>
              <a:buChar char="●"/>
            </a:pPr>
            <a:r>
              <a:rPr lang="en-US" sz="2300"/>
              <a:t>Tested and trained on Piazza data</a:t>
            </a:r>
            <a:endParaRPr sz="2300"/>
          </a:p>
          <a:p>
            <a:pPr indent="-374650" lvl="1" marL="914400" rtl="0" algn="l">
              <a:lnSpc>
                <a:spcPct val="115000"/>
              </a:lnSpc>
              <a:spcBef>
                <a:spcPts val="0"/>
              </a:spcBef>
              <a:spcAft>
                <a:spcPts val="0"/>
              </a:spcAft>
              <a:buSzPts val="2300"/>
              <a:buChar char="○"/>
            </a:pPr>
            <a:r>
              <a:rPr lang="en-US" sz="1800"/>
              <a:t>Example input:</a:t>
            </a:r>
            <a:endParaRPr sz="1800"/>
          </a:p>
          <a:p>
            <a:pPr indent="-374650" lvl="2" marL="1371600" rtl="0" algn="l">
              <a:lnSpc>
                <a:spcPct val="115000"/>
              </a:lnSpc>
              <a:spcBef>
                <a:spcPts val="0"/>
              </a:spcBef>
              <a:spcAft>
                <a:spcPts val="0"/>
              </a:spcAft>
              <a:buSzPts val="2300"/>
              <a:buChar char="■"/>
            </a:pPr>
            <a:r>
              <a:rPr b="1" lang="en-US" sz="1500"/>
              <a:t>Text</a:t>
            </a:r>
            <a:r>
              <a:rPr lang="en-US" sz="1500"/>
              <a:t>: for some reason from my end the ' gradescope ' submission is still not happening</a:t>
            </a:r>
            <a:endParaRPr sz="1500"/>
          </a:p>
          <a:p>
            <a:pPr indent="-374650" lvl="2" marL="1371600" rtl="0" algn="l">
              <a:lnSpc>
                <a:spcPct val="115000"/>
              </a:lnSpc>
              <a:spcBef>
                <a:spcPts val="0"/>
              </a:spcBef>
              <a:spcAft>
                <a:spcPts val="0"/>
              </a:spcAft>
              <a:buSzPts val="2300"/>
              <a:buChar char="■"/>
            </a:pPr>
            <a:r>
              <a:rPr b="1" lang="en-US" sz="1500"/>
              <a:t>Aspects</a:t>
            </a:r>
            <a:r>
              <a:rPr lang="en-US" sz="1500"/>
              <a:t>: [test, project, quiz, homework, gradescope, assignment]</a:t>
            </a:r>
            <a:endParaRPr sz="1800"/>
          </a:p>
          <a:p>
            <a:pPr indent="-374650" lvl="1" marL="914400" rtl="0" algn="l">
              <a:lnSpc>
                <a:spcPct val="115000"/>
              </a:lnSpc>
              <a:spcBef>
                <a:spcPts val="0"/>
              </a:spcBef>
              <a:spcAft>
                <a:spcPts val="0"/>
              </a:spcAft>
              <a:buSzPts val="2300"/>
              <a:buChar char="○"/>
            </a:pPr>
            <a:r>
              <a:rPr lang="en-US" sz="1800"/>
              <a:t>Example output:</a:t>
            </a:r>
            <a:endParaRPr sz="2300"/>
          </a:p>
        </p:txBody>
      </p:sp>
      <p:sp>
        <p:nvSpPr>
          <p:cNvPr id="185" name="Google Shape;185;g15e2f3f4d0a_0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ABSA</a:t>
            </a:r>
            <a:endParaRPr/>
          </a:p>
        </p:txBody>
      </p:sp>
      <p:pic>
        <p:nvPicPr>
          <p:cNvPr id="186" name="Google Shape;186;g15e2f3f4d0a_0_5"/>
          <p:cNvPicPr preferRelativeResize="0"/>
          <p:nvPr/>
        </p:nvPicPr>
        <p:blipFill rotWithShape="1">
          <a:blip r:embed="rId3">
            <a:alphaModFix/>
          </a:blip>
          <a:srcRect b="0" l="0" r="0" t="0"/>
          <a:stretch/>
        </p:blipFill>
        <p:spPr>
          <a:xfrm>
            <a:off x="1396900" y="4634975"/>
            <a:ext cx="8995075" cy="1799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18953f727dd_1_5"/>
          <p:cNvSpPr txBox="1"/>
          <p:nvPr>
            <p:ph idx="1" type="body"/>
          </p:nvPr>
        </p:nvSpPr>
        <p:spPr>
          <a:xfrm>
            <a:off x="381000" y="1036850"/>
            <a:ext cx="7342200" cy="4596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000"/>
              </a:spcBef>
              <a:spcAft>
                <a:spcPts val="0"/>
              </a:spcAft>
              <a:buSzPts val="1100"/>
              <a:buNone/>
            </a:pPr>
            <a:r>
              <a:rPr lang="en-US" sz="1800">
                <a:solidFill>
                  <a:srgbClr val="434343"/>
                </a:solidFill>
                <a:latin typeface="Arial"/>
                <a:ea typeface="Arial"/>
                <a:cs typeface="Arial"/>
                <a:sym typeface="Arial"/>
              </a:rPr>
              <a:t>Knowledge of Cognition (KC) statements includes no activity or action. They basically indicate students' knowledge about a topic of interest or strategy that they have their repository.</a:t>
            </a:r>
            <a:endParaRPr/>
          </a:p>
          <a:p>
            <a:pPr indent="0" lvl="0" marL="0" marR="0" rtl="0" algn="l">
              <a:lnSpc>
                <a:spcPct val="115000"/>
              </a:lnSpc>
              <a:spcBef>
                <a:spcPts val="1000"/>
              </a:spcBef>
              <a:spcAft>
                <a:spcPts val="0"/>
              </a:spcAft>
              <a:buNone/>
            </a:pPr>
            <a:r>
              <a:rPr lang="en-US" sz="1800">
                <a:solidFill>
                  <a:srgbClr val="434343"/>
                </a:solidFill>
                <a:latin typeface="Arial"/>
                <a:ea typeface="Arial"/>
                <a:cs typeface="Arial"/>
                <a:sym typeface="Arial"/>
              </a:rPr>
              <a:t>Regulation of Cognition (RC)  process by which individuals control and manage their cognitive processes, such as Planning Information management. It involves the ability to monitor and modify one's thoughts, feelings, and behaviors in order to achieve specific goals or adapt to changing circumstances.</a:t>
            </a:r>
            <a:endParaRPr/>
          </a:p>
          <a:p>
            <a:pPr indent="-374650" lvl="0" marL="457200" rtl="0" algn="l">
              <a:lnSpc>
                <a:spcPct val="90000"/>
              </a:lnSpc>
              <a:spcBef>
                <a:spcPts val="1000"/>
              </a:spcBef>
              <a:spcAft>
                <a:spcPts val="0"/>
              </a:spcAft>
              <a:buSzPts val="2300"/>
              <a:buChar char="-"/>
            </a:pPr>
            <a:r>
              <a:rPr lang="en-US" sz="2300"/>
              <a:t>The visualizations will ideally show the success of the student related to their metacognitive presence</a:t>
            </a:r>
            <a:endParaRPr sz="2300"/>
          </a:p>
        </p:txBody>
      </p:sp>
      <p:sp>
        <p:nvSpPr>
          <p:cNvPr id="192" name="Google Shape;192;g18953f727dd_1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Metacognitive Presence</a:t>
            </a:r>
            <a:endParaRPr/>
          </a:p>
        </p:txBody>
      </p:sp>
      <p:pic>
        <p:nvPicPr>
          <p:cNvPr id="193" name="Google Shape;193;g18953f727dd_1_5"/>
          <p:cNvPicPr preferRelativeResize="0"/>
          <p:nvPr/>
        </p:nvPicPr>
        <p:blipFill>
          <a:blip r:embed="rId3">
            <a:alphaModFix/>
          </a:blip>
          <a:stretch>
            <a:fillRect/>
          </a:stretch>
        </p:blipFill>
        <p:spPr>
          <a:xfrm>
            <a:off x="8066688" y="3809450"/>
            <a:ext cx="3705225" cy="2647950"/>
          </a:xfrm>
          <a:prstGeom prst="rect">
            <a:avLst/>
          </a:prstGeom>
          <a:noFill/>
          <a:ln>
            <a:noFill/>
          </a:ln>
        </p:spPr>
      </p:pic>
      <p:pic>
        <p:nvPicPr>
          <p:cNvPr id="194" name="Google Shape;194;g18953f727dd_1_5"/>
          <p:cNvPicPr preferRelativeResize="0"/>
          <p:nvPr/>
        </p:nvPicPr>
        <p:blipFill>
          <a:blip r:embed="rId4">
            <a:alphaModFix/>
          </a:blip>
          <a:stretch>
            <a:fillRect/>
          </a:stretch>
        </p:blipFill>
        <p:spPr>
          <a:xfrm>
            <a:off x="8066700" y="704732"/>
            <a:ext cx="3705225" cy="2647969"/>
          </a:xfrm>
          <a:prstGeom prst="rect">
            <a:avLst/>
          </a:prstGeom>
          <a:noFill/>
          <a:ln>
            <a:noFill/>
          </a:ln>
        </p:spPr>
      </p:pic>
      <p:pic>
        <p:nvPicPr>
          <p:cNvPr id="195" name="Google Shape;195;g18953f727dd_1_5"/>
          <p:cNvPicPr preferRelativeResize="0"/>
          <p:nvPr/>
        </p:nvPicPr>
        <p:blipFill rotWithShape="1">
          <a:blip r:embed="rId5">
            <a:alphaModFix/>
          </a:blip>
          <a:srcRect b="0" l="17491" r="29424" t="0"/>
          <a:stretch/>
        </p:blipFill>
        <p:spPr>
          <a:xfrm>
            <a:off x="3290775" y="4582025"/>
            <a:ext cx="2026524" cy="2275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15e2f3f4d0a_0_1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Overall Semester Goals</a:t>
            </a:r>
            <a:endParaRPr/>
          </a:p>
        </p:txBody>
      </p:sp>
      <p:pic>
        <p:nvPicPr>
          <p:cNvPr id="201" name="Google Shape;201;g15e2f3f4d0a_0_17"/>
          <p:cNvPicPr preferRelativeResize="0"/>
          <p:nvPr/>
        </p:nvPicPr>
        <p:blipFill>
          <a:blip r:embed="rId3">
            <a:alphaModFix/>
          </a:blip>
          <a:stretch>
            <a:fillRect/>
          </a:stretch>
        </p:blipFill>
        <p:spPr>
          <a:xfrm>
            <a:off x="561325" y="1227148"/>
            <a:ext cx="9954124" cy="5072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efb32003ea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Current Progress</a:t>
            </a:r>
            <a:endParaRPr/>
          </a:p>
        </p:txBody>
      </p:sp>
      <p:sp>
        <p:nvSpPr>
          <p:cNvPr id="212" name="Google Shape;212;gefb32003ea_0_0"/>
          <p:cNvSpPr txBox="1"/>
          <p:nvPr/>
        </p:nvSpPr>
        <p:spPr>
          <a:xfrm>
            <a:off x="509650" y="1278600"/>
            <a:ext cx="10559700" cy="6156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Roboto"/>
              <a:ea typeface="Roboto"/>
              <a:cs typeface="Roboto"/>
              <a:sym typeface="Roboto"/>
            </a:endParaRPr>
          </a:p>
        </p:txBody>
      </p:sp>
      <p:pic>
        <p:nvPicPr>
          <p:cNvPr id="213" name="Google Shape;213;gefb32003ea_0_0"/>
          <p:cNvPicPr preferRelativeResize="0"/>
          <p:nvPr/>
        </p:nvPicPr>
        <p:blipFill>
          <a:blip r:embed="rId3">
            <a:alphaModFix/>
          </a:blip>
          <a:stretch>
            <a:fillRect/>
          </a:stretch>
        </p:blipFill>
        <p:spPr>
          <a:xfrm>
            <a:off x="1061325" y="1278600"/>
            <a:ext cx="8627154" cy="4659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g21c66e4ba4c_0_0"/>
          <p:cNvPicPr preferRelativeResize="0"/>
          <p:nvPr/>
        </p:nvPicPr>
        <p:blipFill>
          <a:blip r:embed="rId3">
            <a:alphaModFix/>
          </a:blip>
          <a:stretch>
            <a:fillRect/>
          </a:stretch>
        </p:blipFill>
        <p:spPr>
          <a:xfrm>
            <a:off x="152400" y="1674925"/>
            <a:ext cx="5908977" cy="3395925"/>
          </a:xfrm>
          <a:prstGeom prst="rect">
            <a:avLst/>
          </a:prstGeom>
          <a:noFill/>
          <a:ln>
            <a:noFill/>
          </a:ln>
        </p:spPr>
      </p:pic>
      <p:pic>
        <p:nvPicPr>
          <p:cNvPr id="219" name="Google Shape;219;g21c66e4ba4c_0_0"/>
          <p:cNvPicPr preferRelativeResize="0"/>
          <p:nvPr/>
        </p:nvPicPr>
        <p:blipFill>
          <a:blip r:embed="rId4">
            <a:alphaModFix/>
          </a:blip>
          <a:stretch>
            <a:fillRect/>
          </a:stretch>
        </p:blipFill>
        <p:spPr>
          <a:xfrm>
            <a:off x="5888175" y="1615400"/>
            <a:ext cx="6004198" cy="3418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g21c66e4ba4c_0_5"/>
          <p:cNvPicPr preferRelativeResize="0"/>
          <p:nvPr/>
        </p:nvPicPr>
        <p:blipFill>
          <a:blip r:embed="rId3">
            <a:alphaModFix/>
          </a:blip>
          <a:stretch>
            <a:fillRect/>
          </a:stretch>
        </p:blipFill>
        <p:spPr>
          <a:xfrm>
            <a:off x="91775" y="1252100"/>
            <a:ext cx="5735798" cy="3279599"/>
          </a:xfrm>
          <a:prstGeom prst="rect">
            <a:avLst/>
          </a:prstGeom>
          <a:noFill/>
          <a:ln>
            <a:noFill/>
          </a:ln>
        </p:spPr>
      </p:pic>
      <p:pic>
        <p:nvPicPr>
          <p:cNvPr id="225" name="Google Shape;225;g21c66e4ba4c_0_5"/>
          <p:cNvPicPr preferRelativeResize="0"/>
          <p:nvPr/>
        </p:nvPicPr>
        <p:blipFill>
          <a:blip r:embed="rId4">
            <a:alphaModFix/>
          </a:blip>
          <a:stretch>
            <a:fillRect/>
          </a:stretch>
        </p:blipFill>
        <p:spPr>
          <a:xfrm>
            <a:off x="5732325" y="1234800"/>
            <a:ext cx="5812977" cy="33322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g21c66e4ba4c_0_10"/>
          <p:cNvPicPr preferRelativeResize="0"/>
          <p:nvPr/>
        </p:nvPicPr>
        <p:blipFill>
          <a:blip r:embed="rId3">
            <a:alphaModFix/>
          </a:blip>
          <a:stretch>
            <a:fillRect/>
          </a:stretch>
        </p:blipFill>
        <p:spPr>
          <a:xfrm>
            <a:off x="230775" y="1389600"/>
            <a:ext cx="5912248" cy="3441125"/>
          </a:xfrm>
          <a:prstGeom prst="rect">
            <a:avLst/>
          </a:prstGeom>
          <a:noFill/>
          <a:ln>
            <a:noFill/>
          </a:ln>
        </p:spPr>
      </p:pic>
      <p:pic>
        <p:nvPicPr>
          <p:cNvPr id="231" name="Google Shape;231;g21c66e4ba4c_0_10"/>
          <p:cNvPicPr preferRelativeResize="0"/>
          <p:nvPr/>
        </p:nvPicPr>
        <p:blipFill>
          <a:blip r:embed="rId4">
            <a:alphaModFix/>
          </a:blip>
          <a:stretch>
            <a:fillRect/>
          </a:stretch>
        </p:blipFill>
        <p:spPr>
          <a:xfrm>
            <a:off x="6063046" y="1389600"/>
            <a:ext cx="5902531" cy="33835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1897b4b8f7f_0_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Goals for this semester</a:t>
            </a:r>
            <a:endParaRPr/>
          </a:p>
        </p:txBody>
      </p:sp>
      <p:sp>
        <p:nvSpPr>
          <p:cNvPr id="237" name="Google Shape;237;g1897b4b8f7f_0_7"/>
          <p:cNvSpPr txBox="1"/>
          <p:nvPr/>
        </p:nvSpPr>
        <p:spPr>
          <a:xfrm>
            <a:off x="509650" y="1070400"/>
            <a:ext cx="10559700" cy="5787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rgbClr val="000000"/>
              </a:buClr>
              <a:buSzPts val="2800"/>
              <a:buFont typeface="Roboto"/>
              <a:buChar char="●"/>
            </a:pPr>
            <a:r>
              <a:rPr b="0" i="0" lang="en-US" sz="2800" u="none" cap="none" strike="noStrike">
                <a:solidFill>
                  <a:srgbClr val="000000"/>
                </a:solidFill>
                <a:latin typeface="Roboto"/>
                <a:ea typeface="Roboto"/>
                <a:cs typeface="Roboto"/>
                <a:sym typeface="Roboto"/>
              </a:rPr>
              <a:t>Make the dashboard responsive so that it can be used on devices of all sizes.</a:t>
            </a:r>
            <a:endParaRPr b="0" i="0" sz="2800" u="none" cap="none" strike="noStrike">
              <a:solidFill>
                <a:srgbClr val="000000"/>
              </a:solidFill>
              <a:latin typeface="Roboto"/>
              <a:ea typeface="Roboto"/>
              <a:cs typeface="Roboto"/>
              <a:sym typeface="Roboto"/>
            </a:endParaRPr>
          </a:p>
          <a:p>
            <a:pPr indent="-406400" lvl="0" marL="457200" marR="0" rtl="0" algn="l">
              <a:lnSpc>
                <a:spcPct val="100000"/>
              </a:lnSpc>
              <a:spcBef>
                <a:spcPts val="0"/>
              </a:spcBef>
              <a:spcAft>
                <a:spcPts val="0"/>
              </a:spcAft>
              <a:buClr>
                <a:srgbClr val="000000"/>
              </a:buClr>
              <a:buSzPts val="2800"/>
              <a:buFont typeface="Roboto"/>
              <a:buChar char="●"/>
            </a:pPr>
            <a:r>
              <a:rPr b="0" i="0" lang="en-US" sz="2800" u="none" cap="none" strike="noStrike">
                <a:solidFill>
                  <a:srgbClr val="000000"/>
                </a:solidFill>
                <a:latin typeface="Roboto"/>
                <a:ea typeface="Roboto"/>
                <a:cs typeface="Roboto"/>
                <a:sym typeface="Roboto"/>
              </a:rPr>
              <a:t>Interview with </a:t>
            </a:r>
            <a:r>
              <a:rPr lang="en-US" sz="2800">
                <a:latin typeface="Roboto"/>
                <a:ea typeface="Roboto"/>
                <a:cs typeface="Roboto"/>
                <a:sym typeface="Roboto"/>
              </a:rPr>
              <a:t>TAs</a:t>
            </a:r>
            <a:r>
              <a:rPr b="0" i="0" lang="en-US" sz="2800" u="none" cap="none" strike="noStrike">
                <a:solidFill>
                  <a:srgbClr val="000000"/>
                </a:solidFill>
                <a:latin typeface="Roboto"/>
                <a:ea typeface="Roboto"/>
                <a:cs typeface="Roboto"/>
                <a:sym typeface="Roboto"/>
              </a:rPr>
              <a:t> to find out the datas they find important and update the dashboard to show those information</a:t>
            </a:r>
            <a:endParaRPr b="0" i="0" sz="2800" u="none" cap="none" strike="noStrike">
              <a:solidFill>
                <a:srgbClr val="000000"/>
              </a:solidFill>
              <a:latin typeface="Roboto"/>
              <a:ea typeface="Roboto"/>
              <a:cs typeface="Roboto"/>
              <a:sym typeface="Roboto"/>
            </a:endParaRPr>
          </a:p>
          <a:p>
            <a:pPr indent="-406400" lvl="1" marL="914400" marR="0" rtl="0" algn="l">
              <a:lnSpc>
                <a:spcPct val="100000"/>
              </a:lnSpc>
              <a:spcBef>
                <a:spcPts val="0"/>
              </a:spcBef>
              <a:spcAft>
                <a:spcPts val="0"/>
              </a:spcAft>
              <a:buClr>
                <a:srgbClr val="000000"/>
              </a:buClr>
              <a:buSzPts val="2800"/>
              <a:buFont typeface="Roboto"/>
              <a:buChar char="○"/>
            </a:pPr>
            <a:r>
              <a:rPr b="0" i="0" lang="en-US" sz="2800" u="none" cap="none" strike="noStrike">
                <a:solidFill>
                  <a:srgbClr val="000000"/>
                </a:solidFill>
                <a:latin typeface="Roboto"/>
                <a:ea typeface="Roboto"/>
                <a:cs typeface="Roboto"/>
                <a:sym typeface="Roboto"/>
              </a:rPr>
              <a:t>Specialize interviews to focus on our tools for this semester, put into use previous interviews</a:t>
            </a:r>
            <a:endParaRPr b="0" i="0" sz="2800" u="none" cap="none" strike="noStrike">
              <a:solidFill>
                <a:srgbClr val="000000"/>
              </a:solidFill>
              <a:latin typeface="Roboto"/>
              <a:ea typeface="Roboto"/>
              <a:cs typeface="Roboto"/>
              <a:sym typeface="Roboto"/>
            </a:endParaRPr>
          </a:p>
          <a:p>
            <a:pPr indent="-406400" lvl="0" marL="457200" marR="0" rtl="0" algn="l">
              <a:lnSpc>
                <a:spcPct val="100000"/>
              </a:lnSpc>
              <a:spcBef>
                <a:spcPts val="0"/>
              </a:spcBef>
              <a:spcAft>
                <a:spcPts val="0"/>
              </a:spcAft>
              <a:buClr>
                <a:srgbClr val="000000"/>
              </a:buClr>
              <a:buSzPts val="2800"/>
              <a:buFont typeface="Roboto"/>
              <a:buChar char="●"/>
            </a:pPr>
            <a:r>
              <a:rPr b="0" i="0" lang="en-US" sz="2800" u="none" cap="none" strike="noStrike">
                <a:solidFill>
                  <a:srgbClr val="000000"/>
                </a:solidFill>
                <a:latin typeface="Roboto"/>
                <a:ea typeface="Roboto"/>
                <a:cs typeface="Roboto"/>
                <a:sym typeface="Roboto"/>
              </a:rPr>
              <a:t>Connect the graphs, tables and all information in the dashboard to the backend data generated by the Data Science team.</a:t>
            </a:r>
            <a:endParaRPr b="0" i="0" sz="2800" u="none" cap="none" strike="noStrike">
              <a:solidFill>
                <a:srgbClr val="000000"/>
              </a:solidFill>
              <a:latin typeface="Roboto"/>
              <a:ea typeface="Roboto"/>
              <a:cs typeface="Roboto"/>
              <a:sym typeface="Roboto"/>
            </a:endParaRPr>
          </a:p>
          <a:p>
            <a:pPr indent="0" lvl="0" marL="457200" marR="0" rtl="0" algn="l">
              <a:lnSpc>
                <a:spcPct val="100000"/>
              </a:lnSpc>
              <a:spcBef>
                <a:spcPts val="0"/>
              </a:spcBef>
              <a:spcAft>
                <a:spcPts val="0"/>
              </a:spcAft>
              <a:buNone/>
            </a:pPr>
            <a:r>
              <a:rPr lang="en-US" sz="2800">
                <a:latin typeface="Roboto"/>
                <a:ea typeface="Roboto"/>
                <a:cs typeface="Roboto"/>
                <a:sym typeface="Roboto"/>
              </a:rPr>
              <a:t>problem: we cannot get real time access to Piazza API without instructor’s code. Depending on if we get access to Piazza, we may have to change the student and teacher page informations.</a:t>
            </a:r>
            <a:endParaRPr sz="28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
        <p:nvSpPr>
          <p:cNvPr id="243" name="Google Shape;243;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t>Goals</a:t>
            </a:r>
            <a:endParaRPr b="1"/>
          </a:p>
          <a:p>
            <a:pPr indent="-342900" lvl="1" marL="914400" rtl="0" algn="l">
              <a:lnSpc>
                <a:spcPct val="115000"/>
              </a:lnSpc>
              <a:spcBef>
                <a:spcPts val="1000"/>
              </a:spcBef>
              <a:spcAft>
                <a:spcPts val="0"/>
              </a:spcAft>
              <a:buSzPts val="1800"/>
              <a:buChar char="•"/>
            </a:pPr>
            <a:r>
              <a:rPr lang="en-US"/>
              <a:t>Complete concrete dashboards for two courses</a:t>
            </a:r>
            <a:endParaRPr/>
          </a:p>
          <a:p>
            <a:pPr indent="-342900" lvl="0" marL="457200" rtl="0" algn="l">
              <a:lnSpc>
                <a:spcPct val="115000"/>
              </a:lnSpc>
              <a:spcBef>
                <a:spcPts val="1000"/>
              </a:spcBef>
              <a:spcAft>
                <a:spcPts val="0"/>
              </a:spcAft>
              <a:buSzPts val="1800"/>
              <a:buChar char="●"/>
            </a:pPr>
            <a:r>
              <a:rPr b="1" lang="en-US"/>
              <a:t>Future Step</a:t>
            </a:r>
            <a:endParaRPr/>
          </a:p>
          <a:p>
            <a:pPr indent="-342900" lvl="1" marL="914400" rtl="0" algn="l">
              <a:lnSpc>
                <a:spcPct val="115000"/>
              </a:lnSpc>
              <a:spcBef>
                <a:spcPts val="1000"/>
              </a:spcBef>
              <a:spcAft>
                <a:spcPts val="0"/>
              </a:spcAft>
              <a:buSzPts val="1800"/>
              <a:buChar char="•"/>
            </a:pPr>
            <a:r>
              <a:rPr lang="en-US"/>
              <a:t>Seeded Topic Modeling</a:t>
            </a:r>
            <a:endParaRPr/>
          </a:p>
          <a:p>
            <a:pPr indent="-342900" lvl="1" marL="914400" rtl="0" algn="l">
              <a:lnSpc>
                <a:spcPct val="115000"/>
              </a:lnSpc>
              <a:spcBef>
                <a:spcPts val="1000"/>
              </a:spcBef>
              <a:spcAft>
                <a:spcPts val="0"/>
              </a:spcAft>
              <a:buSzPts val="1800"/>
              <a:buChar char="•"/>
            </a:pPr>
            <a:r>
              <a:rPr lang="en-US"/>
              <a:t>Utilize graphical information</a:t>
            </a:r>
            <a:endParaRPr/>
          </a:p>
          <a:p>
            <a:pPr indent="-342900" lvl="1" marL="914400" rtl="0" algn="l">
              <a:lnSpc>
                <a:spcPct val="115000"/>
              </a:lnSpc>
              <a:spcBef>
                <a:spcPts val="1000"/>
              </a:spcBef>
              <a:spcAft>
                <a:spcPts val="0"/>
              </a:spcAft>
              <a:buSzPts val="1800"/>
              <a:buChar char="•"/>
            </a:pPr>
            <a:r>
              <a:rPr lang="en-US"/>
              <a:t>Transfer data outcomes to show to dashboard</a:t>
            </a:r>
            <a:endParaRPr/>
          </a:p>
          <a:p>
            <a:pPr indent="-342900" lvl="1" marL="914400" rtl="0" algn="l">
              <a:lnSpc>
                <a:spcPct val="115000"/>
              </a:lnSpc>
              <a:spcBef>
                <a:spcPts val="1000"/>
              </a:spcBef>
              <a:spcAft>
                <a:spcPts val="0"/>
              </a:spcAft>
              <a:buSzPts val="1800"/>
              <a:buChar char="•"/>
            </a:pPr>
            <a:r>
              <a:rPr lang="en-US"/>
              <a:t>Integrate user feedback by interviewing with TA</a:t>
            </a:r>
            <a:endParaRPr/>
          </a:p>
          <a:p>
            <a:pPr indent="-342900" lvl="1" marL="914400" rtl="0" algn="l">
              <a:lnSpc>
                <a:spcPct val="115000"/>
              </a:lnSpc>
              <a:spcBef>
                <a:spcPts val="1000"/>
              </a:spcBef>
              <a:spcAft>
                <a:spcPts val="0"/>
              </a:spcAft>
              <a:buSzPts val="1800"/>
              <a:buChar char="•"/>
            </a:pPr>
            <a:r>
              <a:rPr lang="en-US"/>
              <a:t>Expand user research to specific applications of dashboards</a:t>
            </a:r>
            <a:endParaRPr/>
          </a:p>
          <a:p>
            <a:pPr indent="0" lvl="0" marL="0" rtl="0" algn="l">
              <a:lnSpc>
                <a:spcPct val="115000"/>
              </a:lnSpc>
              <a:spcBef>
                <a:spcPts val="1000"/>
              </a:spcBef>
              <a:spcAft>
                <a:spcPts val="0"/>
              </a:spcAft>
              <a:buSzPts val="1800"/>
              <a:buNone/>
            </a:pPr>
            <a:r>
              <a:t/>
            </a:r>
            <a:endParaRPr>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9d48565bb2_0_10"/>
          <p:cNvSpPr txBox="1"/>
          <p:nvPr>
            <p:ph idx="1" type="body"/>
          </p:nvPr>
        </p:nvSpPr>
        <p:spPr>
          <a:xfrm>
            <a:off x="381000" y="1215475"/>
            <a:ext cx="9917400" cy="58185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Peacock, S., &amp; Cowan, J. (2016). From Presences to Linked Influences Within Communities of Inquiry. </a:t>
            </a:r>
            <a:r>
              <a:rPr i="1" lang="en-US" sz="2200">
                <a:latin typeface="Times New Roman"/>
                <a:ea typeface="Times New Roman"/>
                <a:cs typeface="Times New Roman"/>
                <a:sym typeface="Times New Roman"/>
              </a:rPr>
              <a:t>The International Review of Research in Open and Distributed Learning</a:t>
            </a:r>
            <a:r>
              <a:rPr lang="en-US" sz="2200">
                <a:latin typeface="Times New Roman"/>
                <a:ea typeface="Times New Roman"/>
                <a:cs typeface="Times New Roman"/>
                <a:sym typeface="Times New Roman"/>
              </a:rPr>
              <a:t>, </a:t>
            </a:r>
            <a:r>
              <a:rPr i="1" lang="en-US" sz="2200">
                <a:latin typeface="Times New Roman"/>
                <a:ea typeface="Times New Roman"/>
                <a:cs typeface="Times New Roman"/>
                <a:sym typeface="Times New Roman"/>
              </a:rPr>
              <a:t>17</a:t>
            </a:r>
            <a:r>
              <a:rPr lang="en-US" sz="2200">
                <a:latin typeface="Times New Roman"/>
                <a:ea typeface="Times New Roman"/>
                <a:cs typeface="Times New Roman"/>
                <a:sym typeface="Times New Roman"/>
              </a:rPr>
              <a:t>(5). </a:t>
            </a:r>
            <a:r>
              <a:rPr lang="en-US" sz="2200" u="sng">
                <a:solidFill>
                  <a:schemeClr val="hlink"/>
                </a:solidFill>
                <a:latin typeface="Times New Roman"/>
                <a:ea typeface="Times New Roman"/>
                <a:cs typeface="Times New Roman"/>
                <a:sym typeface="Times New Roman"/>
                <a:hlinkClick r:id="rId3"/>
              </a:rPr>
              <a:t>https://doi.org/10.19173/irrodl.v17i5.2602</a:t>
            </a:r>
            <a:endParaRPr i="1"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Mishra, Ankit, Sugasi Guatam, &amp; Gehani Ritika. (2022). Web Development Team Report. </a:t>
            </a:r>
            <a:r>
              <a:rPr i="1" lang="en-US" sz="2200">
                <a:latin typeface="Times New Roman"/>
                <a:ea typeface="Times New Roman"/>
                <a:cs typeface="Times New Roman"/>
                <a:sym typeface="Times New Roman"/>
              </a:rPr>
              <a:t>Georgia Tech Vertically Integrated Projects.</a:t>
            </a:r>
            <a:endParaRPr i="1"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Mcdaniel, Rhett. “Metacognition.” </a:t>
            </a:r>
            <a:r>
              <a:rPr i="1" lang="en-US" sz="2200">
                <a:latin typeface="Times New Roman"/>
                <a:ea typeface="Times New Roman"/>
                <a:cs typeface="Times New Roman"/>
                <a:sym typeface="Times New Roman"/>
              </a:rPr>
              <a:t>Vanderbilt University</a:t>
            </a:r>
            <a:r>
              <a:rPr lang="en-US" sz="2200">
                <a:latin typeface="Times New Roman"/>
                <a:ea typeface="Times New Roman"/>
                <a:cs typeface="Times New Roman"/>
                <a:sym typeface="Times New Roman"/>
              </a:rPr>
              <a:t>, Vanderbilt University, 9 Feb. 1970, https://cft.vanderbilt.edu/guides-sub-pages/metacognition/. </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AutoNum type="arabicPeriod"/>
            </a:pPr>
            <a:r>
              <a:rPr lang="en-US" sz="2200">
                <a:latin typeface="Times New Roman"/>
                <a:ea typeface="Times New Roman"/>
                <a:cs typeface="Times New Roman"/>
                <a:sym typeface="Times New Roman"/>
              </a:rPr>
              <a:t>“Topic Modeling: A Basic Introduction.” </a:t>
            </a:r>
            <a:r>
              <a:rPr i="1" lang="en-US" sz="2200">
                <a:latin typeface="Times New Roman"/>
                <a:ea typeface="Times New Roman"/>
                <a:cs typeface="Times New Roman"/>
                <a:sym typeface="Times New Roman"/>
              </a:rPr>
              <a:t>Journal of Digital Humanities</a:t>
            </a:r>
            <a:r>
              <a:rPr lang="en-US" sz="2200">
                <a:latin typeface="Times New Roman"/>
                <a:ea typeface="Times New Roman"/>
                <a:cs typeface="Times New Roman"/>
                <a:sym typeface="Times New Roman"/>
              </a:rPr>
              <a:t>, http://journalofdigitalhumanities.org/2-1/topic-modeling-a-basic-introduction-by-megan-r-brett/. </a:t>
            </a:r>
            <a:endParaRPr sz="2200">
              <a:latin typeface="Times New Roman"/>
              <a:ea typeface="Times New Roman"/>
              <a:cs typeface="Times New Roman"/>
              <a:sym typeface="Times New Roman"/>
            </a:endParaRPr>
          </a:p>
          <a:p>
            <a:pPr indent="-419100" lvl="0" marL="457200" rtl="0" algn="l">
              <a:lnSpc>
                <a:spcPct val="115000"/>
              </a:lnSpc>
              <a:spcBef>
                <a:spcPts val="0"/>
              </a:spcBef>
              <a:spcAft>
                <a:spcPts val="0"/>
              </a:spcAft>
              <a:buSzPts val="3000"/>
              <a:buFont typeface="Times New Roman"/>
              <a:buAutoNum type="arabicPeriod"/>
            </a:pPr>
            <a:r>
              <a:rPr lang="en-US" sz="2200">
                <a:solidFill>
                  <a:srgbClr val="333333"/>
                </a:solidFill>
                <a:highlight>
                  <a:srgbClr val="FCFCFC"/>
                </a:highlight>
                <a:latin typeface="Times New Roman"/>
                <a:ea typeface="Times New Roman"/>
                <a:cs typeface="Times New Roman"/>
                <a:sym typeface="Times New Roman"/>
              </a:rPr>
              <a:t>Castellanos-Reyes, D. 20 Years of the Community of Inquiry Framework. </a:t>
            </a:r>
            <a:r>
              <a:rPr i="1" lang="en-US" sz="2200">
                <a:solidFill>
                  <a:srgbClr val="333333"/>
                </a:solidFill>
                <a:latin typeface="Times New Roman"/>
                <a:ea typeface="Times New Roman"/>
                <a:cs typeface="Times New Roman"/>
                <a:sym typeface="Times New Roman"/>
              </a:rPr>
              <a:t>TechTrends</a:t>
            </a:r>
            <a:r>
              <a:rPr lang="en-US" sz="2200">
                <a:solidFill>
                  <a:srgbClr val="333333"/>
                </a:solidFill>
                <a:highlight>
                  <a:srgbClr val="FCFCFC"/>
                </a:highlight>
                <a:latin typeface="Times New Roman"/>
                <a:ea typeface="Times New Roman"/>
                <a:cs typeface="Times New Roman"/>
                <a:sym typeface="Times New Roman"/>
              </a:rPr>
              <a:t> </a:t>
            </a:r>
            <a:r>
              <a:rPr lang="en-US" sz="2200">
                <a:solidFill>
                  <a:srgbClr val="333333"/>
                </a:solidFill>
                <a:latin typeface="Times New Roman"/>
                <a:ea typeface="Times New Roman"/>
                <a:cs typeface="Times New Roman"/>
                <a:sym typeface="Times New Roman"/>
              </a:rPr>
              <a:t>64</a:t>
            </a:r>
            <a:r>
              <a:rPr lang="en-US" sz="2200">
                <a:solidFill>
                  <a:srgbClr val="333333"/>
                </a:solidFill>
                <a:highlight>
                  <a:srgbClr val="FCFCFC"/>
                </a:highlight>
                <a:latin typeface="Times New Roman"/>
                <a:ea typeface="Times New Roman"/>
                <a:cs typeface="Times New Roman"/>
                <a:sym typeface="Times New Roman"/>
              </a:rPr>
              <a:t>, 557–560 (2020). https://doi.org/10.1007/s11528-020-00491-7</a:t>
            </a:r>
            <a:endParaRPr sz="3000">
              <a:latin typeface="Times New Roman"/>
              <a:ea typeface="Times New Roman"/>
              <a:cs typeface="Times New Roman"/>
              <a:sym typeface="Times New Roman"/>
            </a:endParaRPr>
          </a:p>
        </p:txBody>
      </p:sp>
      <p:sp>
        <p:nvSpPr>
          <p:cNvPr id="249" name="Google Shape;249;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2"/>
          <p:cNvSpPr txBox="1"/>
          <p:nvPr>
            <p:ph type="title"/>
          </p:nvPr>
        </p:nvSpPr>
        <p:spPr>
          <a:xfrm>
            <a:off x="381000" y="3558519"/>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br>
              <a:rPr lang="en-US"/>
            </a:br>
            <a:r>
              <a:rPr lang="en-US" sz="6000"/>
              <a:t>Questions?</a:t>
            </a:r>
            <a:endParaRPr sz="6000"/>
          </a:p>
        </p:txBody>
      </p:sp>
      <p:sp>
        <p:nvSpPr>
          <p:cNvPr id="255" name="Google Shape;255;p12"/>
          <p:cNvSpPr txBox="1"/>
          <p:nvPr/>
        </p:nvSpPr>
        <p:spPr>
          <a:xfrm>
            <a:off x="488430" y="907759"/>
            <a:ext cx="11430000" cy="10149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A7934B"/>
              </a:buClr>
              <a:buSzPts val="1800"/>
              <a:buFont typeface="Roboto"/>
              <a:buNone/>
            </a:pPr>
            <a:br>
              <a:rPr b="1" i="0" lang="en-US" sz="3600" u="none" cap="none" strike="noStrike">
                <a:solidFill>
                  <a:srgbClr val="A7934B"/>
                </a:solidFill>
                <a:latin typeface="Roboto"/>
                <a:ea typeface="Roboto"/>
                <a:cs typeface="Roboto"/>
                <a:sym typeface="Roboto"/>
              </a:rPr>
            </a:br>
            <a:r>
              <a:rPr b="1" i="0" lang="en-US" sz="6000" u="none" cap="none" strike="noStrike">
                <a:solidFill>
                  <a:srgbClr val="A7934B"/>
                </a:solidFill>
                <a:latin typeface="Roboto"/>
                <a:ea typeface="Roboto"/>
                <a:cs typeface="Roboto"/>
                <a:sym typeface="Roboto"/>
              </a:rPr>
              <a:t>Thanks for listening!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