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embeddedFontLst>
    <p:embeddedFont>
      <p:font typeface="Roboto" panose="02000000000000000000" pitchFamily="2" charset="0"/>
      <p:regular r:id="rId28"/>
      <p:bold r:id="rId29"/>
      <p:italic r:id="rId30"/>
      <p:boldItalic r:id="rId31"/>
    </p:embeddedFont>
    <p:embeddedFont>
      <p:font typeface="Roboto Condensed Light"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3">
          <p15:clr>
            <a:srgbClr val="000000"/>
          </p15:clr>
        </p15:guide>
        <p15:guide id="2" pos="244">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3PbxQzWCTytt17VJqB652ii2Q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2"/>
      </p:cViewPr>
      <p:guideLst>
        <p:guide orient="horz" pos="773"/>
        <p:guide pos="2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46"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Pratik</a:t>
            </a:r>
            <a:endParaRPr/>
          </a:p>
        </p:txBody>
      </p:sp>
      <p:sp>
        <p:nvSpPr>
          <p:cNvPr id="74" name="Google Shape;7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9d48565bb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9d48565bb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Just as a refresher, we’re working with Discussion forums data on Piazza from Dr. Thad Starner’s CS 6601 course. Discussion forums are particularly interesting since they’re the primary platform for student interaction in an online setting, and our goal in that context is to create a web-app that can be used by instructors to make their courses more effective and engaging.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f4b38d880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f4b38d880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Here is an overview of the architecture of the web-app. We’re using the MVC, or the model-view-controller framework. There are 4 key components here: The view, the model, the database and the controller. The View is what the instructor can see and interact with, which is a dashboard displaying student metrics in our case. The Model is where the calculation for these metrics happens, and this can involve sentiment analysis, cognitive presence analysis, etc. The model uses data from the SQL database or the csv files, which also contain the manually labelled comments from Piazza, and returns the outputs to the controller. The controller is the middleman that tells the model what to compute based on the user’s input, and also controls what to send to the View to be displayed on the dashboard.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ba764dde3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ba764dde3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The data science team is focused on the Model, while the web-app team is concerned mostly with the view and controller. To give a glimpse into our progress so far, the data science team is ready with a preliminary sentiment analysis model for integrating with the web-app. The web-dev team is working closely on this integration, and simultaneously sending out surveys to conduct needs analysis for informing our interface design. At the same time, we’ve been looking at the recent research on social presence to help focus our research goals on that front. </a:t>
            </a:r>
            <a:r>
              <a:rPr lang="en-US">
                <a:solidFill>
                  <a:schemeClr val="dk1"/>
                </a:solidFill>
              </a:rPr>
              <a:t>Now, I’ll let the teams walk through the details, starting with the data science team.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efbeba6a1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efbeba6a1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bea1223c9f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bea1223c9f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efbeba6a1c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efbeba6a1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solidFill>
                  <a:schemeClr val="dk1"/>
                </a:solidFill>
                <a:latin typeface="Roboto"/>
                <a:ea typeface="Roboto"/>
                <a:cs typeface="Roboto"/>
                <a:sym typeface="Roboto"/>
              </a:rPr>
              <a:t>Malav</a:t>
            </a:r>
            <a:endParaRPr>
              <a:solidFill>
                <a:schemeClr val="dk1"/>
              </a:solidFill>
              <a:latin typeface="Roboto"/>
              <a:ea typeface="Roboto"/>
              <a:cs typeface="Roboto"/>
              <a:sym typeface="Roboto"/>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bea1223c9f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bea1223c9f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234d063be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f234d063b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efbeba6a1c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efbeba6a1c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Sarah</a:t>
            </a:r>
            <a:endParaRPr/>
          </a:p>
          <a:p>
            <a:pPr marL="0" lvl="0" indent="0" algn="l" rtl="0">
              <a:lnSpc>
                <a:spcPct val="100000"/>
              </a:lnSpc>
              <a:spcBef>
                <a:spcPts val="0"/>
              </a:spcBef>
              <a:spcAft>
                <a:spcPts val="0"/>
              </a:spcAft>
              <a:buSzPts val="1100"/>
              <a:buNone/>
            </a:pPr>
            <a:r>
              <a:rPr lang="en-US"/>
              <a:t>social presence desks more with looking at students as individuals</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efbeba6a1c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efbeba6a1c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Nidhi </a:t>
            </a:r>
            <a:endParaRPr/>
          </a:p>
          <a:p>
            <a:pPr marL="457200" lvl="0" indent="-298450" algn="l" rtl="0">
              <a:lnSpc>
                <a:spcPct val="100000"/>
              </a:lnSpc>
              <a:spcBef>
                <a:spcPts val="0"/>
              </a:spcBef>
              <a:spcAft>
                <a:spcPts val="0"/>
              </a:spcAft>
              <a:buSzPts val="1100"/>
              <a:buChar char="-"/>
            </a:pPr>
            <a:r>
              <a:rPr lang="en-US"/>
              <a:t>organized in megathreads: the follow-ups are sometimes the answer, which makes categorizing by post type a little tricky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fb02cb800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fb02cb80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fbeba6a1c_0_5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efbeba6a1c_0_5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Gautam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fbeba6a1c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efbeba6a1c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Gautam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efbeba6a1c_0_4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efbeba6a1c_0_4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Gautam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efbeba6a1c_0_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efbeba6a1c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9d659091a8_1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9d659091a8_1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Sambhav</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fb4c11e2d3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fb4c11e2d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fb4c11e2d3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fb4c11e2d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fb32003ea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efb32003e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Aanya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To conclude, the goals for the end of the semester will be to get a working prototype of the web-app displaying results based on actual Piazza data. One of the metrics we’re looking at is the overall sentiment as the course progresses. In that spirit, the web-app team is working closely with the Data Science team to integrate their models into the web-app, and simultaneously conducting UX studies using surveys and interviews with instructors. In addition, the data science team is working on studying factors that have the highest impact on student participation in forums, and in turn the overall learning outcomes. Thank you for your time.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9d48565bb2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9d48565bb2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
        <p:cNvGrpSpPr/>
        <p:nvPr/>
      </p:nvGrpSpPr>
      <p:grpSpPr>
        <a:xfrm>
          <a:off x="0" y="0"/>
          <a:ext cx="0" cy="0"/>
          <a:chOff x="0" y="0"/>
          <a:chExt cx="0" cy="0"/>
        </a:xfrm>
      </p:grpSpPr>
      <p:sp>
        <p:nvSpPr>
          <p:cNvPr id="7" name="Google Shape;7;p14"/>
          <p:cNvSpPr txBox="1">
            <a:spLocks noGrp="1"/>
          </p:cNvSpPr>
          <p:nvPr>
            <p:ph type="subTitle" idx="1"/>
          </p:nvPr>
        </p:nvSpPr>
        <p:spPr>
          <a:xfrm>
            <a:off x="4024461" y="3793068"/>
            <a:ext cx="6795913" cy="1684868"/>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600"/>
              </a:spcBef>
              <a:spcAft>
                <a:spcPts val="0"/>
              </a:spcAft>
              <a:buClr>
                <a:srgbClr val="7F7F7F"/>
              </a:buClr>
              <a:buSzPts val="3000"/>
              <a:buFont typeface="Arial"/>
              <a:buNone/>
              <a:defRPr sz="3000" b="0" i="0" u="none" strike="noStrike" cap="none">
                <a:solidFill>
                  <a:srgbClr val="7F7F7F"/>
                </a:solidFill>
                <a:latin typeface="Roboto Condensed Light"/>
                <a:ea typeface="Roboto Condensed Light"/>
                <a:cs typeface="Roboto Condensed Light"/>
                <a:sym typeface="Roboto Condensed Light"/>
              </a:defRPr>
            </a:lvl1pPr>
            <a:lvl2pPr marR="0" lvl="1" algn="ctr" rtl="0">
              <a:lnSpc>
                <a:spcPct val="100000"/>
              </a:lnSpc>
              <a:spcBef>
                <a:spcPts val="420"/>
              </a:spcBef>
              <a:spcAft>
                <a:spcPts val="0"/>
              </a:spcAft>
              <a:buClr>
                <a:srgbClr val="888888"/>
              </a:buClr>
              <a:buSzPts val="2100"/>
              <a:buFont typeface="Arial"/>
              <a:buNone/>
              <a:defRPr sz="2100" b="0" i="0" u="none" strike="noStrike" cap="none">
                <a:solidFill>
                  <a:srgbClr val="888888"/>
                </a:solidFill>
                <a:latin typeface="Arial"/>
                <a:ea typeface="Arial"/>
                <a:cs typeface="Arial"/>
                <a:sym typeface="Arial"/>
              </a:defRPr>
            </a:lvl2pPr>
            <a:lvl3pPr marR="0" lvl="2"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R="0" lvl="3"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4pPr>
            <a:lvl5pPr marR="0" lvl="4"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5pPr>
            <a:lvl6pPr marR="0" lvl="5"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8" name="Google Shape;8;p14"/>
          <p:cNvSpPr txBox="1">
            <a:spLocks noGrp="1"/>
          </p:cNvSpPr>
          <p:nvPr>
            <p:ph type="ctrTitle"/>
          </p:nvPr>
        </p:nvSpPr>
        <p:spPr>
          <a:xfrm>
            <a:off x="4024462" y="333633"/>
            <a:ext cx="6795913" cy="3459435"/>
          </a:xfrm>
          <a:prstGeom prst="rect">
            <a:avLst/>
          </a:prstGeom>
          <a:noFill/>
          <a:ln>
            <a:noFill/>
          </a:ln>
        </p:spPr>
        <p:txBody>
          <a:bodyPr spcFirstLastPara="1" wrap="square" lIns="91425" tIns="45700" rIns="91425" bIns="45700" anchor="b" anchorCtr="0">
            <a:normAutofit/>
          </a:bodyPr>
          <a:lstStyle>
            <a:lvl1pPr marR="0" lvl="0" algn="l" rtl="0">
              <a:lnSpc>
                <a:spcPct val="114285"/>
              </a:lnSpc>
              <a:spcBef>
                <a:spcPts val="0"/>
              </a:spcBef>
              <a:spcAft>
                <a:spcPts val="0"/>
              </a:spcAft>
              <a:buClr>
                <a:srgbClr val="A7934B"/>
              </a:buClr>
              <a:buSzPts val="4200"/>
              <a:buFont typeface="Roboto"/>
              <a:buNone/>
              <a:defRPr sz="4200" b="1" i="0" u="none" strike="noStrike" cap="none">
                <a:solidFill>
                  <a:srgbClr val="A7934B"/>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6"/>
          <p:cNvSpPr txBox="1">
            <a:spLocks noGrp="1"/>
          </p:cNvSpPr>
          <p:nvPr>
            <p:ph type="body" idx="1"/>
          </p:nvPr>
        </p:nvSpPr>
        <p:spPr>
          <a:xfrm>
            <a:off x="381000" y="1215484"/>
            <a:ext cx="11430000" cy="459635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6"/>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6"/>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0"/>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7"/>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0"/>
        <p:cNvGrpSpPr/>
        <p:nvPr/>
      </p:nvGrpSpPr>
      <p:grpSpPr>
        <a:xfrm>
          <a:off x="0" y="0"/>
          <a:ext cx="0" cy="0"/>
          <a:chOff x="0" y="0"/>
          <a:chExt cx="0" cy="0"/>
        </a:xfrm>
      </p:grpSpPr>
      <p:sp>
        <p:nvSpPr>
          <p:cNvPr id="31" name="Google Shape;31;p18"/>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8"/>
          <p:cNvSpPr txBox="1">
            <a:spLocks noGrp="1"/>
          </p:cNvSpPr>
          <p:nvPr>
            <p:ph type="body" idx="1"/>
          </p:nvPr>
        </p:nvSpPr>
        <p:spPr>
          <a:xfrm>
            <a:off x="379048" y="1215483"/>
            <a:ext cx="5615353" cy="4961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body" idx="2"/>
          </p:nvPr>
        </p:nvSpPr>
        <p:spPr>
          <a:xfrm>
            <a:off x="6197600" y="1215483"/>
            <a:ext cx="5613400" cy="4961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7"/>
        <p:cNvGrpSpPr/>
        <p:nvPr/>
      </p:nvGrpSpPr>
      <p:grpSpPr>
        <a:xfrm>
          <a:off x="0" y="0"/>
          <a:ext cx="0" cy="0"/>
          <a:chOff x="0" y="0"/>
          <a:chExt cx="0" cy="0"/>
        </a:xfrm>
      </p:grpSpPr>
      <p:sp>
        <p:nvSpPr>
          <p:cNvPr id="38" name="Google Shape;38;p19"/>
          <p:cNvSpPr txBox="1">
            <a:spLocks noGrp="1"/>
          </p:cNvSpPr>
          <p:nvPr>
            <p:ph type="body" idx="1"/>
          </p:nvPr>
        </p:nvSpPr>
        <p:spPr>
          <a:xfrm>
            <a:off x="381001" y="1235113"/>
            <a:ext cx="561763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381001" y="2078657"/>
            <a:ext cx="5617633" cy="4111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235113"/>
            <a:ext cx="56388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078657"/>
            <a:ext cx="5638800" cy="4111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19"/>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46"/>
        <p:cNvGrpSpPr/>
        <p:nvPr/>
      </p:nvGrpSpPr>
      <p:grpSpPr>
        <a:xfrm>
          <a:off x="0" y="0"/>
          <a:ext cx="0" cy="0"/>
          <a:chOff x="0" y="0"/>
          <a:chExt cx="0" cy="0"/>
        </a:xfrm>
      </p:grpSpPr>
      <p:sp>
        <p:nvSpPr>
          <p:cNvPr id="47" name="Google Shape;47;p21"/>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body" idx="1"/>
          </p:nvPr>
        </p:nvSpPr>
        <p:spPr>
          <a:xfrm>
            <a:off x="4313768" y="457201"/>
            <a:ext cx="7497233"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21"/>
          <p:cNvSpPr txBox="1">
            <a:spLocks noGrp="1"/>
          </p:cNvSpPr>
          <p:nvPr>
            <p:ph type="body" idx="2"/>
          </p:nvPr>
        </p:nvSpPr>
        <p:spPr>
          <a:xfrm>
            <a:off x="381001" y="2274849"/>
            <a:ext cx="3932767" cy="359413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21"/>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a:spLocks noGrp="1"/>
          </p:cNvSpPr>
          <p:nvPr>
            <p:ph type="pic" idx="2"/>
          </p:nvPr>
        </p:nvSpPr>
        <p:spPr>
          <a:xfrm>
            <a:off x="4313768" y="457201"/>
            <a:ext cx="7497233" cy="5403850"/>
          </a:xfrm>
          <a:prstGeom prst="rect">
            <a:avLst/>
          </a:prstGeom>
          <a:noFill/>
          <a:ln>
            <a:noFill/>
          </a:ln>
        </p:spPr>
      </p:sp>
      <p:sp>
        <p:nvSpPr>
          <p:cNvPr id="56" name="Google Shape;56;p22"/>
          <p:cNvSpPr txBox="1">
            <a:spLocks noGrp="1"/>
          </p:cNvSpPr>
          <p:nvPr>
            <p:ph type="body" idx="1"/>
          </p:nvPr>
        </p:nvSpPr>
        <p:spPr>
          <a:xfrm>
            <a:off x="381001" y="2274849"/>
            <a:ext cx="3932767" cy="359413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22"/>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60"/>
        <p:cNvGrpSpPr/>
        <p:nvPr/>
      </p:nvGrpSpPr>
      <p:grpSpPr>
        <a:xfrm>
          <a:off x="0" y="0"/>
          <a:ext cx="0" cy="0"/>
          <a:chOff x="0" y="0"/>
          <a:chExt cx="0" cy="0"/>
        </a:xfrm>
      </p:grpSpPr>
      <p:sp>
        <p:nvSpPr>
          <p:cNvPr id="61" name="Google Shape;61;p23"/>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body" idx="1"/>
          </p:nvPr>
        </p:nvSpPr>
        <p:spPr>
          <a:xfrm rot="5400000">
            <a:off x="3797823" y="-2201338"/>
            <a:ext cx="4596355" cy="1143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3"/>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rot="5400000">
            <a:off x="75906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1875632" y="-1129506"/>
            <a:ext cx="5811838" cy="8801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2.jpg"/><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7934B"/>
              </a:buClr>
              <a:buSzPts val="3600"/>
              <a:buFont typeface="Roboto"/>
              <a:buNone/>
              <a:defRPr sz="3600" b="1" i="0" u="none" strike="noStrike" cap="none">
                <a:solidFill>
                  <a:srgbClr val="A7934B"/>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381000" y="1215484"/>
            <a:ext cx="11430000" cy="459635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oboto"/>
                <a:ea typeface="Roboto"/>
                <a:cs typeface="Roboto"/>
                <a:sym typeface="Robo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5"/>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figma.com/proto/nl6gplnB0UnRgaP7QQ96kj/DFA_Prototype?node-id=3%3A4&amp;scaling=scale-down&amp;page-id=0%3A1&amp;starting-point-node-id=3%3A4"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16/j.asej.2014.04.01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
        <p:cNvGrpSpPr/>
        <p:nvPr/>
      </p:nvGrpSpPr>
      <p:grpSpPr>
        <a:xfrm>
          <a:off x="0" y="0"/>
          <a:ext cx="0" cy="0"/>
          <a:chOff x="0" y="0"/>
          <a:chExt cx="0" cy="0"/>
        </a:xfrm>
      </p:grpSpPr>
      <p:sp>
        <p:nvSpPr>
          <p:cNvPr id="76" name="Google Shape;76;p1"/>
          <p:cNvSpPr txBox="1">
            <a:spLocks noGrp="1"/>
          </p:cNvSpPr>
          <p:nvPr>
            <p:ph type="subTitle" idx="1"/>
          </p:nvPr>
        </p:nvSpPr>
        <p:spPr>
          <a:xfrm>
            <a:off x="4024461" y="3793068"/>
            <a:ext cx="6795913" cy="168486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7F7F7F"/>
              </a:buClr>
              <a:buSzPts val="3000"/>
              <a:buNone/>
            </a:pPr>
            <a:r>
              <a:rPr lang="en-US"/>
              <a:t>Discussion Forum Subteam</a:t>
            </a:r>
            <a:endParaRPr/>
          </a:p>
          <a:p>
            <a:pPr marL="0" lvl="0" indent="0" algn="l" rtl="0">
              <a:lnSpc>
                <a:spcPct val="120000"/>
              </a:lnSpc>
              <a:spcBef>
                <a:spcPts val="600"/>
              </a:spcBef>
              <a:spcAft>
                <a:spcPts val="0"/>
              </a:spcAft>
              <a:buClr>
                <a:srgbClr val="7F7F7F"/>
              </a:buClr>
              <a:buSzPts val="3000"/>
              <a:buNone/>
            </a:pPr>
            <a:r>
              <a:rPr lang="en-US"/>
              <a:t>Presentation 2 - 10/27/2021</a:t>
            </a:r>
            <a:endParaRPr/>
          </a:p>
        </p:txBody>
      </p:sp>
      <p:sp>
        <p:nvSpPr>
          <p:cNvPr id="77" name="Google Shape;77;p1"/>
          <p:cNvSpPr txBox="1">
            <a:spLocks noGrp="1"/>
          </p:cNvSpPr>
          <p:nvPr>
            <p:ph type="ctrTitle"/>
          </p:nvPr>
        </p:nvSpPr>
        <p:spPr>
          <a:xfrm>
            <a:off x="4024462" y="333633"/>
            <a:ext cx="6795913" cy="3459435"/>
          </a:xfrm>
          <a:prstGeom prst="rect">
            <a:avLst/>
          </a:prstGeom>
          <a:noFill/>
          <a:ln>
            <a:noFill/>
          </a:ln>
        </p:spPr>
        <p:txBody>
          <a:bodyPr spcFirstLastPara="1" wrap="square" lIns="91425" tIns="45700" rIns="91425" bIns="45700" anchor="b" anchorCtr="0">
            <a:normAutofit/>
          </a:bodyPr>
          <a:lstStyle/>
          <a:p>
            <a:pPr marL="0" lvl="0" indent="0" algn="l" rtl="0">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a:t>Team Members</a:t>
            </a:r>
            <a:endParaRPr/>
          </a:p>
        </p:txBody>
      </p:sp>
      <p:sp>
        <p:nvSpPr>
          <p:cNvPr id="83" name="Google Shape;83;p2"/>
          <p:cNvSpPr txBox="1"/>
          <p:nvPr/>
        </p:nvSpPr>
        <p:spPr>
          <a:xfrm>
            <a:off x="1537750" y="5614188"/>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Aanya Khandelwal</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Back-end</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Developer</a:t>
            </a:r>
            <a:endParaRPr sz="1400" b="0" i="0" u="none" strike="noStrike" cap="none">
              <a:solidFill>
                <a:srgbClr val="000000"/>
              </a:solidFill>
              <a:latin typeface="Roboto"/>
              <a:ea typeface="Roboto"/>
              <a:cs typeface="Roboto"/>
              <a:sym typeface="Roboto"/>
            </a:endParaRPr>
          </a:p>
        </p:txBody>
      </p:sp>
      <p:sp>
        <p:nvSpPr>
          <p:cNvPr id="84" name="Google Shape;84;p2"/>
          <p:cNvSpPr txBox="1"/>
          <p:nvPr/>
        </p:nvSpPr>
        <p:spPr>
          <a:xfrm>
            <a:off x="4110175" y="56002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Gautam Sugasi</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Back-end </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Developer</a:t>
            </a:r>
            <a:endParaRPr sz="1400" b="0" i="0" u="none" strike="noStrike" cap="none">
              <a:solidFill>
                <a:srgbClr val="000000"/>
              </a:solidFill>
              <a:latin typeface="Roboto"/>
              <a:ea typeface="Roboto"/>
              <a:cs typeface="Roboto"/>
              <a:sym typeface="Roboto"/>
            </a:endParaRPr>
          </a:p>
        </p:txBody>
      </p:sp>
      <p:sp>
        <p:nvSpPr>
          <p:cNvPr id="85" name="Google Shape;85;p2"/>
          <p:cNvSpPr txBox="1"/>
          <p:nvPr/>
        </p:nvSpPr>
        <p:spPr>
          <a:xfrm>
            <a:off x="6682600" y="56002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Sambhav Jaideep</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Front-end </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Web Developer</a:t>
            </a:r>
            <a:endParaRPr sz="1400" b="0" i="0" u="none" strike="noStrike" cap="none">
              <a:solidFill>
                <a:srgbClr val="000000"/>
              </a:solidFill>
              <a:latin typeface="Roboto"/>
              <a:ea typeface="Roboto"/>
              <a:cs typeface="Roboto"/>
              <a:sym typeface="Roboto"/>
            </a:endParaRPr>
          </a:p>
        </p:txBody>
      </p:sp>
      <p:sp>
        <p:nvSpPr>
          <p:cNvPr id="86" name="Google Shape;86;p2"/>
          <p:cNvSpPr txBox="1"/>
          <p:nvPr/>
        </p:nvSpPr>
        <p:spPr>
          <a:xfrm>
            <a:off x="6687563" y="29478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Nidhi Pai</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sp>
        <p:nvSpPr>
          <p:cNvPr id="87" name="Google Shape;87;p2"/>
          <p:cNvSpPr/>
          <p:nvPr/>
        </p:nvSpPr>
        <p:spPr>
          <a:xfrm>
            <a:off x="7001200" y="4275100"/>
            <a:ext cx="1153200" cy="11835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
          <p:cNvSpPr txBox="1"/>
          <p:nvPr/>
        </p:nvSpPr>
        <p:spPr>
          <a:xfrm>
            <a:off x="9207425" y="409525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Pratik Agarwal</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Project Manager</a:t>
            </a:r>
            <a:endParaRPr sz="1400" b="0" i="0" u="none" strike="noStrike" cap="none">
              <a:solidFill>
                <a:srgbClr val="000000"/>
              </a:solidFill>
              <a:latin typeface="Roboto"/>
              <a:ea typeface="Roboto"/>
              <a:cs typeface="Roboto"/>
              <a:sym typeface="Roboto"/>
            </a:endParaRPr>
          </a:p>
        </p:txBody>
      </p:sp>
      <p:pic>
        <p:nvPicPr>
          <p:cNvPr id="89" name="Google Shape;89;p2"/>
          <p:cNvPicPr preferRelativeResize="0"/>
          <p:nvPr/>
        </p:nvPicPr>
        <p:blipFill rotWithShape="1">
          <a:blip r:embed="rId3">
            <a:alphaModFix/>
          </a:blip>
          <a:srcRect/>
          <a:stretch/>
        </p:blipFill>
        <p:spPr>
          <a:xfrm>
            <a:off x="6953050" y="4242100"/>
            <a:ext cx="1249500" cy="1249500"/>
          </a:xfrm>
          <a:prstGeom prst="ellipse">
            <a:avLst/>
          </a:prstGeom>
          <a:noFill/>
          <a:ln>
            <a:noFill/>
          </a:ln>
        </p:spPr>
      </p:pic>
      <p:sp>
        <p:nvSpPr>
          <p:cNvPr id="90" name="Google Shape;90;p2"/>
          <p:cNvSpPr/>
          <p:nvPr/>
        </p:nvSpPr>
        <p:spPr>
          <a:xfrm>
            <a:off x="4404700" y="4329100"/>
            <a:ext cx="1153200" cy="11835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1" name="Google Shape;91;p2"/>
          <p:cNvPicPr preferRelativeResize="0"/>
          <p:nvPr/>
        </p:nvPicPr>
        <p:blipFill rotWithShape="1">
          <a:blip r:embed="rId4">
            <a:alphaModFix/>
          </a:blip>
          <a:srcRect l="2552" r="2561"/>
          <a:stretch/>
        </p:blipFill>
        <p:spPr>
          <a:xfrm>
            <a:off x="6927588" y="1554300"/>
            <a:ext cx="1252800" cy="1320300"/>
          </a:xfrm>
          <a:prstGeom prst="ellipse">
            <a:avLst/>
          </a:prstGeom>
          <a:noFill/>
          <a:ln>
            <a:noFill/>
          </a:ln>
        </p:spPr>
      </p:pic>
      <p:pic>
        <p:nvPicPr>
          <p:cNvPr id="92" name="Google Shape;92;p2"/>
          <p:cNvPicPr preferRelativeResize="0"/>
          <p:nvPr/>
        </p:nvPicPr>
        <p:blipFill rotWithShape="1">
          <a:blip r:embed="rId5">
            <a:alphaModFix/>
          </a:blip>
          <a:srcRect/>
          <a:stretch/>
        </p:blipFill>
        <p:spPr>
          <a:xfrm>
            <a:off x="1866300" y="4329112"/>
            <a:ext cx="1252800" cy="1269000"/>
          </a:xfrm>
          <a:prstGeom prst="ellipse">
            <a:avLst/>
          </a:prstGeom>
          <a:noFill/>
          <a:ln>
            <a:noFill/>
          </a:ln>
          <a:effectLst>
            <a:outerShdw blurRad="57150" dist="19050" dir="5400000" algn="bl" rotWithShape="0">
              <a:srgbClr val="000000">
                <a:alpha val="49411"/>
              </a:srgbClr>
            </a:outerShdw>
          </a:effectLst>
        </p:spPr>
      </p:pic>
      <p:pic>
        <p:nvPicPr>
          <p:cNvPr id="93" name="Google Shape;93;p2"/>
          <p:cNvPicPr preferRelativeResize="0"/>
          <p:nvPr/>
        </p:nvPicPr>
        <p:blipFill rotWithShape="1">
          <a:blip r:embed="rId6">
            <a:alphaModFix/>
          </a:blip>
          <a:srcRect/>
          <a:stretch/>
        </p:blipFill>
        <p:spPr>
          <a:xfrm>
            <a:off x="9458825" y="2737800"/>
            <a:ext cx="1413775" cy="1413750"/>
          </a:xfrm>
          <a:prstGeom prst="rect">
            <a:avLst/>
          </a:prstGeom>
          <a:noFill/>
          <a:ln>
            <a:noFill/>
          </a:ln>
        </p:spPr>
      </p:pic>
      <p:sp>
        <p:nvSpPr>
          <p:cNvPr id="94" name="Google Shape;94;p2"/>
          <p:cNvSpPr txBox="1"/>
          <p:nvPr/>
        </p:nvSpPr>
        <p:spPr>
          <a:xfrm>
            <a:off x="1537750" y="28254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Malav Patel</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sp>
        <p:nvSpPr>
          <p:cNvPr id="95" name="Google Shape;95;p2"/>
          <p:cNvSpPr txBox="1"/>
          <p:nvPr/>
        </p:nvSpPr>
        <p:spPr>
          <a:xfrm>
            <a:off x="4110175" y="28254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Sarah Kaufman</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pic>
        <p:nvPicPr>
          <p:cNvPr id="96" name="Google Shape;96;p2"/>
          <p:cNvPicPr preferRelativeResize="0"/>
          <p:nvPr/>
        </p:nvPicPr>
        <p:blipFill rotWithShape="1">
          <a:blip r:embed="rId7">
            <a:alphaModFix/>
          </a:blip>
          <a:srcRect t="20468" b="15388"/>
          <a:stretch/>
        </p:blipFill>
        <p:spPr>
          <a:xfrm>
            <a:off x="4356550" y="4214050"/>
            <a:ext cx="1249500" cy="1413600"/>
          </a:xfrm>
          <a:prstGeom prst="ellipse">
            <a:avLst/>
          </a:prstGeom>
          <a:noFill/>
          <a:ln>
            <a:noFill/>
          </a:ln>
        </p:spPr>
      </p:pic>
      <p:pic>
        <p:nvPicPr>
          <p:cNvPr id="97" name="Google Shape;97;p2"/>
          <p:cNvPicPr preferRelativeResize="0"/>
          <p:nvPr/>
        </p:nvPicPr>
        <p:blipFill rotWithShape="1">
          <a:blip r:embed="rId8">
            <a:alphaModFix/>
          </a:blip>
          <a:srcRect/>
          <a:stretch/>
        </p:blipFill>
        <p:spPr>
          <a:xfrm>
            <a:off x="1715699" y="1554300"/>
            <a:ext cx="1367439" cy="1320300"/>
          </a:xfrm>
          <a:prstGeom prst="rect">
            <a:avLst/>
          </a:prstGeom>
          <a:noFill/>
          <a:ln>
            <a:noFill/>
          </a:ln>
        </p:spPr>
      </p:pic>
      <p:pic>
        <p:nvPicPr>
          <p:cNvPr id="98" name="Google Shape;98;p2"/>
          <p:cNvPicPr preferRelativeResize="0"/>
          <p:nvPr/>
        </p:nvPicPr>
        <p:blipFill rotWithShape="1">
          <a:blip r:embed="rId9">
            <a:alphaModFix/>
          </a:blip>
          <a:srcRect l="13267" r="13267"/>
          <a:stretch/>
        </p:blipFill>
        <p:spPr>
          <a:xfrm>
            <a:off x="4321649" y="1505100"/>
            <a:ext cx="1367400" cy="1320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9d48565bb2_0_0"/>
          <p:cNvSpPr txBox="1">
            <a:spLocks noGrp="1"/>
          </p:cNvSpPr>
          <p:nvPr>
            <p:ph type="body" idx="1"/>
          </p:nvPr>
        </p:nvSpPr>
        <p:spPr>
          <a:xfrm>
            <a:off x="381000" y="1215475"/>
            <a:ext cx="7187100" cy="4596300"/>
          </a:xfrm>
          <a:prstGeom prst="rect">
            <a:avLst/>
          </a:prstGeom>
          <a:noFill/>
          <a:ln>
            <a:noFill/>
          </a:ln>
        </p:spPr>
        <p:txBody>
          <a:bodyPr spcFirstLastPara="1" wrap="square" lIns="91425" tIns="45700" rIns="91425" bIns="45700" anchor="t" anchorCtr="0">
            <a:noAutofit/>
          </a:bodyPr>
          <a:lstStyle/>
          <a:p>
            <a:pPr marL="457200" lvl="0" indent="-330200" algn="l" rtl="0">
              <a:lnSpc>
                <a:spcPct val="100000"/>
              </a:lnSpc>
              <a:spcBef>
                <a:spcPts val="1500"/>
              </a:spcBef>
              <a:spcAft>
                <a:spcPts val="0"/>
              </a:spcAft>
              <a:buSzPts val="1600"/>
              <a:buChar char="●"/>
            </a:pPr>
            <a:r>
              <a:rPr lang="en-US" sz="2600"/>
              <a:t>Discussion forums</a:t>
            </a:r>
            <a:endParaRPr sz="2600"/>
          </a:p>
          <a:p>
            <a:pPr marL="914400" lvl="1" indent="-330200" algn="l" rtl="0">
              <a:lnSpc>
                <a:spcPct val="100000"/>
              </a:lnSpc>
              <a:spcBef>
                <a:spcPts val="1500"/>
              </a:spcBef>
              <a:spcAft>
                <a:spcPts val="0"/>
              </a:spcAft>
              <a:buSzPts val="1600"/>
              <a:buChar char="•"/>
            </a:pPr>
            <a:r>
              <a:rPr lang="en-US" sz="2200"/>
              <a:t>Online formats - primary source of interaction</a:t>
            </a:r>
            <a:endParaRPr sz="2200"/>
          </a:p>
          <a:p>
            <a:pPr marL="914400" lvl="1" indent="-368300" algn="l" rtl="0">
              <a:lnSpc>
                <a:spcPct val="100000"/>
              </a:lnSpc>
              <a:spcBef>
                <a:spcPts val="1500"/>
              </a:spcBef>
              <a:spcAft>
                <a:spcPts val="0"/>
              </a:spcAft>
              <a:buSzPts val="2200"/>
              <a:buChar char="•"/>
            </a:pPr>
            <a:r>
              <a:rPr lang="en-US" sz="2200"/>
              <a:t>CS 6601 -</a:t>
            </a:r>
            <a:r>
              <a:rPr lang="en-US" sz="2200" b="1"/>
              <a:t> </a:t>
            </a:r>
            <a:r>
              <a:rPr lang="en-US" sz="2200"/>
              <a:t>155 threads, 1494 comments</a:t>
            </a:r>
            <a:endParaRPr sz="2200"/>
          </a:p>
          <a:p>
            <a:pPr marL="457200" lvl="0" indent="-330200" algn="l" rtl="0">
              <a:lnSpc>
                <a:spcPct val="100000"/>
              </a:lnSpc>
              <a:spcBef>
                <a:spcPts val="1500"/>
              </a:spcBef>
              <a:spcAft>
                <a:spcPts val="0"/>
              </a:spcAft>
              <a:buSzPts val="1600"/>
              <a:buChar char="●"/>
            </a:pPr>
            <a:r>
              <a:rPr lang="en-US" sz="2600"/>
              <a:t>Student interaction </a:t>
            </a:r>
            <a:endParaRPr sz="2600"/>
          </a:p>
          <a:p>
            <a:pPr marL="914400" lvl="1" indent="-330200" algn="l" rtl="0">
              <a:lnSpc>
                <a:spcPct val="100000"/>
              </a:lnSpc>
              <a:spcBef>
                <a:spcPts val="1500"/>
              </a:spcBef>
              <a:spcAft>
                <a:spcPts val="0"/>
              </a:spcAft>
              <a:buSzPts val="1600"/>
              <a:buChar char="•"/>
            </a:pPr>
            <a:r>
              <a:rPr lang="en-US" sz="2200"/>
              <a:t>Cognitive presence</a:t>
            </a:r>
            <a:endParaRPr sz="2200"/>
          </a:p>
          <a:p>
            <a:pPr marL="914400" lvl="1" indent="-330200" algn="l" rtl="0">
              <a:lnSpc>
                <a:spcPct val="100000"/>
              </a:lnSpc>
              <a:spcBef>
                <a:spcPts val="1500"/>
              </a:spcBef>
              <a:spcAft>
                <a:spcPts val="0"/>
              </a:spcAft>
              <a:buSzPts val="1600"/>
              <a:buChar char="•"/>
            </a:pPr>
            <a:r>
              <a:rPr lang="en-US" sz="2200"/>
              <a:t>Social presence</a:t>
            </a:r>
            <a:endParaRPr sz="2200"/>
          </a:p>
          <a:p>
            <a:pPr marL="457200" lvl="0" indent="-330200" algn="l" rtl="0">
              <a:lnSpc>
                <a:spcPct val="100000"/>
              </a:lnSpc>
              <a:spcBef>
                <a:spcPts val="1500"/>
              </a:spcBef>
              <a:spcAft>
                <a:spcPts val="0"/>
              </a:spcAft>
              <a:buSzPts val="1600"/>
              <a:buChar char="●"/>
            </a:pPr>
            <a:r>
              <a:rPr lang="en-US" sz="2600"/>
              <a:t>Activity on forums indicative of student engagement and interest</a:t>
            </a:r>
            <a:endParaRPr sz="2600"/>
          </a:p>
          <a:p>
            <a:pPr marL="457200" lvl="0" indent="-330200" algn="l" rtl="0">
              <a:lnSpc>
                <a:spcPct val="100000"/>
              </a:lnSpc>
              <a:spcBef>
                <a:spcPts val="1500"/>
              </a:spcBef>
              <a:spcAft>
                <a:spcPts val="1500"/>
              </a:spcAft>
              <a:buSzPts val="1600"/>
              <a:buChar char="●"/>
            </a:pPr>
            <a:r>
              <a:rPr lang="en-US" sz="2600" b="1"/>
              <a:t>Goal:</a:t>
            </a:r>
            <a:r>
              <a:rPr lang="en-US" sz="2600"/>
              <a:t> Creating a web application to be used by professors to make their courses more effective and engaging</a:t>
            </a:r>
            <a:endParaRPr sz="2600"/>
          </a:p>
        </p:txBody>
      </p:sp>
      <p:sp>
        <p:nvSpPr>
          <p:cNvPr id="104" name="Google Shape;104;g9d48565bb2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Introduction</a:t>
            </a:r>
            <a:endParaRPr/>
          </a:p>
        </p:txBody>
      </p:sp>
      <p:pic>
        <p:nvPicPr>
          <p:cNvPr id="105" name="Google Shape;105;g9d48565bb2_0_0"/>
          <p:cNvPicPr preferRelativeResize="0"/>
          <p:nvPr/>
        </p:nvPicPr>
        <p:blipFill rotWithShape="1">
          <a:blip r:embed="rId3">
            <a:alphaModFix/>
          </a:blip>
          <a:srcRect/>
          <a:stretch/>
        </p:blipFill>
        <p:spPr>
          <a:xfrm>
            <a:off x="6123100" y="1018700"/>
            <a:ext cx="3108126" cy="802100"/>
          </a:xfrm>
          <a:prstGeom prst="rect">
            <a:avLst/>
          </a:prstGeom>
          <a:noFill/>
          <a:ln>
            <a:noFill/>
          </a:ln>
        </p:spPr>
      </p:pic>
      <p:pic>
        <p:nvPicPr>
          <p:cNvPr id="106" name="Google Shape;106;g9d48565bb2_0_0"/>
          <p:cNvPicPr preferRelativeResize="0"/>
          <p:nvPr/>
        </p:nvPicPr>
        <p:blipFill rotWithShape="1">
          <a:blip r:embed="rId4">
            <a:alphaModFix/>
          </a:blip>
          <a:srcRect/>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f4b38d8802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Overview of how the data is being used</a:t>
            </a:r>
            <a:endParaRPr/>
          </a:p>
        </p:txBody>
      </p:sp>
      <p:sp>
        <p:nvSpPr>
          <p:cNvPr id="112" name="Google Shape;112;gf4b38d8802_0_0"/>
          <p:cNvSpPr/>
          <p:nvPr/>
        </p:nvSpPr>
        <p:spPr>
          <a:xfrm>
            <a:off x="3376625" y="5186375"/>
            <a:ext cx="1814400" cy="9429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View</a:t>
            </a:r>
            <a:br>
              <a:rPr lang="en-US"/>
            </a:br>
            <a:r>
              <a:rPr lang="en-US"/>
              <a:t>(Dashboard with relevant metrics)</a:t>
            </a:r>
            <a:endParaRPr/>
          </a:p>
        </p:txBody>
      </p:sp>
      <p:sp>
        <p:nvSpPr>
          <p:cNvPr id="113" name="Google Shape;113;gf4b38d8802_0_0"/>
          <p:cNvSpPr/>
          <p:nvPr/>
        </p:nvSpPr>
        <p:spPr>
          <a:xfrm>
            <a:off x="8558225" y="5186375"/>
            <a:ext cx="1814400" cy="9429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Controller</a:t>
            </a:r>
            <a:br>
              <a:rPr lang="en-US"/>
            </a:br>
            <a:r>
              <a:rPr lang="en-US"/>
              <a:t>(Backend logic)</a:t>
            </a:r>
            <a:endParaRPr/>
          </a:p>
        </p:txBody>
      </p:sp>
      <p:sp>
        <p:nvSpPr>
          <p:cNvPr id="114" name="Google Shape;114;gf4b38d8802_0_0"/>
          <p:cNvSpPr/>
          <p:nvPr/>
        </p:nvSpPr>
        <p:spPr>
          <a:xfrm>
            <a:off x="1619350" y="3244625"/>
            <a:ext cx="1371600" cy="914400"/>
          </a:xfrm>
          <a:prstGeom prst="flowChartMagneticDisk">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SQL database</a:t>
            </a:r>
            <a:br>
              <a:rPr lang="en-US"/>
            </a:br>
            <a:r>
              <a:rPr lang="en-US"/>
              <a:t>+ CSV files</a:t>
            </a:r>
            <a:endParaRPr/>
          </a:p>
        </p:txBody>
      </p:sp>
      <p:sp>
        <p:nvSpPr>
          <p:cNvPr id="115" name="Google Shape;115;gf4b38d8802_0_0"/>
          <p:cNvSpPr txBox="1"/>
          <p:nvPr/>
        </p:nvSpPr>
        <p:spPr>
          <a:xfrm>
            <a:off x="1812250" y="2018525"/>
            <a:ext cx="9858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900">
                <a:latin typeface="Roboto"/>
                <a:ea typeface="Roboto"/>
                <a:cs typeface="Roboto"/>
                <a:sym typeface="Roboto"/>
              </a:rPr>
              <a:t>Piazza</a:t>
            </a:r>
            <a:endParaRPr sz="1900">
              <a:latin typeface="Roboto"/>
              <a:ea typeface="Roboto"/>
              <a:cs typeface="Roboto"/>
              <a:sym typeface="Roboto"/>
            </a:endParaRPr>
          </a:p>
        </p:txBody>
      </p:sp>
      <p:sp>
        <p:nvSpPr>
          <p:cNvPr id="116" name="Google Shape;116;gf4b38d8802_0_0"/>
          <p:cNvSpPr/>
          <p:nvPr/>
        </p:nvSpPr>
        <p:spPr>
          <a:xfrm>
            <a:off x="2190850" y="2412175"/>
            <a:ext cx="228600" cy="715800"/>
          </a:xfrm>
          <a:prstGeom prst="down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gf4b38d8802_0_0"/>
          <p:cNvSpPr txBox="1"/>
          <p:nvPr/>
        </p:nvSpPr>
        <p:spPr>
          <a:xfrm>
            <a:off x="1426450" y="5434625"/>
            <a:ext cx="13716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a:latin typeface="Roboto"/>
                <a:ea typeface="Roboto"/>
                <a:cs typeface="Roboto"/>
                <a:sym typeface="Roboto"/>
              </a:rPr>
              <a:t>Instructor</a:t>
            </a:r>
            <a:endParaRPr sz="1700">
              <a:latin typeface="Roboto"/>
              <a:ea typeface="Roboto"/>
              <a:cs typeface="Roboto"/>
              <a:sym typeface="Roboto"/>
            </a:endParaRPr>
          </a:p>
        </p:txBody>
      </p:sp>
      <p:sp>
        <p:nvSpPr>
          <p:cNvPr id="118" name="Google Shape;118;gf4b38d8802_0_0"/>
          <p:cNvSpPr/>
          <p:nvPr/>
        </p:nvSpPr>
        <p:spPr>
          <a:xfrm>
            <a:off x="2705100" y="5497825"/>
            <a:ext cx="557100" cy="285900"/>
          </a:xfrm>
          <a:prstGeom prst="leftRight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gf4b38d8802_0_0"/>
          <p:cNvSpPr/>
          <p:nvPr/>
        </p:nvSpPr>
        <p:spPr>
          <a:xfrm>
            <a:off x="5523152" y="1273175"/>
            <a:ext cx="1817100" cy="6669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b="0" i="0" u="none" strike="noStrike" cap="none">
                <a:solidFill>
                  <a:schemeClr val="lt1"/>
                </a:solidFill>
                <a:latin typeface="Arial"/>
                <a:ea typeface="Arial"/>
                <a:cs typeface="Arial"/>
                <a:sym typeface="Arial"/>
              </a:rPr>
              <a:t>Cognitive Presence </a:t>
            </a:r>
            <a:endParaRPr b="0" i="0" u="none" strike="noStrike" cap="none">
              <a:solidFill>
                <a:schemeClr val="lt1"/>
              </a:solidFill>
              <a:latin typeface="Arial"/>
              <a:ea typeface="Arial"/>
              <a:cs typeface="Arial"/>
              <a:sym typeface="Arial"/>
            </a:endParaRPr>
          </a:p>
        </p:txBody>
      </p:sp>
      <p:sp>
        <p:nvSpPr>
          <p:cNvPr id="120" name="Google Shape;120;gf4b38d8802_0_0"/>
          <p:cNvSpPr/>
          <p:nvPr/>
        </p:nvSpPr>
        <p:spPr>
          <a:xfrm>
            <a:off x="7574452" y="2577715"/>
            <a:ext cx="1817100" cy="6669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b="0" i="0" u="none" strike="noStrike" cap="none">
                <a:solidFill>
                  <a:schemeClr val="lt1"/>
                </a:solidFill>
                <a:latin typeface="Arial"/>
                <a:ea typeface="Arial"/>
                <a:cs typeface="Arial"/>
                <a:sym typeface="Arial"/>
              </a:rPr>
              <a:t>Social Presence</a:t>
            </a:r>
            <a:endParaRPr b="0" i="0" u="none" strike="noStrike" cap="none">
              <a:solidFill>
                <a:schemeClr val="lt1"/>
              </a:solidFill>
              <a:latin typeface="Arial"/>
              <a:ea typeface="Arial"/>
              <a:cs typeface="Arial"/>
              <a:sym typeface="Arial"/>
            </a:endParaRPr>
          </a:p>
        </p:txBody>
      </p:sp>
      <p:sp>
        <p:nvSpPr>
          <p:cNvPr id="121" name="Google Shape;121;gf4b38d8802_0_0"/>
          <p:cNvSpPr/>
          <p:nvPr/>
        </p:nvSpPr>
        <p:spPr>
          <a:xfrm>
            <a:off x="7554607" y="1531733"/>
            <a:ext cx="1817100" cy="6669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b="0" i="0" u="none" strike="noStrike" cap="none">
                <a:solidFill>
                  <a:schemeClr val="lt1"/>
                </a:solidFill>
                <a:latin typeface="Arial"/>
                <a:ea typeface="Arial"/>
                <a:cs typeface="Arial"/>
                <a:sym typeface="Arial"/>
              </a:rPr>
              <a:t>Student Outcomes</a:t>
            </a:r>
            <a:endParaRPr b="0" i="0" u="none" strike="noStrike" cap="none">
              <a:solidFill>
                <a:schemeClr val="lt1"/>
              </a:solidFill>
              <a:latin typeface="Arial"/>
              <a:ea typeface="Arial"/>
              <a:cs typeface="Arial"/>
              <a:sym typeface="Arial"/>
            </a:endParaRPr>
          </a:p>
        </p:txBody>
      </p:sp>
      <p:sp>
        <p:nvSpPr>
          <p:cNvPr id="122" name="Google Shape;122;gf4b38d8802_0_0"/>
          <p:cNvSpPr/>
          <p:nvPr/>
        </p:nvSpPr>
        <p:spPr>
          <a:xfrm>
            <a:off x="3085988" y="1531720"/>
            <a:ext cx="1817100" cy="6669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b="0" i="0" u="none" strike="noStrike" cap="none">
                <a:solidFill>
                  <a:schemeClr val="lt1"/>
                </a:solidFill>
                <a:latin typeface="Arial"/>
                <a:ea typeface="Arial"/>
                <a:cs typeface="Arial"/>
                <a:sym typeface="Arial"/>
              </a:rPr>
              <a:t>Sentiment Analysis</a:t>
            </a:r>
            <a:endParaRPr b="0" i="0" u="none" strike="noStrike" cap="none">
              <a:solidFill>
                <a:schemeClr val="lt1"/>
              </a:solidFill>
              <a:latin typeface="Arial"/>
              <a:ea typeface="Arial"/>
              <a:cs typeface="Arial"/>
              <a:sym typeface="Arial"/>
            </a:endParaRPr>
          </a:p>
        </p:txBody>
      </p:sp>
      <p:cxnSp>
        <p:nvCxnSpPr>
          <p:cNvPr id="123" name="Google Shape;123;gf4b38d8802_0_0"/>
          <p:cNvCxnSpPr>
            <a:stCxn id="124" idx="0"/>
            <a:endCxn id="119" idx="2"/>
          </p:cNvCxnSpPr>
          <p:nvPr/>
        </p:nvCxnSpPr>
        <p:spPr>
          <a:xfrm rot="10800000">
            <a:off x="6431700" y="1940101"/>
            <a:ext cx="0" cy="432000"/>
          </a:xfrm>
          <a:prstGeom prst="straightConnector1">
            <a:avLst/>
          </a:prstGeom>
          <a:noFill/>
          <a:ln w="9525" cap="flat" cmpd="sng">
            <a:solidFill>
              <a:schemeClr val="dk2"/>
            </a:solidFill>
            <a:prstDash val="solid"/>
            <a:round/>
            <a:headEnd type="none" w="sm" len="sm"/>
            <a:tailEnd type="triangle" w="med" len="med"/>
          </a:ln>
        </p:spPr>
      </p:cxnSp>
      <p:cxnSp>
        <p:nvCxnSpPr>
          <p:cNvPr id="125" name="Google Shape;125;gf4b38d8802_0_0"/>
          <p:cNvCxnSpPr>
            <a:stCxn id="124" idx="1"/>
            <a:endCxn id="122" idx="3"/>
          </p:cNvCxnSpPr>
          <p:nvPr/>
        </p:nvCxnSpPr>
        <p:spPr>
          <a:xfrm rot="10800000">
            <a:off x="4903200" y="1865101"/>
            <a:ext cx="842700" cy="890100"/>
          </a:xfrm>
          <a:prstGeom prst="straightConnector1">
            <a:avLst/>
          </a:prstGeom>
          <a:noFill/>
          <a:ln w="9525" cap="flat" cmpd="sng">
            <a:solidFill>
              <a:schemeClr val="dk2"/>
            </a:solidFill>
            <a:prstDash val="solid"/>
            <a:round/>
            <a:headEnd type="none" w="sm" len="sm"/>
            <a:tailEnd type="triangle" w="med" len="med"/>
          </a:ln>
        </p:spPr>
      </p:cxnSp>
      <p:cxnSp>
        <p:nvCxnSpPr>
          <p:cNvPr id="126" name="Google Shape;126;gf4b38d8802_0_0"/>
          <p:cNvCxnSpPr>
            <a:stCxn id="124" idx="3"/>
            <a:endCxn id="121" idx="1"/>
          </p:cNvCxnSpPr>
          <p:nvPr/>
        </p:nvCxnSpPr>
        <p:spPr>
          <a:xfrm rot="10800000" flipH="1">
            <a:off x="7117500" y="1865101"/>
            <a:ext cx="437100" cy="890100"/>
          </a:xfrm>
          <a:prstGeom prst="straightConnector1">
            <a:avLst/>
          </a:prstGeom>
          <a:noFill/>
          <a:ln w="9525" cap="flat" cmpd="sng">
            <a:solidFill>
              <a:schemeClr val="dk2"/>
            </a:solidFill>
            <a:prstDash val="solid"/>
            <a:round/>
            <a:headEnd type="none" w="sm" len="sm"/>
            <a:tailEnd type="triangle" w="med" len="med"/>
          </a:ln>
        </p:spPr>
      </p:cxnSp>
      <p:cxnSp>
        <p:nvCxnSpPr>
          <p:cNvPr id="127" name="Google Shape;127;gf4b38d8802_0_0"/>
          <p:cNvCxnSpPr>
            <a:stCxn id="124" idx="2"/>
            <a:endCxn id="120" idx="0"/>
          </p:cNvCxnSpPr>
          <p:nvPr/>
        </p:nvCxnSpPr>
        <p:spPr>
          <a:xfrm rot="10800000" flipH="1">
            <a:off x="6431700" y="2577601"/>
            <a:ext cx="2051400" cy="560700"/>
          </a:xfrm>
          <a:prstGeom prst="straightConnector1">
            <a:avLst/>
          </a:prstGeom>
          <a:noFill/>
          <a:ln w="9525" cap="flat" cmpd="sng">
            <a:solidFill>
              <a:schemeClr val="dk2"/>
            </a:solidFill>
            <a:prstDash val="solid"/>
            <a:round/>
            <a:headEnd type="none" w="sm" len="sm"/>
            <a:tailEnd type="triangle" w="med" len="med"/>
          </a:ln>
        </p:spPr>
      </p:cxnSp>
      <p:sp>
        <p:nvSpPr>
          <p:cNvPr id="124" name="Google Shape;124;gf4b38d8802_0_0"/>
          <p:cNvSpPr/>
          <p:nvPr/>
        </p:nvSpPr>
        <p:spPr>
          <a:xfrm>
            <a:off x="5745900" y="2372101"/>
            <a:ext cx="1371600" cy="766200"/>
          </a:xfrm>
          <a:prstGeom prst="roundRect">
            <a:avLst>
              <a:gd name="adj" fmla="val 16667"/>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a:solidFill>
                  <a:schemeClr val="lt1"/>
                </a:solidFill>
              </a:rPr>
              <a:t>Model</a:t>
            </a:r>
            <a:br>
              <a:rPr lang="en-US">
                <a:solidFill>
                  <a:schemeClr val="lt1"/>
                </a:solidFill>
              </a:rPr>
            </a:br>
            <a:r>
              <a:rPr lang="en-US">
                <a:solidFill>
                  <a:schemeClr val="lt1"/>
                </a:solidFill>
              </a:rPr>
              <a:t>(Calculation of metrics)</a:t>
            </a:r>
            <a:endParaRPr>
              <a:solidFill>
                <a:schemeClr val="lt1"/>
              </a:solidFill>
            </a:endParaRPr>
          </a:p>
        </p:txBody>
      </p:sp>
      <p:sp>
        <p:nvSpPr>
          <p:cNvPr id="128" name="Google Shape;128;gf4b38d8802_0_0"/>
          <p:cNvSpPr/>
          <p:nvPr/>
        </p:nvSpPr>
        <p:spPr>
          <a:xfrm rot="2700000">
            <a:off x="6765784" y="3897064"/>
            <a:ext cx="2509098" cy="353836"/>
          </a:xfrm>
          <a:prstGeom prst="leftRight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gf4b38d8802_0_0"/>
          <p:cNvSpPr/>
          <p:nvPr/>
        </p:nvSpPr>
        <p:spPr>
          <a:xfrm>
            <a:off x="5399655" y="5514875"/>
            <a:ext cx="2978100" cy="285900"/>
          </a:xfrm>
          <a:prstGeom prst="leftRight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gf4b38d8802_0_0"/>
          <p:cNvSpPr/>
          <p:nvPr/>
        </p:nvSpPr>
        <p:spPr>
          <a:xfrm rot="-1061646">
            <a:off x="3055845" y="3234296"/>
            <a:ext cx="2641355" cy="285956"/>
          </a:xfrm>
          <a:prstGeom prst="leftRight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gf4b38d8802_0_0"/>
          <p:cNvSpPr txBox="1"/>
          <p:nvPr/>
        </p:nvSpPr>
        <p:spPr>
          <a:xfrm>
            <a:off x="54850" y="3478625"/>
            <a:ext cx="13716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a:latin typeface="Roboto"/>
                <a:ea typeface="Roboto"/>
                <a:cs typeface="Roboto"/>
                <a:sym typeface="Roboto"/>
              </a:rPr>
              <a:t>Manual Coding</a:t>
            </a:r>
            <a:endParaRPr sz="1700">
              <a:latin typeface="Roboto"/>
              <a:ea typeface="Roboto"/>
              <a:cs typeface="Roboto"/>
              <a:sym typeface="Roboto"/>
            </a:endParaRPr>
          </a:p>
        </p:txBody>
      </p:sp>
      <p:sp>
        <p:nvSpPr>
          <p:cNvPr id="132" name="Google Shape;132;gf4b38d8802_0_0"/>
          <p:cNvSpPr/>
          <p:nvPr/>
        </p:nvSpPr>
        <p:spPr>
          <a:xfrm>
            <a:off x="1216275" y="3711125"/>
            <a:ext cx="319200" cy="243000"/>
          </a:xfrm>
          <a:prstGeom prst="rightArrow">
            <a:avLst>
              <a:gd name="adj1" fmla="val 50000"/>
              <a:gd name="adj2" fmla="val 50000"/>
            </a:avLst>
          </a:prstGeom>
          <a:solidFill>
            <a:srgbClr val="A793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ba764dde3e_0_0"/>
          <p:cNvSpPr txBox="1">
            <a:spLocks noGrp="1"/>
          </p:cNvSpPr>
          <p:nvPr>
            <p:ph type="body" idx="1"/>
          </p:nvPr>
        </p:nvSpPr>
        <p:spPr>
          <a:xfrm>
            <a:off x="381000" y="1215484"/>
            <a:ext cx="11430000" cy="45963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500"/>
              </a:spcBef>
              <a:spcAft>
                <a:spcPts val="0"/>
              </a:spcAft>
              <a:buSzPts val="1800"/>
              <a:buChar char="●"/>
            </a:pPr>
            <a:r>
              <a:rPr lang="en-US" b="1"/>
              <a:t>Data Science</a:t>
            </a:r>
            <a:endParaRPr b="1"/>
          </a:p>
          <a:p>
            <a:pPr marL="914400" lvl="1" indent="-342900" algn="l" rtl="0">
              <a:lnSpc>
                <a:spcPct val="100000"/>
              </a:lnSpc>
              <a:spcBef>
                <a:spcPts val="1500"/>
              </a:spcBef>
              <a:spcAft>
                <a:spcPts val="0"/>
              </a:spcAft>
              <a:buSzPts val="1800"/>
              <a:buChar char="•"/>
            </a:pPr>
            <a:r>
              <a:rPr lang="en-US"/>
              <a:t>Preliminary sentiment analysis model ready to be integrated with the web-app</a:t>
            </a:r>
            <a:endParaRPr/>
          </a:p>
          <a:p>
            <a:pPr marL="914400" lvl="1" indent="-342900" algn="l" rtl="0">
              <a:lnSpc>
                <a:spcPct val="100000"/>
              </a:lnSpc>
              <a:spcBef>
                <a:spcPts val="1500"/>
              </a:spcBef>
              <a:spcAft>
                <a:spcPts val="0"/>
              </a:spcAft>
              <a:buSzPts val="1800"/>
              <a:buChar char="•"/>
            </a:pPr>
            <a:r>
              <a:rPr lang="en-US"/>
              <a:t>Reviewing recent research on social presence analysis, and analysis of student outcomes</a:t>
            </a:r>
            <a:endParaRPr/>
          </a:p>
          <a:p>
            <a:pPr marL="457200" lvl="0" indent="-342900" algn="l" rtl="0">
              <a:lnSpc>
                <a:spcPct val="100000"/>
              </a:lnSpc>
              <a:spcBef>
                <a:spcPts val="1500"/>
              </a:spcBef>
              <a:spcAft>
                <a:spcPts val="0"/>
              </a:spcAft>
              <a:buSzPts val="1800"/>
              <a:buChar char="●"/>
            </a:pPr>
            <a:r>
              <a:rPr lang="en-US" b="1"/>
              <a:t>UX research</a:t>
            </a:r>
            <a:endParaRPr b="1"/>
          </a:p>
          <a:p>
            <a:pPr marL="914400" lvl="1" indent="-342900" algn="l" rtl="0">
              <a:lnSpc>
                <a:spcPct val="100000"/>
              </a:lnSpc>
              <a:spcBef>
                <a:spcPts val="1500"/>
              </a:spcBef>
              <a:spcAft>
                <a:spcPts val="0"/>
              </a:spcAft>
              <a:buSzPts val="1800"/>
              <a:buChar char="•"/>
            </a:pPr>
            <a:r>
              <a:rPr lang="en-US"/>
              <a:t>Survey to send out is ready, interviews to be conducted in the coming weeks</a:t>
            </a:r>
            <a:endParaRPr/>
          </a:p>
          <a:p>
            <a:pPr marL="457200" lvl="0" indent="-342900" algn="l" rtl="0">
              <a:lnSpc>
                <a:spcPct val="100000"/>
              </a:lnSpc>
              <a:spcBef>
                <a:spcPts val="1500"/>
              </a:spcBef>
              <a:spcAft>
                <a:spcPts val="0"/>
              </a:spcAft>
              <a:buSzPts val="1800"/>
              <a:buChar char="●"/>
            </a:pPr>
            <a:r>
              <a:rPr lang="en-US" b="1"/>
              <a:t>Web-dev</a:t>
            </a:r>
            <a:endParaRPr b="1"/>
          </a:p>
          <a:p>
            <a:pPr marL="914400" lvl="1" indent="-342900" algn="l" rtl="0">
              <a:lnSpc>
                <a:spcPct val="100000"/>
              </a:lnSpc>
              <a:spcBef>
                <a:spcPts val="1500"/>
              </a:spcBef>
              <a:spcAft>
                <a:spcPts val="0"/>
              </a:spcAft>
              <a:buSzPts val="1800"/>
              <a:buChar char="•"/>
            </a:pPr>
            <a:r>
              <a:rPr lang="en-US"/>
              <a:t>Working together with the data science team to identify relevant metrics and integrate models with the web-app</a:t>
            </a:r>
            <a:endParaRPr/>
          </a:p>
          <a:p>
            <a:pPr marL="0" lvl="0" indent="0" algn="l" rtl="0">
              <a:lnSpc>
                <a:spcPct val="100000"/>
              </a:lnSpc>
              <a:spcBef>
                <a:spcPts val="1500"/>
              </a:spcBef>
              <a:spcAft>
                <a:spcPts val="1500"/>
              </a:spcAft>
              <a:buSzPts val="1800"/>
              <a:buNone/>
            </a:pPr>
            <a:endParaRPr/>
          </a:p>
        </p:txBody>
      </p:sp>
      <p:sp>
        <p:nvSpPr>
          <p:cNvPr id="138" name="Google Shape;138;gba764dde3e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Progress updates brief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efbeba6a1c_0_0"/>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bea1223c9f_0_11"/>
          <p:cNvSpPr txBox="1">
            <a:spLocks noGrp="1"/>
          </p:cNvSpPr>
          <p:nvPr>
            <p:ph type="body" idx="1"/>
          </p:nvPr>
        </p:nvSpPr>
        <p:spPr>
          <a:xfrm>
            <a:off x="381000" y="2522700"/>
            <a:ext cx="11430000" cy="30273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SzPts val="1800"/>
              <a:buNone/>
            </a:pPr>
            <a:r>
              <a:rPr lang="en-US"/>
              <a:t>Identify key factors influencing student </a:t>
            </a:r>
            <a:r>
              <a:rPr lang="en-US" b="1"/>
              <a:t>engagement</a:t>
            </a:r>
            <a:r>
              <a:rPr lang="en-US"/>
              <a:t> and </a:t>
            </a:r>
            <a:r>
              <a:rPr lang="en-US" b="1"/>
              <a:t>performance </a:t>
            </a:r>
            <a:r>
              <a:rPr lang="en-US"/>
              <a:t>in an asynchronous online classroom using the </a:t>
            </a:r>
            <a:r>
              <a:rPr lang="en-US" b="1" u="sng"/>
              <a:t>community of inquiry framework</a:t>
            </a:r>
            <a:r>
              <a:rPr lang="en-US"/>
              <a:t>, and provide actionable insights to the instructors through the </a:t>
            </a:r>
            <a:r>
              <a:rPr lang="en-US" b="1"/>
              <a:t>web app</a:t>
            </a:r>
            <a:r>
              <a:rPr lang="en-US"/>
              <a:t>.</a:t>
            </a:r>
            <a:endParaRPr/>
          </a:p>
          <a:p>
            <a:pPr marL="0" lvl="0" indent="0" algn="just" rtl="0">
              <a:lnSpc>
                <a:spcPct val="90000"/>
              </a:lnSpc>
              <a:spcBef>
                <a:spcPts val="1000"/>
              </a:spcBef>
              <a:spcAft>
                <a:spcPts val="0"/>
              </a:spcAft>
              <a:buSzPts val="1800"/>
              <a:buNone/>
            </a:pPr>
            <a:endParaRPr/>
          </a:p>
          <a:p>
            <a:pPr marL="0" lvl="0" indent="0" algn="just" rtl="0">
              <a:lnSpc>
                <a:spcPct val="90000"/>
              </a:lnSpc>
              <a:spcBef>
                <a:spcPts val="1000"/>
              </a:spcBef>
              <a:spcAft>
                <a:spcPts val="0"/>
              </a:spcAft>
              <a:buSzPts val="1800"/>
              <a:buNone/>
            </a:pPr>
            <a:endParaRPr/>
          </a:p>
        </p:txBody>
      </p:sp>
      <p:sp>
        <p:nvSpPr>
          <p:cNvPr id="149" name="Google Shape;149;gbea1223c9f_0_11"/>
          <p:cNvSpPr txBox="1">
            <a:spLocks noGrp="1"/>
          </p:cNvSpPr>
          <p:nvPr>
            <p:ph type="title"/>
          </p:nvPr>
        </p:nvSpPr>
        <p:spPr>
          <a:xfrm>
            <a:off x="381000" y="212247"/>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efbeba6a1c_0_10"/>
          <p:cNvSpPr txBox="1">
            <a:spLocks noGrp="1"/>
          </p:cNvSpPr>
          <p:nvPr>
            <p:ph type="body" idx="1"/>
          </p:nvPr>
        </p:nvSpPr>
        <p:spPr>
          <a:xfrm>
            <a:off x="381000" y="1215474"/>
            <a:ext cx="11430000" cy="5143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SzPts val="1800"/>
              <a:buChar char="❏"/>
            </a:pPr>
            <a:r>
              <a:rPr lang="en-US"/>
              <a:t>Completed the sentiment analysis of the data using:</a:t>
            </a:r>
            <a:endParaRPr/>
          </a:p>
          <a:p>
            <a:pPr marL="914400" lvl="0" indent="0" algn="l" rtl="0">
              <a:lnSpc>
                <a:spcPct val="100000"/>
              </a:lnSpc>
              <a:spcBef>
                <a:spcPts val="1000"/>
              </a:spcBef>
              <a:spcAft>
                <a:spcPts val="0"/>
              </a:spcAft>
              <a:buNone/>
            </a:pPr>
            <a:r>
              <a:rPr lang="en-US"/>
              <a:t>- </a:t>
            </a:r>
            <a:r>
              <a:rPr lang="en-US" b="1"/>
              <a:t>Flair</a:t>
            </a:r>
            <a:r>
              <a:rPr lang="en-US"/>
              <a:t>: Generates a sentiment along with the confidence level. </a:t>
            </a:r>
            <a:endParaRPr/>
          </a:p>
          <a:p>
            <a:pPr marL="1828800" lvl="0" indent="-342900" algn="l" rtl="0">
              <a:lnSpc>
                <a:spcPct val="100000"/>
              </a:lnSpc>
              <a:spcBef>
                <a:spcPts val="1000"/>
              </a:spcBef>
              <a:spcAft>
                <a:spcPts val="0"/>
              </a:spcAft>
              <a:buSzPts val="1800"/>
              <a:buChar char="•"/>
            </a:pPr>
            <a:r>
              <a:rPr lang="en-US"/>
              <a:t>Currently it takes about 65-70 minutes for 1494 posts</a:t>
            </a:r>
            <a:endParaRPr/>
          </a:p>
          <a:p>
            <a:pPr marL="1828800" lvl="0" indent="-342900" algn="l" rtl="0">
              <a:lnSpc>
                <a:spcPct val="100000"/>
              </a:lnSpc>
              <a:spcBef>
                <a:spcPts val="0"/>
              </a:spcBef>
              <a:spcAft>
                <a:spcPts val="0"/>
              </a:spcAft>
              <a:buSzPts val="1800"/>
              <a:buChar char="•"/>
            </a:pPr>
            <a:r>
              <a:rPr lang="en-US"/>
              <a:t>Looking for processing comments in batches  </a:t>
            </a:r>
            <a:endParaRPr/>
          </a:p>
          <a:p>
            <a:pPr marL="914400" lvl="0" indent="0" algn="l" rtl="0">
              <a:lnSpc>
                <a:spcPct val="100000"/>
              </a:lnSpc>
              <a:spcBef>
                <a:spcPts val="1000"/>
              </a:spcBef>
              <a:spcAft>
                <a:spcPts val="0"/>
              </a:spcAft>
              <a:buNone/>
            </a:pPr>
            <a:r>
              <a:rPr lang="en-US"/>
              <a:t>- </a:t>
            </a:r>
            <a:r>
              <a:rPr lang="en-US" b="1"/>
              <a:t>Textblob</a:t>
            </a:r>
            <a:r>
              <a:rPr lang="en-US"/>
              <a:t>: Generates a polarity score between -1 to 1 </a:t>
            </a:r>
            <a:endParaRPr/>
          </a:p>
          <a:p>
            <a:pPr marL="1828800" lvl="0" indent="-342900" algn="l" rtl="0">
              <a:lnSpc>
                <a:spcPct val="100000"/>
              </a:lnSpc>
              <a:spcBef>
                <a:spcPts val="1000"/>
              </a:spcBef>
              <a:spcAft>
                <a:spcPts val="0"/>
              </a:spcAft>
              <a:buSzPts val="1800"/>
              <a:buChar char="•"/>
            </a:pPr>
            <a:r>
              <a:rPr lang="en-US"/>
              <a:t>Still working on outputting the data onto the csv file. </a:t>
            </a:r>
            <a:endParaRPr/>
          </a:p>
          <a:p>
            <a:pPr marL="0" lvl="0" indent="0" algn="l" rtl="0">
              <a:lnSpc>
                <a:spcPct val="100000"/>
              </a:lnSpc>
              <a:spcBef>
                <a:spcPts val="1000"/>
              </a:spcBef>
              <a:spcAft>
                <a:spcPts val="0"/>
              </a:spcAft>
              <a:buNone/>
            </a:pPr>
            <a:endParaRPr sz="300"/>
          </a:p>
          <a:p>
            <a:pPr marL="457200" lvl="0" indent="-342900" algn="l" rtl="0">
              <a:lnSpc>
                <a:spcPct val="115000"/>
              </a:lnSpc>
              <a:spcBef>
                <a:spcPts val="1000"/>
              </a:spcBef>
              <a:spcAft>
                <a:spcPts val="0"/>
              </a:spcAft>
              <a:buSzPts val="1800"/>
              <a:buChar char="❏"/>
            </a:pPr>
            <a:r>
              <a:rPr lang="en-US"/>
              <a:t>Working with the web-dev team to integrate these results. </a:t>
            </a:r>
            <a:endParaRPr/>
          </a:p>
        </p:txBody>
      </p:sp>
      <p:sp>
        <p:nvSpPr>
          <p:cNvPr id="155" name="Google Shape;155;gefbeba6a1c_0_1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Sentiment Analysis updates</a:t>
            </a:r>
            <a:endParaRPr/>
          </a:p>
        </p:txBody>
      </p:sp>
      <p:pic>
        <p:nvPicPr>
          <p:cNvPr id="156" name="Google Shape;156;gefbeba6a1c_0_10"/>
          <p:cNvPicPr preferRelativeResize="0"/>
          <p:nvPr/>
        </p:nvPicPr>
        <p:blipFill>
          <a:blip r:embed="rId3">
            <a:alphaModFix/>
          </a:blip>
          <a:stretch>
            <a:fillRect/>
          </a:stretch>
        </p:blipFill>
        <p:spPr>
          <a:xfrm>
            <a:off x="722600" y="5229600"/>
            <a:ext cx="9551277" cy="1431250"/>
          </a:xfrm>
          <a:prstGeom prst="rect">
            <a:avLst/>
          </a:prstGeom>
          <a:noFill/>
          <a:ln>
            <a:noFill/>
          </a:ln>
        </p:spPr>
      </p:pic>
      <p:pic>
        <p:nvPicPr>
          <p:cNvPr id="157" name="Google Shape;157;gefbeba6a1c_0_10"/>
          <p:cNvPicPr preferRelativeResize="0"/>
          <p:nvPr/>
        </p:nvPicPr>
        <p:blipFill>
          <a:blip r:embed="rId4">
            <a:alphaModFix/>
          </a:blip>
          <a:stretch>
            <a:fillRect/>
          </a:stretch>
        </p:blipFill>
        <p:spPr>
          <a:xfrm>
            <a:off x="9446175" y="116600"/>
            <a:ext cx="2745825" cy="1308300"/>
          </a:xfrm>
          <a:prstGeom prst="rect">
            <a:avLst/>
          </a:prstGeom>
          <a:noFill/>
          <a:ln>
            <a:noFill/>
          </a:ln>
        </p:spPr>
      </p:pic>
      <p:pic>
        <p:nvPicPr>
          <p:cNvPr id="158" name="Google Shape;158;gefbeba6a1c_0_10"/>
          <p:cNvPicPr preferRelativeResize="0"/>
          <p:nvPr/>
        </p:nvPicPr>
        <p:blipFill>
          <a:blip r:embed="rId5">
            <a:alphaModFix/>
          </a:blip>
          <a:stretch>
            <a:fillRect/>
          </a:stretch>
        </p:blipFill>
        <p:spPr>
          <a:xfrm>
            <a:off x="10575975" y="3986525"/>
            <a:ext cx="1524050" cy="1886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bea1223c9f_0_16"/>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Cognitive Presence (Garrison et al., 2001)</a:t>
            </a:r>
            <a:endParaRPr/>
          </a:p>
        </p:txBody>
      </p:sp>
      <p:grpSp>
        <p:nvGrpSpPr>
          <p:cNvPr id="164" name="Google Shape;164;gbea1223c9f_0_16"/>
          <p:cNvGrpSpPr/>
          <p:nvPr/>
        </p:nvGrpSpPr>
        <p:grpSpPr>
          <a:xfrm>
            <a:off x="0" y="1586613"/>
            <a:ext cx="2952726" cy="4290074"/>
            <a:chOff x="0" y="1189989"/>
            <a:chExt cx="2214600" cy="3217636"/>
          </a:xfrm>
        </p:grpSpPr>
        <p:sp>
          <p:nvSpPr>
            <p:cNvPr id="165" name="Google Shape;165;gbea1223c9f_0_16"/>
            <p:cNvSpPr/>
            <p:nvPr/>
          </p:nvSpPr>
          <p:spPr>
            <a:xfrm>
              <a:off x="0" y="1189989"/>
              <a:ext cx="2214600" cy="669000"/>
            </a:xfrm>
            <a:prstGeom prst="homePlate">
              <a:avLst>
                <a:gd name="adj" fmla="val 50000"/>
              </a:avLst>
            </a:prstGeom>
            <a:solidFill>
              <a:srgbClr val="0944A1"/>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0: No Cognitive Presence</a:t>
              </a:r>
              <a:endParaRPr sz="1900" b="0" i="0" u="none" strike="noStrike" cap="none">
                <a:solidFill>
                  <a:srgbClr val="FFFFFF"/>
                </a:solidFill>
                <a:latin typeface="Roboto"/>
                <a:ea typeface="Roboto"/>
                <a:cs typeface="Roboto"/>
                <a:sym typeface="Roboto"/>
              </a:endParaRPr>
            </a:p>
          </p:txBody>
        </p:sp>
        <p:sp>
          <p:nvSpPr>
            <p:cNvPr id="166" name="Google Shape;166;gbea1223c9f_0_16"/>
            <p:cNvSpPr txBox="1"/>
            <p:nvPr/>
          </p:nvSpPr>
          <p:spPr>
            <a:xfrm>
              <a:off x="2950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Logistics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Socializing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“Thank you”</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Unclear comments (code without comment)</a:t>
              </a:r>
              <a:endParaRPr sz="1500" b="0" i="0" u="none" strike="noStrike" cap="none">
                <a:solidFill>
                  <a:srgbClr val="000000"/>
                </a:solidFill>
                <a:latin typeface="Roboto"/>
                <a:ea typeface="Roboto"/>
                <a:cs typeface="Roboto"/>
                <a:sym typeface="Roboto"/>
              </a:endParaRPr>
            </a:p>
          </p:txBody>
        </p:sp>
      </p:grpSp>
      <p:grpSp>
        <p:nvGrpSpPr>
          <p:cNvPr id="167" name="Google Shape;167;gbea1223c9f_0_16"/>
          <p:cNvGrpSpPr/>
          <p:nvPr/>
        </p:nvGrpSpPr>
        <p:grpSpPr>
          <a:xfrm>
            <a:off x="2451039" y="1586327"/>
            <a:ext cx="2751931" cy="4290359"/>
            <a:chOff x="1838325" y="1189775"/>
            <a:chExt cx="2064000" cy="3217850"/>
          </a:xfrm>
        </p:grpSpPr>
        <p:sp>
          <p:nvSpPr>
            <p:cNvPr id="168" name="Google Shape;168;gbea1223c9f_0_16"/>
            <p:cNvSpPr/>
            <p:nvPr/>
          </p:nvSpPr>
          <p:spPr>
            <a:xfrm>
              <a:off x="1838325" y="1189775"/>
              <a:ext cx="2064000" cy="669000"/>
            </a:xfrm>
            <a:prstGeom prst="chevron">
              <a:avLst>
                <a:gd name="adj" fmla="val 50000"/>
              </a:avLst>
            </a:prstGeom>
            <a:solidFill>
              <a:srgbClr val="0C58D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1: Triggering Event</a:t>
              </a:r>
              <a:endParaRPr sz="1900" b="0" i="0" u="none" strike="noStrike" cap="none">
                <a:solidFill>
                  <a:srgbClr val="FFFFFF"/>
                </a:solidFill>
                <a:latin typeface="Roboto"/>
                <a:ea typeface="Roboto"/>
                <a:cs typeface="Roboto"/>
                <a:sym typeface="Roboto"/>
              </a:endParaRPr>
            </a:p>
          </p:txBody>
        </p:sp>
        <p:sp>
          <p:nvSpPr>
            <p:cNvPr id="169" name="Google Shape;169;gbea1223c9f_0_16"/>
            <p:cNvSpPr txBox="1"/>
            <p:nvPr/>
          </p:nvSpPr>
          <p:spPr>
            <a:xfrm>
              <a:off x="20172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Short questions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Technical clarification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“I am clueless”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“I think this is right/wrong”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Focus on the problem itself</a:t>
              </a:r>
              <a:endParaRPr sz="1500" b="0" i="0" u="none" strike="noStrike" cap="none">
                <a:solidFill>
                  <a:srgbClr val="000000"/>
                </a:solidFill>
                <a:latin typeface="Roboto"/>
                <a:ea typeface="Roboto"/>
                <a:cs typeface="Roboto"/>
                <a:sym typeface="Roboto"/>
              </a:endParaRPr>
            </a:p>
          </p:txBody>
        </p:sp>
      </p:grpSp>
      <p:grpSp>
        <p:nvGrpSpPr>
          <p:cNvPr id="170" name="Google Shape;170;gbea1223c9f_0_16"/>
          <p:cNvGrpSpPr/>
          <p:nvPr/>
        </p:nvGrpSpPr>
        <p:grpSpPr>
          <a:xfrm>
            <a:off x="4688882" y="1586327"/>
            <a:ext cx="2751931" cy="4290359"/>
            <a:chOff x="3516750" y="1189775"/>
            <a:chExt cx="2064000" cy="3217850"/>
          </a:xfrm>
        </p:grpSpPr>
        <p:sp>
          <p:nvSpPr>
            <p:cNvPr id="171" name="Google Shape;171;gbea1223c9f_0_16"/>
            <p:cNvSpPr/>
            <p:nvPr/>
          </p:nvSpPr>
          <p:spPr>
            <a:xfrm>
              <a:off x="3516750" y="1189775"/>
              <a:ext cx="2064000" cy="669000"/>
            </a:xfrm>
            <a:prstGeom prst="chevron">
              <a:avLst>
                <a:gd name="adj" fmla="val 50000"/>
              </a:avLst>
            </a:prstGeom>
            <a:solidFill>
              <a:srgbClr val="0D5DD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2: Exploration</a:t>
              </a:r>
              <a:endParaRPr sz="1900" b="0" i="0" u="none" strike="noStrike" cap="none">
                <a:solidFill>
                  <a:srgbClr val="FFFFFF"/>
                </a:solidFill>
                <a:latin typeface="Roboto"/>
                <a:ea typeface="Roboto"/>
                <a:cs typeface="Roboto"/>
                <a:sym typeface="Roboto"/>
              </a:endParaRPr>
            </a:p>
          </p:txBody>
        </p:sp>
        <p:sp>
          <p:nvSpPr>
            <p:cNvPr id="172" name="Google Shape;172;gbea1223c9f_0_16"/>
            <p:cNvSpPr txBox="1"/>
            <p:nvPr/>
          </p:nvSpPr>
          <p:spPr>
            <a:xfrm>
              <a:off x="37394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Describing a problem</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suggestions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Partial understanding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Clarifications with detailed description or own assumptions</a:t>
              </a:r>
              <a:endParaRPr sz="1500" b="0" i="0" u="none" strike="noStrike" cap="none">
                <a:solidFill>
                  <a:srgbClr val="000000"/>
                </a:solidFill>
                <a:latin typeface="Roboto"/>
                <a:ea typeface="Roboto"/>
                <a:cs typeface="Roboto"/>
                <a:sym typeface="Roboto"/>
              </a:endParaRPr>
            </a:p>
          </p:txBody>
        </p:sp>
      </p:grpSp>
      <p:grpSp>
        <p:nvGrpSpPr>
          <p:cNvPr id="173" name="Google Shape;173;gbea1223c9f_0_16"/>
          <p:cNvGrpSpPr/>
          <p:nvPr/>
        </p:nvGrpSpPr>
        <p:grpSpPr>
          <a:xfrm>
            <a:off x="9165137" y="1586327"/>
            <a:ext cx="2751931" cy="4290359"/>
            <a:chOff x="6874025" y="1189775"/>
            <a:chExt cx="2064000" cy="3217850"/>
          </a:xfrm>
        </p:grpSpPr>
        <p:sp>
          <p:nvSpPr>
            <p:cNvPr id="174" name="Google Shape;174;gbea1223c9f_0_16"/>
            <p:cNvSpPr/>
            <p:nvPr/>
          </p:nvSpPr>
          <p:spPr>
            <a:xfrm>
              <a:off x="6874025" y="1189775"/>
              <a:ext cx="2064000" cy="669000"/>
            </a:xfrm>
            <a:prstGeom prst="chevron">
              <a:avLst>
                <a:gd name="adj" fmla="val 50000"/>
              </a:avLst>
            </a:prstGeom>
            <a:solidFill>
              <a:srgbClr val="307BF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4: Resolution</a:t>
              </a:r>
              <a:endParaRPr sz="1900" b="0" i="0" u="none" strike="noStrike" cap="none">
                <a:solidFill>
                  <a:srgbClr val="FFFFFF"/>
                </a:solidFill>
                <a:latin typeface="Roboto"/>
                <a:ea typeface="Roboto"/>
                <a:cs typeface="Roboto"/>
                <a:sym typeface="Roboto"/>
              </a:endParaRPr>
            </a:p>
          </p:txBody>
        </p:sp>
        <p:sp>
          <p:nvSpPr>
            <p:cNvPr id="175" name="Google Shape;175;gbea1223c9f_0_16"/>
            <p:cNvSpPr txBox="1"/>
            <p:nvPr/>
          </p:nvSpPr>
          <p:spPr>
            <a:xfrm>
              <a:off x="71838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Confirmation of ideas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Elaboration on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Explain why/how solution works in detail</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Definite comments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Comments from instructors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Direct answer</a:t>
              </a:r>
              <a:endParaRPr sz="1500" b="0" i="0" u="none" strike="noStrike" cap="none">
                <a:solidFill>
                  <a:srgbClr val="000000"/>
                </a:solidFill>
                <a:latin typeface="Roboto"/>
                <a:ea typeface="Roboto"/>
                <a:cs typeface="Roboto"/>
                <a:sym typeface="Roboto"/>
              </a:endParaRPr>
            </a:p>
          </p:txBody>
        </p:sp>
      </p:grpSp>
      <p:grpSp>
        <p:nvGrpSpPr>
          <p:cNvPr id="176" name="Google Shape;176;gbea1223c9f_0_16"/>
          <p:cNvGrpSpPr/>
          <p:nvPr/>
        </p:nvGrpSpPr>
        <p:grpSpPr>
          <a:xfrm>
            <a:off x="6926960" y="1586327"/>
            <a:ext cx="2751931" cy="4290359"/>
            <a:chOff x="5195350" y="1189775"/>
            <a:chExt cx="2064000" cy="3217850"/>
          </a:xfrm>
        </p:grpSpPr>
        <p:sp>
          <p:nvSpPr>
            <p:cNvPr id="177" name="Google Shape;177;gbea1223c9f_0_16"/>
            <p:cNvSpPr/>
            <p:nvPr/>
          </p:nvSpPr>
          <p:spPr>
            <a:xfrm>
              <a:off x="5195350" y="1189775"/>
              <a:ext cx="2064000" cy="669000"/>
            </a:xfrm>
            <a:prstGeom prst="chevron">
              <a:avLst>
                <a:gd name="adj" fmla="val 50000"/>
              </a:avLst>
            </a:prstGeom>
            <a:solidFill>
              <a:srgbClr val="0E65F0"/>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3: Integration</a:t>
              </a:r>
              <a:endParaRPr sz="1900" b="0" i="0" u="none" strike="noStrike" cap="none">
                <a:solidFill>
                  <a:srgbClr val="FFFFFF"/>
                </a:solidFill>
                <a:latin typeface="Roboto"/>
                <a:ea typeface="Roboto"/>
                <a:cs typeface="Roboto"/>
                <a:sym typeface="Roboto"/>
              </a:endParaRPr>
            </a:p>
          </p:txBody>
        </p:sp>
        <p:sp>
          <p:nvSpPr>
            <p:cNvPr id="178" name="Google Shape;178;gbea1223c9f_0_16"/>
            <p:cNvSpPr txBox="1"/>
            <p:nvPr/>
          </p:nvSpPr>
          <p:spPr>
            <a:xfrm>
              <a:off x="54616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Proposing a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their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a textbook or other reference</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Partial solutions</a:t>
              </a:r>
              <a:endParaRPr sz="1500" b="0" i="0" u="none" strike="noStrike" cap="none">
                <a:solidFill>
                  <a:srgbClr val="000000"/>
                </a:solidFill>
                <a:latin typeface="Roboto"/>
                <a:ea typeface="Roboto"/>
                <a:cs typeface="Roboto"/>
                <a:sym typeface="Robot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f234d063be_0_4"/>
          <p:cNvSpPr txBox="1">
            <a:spLocks noGrp="1"/>
          </p:cNvSpPr>
          <p:nvPr>
            <p:ph type="body" idx="1"/>
          </p:nvPr>
        </p:nvSpPr>
        <p:spPr>
          <a:xfrm>
            <a:off x="381000" y="1215474"/>
            <a:ext cx="11430000" cy="50118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SzPts val="1800"/>
              <a:buChar char="•"/>
            </a:pPr>
            <a:r>
              <a:rPr lang="en-US"/>
              <a:t>Working on analyzing the BERT Model and generating outputs based on the new data.</a:t>
            </a:r>
            <a:endParaRPr/>
          </a:p>
          <a:p>
            <a:pPr marL="457200" lvl="0" indent="-342900" algn="l" rtl="0">
              <a:lnSpc>
                <a:spcPct val="100000"/>
              </a:lnSpc>
              <a:spcBef>
                <a:spcPts val="1000"/>
              </a:spcBef>
              <a:spcAft>
                <a:spcPts val="0"/>
              </a:spcAft>
              <a:buSzPts val="1800"/>
              <a:buChar char="•"/>
            </a:pPr>
            <a:r>
              <a:rPr lang="en-US"/>
              <a:t>For the next few weeks: </a:t>
            </a:r>
            <a:endParaRPr/>
          </a:p>
          <a:p>
            <a:pPr marL="1371600" lvl="0" indent="-342900" algn="l" rtl="0">
              <a:lnSpc>
                <a:spcPct val="100000"/>
              </a:lnSpc>
              <a:spcBef>
                <a:spcPts val="0"/>
              </a:spcBef>
              <a:spcAft>
                <a:spcPts val="0"/>
              </a:spcAft>
              <a:buSzPts val="1800"/>
              <a:buChar char="-"/>
            </a:pPr>
            <a:r>
              <a:rPr lang="en-US"/>
              <a:t>will work on outputting the data onto the csv file based on the output requirements (for the professors). </a:t>
            </a:r>
            <a:endParaRPr/>
          </a:p>
          <a:p>
            <a:pPr marL="1371600" lvl="0" indent="-342900" algn="l" rtl="0">
              <a:lnSpc>
                <a:spcPct val="100000"/>
              </a:lnSpc>
              <a:spcBef>
                <a:spcPts val="0"/>
              </a:spcBef>
              <a:spcAft>
                <a:spcPts val="0"/>
              </a:spcAft>
              <a:buSzPts val="1800"/>
              <a:buChar char="-"/>
            </a:pPr>
            <a:r>
              <a:rPr lang="en-US"/>
              <a:t>start running the current data on the BERT model and recording the output </a:t>
            </a:r>
            <a:endParaRPr/>
          </a:p>
          <a:p>
            <a:pPr marL="1371600" lvl="0" indent="-342900" algn="l" rtl="0">
              <a:lnSpc>
                <a:spcPct val="100000"/>
              </a:lnSpc>
              <a:spcBef>
                <a:spcPts val="0"/>
              </a:spcBef>
              <a:spcAft>
                <a:spcPts val="0"/>
              </a:spcAft>
              <a:buSzPts val="1800"/>
              <a:buChar char="-"/>
            </a:pPr>
            <a:r>
              <a:rPr lang="en-US"/>
              <a:t>if time permits, will work on improving the accuracy of the Cognitive Presence model. </a:t>
            </a:r>
            <a:endParaRPr/>
          </a:p>
        </p:txBody>
      </p:sp>
      <p:sp>
        <p:nvSpPr>
          <p:cNvPr id="184" name="Google Shape;184;gf234d063be_0_4"/>
          <p:cNvSpPr txBox="1">
            <a:spLocks noGrp="1"/>
          </p:cNvSpPr>
          <p:nvPr>
            <p:ph type="title"/>
          </p:nvPr>
        </p:nvSpPr>
        <p:spPr>
          <a:xfrm>
            <a:off x="78825" y="212250"/>
            <a:ext cx="12192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Cognitive Presence Modeling updates </a:t>
            </a:r>
            <a:endParaRPr/>
          </a:p>
        </p:txBody>
      </p:sp>
      <p:pic>
        <p:nvPicPr>
          <p:cNvPr id="185" name="Google Shape;185;gf234d063be_0_4"/>
          <p:cNvPicPr preferRelativeResize="0"/>
          <p:nvPr/>
        </p:nvPicPr>
        <p:blipFill rotWithShape="1">
          <a:blip r:embed="rId3">
            <a:alphaModFix/>
          </a:blip>
          <a:srcRect l="8784" t="10729" b="2109"/>
          <a:stretch/>
        </p:blipFill>
        <p:spPr>
          <a:xfrm>
            <a:off x="8526500" y="4900425"/>
            <a:ext cx="2154626" cy="1750775"/>
          </a:xfrm>
          <a:prstGeom prst="rect">
            <a:avLst/>
          </a:prstGeom>
          <a:noFill/>
          <a:ln>
            <a:noFill/>
          </a:ln>
        </p:spPr>
      </p:pic>
      <p:pic>
        <p:nvPicPr>
          <p:cNvPr id="186" name="Google Shape;186;gf234d063be_0_4"/>
          <p:cNvPicPr preferRelativeResize="0"/>
          <p:nvPr/>
        </p:nvPicPr>
        <p:blipFill>
          <a:blip r:embed="rId4">
            <a:alphaModFix/>
          </a:blip>
          <a:stretch>
            <a:fillRect/>
          </a:stretch>
        </p:blipFill>
        <p:spPr>
          <a:xfrm>
            <a:off x="381000" y="5724050"/>
            <a:ext cx="3025999" cy="927150"/>
          </a:xfrm>
          <a:prstGeom prst="rect">
            <a:avLst/>
          </a:prstGeom>
          <a:noFill/>
          <a:ln>
            <a:noFill/>
          </a:ln>
        </p:spPr>
      </p:pic>
      <p:pic>
        <p:nvPicPr>
          <p:cNvPr id="187" name="Google Shape;187;gf234d063be_0_4"/>
          <p:cNvPicPr preferRelativeResize="0"/>
          <p:nvPr/>
        </p:nvPicPr>
        <p:blipFill>
          <a:blip r:embed="rId5">
            <a:alphaModFix/>
          </a:blip>
          <a:stretch>
            <a:fillRect/>
          </a:stretch>
        </p:blipFill>
        <p:spPr>
          <a:xfrm>
            <a:off x="3469050" y="5698313"/>
            <a:ext cx="2154625" cy="978627"/>
          </a:xfrm>
          <a:prstGeom prst="rect">
            <a:avLst/>
          </a:prstGeom>
          <a:noFill/>
          <a:ln>
            <a:noFill/>
          </a:ln>
        </p:spPr>
      </p:pic>
      <p:pic>
        <p:nvPicPr>
          <p:cNvPr id="188" name="Google Shape;188;gf234d063be_0_4"/>
          <p:cNvPicPr preferRelativeResize="0"/>
          <p:nvPr/>
        </p:nvPicPr>
        <p:blipFill>
          <a:blip r:embed="rId6">
            <a:alphaModFix/>
          </a:blip>
          <a:stretch>
            <a:fillRect/>
          </a:stretch>
        </p:blipFill>
        <p:spPr>
          <a:xfrm>
            <a:off x="5977075" y="5698313"/>
            <a:ext cx="2017996" cy="97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efbeba6a1c_0_20"/>
          <p:cNvSpPr txBox="1">
            <a:spLocks noGrp="1"/>
          </p:cNvSpPr>
          <p:nvPr>
            <p:ph type="body" idx="1"/>
          </p:nvPr>
        </p:nvSpPr>
        <p:spPr>
          <a:xfrm>
            <a:off x="381000" y="1215475"/>
            <a:ext cx="10263300" cy="5100600"/>
          </a:xfrm>
          <a:prstGeom prst="rect">
            <a:avLst/>
          </a:prstGeom>
          <a:noFill/>
          <a:ln>
            <a:noFill/>
          </a:ln>
        </p:spPr>
        <p:txBody>
          <a:bodyPr spcFirstLastPara="1" wrap="square" lIns="91425" tIns="45700" rIns="91425" bIns="45700" anchor="t" anchorCtr="0">
            <a:noAutofit/>
          </a:bodyPr>
          <a:lstStyle/>
          <a:p>
            <a:pPr marL="457200" lvl="0" indent="-349250" algn="l" rtl="0">
              <a:lnSpc>
                <a:spcPct val="100000"/>
              </a:lnSpc>
              <a:spcBef>
                <a:spcPts val="1000"/>
              </a:spcBef>
              <a:spcAft>
                <a:spcPts val="0"/>
              </a:spcAft>
              <a:buSzPts val="1900"/>
              <a:buChar char="•"/>
            </a:pPr>
            <a:r>
              <a:rPr lang="en-US" sz="2500"/>
              <a:t>Read other studies that looked at social presence in online classes in order to gain perspective on the specific questions that can be asked, and the methods used regarding this topic</a:t>
            </a:r>
            <a:endParaRPr sz="2500"/>
          </a:p>
          <a:p>
            <a:pPr marL="457200" lvl="0" indent="-387350" algn="l" rtl="0">
              <a:lnSpc>
                <a:spcPct val="100000"/>
              </a:lnSpc>
              <a:spcBef>
                <a:spcPts val="1000"/>
              </a:spcBef>
              <a:spcAft>
                <a:spcPts val="0"/>
              </a:spcAft>
              <a:buSzPts val="2500"/>
              <a:buChar char="•"/>
            </a:pPr>
            <a:r>
              <a:rPr lang="en-US" sz="2500"/>
              <a:t>Developed more narrow research questions that I will look into for the rest of the semester:</a:t>
            </a:r>
            <a:endParaRPr sz="2500"/>
          </a:p>
          <a:p>
            <a:pPr marL="914400" lvl="1" indent="-387350" algn="l" rtl="0">
              <a:lnSpc>
                <a:spcPct val="100000"/>
              </a:lnSpc>
              <a:spcBef>
                <a:spcPts val="1000"/>
              </a:spcBef>
              <a:spcAft>
                <a:spcPts val="0"/>
              </a:spcAft>
              <a:buSzPts val="2500"/>
              <a:buChar char="•"/>
            </a:pPr>
            <a:r>
              <a:rPr lang="en-US" sz="2500"/>
              <a:t>How does the presence of instructors in a thread relate to students’ cognitive and social presence?</a:t>
            </a:r>
            <a:endParaRPr sz="2500"/>
          </a:p>
          <a:p>
            <a:pPr marL="914400" lvl="1" indent="-387350" algn="l" rtl="0">
              <a:lnSpc>
                <a:spcPct val="100000"/>
              </a:lnSpc>
              <a:spcBef>
                <a:spcPts val="1000"/>
              </a:spcBef>
              <a:spcAft>
                <a:spcPts val="0"/>
              </a:spcAft>
              <a:buSzPts val="2500"/>
              <a:buChar char="•"/>
            </a:pPr>
            <a:r>
              <a:rPr lang="en-US" sz="2500"/>
              <a:t>Which students are contributing the most in discussion forums? How can these students be characterized?</a:t>
            </a:r>
            <a:endParaRPr sz="2500"/>
          </a:p>
          <a:p>
            <a:pPr marL="914400" lvl="1" indent="-387350" algn="l" rtl="0">
              <a:lnSpc>
                <a:spcPct val="100000"/>
              </a:lnSpc>
              <a:spcBef>
                <a:spcPts val="1000"/>
              </a:spcBef>
              <a:spcAft>
                <a:spcPts val="0"/>
              </a:spcAft>
              <a:buSzPts val="2500"/>
              <a:buChar char="•"/>
            </a:pPr>
            <a:r>
              <a:rPr lang="en-US" sz="2500"/>
              <a:t>How do social factors influence student outcomes in the class?</a:t>
            </a:r>
            <a:endParaRPr sz="2500"/>
          </a:p>
        </p:txBody>
      </p:sp>
      <p:sp>
        <p:nvSpPr>
          <p:cNvPr id="194" name="Google Shape;194;gefbeba6a1c_0_2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Social Presence updates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efbeba6a1c_0_25"/>
          <p:cNvSpPr txBox="1">
            <a:spLocks noGrp="1"/>
          </p:cNvSpPr>
          <p:nvPr>
            <p:ph type="body" idx="1"/>
          </p:nvPr>
        </p:nvSpPr>
        <p:spPr>
          <a:xfrm>
            <a:off x="381000" y="1215475"/>
            <a:ext cx="7299300" cy="4596300"/>
          </a:xfrm>
          <a:prstGeom prst="rect">
            <a:avLst/>
          </a:prstGeom>
          <a:noFill/>
          <a:ln>
            <a:noFill/>
          </a:ln>
        </p:spPr>
        <p:txBody>
          <a:bodyPr spcFirstLastPara="1" wrap="square" lIns="91425" tIns="45700" rIns="91425" bIns="45700" anchor="t" anchorCtr="0">
            <a:noAutofit/>
          </a:bodyPr>
          <a:lstStyle/>
          <a:p>
            <a:pPr marL="457200" lvl="0" indent="-330200" algn="l" rtl="0">
              <a:lnSpc>
                <a:spcPct val="100000"/>
              </a:lnSpc>
              <a:spcBef>
                <a:spcPts val="1000"/>
              </a:spcBef>
              <a:spcAft>
                <a:spcPts val="0"/>
              </a:spcAft>
              <a:buSzPts val="1600"/>
              <a:buChar char="•"/>
            </a:pPr>
            <a:r>
              <a:rPr lang="en-US" sz="2600"/>
              <a:t>Examined cognitive presence, number of comments, length of posts, sentiment, timing, types of posts</a:t>
            </a:r>
            <a:endParaRPr sz="2600"/>
          </a:p>
          <a:p>
            <a:pPr marL="457200" lvl="0" indent="-330200" algn="l" rtl="0">
              <a:lnSpc>
                <a:spcPct val="100000"/>
              </a:lnSpc>
              <a:spcBef>
                <a:spcPts val="1000"/>
              </a:spcBef>
              <a:spcAft>
                <a:spcPts val="0"/>
              </a:spcAft>
              <a:buSzPts val="1600"/>
              <a:buChar char="•"/>
            </a:pPr>
            <a:r>
              <a:rPr lang="en-US" sz="2600"/>
              <a:t>Notes about data set</a:t>
            </a:r>
            <a:endParaRPr sz="2600"/>
          </a:p>
          <a:p>
            <a:pPr marL="914400" lvl="1" indent="-330200" algn="l" rtl="0">
              <a:lnSpc>
                <a:spcPct val="100000"/>
              </a:lnSpc>
              <a:spcBef>
                <a:spcPts val="1000"/>
              </a:spcBef>
              <a:spcAft>
                <a:spcPts val="0"/>
              </a:spcAft>
              <a:buSzPts val="1600"/>
              <a:buChar char="•"/>
            </a:pPr>
            <a:r>
              <a:rPr lang="en-US" sz="2200"/>
              <a:t>Only have passing students (169 total)</a:t>
            </a:r>
            <a:endParaRPr sz="2200"/>
          </a:p>
          <a:p>
            <a:pPr marL="914400" lvl="1" indent="-330200" algn="l" rtl="0">
              <a:lnSpc>
                <a:spcPct val="100000"/>
              </a:lnSpc>
              <a:spcBef>
                <a:spcPts val="1000"/>
              </a:spcBef>
              <a:spcAft>
                <a:spcPts val="0"/>
              </a:spcAft>
              <a:buSzPts val="1600"/>
              <a:buChar char="•"/>
            </a:pPr>
            <a:r>
              <a:rPr lang="en-US" sz="2200"/>
              <a:t>Organized in megathreads</a:t>
            </a:r>
            <a:endParaRPr sz="2200"/>
          </a:p>
        </p:txBody>
      </p:sp>
      <p:sp>
        <p:nvSpPr>
          <p:cNvPr id="200" name="Google Shape;200;gefbeba6a1c_0_25"/>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Student Outcomes Analysis updates</a:t>
            </a:r>
            <a:endParaRPr/>
          </a:p>
        </p:txBody>
      </p:sp>
      <p:sp>
        <p:nvSpPr>
          <p:cNvPr id="201" name="Google Shape;201;gefbeba6a1c_0_25"/>
          <p:cNvSpPr/>
          <p:nvPr/>
        </p:nvSpPr>
        <p:spPr>
          <a:xfrm>
            <a:off x="10277724" y="2615749"/>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Final grades</a:t>
            </a:r>
            <a:endParaRPr sz="1900" b="0" i="0" u="none" strike="noStrike" cap="none">
              <a:solidFill>
                <a:schemeClr val="lt1"/>
              </a:solidFill>
              <a:latin typeface="Roboto"/>
              <a:ea typeface="Roboto"/>
              <a:cs typeface="Roboto"/>
              <a:sym typeface="Roboto"/>
            </a:endParaRPr>
          </a:p>
        </p:txBody>
      </p:sp>
      <p:sp>
        <p:nvSpPr>
          <p:cNvPr id="202" name="Google Shape;202;gefbeba6a1c_0_25"/>
          <p:cNvSpPr/>
          <p:nvPr/>
        </p:nvSpPr>
        <p:spPr>
          <a:xfrm>
            <a:off x="7963400" y="3004525"/>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Number of posts</a:t>
            </a:r>
            <a:endParaRPr sz="1900" b="0" i="0" u="none" strike="noStrike" cap="none">
              <a:solidFill>
                <a:schemeClr val="lt1"/>
              </a:solidFill>
              <a:latin typeface="Roboto"/>
              <a:ea typeface="Roboto"/>
              <a:cs typeface="Roboto"/>
              <a:sym typeface="Roboto"/>
            </a:endParaRPr>
          </a:p>
        </p:txBody>
      </p:sp>
      <p:sp>
        <p:nvSpPr>
          <p:cNvPr id="203" name="Google Shape;203;gefbeba6a1c_0_25"/>
          <p:cNvSpPr/>
          <p:nvPr/>
        </p:nvSpPr>
        <p:spPr>
          <a:xfrm>
            <a:off x="7963400" y="2110000"/>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Cognitive presence</a:t>
            </a:r>
            <a:endParaRPr sz="1900" b="0" i="0" u="none" strike="noStrike" cap="none">
              <a:solidFill>
                <a:schemeClr val="lt1"/>
              </a:solidFill>
              <a:latin typeface="Roboto"/>
              <a:ea typeface="Roboto"/>
              <a:cs typeface="Roboto"/>
              <a:sym typeface="Roboto"/>
            </a:endParaRPr>
          </a:p>
        </p:txBody>
      </p:sp>
      <p:sp>
        <p:nvSpPr>
          <p:cNvPr id="204" name="Google Shape;204;gefbeba6a1c_0_25"/>
          <p:cNvSpPr/>
          <p:nvPr/>
        </p:nvSpPr>
        <p:spPr>
          <a:xfrm>
            <a:off x="7963400" y="1215475"/>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Number of answers</a:t>
            </a:r>
            <a:endParaRPr sz="1900" b="0" i="0" u="none" strike="noStrike" cap="none">
              <a:solidFill>
                <a:schemeClr val="lt1"/>
              </a:solidFill>
              <a:latin typeface="Roboto"/>
              <a:ea typeface="Roboto"/>
              <a:cs typeface="Roboto"/>
              <a:sym typeface="Roboto"/>
            </a:endParaRPr>
          </a:p>
        </p:txBody>
      </p:sp>
      <p:sp>
        <p:nvSpPr>
          <p:cNvPr id="205" name="Google Shape;205;gefbeba6a1c_0_25"/>
          <p:cNvSpPr/>
          <p:nvPr/>
        </p:nvSpPr>
        <p:spPr>
          <a:xfrm>
            <a:off x="7963400" y="3899049"/>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Timing of posts</a:t>
            </a:r>
            <a:endParaRPr sz="1900" b="0" i="0" u="none" strike="noStrike" cap="none">
              <a:solidFill>
                <a:schemeClr val="lt1"/>
              </a:solidFill>
              <a:latin typeface="Roboto"/>
              <a:ea typeface="Roboto"/>
              <a:cs typeface="Roboto"/>
              <a:sym typeface="Roboto"/>
            </a:endParaRPr>
          </a:p>
        </p:txBody>
      </p:sp>
      <p:cxnSp>
        <p:nvCxnSpPr>
          <p:cNvPr id="206" name="Google Shape;206;gefbeba6a1c_0_25"/>
          <p:cNvCxnSpPr>
            <a:stCxn id="204" idx="3"/>
            <a:endCxn id="201" idx="1"/>
          </p:cNvCxnSpPr>
          <p:nvPr/>
        </p:nvCxnSpPr>
        <p:spPr>
          <a:xfrm>
            <a:off x="9364700" y="1546075"/>
            <a:ext cx="912900" cy="1400400"/>
          </a:xfrm>
          <a:prstGeom prst="straightConnector1">
            <a:avLst/>
          </a:prstGeom>
          <a:noFill/>
          <a:ln w="9525" cap="flat" cmpd="sng">
            <a:solidFill>
              <a:schemeClr val="dk2"/>
            </a:solidFill>
            <a:prstDash val="solid"/>
            <a:round/>
            <a:headEnd type="none" w="sm" len="sm"/>
            <a:tailEnd type="triangle" w="med" len="med"/>
          </a:ln>
        </p:spPr>
      </p:cxnSp>
      <p:cxnSp>
        <p:nvCxnSpPr>
          <p:cNvPr id="207" name="Google Shape;207;gefbeba6a1c_0_25"/>
          <p:cNvCxnSpPr>
            <a:stCxn id="203" idx="3"/>
            <a:endCxn id="201" idx="1"/>
          </p:cNvCxnSpPr>
          <p:nvPr/>
        </p:nvCxnSpPr>
        <p:spPr>
          <a:xfrm>
            <a:off x="9364700" y="2440600"/>
            <a:ext cx="912900" cy="505800"/>
          </a:xfrm>
          <a:prstGeom prst="straightConnector1">
            <a:avLst/>
          </a:prstGeom>
          <a:noFill/>
          <a:ln w="9525" cap="flat" cmpd="sng">
            <a:solidFill>
              <a:schemeClr val="dk2"/>
            </a:solidFill>
            <a:prstDash val="solid"/>
            <a:round/>
            <a:headEnd type="none" w="sm" len="sm"/>
            <a:tailEnd type="triangle" w="med" len="med"/>
          </a:ln>
        </p:spPr>
      </p:cxnSp>
      <p:cxnSp>
        <p:nvCxnSpPr>
          <p:cNvPr id="208" name="Google Shape;208;gefbeba6a1c_0_25"/>
          <p:cNvCxnSpPr>
            <a:stCxn id="202" idx="3"/>
            <a:endCxn id="201" idx="1"/>
          </p:cNvCxnSpPr>
          <p:nvPr/>
        </p:nvCxnSpPr>
        <p:spPr>
          <a:xfrm rot="10800000" flipH="1">
            <a:off x="9364700" y="2946325"/>
            <a:ext cx="912900" cy="388800"/>
          </a:xfrm>
          <a:prstGeom prst="straightConnector1">
            <a:avLst/>
          </a:prstGeom>
          <a:noFill/>
          <a:ln w="9525" cap="flat" cmpd="sng">
            <a:solidFill>
              <a:schemeClr val="dk2"/>
            </a:solidFill>
            <a:prstDash val="solid"/>
            <a:round/>
            <a:headEnd type="none" w="sm" len="sm"/>
            <a:tailEnd type="triangle" w="med" len="med"/>
          </a:ln>
        </p:spPr>
      </p:cxnSp>
      <p:cxnSp>
        <p:nvCxnSpPr>
          <p:cNvPr id="209" name="Google Shape;209;gefbeba6a1c_0_25"/>
          <p:cNvCxnSpPr>
            <a:stCxn id="205" idx="3"/>
            <a:endCxn id="201" idx="1"/>
          </p:cNvCxnSpPr>
          <p:nvPr/>
        </p:nvCxnSpPr>
        <p:spPr>
          <a:xfrm rot="10800000" flipH="1">
            <a:off x="9364700" y="2946249"/>
            <a:ext cx="912900" cy="1283400"/>
          </a:xfrm>
          <a:prstGeom prst="straightConnector1">
            <a:avLst/>
          </a:prstGeom>
          <a:noFill/>
          <a:ln w="9525" cap="flat" cmpd="sng">
            <a:solidFill>
              <a:schemeClr val="dk2"/>
            </a:solidFill>
            <a:prstDash val="solid"/>
            <a:round/>
            <a:headEnd type="none" w="sm" len="sm"/>
            <a:tailEnd type="triangle" w="med" len="med"/>
          </a:ln>
        </p:spPr>
      </p:cxnSp>
      <p:sp>
        <p:nvSpPr>
          <p:cNvPr id="210" name="Google Shape;210;gefbeba6a1c_0_25"/>
          <p:cNvSpPr/>
          <p:nvPr/>
        </p:nvSpPr>
        <p:spPr>
          <a:xfrm>
            <a:off x="8590382" y="478393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gefbeba6a1c_0_25"/>
          <p:cNvSpPr/>
          <p:nvPr/>
        </p:nvSpPr>
        <p:spPr>
          <a:xfrm>
            <a:off x="8590382" y="504691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efbeba6a1c_0_25"/>
          <p:cNvSpPr/>
          <p:nvPr/>
        </p:nvSpPr>
        <p:spPr>
          <a:xfrm>
            <a:off x="8590382" y="530989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3" name="Google Shape;213;gefbeba6a1c_0_25"/>
          <p:cNvPicPr preferRelativeResize="0"/>
          <p:nvPr/>
        </p:nvPicPr>
        <p:blipFill>
          <a:blip r:embed="rId3">
            <a:alphaModFix/>
          </a:blip>
          <a:stretch>
            <a:fillRect/>
          </a:stretch>
        </p:blipFill>
        <p:spPr>
          <a:xfrm>
            <a:off x="1541400" y="3991375"/>
            <a:ext cx="4158025" cy="2866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fb02cb800c_0_0"/>
          <p:cNvSpPr txBox="1">
            <a:spLocks noGrp="1"/>
          </p:cNvSpPr>
          <p:nvPr>
            <p:ph type="body" idx="1"/>
          </p:nvPr>
        </p:nvSpPr>
        <p:spPr>
          <a:xfrm>
            <a:off x="381000" y="1083825"/>
            <a:ext cx="5692200" cy="5774100"/>
          </a:xfrm>
          <a:prstGeom prst="rect">
            <a:avLst/>
          </a:prstGeom>
        </p:spPr>
        <p:txBody>
          <a:bodyPr spcFirstLastPara="1" wrap="square" lIns="91425" tIns="45700" rIns="91425" bIns="45700" anchor="t" anchorCtr="0">
            <a:normAutofit/>
          </a:bodyPr>
          <a:lstStyle/>
          <a:p>
            <a:pPr marL="457200" lvl="0" indent="-342900" algn="l" rtl="0">
              <a:lnSpc>
                <a:spcPct val="100000"/>
              </a:lnSpc>
              <a:spcBef>
                <a:spcPts val="1000"/>
              </a:spcBef>
              <a:spcAft>
                <a:spcPts val="0"/>
              </a:spcAft>
              <a:buSzPts val="1800"/>
              <a:buChar char="•"/>
            </a:pPr>
            <a:r>
              <a:rPr lang="en-US"/>
              <a:t>Interesting features:</a:t>
            </a:r>
            <a:endParaRPr/>
          </a:p>
          <a:p>
            <a:pPr marL="914400" lvl="1" indent="-342900" algn="l" rtl="0">
              <a:lnSpc>
                <a:spcPct val="100000"/>
              </a:lnSpc>
              <a:spcBef>
                <a:spcPts val="1000"/>
              </a:spcBef>
              <a:spcAft>
                <a:spcPts val="0"/>
              </a:spcAft>
              <a:buSzPts val="1800"/>
              <a:buChar char="•"/>
            </a:pPr>
            <a:r>
              <a:rPr lang="en-US"/>
              <a:t>Highest correlation with final grades: number of follow-ups (0.27)</a:t>
            </a:r>
            <a:endParaRPr/>
          </a:p>
          <a:p>
            <a:pPr marL="914400" lvl="1" indent="-342900" algn="l" rtl="0">
              <a:lnSpc>
                <a:spcPct val="100000"/>
              </a:lnSpc>
              <a:spcBef>
                <a:spcPts val="1000"/>
              </a:spcBef>
              <a:spcAft>
                <a:spcPts val="0"/>
              </a:spcAft>
              <a:buSzPts val="1800"/>
              <a:buChar char="•"/>
            </a:pPr>
            <a:r>
              <a:rPr lang="en-US"/>
              <a:t>Followed by average CP (.13)</a:t>
            </a:r>
            <a:endParaRPr/>
          </a:p>
          <a:p>
            <a:pPr marL="457200" lvl="0" indent="-342900" algn="l" rtl="0">
              <a:lnSpc>
                <a:spcPct val="100000"/>
              </a:lnSpc>
              <a:spcBef>
                <a:spcPts val="1000"/>
              </a:spcBef>
              <a:spcAft>
                <a:spcPts val="0"/>
              </a:spcAft>
              <a:buSzPts val="1800"/>
              <a:buChar char="•"/>
            </a:pPr>
            <a:r>
              <a:rPr lang="en-US"/>
              <a:t>Basic multiple regression model</a:t>
            </a:r>
            <a:endParaRPr/>
          </a:p>
          <a:p>
            <a:pPr marL="457200" lvl="0" indent="-342900" algn="l" rtl="0">
              <a:lnSpc>
                <a:spcPct val="100000"/>
              </a:lnSpc>
              <a:spcBef>
                <a:spcPts val="1000"/>
              </a:spcBef>
              <a:spcAft>
                <a:spcPts val="0"/>
              </a:spcAft>
              <a:buSzPts val="1800"/>
              <a:buChar char="•"/>
            </a:pPr>
            <a:r>
              <a:rPr lang="en-US"/>
              <a:t>Next steps:</a:t>
            </a:r>
            <a:endParaRPr/>
          </a:p>
          <a:p>
            <a:pPr marL="914400" lvl="1" indent="-342900" algn="l" rtl="0">
              <a:lnSpc>
                <a:spcPct val="100000"/>
              </a:lnSpc>
              <a:spcBef>
                <a:spcPts val="1000"/>
              </a:spcBef>
              <a:spcAft>
                <a:spcPts val="0"/>
              </a:spcAft>
              <a:buSzPts val="1800"/>
              <a:buChar char="•"/>
            </a:pPr>
            <a:r>
              <a:rPr lang="en-US"/>
              <a:t>Identify more features &amp; clean</a:t>
            </a:r>
            <a:endParaRPr/>
          </a:p>
          <a:p>
            <a:pPr marL="914400" lvl="1" indent="-342900" algn="l" rtl="0">
              <a:lnSpc>
                <a:spcPct val="100000"/>
              </a:lnSpc>
              <a:spcBef>
                <a:spcPts val="1000"/>
              </a:spcBef>
              <a:spcAft>
                <a:spcPts val="0"/>
              </a:spcAft>
              <a:buSzPts val="1800"/>
              <a:buChar char="•"/>
            </a:pPr>
            <a:r>
              <a:rPr lang="en-US"/>
              <a:t>Explore other regression models</a:t>
            </a:r>
            <a:endParaRPr/>
          </a:p>
        </p:txBody>
      </p:sp>
      <p:sp>
        <p:nvSpPr>
          <p:cNvPr id="219" name="Google Shape;219;gfb02cb800c_0_0"/>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Student Outcomes Analysis (cont)</a:t>
            </a:r>
            <a:endParaRPr/>
          </a:p>
        </p:txBody>
      </p:sp>
      <p:pic>
        <p:nvPicPr>
          <p:cNvPr id="220" name="Google Shape;220;gfb02cb800c_0_0"/>
          <p:cNvPicPr preferRelativeResize="0"/>
          <p:nvPr/>
        </p:nvPicPr>
        <p:blipFill>
          <a:blip r:embed="rId3">
            <a:alphaModFix/>
          </a:blip>
          <a:stretch>
            <a:fillRect/>
          </a:stretch>
        </p:blipFill>
        <p:spPr>
          <a:xfrm>
            <a:off x="6446950" y="1667025"/>
            <a:ext cx="5025525" cy="38021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efbeba6a1c_0_514"/>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efbeba6a1c_0_15"/>
          <p:cNvSpPr txBox="1">
            <a:spLocks noGrp="1"/>
          </p:cNvSpPr>
          <p:nvPr>
            <p:ph type="body" idx="1"/>
          </p:nvPr>
        </p:nvSpPr>
        <p:spPr>
          <a:xfrm>
            <a:off x="381000" y="1532300"/>
            <a:ext cx="11430000" cy="4989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b="1"/>
              <a:t>Recap:</a:t>
            </a:r>
            <a:endParaRPr b="1"/>
          </a:p>
          <a:p>
            <a:pPr marL="1371600" lvl="2" indent="-342900" algn="l" rtl="0">
              <a:lnSpc>
                <a:spcPct val="100000"/>
              </a:lnSpc>
              <a:spcBef>
                <a:spcPts val="1000"/>
              </a:spcBef>
              <a:spcAft>
                <a:spcPts val="0"/>
              </a:spcAft>
              <a:buSzPts val="1800"/>
              <a:buChar char="•"/>
            </a:pPr>
            <a:r>
              <a:rPr lang="en-US"/>
              <a:t>Our goal is to create a dashboard for instructors which shows statistics and visualization relating to how students are utilizing Piazza and other discussion forums</a:t>
            </a:r>
            <a:endParaRPr/>
          </a:p>
          <a:p>
            <a:pPr marL="1828800" lvl="3" indent="-342900" algn="l" rtl="0">
              <a:lnSpc>
                <a:spcPct val="100000"/>
              </a:lnSpc>
              <a:spcBef>
                <a:spcPts val="1000"/>
              </a:spcBef>
              <a:spcAft>
                <a:spcPts val="0"/>
              </a:spcAft>
              <a:buSzPts val="1800"/>
              <a:buChar char="•"/>
            </a:pPr>
            <a:r>
              <a:rPr lang="en-US"/>
              <a:t>We wanted to know what metrics Professors and TAs want to be represented in the dashboard</a:t>
            </a:r>
            <a:endParaRPr/>
          </a:p>
          <a:p>
            <a:pPr marL="1371600" lvl="2" indent="-342900" algn="l" rtl="0">
              <a:lnSpc>
                <a:spcPct val="100000"/>
              </a:lnSpc>
              <a:spcBef>
                <a:spcPts val="1000"/>
              </a:spcBef>
              <a:spcAft>
                <a:spcPts val="0"/>
              </a:spcAft>
              <a:buSzPts val="1800"/>
              <a:buChar char="•"/>
            </a:pPr>
            <a:r>
              <a:rPr lang="en-US"/>
              <a:t>Need to make a survey to gauge interest in certain metrics </a:t>
            </a:r>
            <a:endParaRPr/>
          </a:p>
          <a:p>
            <a:pPr marL="0" lvl="0" indent="0" algn="l" rtl="0">
              <a:lnSpc>
                <a:spcPct val="100000"/>
              </a:lnSpc>
              <a:spcBef>
                <a:spcPts val="1000"/>
              </a:spcBef>
              <a:spcAft>
                <a:spcPts val="0"/>
              </a:spcAft>
              <a:buNone/>
            </a:pPr>
            <a:r>
              <a:rPr lang="en-US" b="1"/>
              <a:t>Survey has been made:</a:t>
            </a:r>
            <a:endParaRPr b="1"/>
          </a:p>
          <a:p>
            <a:pPr marL="1371600" lvl="2" indent="-342900" algn="l" rtl="0">
              <a:lnSpc>
                <a:spcPct val="100000"/>
              </a:lnSpc>
              <a:spcBef>
                <a:spcPts val="1000"/>
              </a:spcBef>
              <a:spcAft>
                <a:spcPts val="0"/>
              </a:spcAft>
              <a:buSzPts val="1800"/>
              <a:buChar char="•"/>
            </a:pPr>
            <a:r>
              <a:rPr lang="en-US"/>
              <a:t>We provide multiple possible metrics that can go on the dashboard and allow the professors and TAs to tell us which ones they think would be the most helpful for them</a:t>
            </a:r>
            <a:endParaRPr/>
          </a:p>
          <a:p>
            <a:pPr marL="1371600" lvl="2" indent="-342900" algn="l" rtl="0">
              <a:lnSpc>
                <a:spcPct val="100000"/>
              </a:lnSpc>
              <a:spcBef>
                <a:spcPts val="1000"/>
              </a:spcBef>
              <a:spcAft>
                <a:spcPts val="0"/>
              </a:spcAft>
              <a:buSzPts val="1800"/>
              <a:buChar char="•"/>
            </a:pPr>
            <a:r>
              <a:rPr lang="en-US"/>
              <a:t>We also give them the ability to propose their own metrics and ask if they would be willing to be contacted to provide more information if needed</a:t>
            </a:r>
            <a:endParaRPr/>
          </a:p>
        </p:txBody>
      </p:sp>
      <p:sp>
        <p:nvSpPr>
          <p:cNvPr id="231" name="Google Shape;231;gefbeba6a1c_0_15"/>
          <p:cNvSpPr txBox="1">
            <a:spLocks noGrp="1"/>
          </p:cNvSpPr>
          <p:nvPr>
            <p:ph type="title"/>
          </p:nvPr>
        </p:nvSpPr>
        <p:spPr>
          <a:xfrm>
            <a:off x="381000" y="33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User Surveys &amp; Interviews - updates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efbeba6a1c_0_498"/>
          <p:cNvSpPr txBox="1">
            <a:spLocks noGrp="1"/>
          </p:cNvSpPr>
          <p:nvPr>
            <p:ph type="body" idx="1"/>
          </p:nvPr>
        </p:nvSpPr>
        <p:spPr>
          <a:xfrm>
            <a:off x="381000" y="1215474"/>
            <a:ext cx="11430000" cy="5258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b="1"/>
              <a:t>Challenges encountered:</a:t>
            </a:r>
            <a:endParaRPr b="1"/>
          </a:p>
          <a:p>
            <a:pPr marL="914400" lvl="1" indent="-342900" algn="l" rtl="0">
              <a:lnSpc>
                <a:spcPct val="100000"/>
              </a:lnSpc>
              <a:spcBef>
                <a:spcPts val="1000"/>
              </a:spcBef>
              <a:spcAft>
                <a:spcPts val="0"/>
              </a:spcAft>
              <a:buSzPts val="1800"/>
              <a:buChar char="•"/>
            </a:pPr>
            <a:r>
              <a:rPr lang="en-US"/>
              <a:t>The questions from last year were not usable because they were too confusing</a:t>
            </a:r>
            <a:endParaRPr/>
          </a:p>
          <a:p>
            <a:pPr marL="1371600" lvl="2" indent="-342900" algn="l" rtl="0">
              <a:lnSpc>
                <a:spcPct val="100000"/>
              </a:lnSpc>
              <a:spcBef>
                <a:spcPts val="1000"/>
              </a:spcBef>
              <a:spcAft>
                <a:spcPts val="0"/>
              </a:spcAft>
              <a:buSzPts val="1800"/>
              <a:buChar char="•"/>
            </a:pPr>
            <a:r>
              <a:rPr lang="en-US"/>
              <a:t>Used terms such as “cognitive presence” and “sentiment analysis” without sufficiently explaining them</a:t>
            </a:r>
            <a:endParaRPr/>
          </a:p>
          <a:p>
            <a:pPr marL="1828800" lvl="3" indent="-342900" algn="l" rtl="0">
              <a:lnSpc>
                <a:spcPct val="100000"/>
              </a:lnSpc>
              <a:spcBef>
                <a:spcPts val="1000"/>
              </a:spcBef>
              <a:spcAft>
                <a:spcPts val="0"/>
              </a:spcAft>
              <a:buSzPts val="1800"/>
              <a:buChar char="•"/>
            </a:pPr>
            <a:r>
              <a:rPr lang="en-US"/>
              <a:t>This is one of the things that we fixed for this year’s survey</a:t>
            </a:r>
            <a:endParaRPr/>
          </a:p>
          <a:p>
            <a:pPr marL="0" lvl="0" indent="0" algn="l" rtl="0">
              <a:lnSpc>
                <a:spcPct val="100000"/>
              </a:lnSpc>
              <a:spcBef>
                <a:spcPts val="1000"/>
              </a:spcBef>
              <a:spcAft>
                <a:spcPts val="0"/>
              </a:spcAft>
              <a:buSzPts val="1800"/>
              <a:buNone/>
            </a:pPr>
            <a:r>
              <a:rPr lang="en-US" b="1"/>
              <a:t>Expectations for the end of semester:</a:t>
            </a:r>
            <a:endParaRPr b="1"/>
          </a:p>
          <a:p>
            <a:pPr marL="914400" lvl="1" indent="-342900" algn="l" rtl="0">
              <a:lnSpc>
                <a:spcPct val="100000"/>
              </a:lnSpc>
              <a:spcBef>
                <a:spcPts val="1000"/>
              </a:spcBef>
              <a:spcAft>
                <a:spcPts val="0"/>
              </a:spcAft>
              <a:buSzPts val="1800"/>
              <a:buChar char="•"/>
            </a:pPr>
            <a:r>
              <a:rPr lang="en-US"/>
              <a:t>We need to send out the survey</a:t>
            </a:r>
            <a:endParaRPr/>
          </a:p>
          <a:p>
            <a:pPr marL="1371600" lvl="2" indent="-342900" algn="l" rtl="0">
              <a:lnSpc>
                <a:spcPct val="100000"/>
              </a:lnSpc>
              <a:spcBef>
                <a:spcPts val="1000"/>
              </a:spcBef>
              <a:spcAft>
                <a:spcPts val="0"/>
              </a:spcAft>
              <a:buSzPts val="1800"/>
              <a:buChar char="•"/>
            </a:pPr>
            <a:r>
              <a:rPr lang="en-US"/>
              <a:t>Need to choose a wide variety of professors and TAs across various subjects</a:t>
            </a:r>
            <a:endParaRPr/>
          </a:p>
          <a:p>
            <a:pPr marL="914400" lvl="1" indent="-342900" algn="l" rtl="0">
              <a:lnSpc>
                <a:spcPct val="100000"/>
              </a:lnSpc>
              <a:spcBef>
                <a:spcPts val="1000"/>
              </a:spcBef>
              <a:spcAft>
                <a:spcPts val="0"/>
              </a:spcAft>
              <a:buSzPts val="1800"/>
              <a:buChar char="•"/>
            </a:pPr>
            <a:r>
              <a:rPr lang="en-US"/>
              <a:t>Data Analysis</a:t>
            </a:r>
            <a:endParaRPr/>
          </a:p>
          <a:p>
            <a:pPr marL="1371600" lvl="2" indent="-342900" algn="l" rtl="0">
              <a:lnSpc>
                <a:spcPct val="100000"/>
              </a:lnSpc>
              <a:spcBef>
                <a:spcPts val="1000"/>
              </a:spcBef>
              <a:spcAft>
                <a:spcPts val="0"/>
              </a:spcAft>
              <a:buSzPts val="1800"/>
              <a:buChar char="•"/>
            </a:pPr>
            <a:r>
              <a:rPr lang="en-US"/>
              <a:t>Will need to look into what metrics were ranked the highest and identify them to be placed on the dashboard</a:t>
            </a:r>
            <a:endParaRPr/>
          </a:p>
        </p:txBody>
      </p:sp>
      <p:sp>
        <p:nvSpPr>
          <p:cNvPr id="237" name="Google Shape;237;gefbeba6a1c_0_498"/>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User Surveys &amp; Interviews - Challenges &amp; Goals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efbeba6a1c_0_34"/>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9d659091a8_1_15"/>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Front-End Web Development</a:t>
            </a:r>
            <a:endParaRPr/>
          </a:p>
        </p:txBody>
      </p:sp>
      <p:sp>
        <p:nvSpPr>
          <p:cNvPr id="248" name="Google Shape;248;g9d659091a8_1_15"/>
          <p:cNvSpPr txBox="1">
            <a:spLocks noGrp="1"/>
          </p:cNvSpPr>
          <p:nvPr>
            <p:ph type="body" idx="1"/>
          </p:nvPr>
        </p:nvSpPr>
        <p:spPr>
          <a:xfrm>
            <a:off x="381000" y="1215474"/>
            <a:ext cx="11430000" cy="5073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500" b="1"/>
              <a:t>Challenges of Coding Front-End “Too Early”</a:t>
            </a:r>
            <a:endParaRPr sz="2500" b="1"/>
          </a:p>
          <a:p>
            <a:pPr marL="457200" lvl="0" indent="-387350" algn="l" rtl="0">
              <a:spcBef>
                <a:spcPts val="1000"/>
              </a:spcBef>
              <a:spcAft>
                <a:spcPts val="0"/>
              </a:spcAft>
              <a:buSzPts val="2500"/>
              <a:buChar char="•"/>
            </a:pPr>
            <a:r>
              <a:rPr lang="en-US" sz="2500"/>
              <a:t>a big time commitment up-front</a:t>
            </a:r>
            <a:endParaRPr sz="2500"/>
          </a:p>
          <a:p>
            <a:pPr marL="457200" lvl="0" indent="-387350" algn="l" rtl="0">
              <a:spcBef>
                <a:spcPts val="0"/>
              </a:spcBef>
              <a:spcAft>
                <a:spcPts val="0"/>
              </a:spcAft>
              <a:buSzPts val="2500"/>
              <a:buChar char="•"/>
            </a:pPr>
            <a:r>
              <a:rPr lang="en-US" sz="2500"/>
              <a:t>not very flexible to feedback</a:t>
            </a:r>
            <a:endParaRPr sz="2500"/>
          </a:p>
          <a:p>
            <a:pPr marL="914400" lvl="1" indent="-387350" algn="l" rtl="0">
              <a:spcBef>
                <a:spcPts val="0"/>
              </a:spcBef>
              <a:spcAft>
                <a:spcPts val="0"/>
              </a:spcAft>
              <a:buSzPts val="2500"/>
              <a:buChar char="•"/>
            </a:pPr>
            <a:r>
              <a:rPr lang="en-US" sz="2500"/>
              <a:t>or changing requirements</a:t>
            </a:r>
            <a:endParaRPr sz="2500"/>
          </a:p>
          <a:p>
            <a:pPr marL="457200" lvl="0" indent="-387350" algn="l" rtl="0">
              <a:spcBef>
                <a:spcPts val="0"/>
              </a:spcBef>
              <a:spcAft>
                <a:spcPts val="0"/>
              </a:spcAft>
              <a:buSzPts val="2500"/>
              <a:buChar char="•"/>
            </a:pPr>
            <a:r>
              <a:rPr lang="en-US" sz="2500"/>
              <a:t>“going in blind”</a:t>
            </a:r>
            <a:endParaRPr sz="2500"/>
          </a:p>
          <a:p>
            <a:pPr marL="0" lvl="0" indent="0" algn="l" rtl="0">
              <a:spcBef>
                <a:spcPts val="1000"/>
              </a:spcBef>
              <a:spcAft>
                <a:spcPts val="0"/>
              </a:spcAft>
              <a:buNone/>
            </a:pPr>
            <a:r>
              <a:rPr lang="en-US" sz="2500" b="1"/>
              <a:t>Solution?</a:t>
            </a:r>
            <a:endParaRPr sz="2500" b="1"/>
          </a:p>
          <a:p>
            <a:pPr marL="457200" lvl="0" indent="-387350" algn="l" rtl="0">
              <a:spcBef>
                <a:spcPts val="1000"/>
              </a:spcBef>
              <a:spcAft>
                <a:spcPts val="0"/>
              </a:spcAft>
              <a:buSzPts val="2500"/>
              <a:buChar char="•"/>
            </a:pPr>
            <a:r>
              <a:rPr lang="en-US" sz="2500"/>
              <a:t>clickable prototypes</a:t>
            </a:r>
            <a:endParaRPr sz="2500"/>
          </a:p>
          <a:p>
            <a:pPr marL="914400" lvl="1" indent="-387350" algn="l" rtl="0">
              <a:spcBef>
                <a:spcPts val="0"/>
              </a:spcBef>
              <a:spcAft>
                <a:spcPts val="0"/>
              </a:spcAft>
              <a:buSzPts val="2500"/>
              <a:buChar char="•"/>
            </a:pPr>
            <a:r>
              <a:rPr lang="en-US" sz="2500"/>
              <a:t>faster to make</a:t>
            </a:r>
            <a:endParaRPr sz="2500"/>
          </a:p>
          <a:p>
            <a:pPr marL="914400" lvl="1" indent="-387350" algn="l" rtl="0">
              <a:spcBef>
                <a:spcPts val="0"/>
              </a:spcBef>
              <a:spcAft>
                <a:spcPts val="0"/>
              </a:spcAft>
              <a:buSzPts val="2500"/>
              <a:buChar char="•"/>
            </a:pPr>
            <a:r>
              <a:rPr lang="en-US" sz="2500"/>
              <a:t>easier to edit</a:t>
            </a:r>
            <a:endParaRPr sz="2500"/>
          </a:p>
          <a:p>
            <a:pPr marL="914400" lvl="1" indent="-387350" algn="l" rtl="0">
              <a:spcBef>
                <a:spcPts val="0"/>
              </a:spcBef>
              <a:spcAft>
                <a:spcPts val="0"/>
              </a:spcAft>
              <a:buSzPts val="2500"/>
              <a:buChar char="•"/>
            </a:pPr>
            <a:r>
              <a:rPr lang="en-US" sz="2500"/>
              <a:t>able to get more constructive user feedback on designs</a:t>
            </a:r>
            <a:endParaRPr sz="2500"/>
          </a:p>
          <a:p>
            <a:pPr marL="914400" lvl="1" indent="-387350" algn="l" rtl="0">
              <a:spcBef>
                <a:spcPts val="0"/>
              </a:spcBef>
              <a:spcAft>
                <a:spcPts val="0"/>
              </a:spcAft>
              <a:buSzPts val="2500"/>
              <a:buChar char="•"/>
            </a:pPr>
            <a:r>
              <a:rPr lang="en-US" sz="2500"/>
              <a:t>allows experimentation with drastically different layouts/content</a:t>
            </a:r>
            <a:endParaRPr sz="2500"/>
          </a:p>
          <a:p>
            <a:pPr marL="457200" lvl="0" indent="-387350" algn="l" rtl="0">
              <a:spcBef>
                <a:spcPts val="0"/>
              </a:spcBef>
              <a:spcAft>
                <a:spcPts val="0"/>
              </a:spcAft>
              <a:buSzPts val="2500"/>
              <a:buChar char="•"/>
            </a:pPr>
            <a:r>
              <a:rPr lang="en-US" sz="2500"/>
              <a:t>made with Figma and interactive prototyping feature</a:t>
            </a:r>
            <a:endParaRPr sz="2500"/>
          </a:p>
          <a:p>
            <a:pPr marL="914400" lvl="1" indent="-387350" algn="l" rtl="0">
              <a:spcBef>
                <a:spcPts val="0"/>
              </a:spcBef>
              <a:spcAft>
                <a:spcPts val="0"/>
              </a:spcAft>
              <a:buSzPts val="2500"/>
              <a:buChar char="•"/>
            </a:pPr>
            <a:r>
              <a:rPr lang="en-US" sz="2500" u="sng">
                <a:solidFill>
                  <a:schemeClr val="hlink"/>
                </a:solidFill>
                <a:hlinkClick r:id="rId3"/>
              </a:rPr>
              <a:t>link to demo</a:t>
            </a:r>
            <a:endParaRPr sz="2500"/>
          </a:p>
        </p:txBody>
      </p:sp>
      <p:pic>
        <p:nvPicPr>
          <p:cNvPr id="249" name="Google Shape;249;g9d659091a8_1_15"/>
          <p:cNvPicPr preferRelativeResize="0"/>
          <p:nvPr/>
        </p:nvPicPr>
        <p:blipFill>
          <a:blip r:embed="rId4">
            <a:alphaModFix/>
          </a:blip>
          <a:stretch>
            <a:fillRect/>
          </a:stretch>
        </p:blipFill>
        <p:spPr>
          <a:xfrm>
            <a:off x="6997096" y="1270096"/>
            <a:ext cx="4535001" cy="3003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fb4c11e2d3_0_4"/>
          <p:cNvSpPr txBox="1">
            <a:spLocks noGrp="1"/>
          </p:cNvSpPr>
          <p:nvPr>
            <p:ph type="body" idx="1"/>
          </p:nvPr>
        </p:nvSpPr>
        <p:spPr>
          <a:xfrm>
            <a:off x="381000" y="1215474"/>
            <a:ext cx="11430000" cy="51186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Rapid user feedback!</a:t>
            </a:r>
            <a:endParaRPr/>
          </a:p>
          <a:p>
            <a:pPr marL="457200" lvl="0" indent="-342900" algn="l" rtl="0">
              <a:spcBef>
                <a:spcPts val="0"/>
              </a:spcBef>
              <a:spcAft>
                <a:spcPts val="0"/>
              </a:spcAft>
              <a:buSzPts val="1800"/>
              <a:buChar char="●"/>
            </a:pPr>
            <a:r>
              <a:rPr lang="en-US"/>
              <a:t>From a few teaching assistants for </a:t>
            </a:r>
            <a:r>
              <a:rPr lang="en-US" b="1"/>
              <a:t>CS 2340: Objects and Design</a:t>
            </a:r>
            <a:endParaRPr b="1"/>
          </a:p>
          <a:p>
            <a:pPr marL="457200" lvl="0" indent="-342900" algn="l" rtl="0">
              <a:spcBef>
                <a:spcPts val="0"/>
              </a:spcBef>
              <a:spcAft>
                <a:spcPts val="0"/>
              </a:spcAft>
              <a:buSzPts val="1800"/>
              <a:buChar char="●"/>
            </a:pPr>
            <a:r>
              <a:rPr lang="en-US"/>
              <a:t>Some comments/recommendations:</a:t>
            </a:r>
            <a:endParaRPr/>
          </a:p>
          <a:p>
            <a:pPr marL="914400" lvl="1" indent="-355600" algn="l" rtl="0">
              <a:spcBef>
                <a:spcPts val="0"/>
              </a:spcBef>
              <a:spcAft>
                <a:spcPts val="0"/>
              </a:spcAft>
              <a:buSzPts val="2000"/>
              <a:buChar char="○"/>
            </a:pPr>
            <a:r>
              <a:rPr lang="en-US" sz="2600"/>
              <a:t>Content:</a:t>
            </a:r>
            <a:endParaRPr sz="2600"/>
          </a:p>
          <a:p>
            <a:pPr marL="1371600" lvl="2" indent="-355600" algn="l" rtl="0">
              <a:spcBef>
                <a:spcPts val="0"/>
              </a:spcBef>
              <a:spcAft>
                <a:spcPts val="0"/>
              </a:spcAft>
              <a:buSzPts val="2000"/>
              <a:buChar char="■"/>
            </a:pPr>
            <a:r>
              <a:rPr lang="en-US" sz="2200"/>
              <a:t>“professors can bookmark specific statistics for ease-of-access”</a:t>
            </a:r>
            <a:endParaRPr sz="2200"/>
          </a:p>
          <a:p>
            <a:pPr marL="1371600" lvl="2" indent="-355600" algn="l" rtl="0">
              <a:spcBef>
                <a:spcPts val="0"/>
              </a:spcBef>
              <a:spcAft>
                <a:spcPts val="0"/>
              </a:spcAft>
              <a:buSzPts val="2000"/>
              <a:buChar char="■"/>
            </a:pPr>
            <a:r>
              <a:rPr lang="en-US" sz="2200"/>
              <a:t>“allow professors to compare classes”</a:t>
            </a:r>
            <a:endParaRPr sz="2200"/>
          </a:p>
          <a:p>
            <a:pPr marL="1828800" lvl="3" indent="-355600" algn="l" rtl="0">
              <a:spcBef>
                <a:spcPts val="0"/>
              </a:spcBef>
              <a:spcAft>
                <a:spcPts val="0"/>
              </a:spcAft>
              <a:buSzPts val="2000"/>
              <a:buChar char="●"/>
            </a:pPr>
            <a:r>
              <a:rPr lang="en-US" sz="2000"/>
              <a:t>“or even the same class but from previous semesters”</a:t>
            </a:r>
            <a:endParaRPr sz="2000"/>
          </a:p>
          <a:p>
            <a:pPr marL="1371600" lvl="2" indent="-355600" algn="l" rtl="0">
              <a:spcBef>
                <a:spcPts val="0"/>
              </a:spcBef>
              <a:spcAft>
                <a:spcPts val="0"/>
              </a:spcAft>
              <a:buSzPts val="2000"/>
              <a:buChar char="■"/>
            </a:pPr>
            <a:r>
              <a:rPr lang="en-US" sz="2200"/>
              <a:t>“how do professors dismiss warnings or alerts?”</a:t>
            </a:r>
            <a:endParaRPr sz="2200"/>
          </a:p>
          <a:p>
            <a:pPr marL="1371600" lvl="2" indent="-355600" algn="l" rtl="0">
              <a:spcBef>
                <a:spcPts val="0"/>
              </a:spcBef>
              <a:spcAft>
                <a:spcPts val="0"/>
              </a:spcAft>
              <a:buSzPts val="2000"/>
              <a:buChar char="■"/>
            </a:pPr>
            <a:r>
              <a:rPr lang="en-US" sz="2200"/>
              <a:t>“allow professors to download data for own use”</a:t>
            </a:r>
            <a:endParaRPr sz="2200"/>
          </a:p>
          <a:p>
            <a:pPr marL="914400" lvl="1" indent="-355600" algn="l" rtl="0">
              <a:spcBef>
                <a:spcPts val="0"/>
              </a:spcBef>
              <a:spcAft>
                <a:spcPts val="0"/>
              </a:spcAft>
              <a:buSzPts val="2000"/>
              <a:buChar char="○"/>
            </a:pPr>
            <a:r>
              <a:rPr lang="en-US" sz="2600"/>
              <a:t>Design:</a:t>
            </a:r>
            <a:endParaRPr sz="2600"/>
          </a:p>
          <a:p>
            <a:pPr marL="1371600" lvl="2" indent="-355600" algn="l" rtl="0">
              <a:spcBef>
                <a:spcPts val="0"/>
              </a:spcBef>
              <a:spcAft>
                <a:spcPts val="0"/>
              </a:spcAft>
              <a:buSzPts val="2000"/>
              <a:buChar char="■"/>
            </a:pPr>
            <a:r>
              <a:rPr lang="en-US" sz="2200"/>
              <a:t>“make graphs as clear as possible; have a zoom in feature”</a:t>
            </a:r>
            <a:endParaRPr sz="2200"/>
          </a:p>
          <a:p>
            <a:pPr marL="1371600" lvl="2" indent="-355600" algn="l" rtl="0">
              <a:spcBef>
                <a:spcPts val="0"/>
              </a:spcBef>
              <a:spcAft>
                <a:spcPts val="0"/>
              </a:spcAft>
              <a:buSzPts val="2000"/>
              <a:buChar char="■"/>
            </a:pPr>
            <a:r>
              <a:rPr lang="en-US" sz="2200"/>
              <a:t>“insights take up too much space, more room for statistics”</a:t>
            </a:r>
            <a:endParaRPr sz="2200"/>
          </a:p>
          <a:p>
            <a:pPr marL="1371600" lvl="2" indent="-355600" algn="l" rtl="0">
              <a:spcBef>
                <a:spcPts val="0"/>
              </a:spcBef>
              <a:spcAft>
                <a:spcPts val="0"/>
              </a:spcAft>
              <a:buSzPts val="2000"/>
              <a:buChar char="■"/>
            </a:pPr>
            <a:r>
              <a:rPr lang="en-US" sz="2200"/>
              <a:t>“add more icons for look and readability”</a:t>
            </a:r>
            <a:endParaRPr sz="2200"/>
          </a:p>
          <a:p>
            <a:pPr marL="1371600" lvl="2" indent="-355600" algn="l" rtl="0">
              <a:spcBef>
                <a:spcPts val="0"/>
              </a:spcBef>
              <a:spcAft>
                <a:spcPts val="0"/>
              </a:spcAft>
              <a:buSzPts val="2000"/>
              <a:buChar char="■"/>
            </a:pPr>
            <a:r>
              <a:rPr lang="en-US" sz="2200"/>
              <a:t>“scrolling through graphs might be annoying”</a:t>
            </a:r>
            <a:endParaRPr sz="2200"/>
          </a:p>
        </p:txBody>
      </p:sp>
      <p:sp>
        <p:nvSpPr>
          <p:cNvPr id="255" name="Google Shape;255;gfb4c11e2d3_0_4"/>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User Feedback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fb4c11e2d3_0_9"/>
          <p:cNvSpPr txBox="1">
            <a:spLocks noGrp="1"/>
          </p:cNvSpPr>
          <p:nvPr>
            <p:ph type="body" idx="1"/>
          </p:nvPr>
        </p:nvSpPr>
        <p:spPr>
          <a:xfrm>
            <a:off x="381000" y="1215484"/>
            <a:ext cx="11430000" cy="4596300"/>
          </a:xfrm>
          <a:prstGeom prst="rect">
            <a:avLst/>
          </a:prstGeom>
        </p:spPr>
        <p:txBody>
          <a:bodyPr spcFirstLastPara="1" wrap="square" lIns="91425" tIns="45700" rIns="91425" bIns="45700" anchor="t" anchorCtr="0">
            <a:normAutofit lnSpcReduction="10000"/>
          </a:bodyPr>
          <a:lstStyle/>
          <a:p>
            <a:pPr marL="457200" lvl="0" indent="-342900" algn="l" rtl="0">
              <a:lnSpc>
                <a:spcPct val="115000"/>
              </a:lnSpc>
              <a:spcBef>
                <a:spcPts val="1000"/>
              </a:spcBef>
              <a:spcAft>
                <a:spcPts val="0"/>
              </a:spcAft>
              <a:buSzPts val="1800"/>
              <a:buChar char="●"/>
            </a:pPr>
            <a:r>
              <a:rPr lang="en-US"/>
              <a:t>Continue user testing, gathering feedback</a:t>
            </a:r>
            <a:endParaRPr/>
          </a:p>
          <a:p>
            <a:pPr marL="914400" lvl="1" indent="-342900" algn="l" rtl="0">
              <a:lnSpc>
                <a:spcPct val="115000"/>
              </a:lnSpc>
              <a:spcBef>
                <a:spcPts val="0"/>
              </a:spcBef>
              <a:spcAft>
                <a:spcPts val="0"/>
              </a:spcAft>
              <a:buSzPts val="1800"/>
              <a:buChar char="○"/>
            </a:pPr>
            <a:r>
              <a:rPr lang="en-US"/>
              <a:t>get prototype in the hands of as many people</a:t>
            </a:r>
            <a:endParaRPr/>
          </a:p>
          <a:p>
            <a:pPr marL="914400" lvl="1" indent="-342900" algn="l" rtl="0">
              <a:lnSpc>
                <a:spcPct val="115000"/>
              </a:lnSpc>
              <a:spcBef>
                <a:spcPts val="0"/>
              </a:spcBef>
              <a:spcAft>
                <a:spcPts val="0"/>
              </a:spcAft>
              <a:buSzPts val="1800"/>
              <a:buChar char="○"/>
            </a:pPr>
            <a:r>
              <a:rPr lang="en-US"/>
              <a:t>refine prototype as much as possible</a:t>
            </a:r>
            <a:endParaRPr/>
          </a:p>
          <a:p>
            <a:pPr marL="914400" lvl="1" indent="-342900" algn="l" rtl="0">
              <a:lnSpc>
                <a:spcPct val="115000"/>
              </a:lnSpc>
              <a:spcBef>
                <a:spcPts val="0"/>
              </a:spcBef>
              <a:spcAft>
                <a:spcPts val="0"/>
              </a:spcAft>
              <a:buSzPts val="1800"/>
              <a:buChar char="○"/>
            </a:pPr>
            <a:r>
              <a:rPr lang="en-US"/>
              <a:t>combine findings with survey/interview results</a:t>
            </a:r>
            <a:endParaRPr/>
          </a:p>
          <a:p>
            <a:pPr marL="457200" lvl="0" indent="-342900" algn="l" rtl="0">
              <a:lnSpc>
                <a:spcPct val="115000"/>
              </a:lnSpc>
              <a:spcBef>
                <a:spcPts val="0"/>
              </a:spcBef>
              <a:spcAft>
                <a:spcPts val="0"/>
              </a:spcAft>
              <a:buSzPts val="1800"/>
              <a:buChar char="●"/>
            </a:pPr>
            <a:r>
              <a:rPr lang="en-US"/>
              <a:t>Solidify structure</a:t>
            </a:r>
            <a:endParaRPr/>
          </a:p>
          <a:p>
            <a:pPr marL="914400" lvl="1" indent="-342900" algn="l" rtl="0">
              <a:lnSpc>
                <a:spcPct val="115000"/>
              </a:lnSpc>
              <a:spcBef>
                <a:spcPts val="0"/>
              </a:spcBef>
              <a:spcAft>
                <a:spcPts val="0"/>
              </a:spcAft>
              <a:buSzPts val="1800"/>
              <a:buChar char="○"/>
            </a:pPr>
            <a:r>
              <a:rPr lang="en-US"/>
              <a:t>more meetings with data science team</a:t>
            </a:r>
            <a:endParaRPr/>
          </a:p>
          <a:p>
            <a:pPr marL="914400" lvl="1" indent="-342900" algn="l" rtl="0">
              <a:lnSpc>
                <a:spcPct val="115000"/>
              </a:lnSpc>
              <a:spcBef>
                <a:spcPts val="0"/>
              </a:spcBef>
              <a:spcAft>
                <a:spcPts val="0"/>
              </a:spcAft>
              <a:buSzPts val="1800"/>
              <a:buChar char="○"/>
            </a:pPr>
            <a:r>
              <a:rPr lang="en-US"/>
              <a:t>creating a more functional application</a:t>
            </a:r>
            <a:endParaRPr/>
          </a:p>
          <a:p>
            <a:pPr marL="457200" lvl="0" indent="-342900" algn="l" rtl="0">
              <a:lnSpc>
                <a:spcPct val="115000"/>
              </a:lnSpc>
              <a:spcBef>
                <a:spcPts val="0"/>
              </a:spcBef>
              <a:spcAft>
                <a:spcPts val="0"/>
              </a:spcAft>
              <a:buSzPts val="1800"/>
              <a:buChar char="●"/>
            </a:pPr>
            <a:r>
              <a:rPr lang="en-US"/>
              <a:t>Research more about:</a:t>
            </a:r>
            <a:endParaRPr sz="2500"/>
          </a:p>
          <a:p>
            <a:pPr marL="914400" lvl="1" indent="-342900" algn="l" rtl="0">
              <a:lnSpc>
                <a:spcPct val="115000"/>
              </a:lnSpc>
              <a:spcBef>
                <a:spcPts val="0"/>
              </a:spcBef>
              <a:spcAft>
                <a:spcPts val="0"/>
              </a:spcAft>
              <a:buSzPts val="1800"/>
              <a:buChar char="○"/>
            </a:pPr>
            <a:r>
              <a:rPr lang="en-US"/>
              <a:t>UX/UI design and best practices</a:t>
            </a:r>
            <a:endParaRPr/>
          </a:p>
          <a:p>
            <a:pPr marL="914400" lvl="1" indent="-342900" algn="l" rtl="0">
              <a:lnSpc>
                <a:spcPct val="115000"/>
              </a:lnSpc>
              <a:spcBef>
                <a:spcPts val="0"/>
              </a:spcBef>
              <a:spcAft>
                <a:spcPts val="0"/>
              </a:spcAft>
              <a:buSzPts val="1800"/>
              <a:buChar char="○"/>
            </a:pPr>
            <a:r>
              <a:rPr lang="en-US"/>
              <a:t>how to get the most out of feedback</a:t>
            </a:r>
            <a:endParaRPr/>
          </a:p>
          <a:p>
            <a:pPr marL="914400" lvl="1" indent="-342900" algn="l" rtl="0">
              <a:lnSpc>
                <a:spcPct val="115000"/>
              </a:lnSpc>
              <a:spcBef>
                <a:spcPts val="0"/>
              </a:spcBef>
              <a:spcAft>
                <a:spcPts val="0"/>
              </a:spcAft>
              <a:buSzPts val="1800"/>
              <a:buChar char="○"/>
            </a:pPr>
            <a:r>
              <a:rPr lang="en-US"/>
              <a:t>create document for future semesters</a:t>
            </a:r>
            <a:endParaRPr/>
          </a:p>
        </p:txBody>
      </p:sp>
      <p:sp>
        <p:nvSpPr>
          <p:cNvPr id="261" name="Google Shape;261;gfb4c11e2d3_0_9"/>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Next Steps</a:t>
            </a:r>
            <a:endParaRPr/>
          </a:p>
        </p:txBody>
      </p:sp>
      <p:pic>
        <p:nvPicPr>
          <p:cNvPr id="262" name="Google Shape;262;gfb4c11e2d3_0_9" descr="What Message is Your eCommerce UX Sending? | XOLogic"/>
          <p:cNvPicPr preferRelativeResize="0"/>
          <p:nvPr/>
        </p:nvPicPr>
        <p:blipFill>
          <a:blip r:embed="rId3">
            <a:alphaModFix/>
          </a:blip>
          <a:stretch>
            <a:fillRect/>
          </a:stretch>
        </p:blipFill>
        <p:spPr>
          <a:xfrm>
            <a:off x="8421150" y="1638738"/>
            <a:ext cx="3225750" cy="3243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efb32003ea_0_0"/>
          <p:cNvSpPr txBox="1">
            <a:spLocks noGrp="1"/>
          </p:cNvSpPr>
          <p:nvPr>
            <p:ph type="body" idx="1"/>
          </p:nvPr>
        </p:nvSpPr>
        <p:spPr>
          <a:xfrm>
            <a:off x="381000" y="1215484"/>
            <a:ext cx="11430000" cy="4596300"/>
          </a:xfrm>
          <a:prstGeom prst="rect">
            <a:avLst/>
          </a:prstGeom>
          <a:noFill/>
          <a:ln>
            <a:noFill/>
          </a:ln>
        </p:spPr>
        <p:txBody>
          <a:bodyPr spcFirstLastPara="1" wrap="square" lIns="91425" tIns="45700" rIns="91425" bIns="45700" anchor="t" anchorCtr="0">
            <a:normAutofit/>
          </a:bodyPr>
          <a:lstStyle/>
          <a:p>
            <a:pPr marL="457200" lvl="0" indent="-387350" algn="l" rtl="0">
              <a:lnSpc>
                <a:spcPct val="100000"/>
              </a:lnSpc>
              <a:spcBef>
                <a:spcPts val="1000"/>
              </a:spcBef>
              <a:spcAft>
                <a:spcPts val="0"/>
              </a:spcAft>
              <a:buSzPts val="2500"/>
              <a:buChar char="•"/>
            </a:pPr>
            <a:r>
              <a:rPr lang="en-US" sz="2500"/>
              <a:t>Focused more on the research aspect uptil now this semester</a:t>
            </a:r>
            <a:endParaRPr sz="2500"/>
          </a:p>
          <a:p>
            <a:pPr marL="914400" lvl="1" indent="-387350" algn="l" rtl="0">
              <a:lnSpc>
                <a:spcPct val="100000"/>
              </a:lnSpc>
              <a:spcBef>
                <a:spcPts val="1000"/>
              </a:spcBef>
              <a:spcAft>
                <a:spcPts val="0"/>
              </a:spcAft>
              <a:buSzPts val="2500"/>
              <a:buChar char="•"/>
            </a:pPr>
            <a:r>
              <a:rPr lang="en-US" sz="2500"/>
              <a:t>Revised the survey content from last semester and added some additional questions</a:t>
            </a:r>
            <a:endParaRPr sz="2500"/>
          </a:p>
          <a:p>
            <a:pPr marL="914400" lvl="1" indent="-387350" algn="l" rtl="0">
              <a:lnSpc>
                <a:spcPct val="100000"/>
              </a:lnSpc>
              <a:spcBef>
                <a:spcPts val="1000"/>
              </a:spcBef>
              <a:spcAft>
                <a:spcPts val="0"/>
              </a:spcAft>
              <a:buSzPts val="2500"/>
              <a:buChar char="•"/>
            </a:pPr>
            <a:r>
              <a:rPr lang="en-US" sz="2500"/>
              <a:t>Sending out the Google Form survey that ask instructor and TA’s relevant information about courses</a:t>
            </a:r>
            <a:endParaRPr sz="2500"/>
          </a:p>
          <a:p>
            <a:pPr marL="457200" lvl="0" indent="-387350" algn="l" rtl="0">
              <a:lnSpc>
                <a:spcPct val="100000"/>
              </a:lnSpc>
              <a:spcBef>
                <a:spcPts val="1000"/>
              </a:spcBef>
              <a:spcAft>
                <a:spcPts val="0"/>
              </a:spcAft>
              <a:buSzPts val="2500"/>
              <a:buChar char="•"/>
            </a:pPr>
            <a:r>
              <a:rPr lang="en-US" sz="2500"/>
              <a:t>Discussed interviewing more professors to get more insight</a:t>
            </a:r>
            <a:endParaRPr sz="2500"/>
          </a:p>
          <a:p>
            <a:pPr marL="457200" lvl="0" indent="-387350" algn="l" rtl="0">
              <a:lnSpc>
                <a:spcPct val="100000"/>
              </a:lnSpc>
              <a:spcBef>
                <a:spcPts val="1000"/>
              </a:spcBef>
              <a:spcAft>
                <a:spcPts val="0"/>
              </a:spcAft>
              <a:buSzPts val="2500"/>
              <a:buChar char="•"/>
            </a:pPr>
            <a:r>
              <a:rPr lang="en-US" sz="2500"/>
              <a:t>Had a meeting with members of the Data Science team to talk about web-app integration</a:t>
            </a:r>
            <a:endParaRPr sz="2500"/>
          </a:p>
          <a:p>
            <a:pPr marL="457200" lvl="0" indent="-387350" algn="l" rtl="0">
              <a:lnSpc>
                <a:spcPct val="100000"/>
              </a:lnSpc>
              <a:spcBef>
                <a:spcPts val="1000"/>
              </a:spcBef>
              <a:spcAft>
                <a:spcPts val="0"/>
              </a:spcAft>
              <a:buSzPts val="2500"/>
              <a:buChar char="•"/>
            </a:pPr>
            <a:r>
              <a:rPr lang="en-US" sz="2500"/>
              <a:t>Next steps: work on producing a full stack model.</a:t>
            </a:r>
            <a:endParaRPr sz="2500"/>
          </a:p>
        </p:txBody>
      </p:sp>
      <p:sp>
        <p:nvSpPr>
          <p:cNvPr id="268" name="Google Shape;268;gefb32003ea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Back-End Web Development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1"/>
          <p:cNvSpPr txBox="1">
            <a:spLocks noGrp="1"/>
          </p:cNvSpPr>
          <p:nvPr>
            <p:ph type="body" idx="1"/>
          </p:nvPr>
        </p:nvSpPr>
        <p:spPr>
          <a:xfrm>
            <a:off x="381000" y="1215471"/>
            <a:ext cx="11430000" cy="5088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US" sz="2400">
                <a:solidFill>
                  <a:srgbClr val="000000"/>
                </a:solidFill>
              </a:rPr>
              <a:t>By the end of semester, we’re targeting the following deliverables:</a:t>
            </a:r>
            <a:endParaRPr sz="2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Project Roadmap</a:t>
            </a:r>
            <a:endParaRPr sz="2400" b="1">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Working prototype of dashboard that displays results from original Piazza data - sentiment vs time, etc.</a:t>
            </a:r>
            <a:endParaRPr sz="20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Data science</a:t>
            </a:r>
            <a:endParaRPr sz="2400" b="1">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Formulate 4-5 key metrics that are of highest relevance to instructors, and build models to automatically compute those from the Piazza data</a:t>
            </a:r>
            <a:endParaRPr sz="2000">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Study factors influencing social presence and impact on student outcomes</a:t>
            </a:r>
            <a:endParaRPr sz="20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Web development</a:t>
            </a:r>
            <a:endParaRPr sz="2400" b="1">
              <a:solidFill>
                <a:srgbClr val="000000"/>
              </a:solidFill>
            </a:endParaRPr>
          </a:p>
          <a:p>
            <a:pPr marL="914400" lvl="1" indent="-317500" algn="l" rtl="0">
              <a:lnSpc>
                <a:spcPct val="115000"/>
              </a:lnSpc>
              <a:spcBef>
                <a:spcPts val="1000"/>
              </a:spcBef>
              <a:spcAft>
                <a:spcPts val="1000"/>
              </a:spcAft>
              <a:buClr>
                <a:srgbClr val="000000"/>
              </a:buClr>
              <a:buSzPts val="1400"/>
              <a:buChar char="•"/>
            </a:pPr>
            <a:r>
              <a:rPr lang="en-US" sz="2000">
                <a:solidFill>
                  <a:srgbClr val="000000"/>
                </a:solidFill>
              </a:rPr>
              <a:t>Integration with the predictive models on the backend, and explore data ingestion directly from Piazza into SQL database</a:t>
            </a:r>
            <a:endParaRPr sz="2000">
              <a:solidFill>
                <a:srgbClr val="000000"/>
              </a:solidFill>
            </a:endParaRPr>
          </a:p>
        </p:txBody>
      </p:sp>
      <p:sp>
        <p:nvSpPr>
          <p:cNvPr id="274" name="Google Shape;274;p11"/>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Conclusion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9d48565bb2_0_10"/>
          <p:cNvSpPr txBox="1">
            <a:spLocks noGrp="1"/>
          </p:cNvSpPr>
          <p:nvPr>
            <p:ph type="body" idx="1"/>
          </p:nvPr>
        </p:nvSpPr>
        <p:spPr>
          <a:xfrm>
            <a:off x="381000" y="1215473"/>
            <a:ext cx="11430000" cy="5818500"/>
          </a:xfrm>
          <a:prstGeom prst="rect">
            <a:avLst/>
          </a:prstGeom>
          <a:noFill/>
          <a:ln>
            <a:noFill/>
          </a:ln>
        </p:spPr>
        <p:txBody>
          <a:bodyPr spcFirstLastPara="1" wrap="square" lIns="91425" tIns="45700" rIns="91425" bIns="45700" anchor="t" anchorCtr="0">
            <a:noAutofit/>
          </a:bodyPr>
          <a:lstStyle/>
          <a:p>
            <a:pPr marL="457200" lvl="0" indent="-349250" algn="l" rtl="0">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lang="en-US" sz="1900" i="1"/>
              <a:t>The Internet and Higher Education</a:t>
            </a:r>
            <a:r>
              <a:rPr lang="en-US" sz="1900"/>
              <a:t>, 2(2–3), 87–105. https://doi.org/10.1016/S1096-7516(00)00016-6</a:t>
            </a:r>
            <a:endParaRPr sz="1900"/>
          </a:p>
          <a:p>
            <a:pPr marL="457200" lvl="0" indent="-349250" algn="l" rtl="0">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lang="en-US" sz="1900" i="1"/>
              <a:t>American Journal of Distance Education</a:t>
            </a:r>
            <a:r>
              <a:rPr lang="en-US" sz="1900"/>
              <a:t>, 15(1), 7–23. https://doi.org/10.1080/08923640109527071</a:t>
            </a:r>
            <a:endParaRPr sz="1900"/>
          </a:p>
          <a:p>
            <a:pPr marL="457200" lvl="0" indent="-349250" algn="l" rtl="0">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marL="457200" lvl="0" indent="-349250" algn="l" rtl="0">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lang="en-US" sz="1900" i="1"/>
              <a:t>Ain Sham Engineering Journals.</a:t>
            </a:r>
            <a:r>
              <a:rPr lang="en-US" sz="1900"/>
              <a:t> </a:t>
            </a:r>
            <a:r>
              <a:rPr lang="en-US" sz="1900">
                <a:solidFill>
                  <a:schemeClr val="hlink"/>
                </a:solidFill>
                <a:uFill>
                  <a:noFill/>
                </a:uFill>
                <a:hlinkClick r:id="rId3"/>
              </a:rPr>
              <a:t>https://doi.org/10.1016/j.asej.2014.04.011</a:t>
            </a:r>
            <a:endParaRPr sz="1900"/>
          </a:p>
        </p:txBody>
      </p:sp>
      <p:sp>
        <p:nvSpPr>
          <p:cNvPr id="280" name="Google Shape;280;g9d48565bb2_0_1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Citations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2"/>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Questions?</a:t>
            </a:r>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2012</Words>
  <Application>Microsoft Office PowerPoint</Application>
  <PresentationFormat>Widescreen</PresentationFormat>
  <Paragraphs>230</Paragraphs>
  <Slides>24</Slides>
  <Notes>24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24</vt:i4>
      </vt:variant>
    </vt:vector>
  </HeadingPairs>
  <TitlesOfParts>
    <vt:vector size="29" baseType="lpstr">
      <vt:lpstr>Roboto Condensed Light</vt:lpstr>
      <vt:lpstr>Arial</vt:lpstr>
      <vt:lpstr>Roboto</vt:lpstr>
      <vt:lpstr>Custom Design</vt:lpstr>
      <vt:lpstr>1_Custom Design</vt:lpstr>
      <vt:lpstr>Data Driven Education</vt:lpstr>
      <vt:lpstr>Team Members</vt:lpstr>
      <vt:lpstr>Introduction</vt:lpstr>
      <vt:lpstr>Overview of how the data is being used</vt:lpstr>
      <vt:lpstr>Progress updates brief</vt:lpstr>
      <vt:lpstr>Data Science</vt:lpstr>
      <vt:lpstr>Research Goal</vt:lpstr>
      <vt:lpstr>Sentiment Analysis updates</vt:lpstr>
      <vt:lpstr>Cognitive Presence (Garrison et al., 2001)</vt:lpstr>
      <vt:lpstr>Cognitive Presence Modeling updates </vt:lpstr>
      <vt:lpstr>Social Presence updates</vt:lpstr>
      <vt:lpstr>Student Outcomes Analysis updates</vt:lpstr>
      <vt:lpstr>Student Outcomes Analysis (cont)</vt:lpstr>
      <vt:lpstr>UX Research</vt:lpstr>
      <vt:lpstr>User Surveys &amp; Interviews - updates</vt:lpstr>
      <vt:lpstr>User Surveys &amp; Interviews - Challenges &amp; Goals</vt:lpstr>
      <vt:lpstr>Web Development</vt:lpstr>
      <vt:lpstr>Front-End Web Development</vt:lpstr>
      <vt:lpstr>User Feedback</vt:lpstr>
      <vt:lpstr>Next Steps</vt:lpstr>
      <vt:lpstr>Back-End Web Development</vt:lpstr>
      <vt:lpstr>Conclusion</vt:lpstr>
      <vt:lpstr>Citations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Education</dc:title>
  <dc:creator>Microsoft Office User</dc:creator>
  <cp:lastModifiedBy>Agarwal, Pratik</cp:lastModifiedBy>
  <cp:revision>1</cp:revision>
  <dcterms:created xsi:type="dcterms:W3CDTF">2016-03-09T16:46:53Z</dcterms:created>
  <dcterms:modified xsi:type="dcterms:W3CDTF">2021-10-28T00:22:41Z</dcterms:modified>
</cp:coreProperties>
</file>