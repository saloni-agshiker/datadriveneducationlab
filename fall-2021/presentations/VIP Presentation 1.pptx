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6858000" cx="12192000"/>
  <p:notesSz cx="6858000" cy="9144000"/>
  <p:embeddedFontLst>
    <p:embeddedFont>
      <p:font typeface="Roboto"/>
      <p:regular r:id="rId37"/>
      <p:bold r:id="rId38"/>
      <p:italic r:id="rId39"/>
      <p:boldItalic r:id="rId40"/>
    </p:embeddedFont>
    <p:embeddedFont>
      <p:font typeface="Roboto Condensed Light"/>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73">
          <p15:clr>
            <a:srgbClr val="000000"/>
          </p15:clr>
        </p15:guide>
        <p15:guide id="2" pos="244">
          <p15:clr>
            <a:srgbClr val="000000"/>
          </p15:clr>
        </p15:guide>
      </p15:sldGuideLst>
    </p:ext>
    <p:ext uri="http://customooxmlschemas.google.com/">
      <go:slidesCustomData xmlns:go="http://customooxmlschemas.google.com/" r:id="rId45" roundtripDataSignature="AMtx7mjYSgtLK79J1XtgH8mDDd0AMwPB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73" orient="horz"/>
        <p:guide pos="24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20" Type="http://schemas.openxmlformats.org/officeDocument/2006/relationships/slide" Target="slides/slide14.xml"/><Relationship Id="rId42" Type="http://schemas.openxmlformats.org/officeDocument/2006/relationships/font" Target="fonts/RobotoCondensedLight-bold.fntdata"/><Relationship Id="rId41" Type="http://schemas.openxmlformats.org/officeDocument/2006/relationships/font" Target="fonts/RobotoCondensedLight-regular.fntdata"/><Relationship Id="rId22" Type="http://schemas.openxmlformats.org/officeDocument/2006/relationships/slide" Target="slides/slide16.xml"/><Relationship Id="rId44" Type="http://schemas.openxmlformats.org/officeDocument/2006/relationships/font" Target="fonts/RobotoCondensedLight-boldItalic.fntdata"/><Relationship Id="rId21" Type="http://schemas.openxmlformats.org/officeDocument/2006/relationships/slide" Target="slides/slide15.xml"/><Relationship Id="rId43" Type="http://schemas.openxmlformats.org/officeDocument/2006/relationships/font" Target="fonts/RobotoCondensedLight-italic.fntdata"/><Relationship Id="rId24" Type="http://schemas.openxmlformats.org/officeDocument/2006/relationships/slide" Target="slides/slide18.xml"/><Relationship Id="rId23" Type="http://schemas.openxmlformats.org/officeDocument/2006/relationships/slide" Target="slides/slide17.xml"/><Relationship Id="rId45"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oboto-regular.fnt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Roboto-italic.fntdata"/><Relationship Id="rId16" Type="http://schemas.openxmlformats.org/officeDocument/2006/relationships/slide" Target="slides/slide10.xml"/><Relationship Id="rId38" Type="http://schemas.openxmlformats.org/officeDocument/2006/relationships/font" Target="fonts/Roboto-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Pratik</a:t>
            </a:r>
            <a:endParaRPr/>
          </a:p>
        </p:txBody>
      </p:sp>
      <p:sp>
        <p:nvSpPr>
          <p:cNvPr id="74" name="Google Shape;7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All</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9d48565bb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g9d48565bb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Discussion forums are the primary source of class interaction in an online asynchronous course. The activity on these forums can be used as an indicator for assessing students’ engagement and </a:t>
            </a:r>
            <a:r>
              <a:rPr lang="en-US"/>
              <a:t>understanding</a:t>
            </a:r>
            <a:r>
              <a:rPr lang="en-US"/>
              <a:t> in the course. A popular framework in this context is the community of inquiry framework. </a:t>
            </a:r>
            <a:r>
              <a:rPr lang="en-US">
                <a:solidFill>
                  <a:schemeClr val="dk1"/>
                </a:solidFill>
              </a:rPr>
              <a:t>It</a:t>
            </a:r>
            <a:r>
              <a:rPr lang="en-US">
                <a:solidFill>
                  <a:schemeClr val="dk1"/>
                </a:solidFill>
              </a:rPr>
              <a:t> gives us a way to study how student learning takes place in online and blended environments. As shown in the diagram there are 3 components, cognitive presence, social presence and teaching presence.</a:t>
            </a:r>
            <a:r>
              <a:rPr lang="en-US"/>
              <a:t>W</a:t>
            </a:r>
            <a:r>
              <a:rPr lang="en-US"/>
              <a:t>e’re focusing on the first two as of now. The ultimate long term goal is to have a web-based application to be used by professors, that gives them insights in real-time which can be used to improve the student experience and engagement in their courses.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ba764dde3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ba764dde3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In the previous semester, we were able to get a working demo of the web-app on dummy data. In addition, we conducted interviews/surveys with multiple </a:t>
            </a:r>
            <a:r>
              <a:rPr lang="en-US"/>
              <a:t>instructors to identify the metrics of interest that they’d like to track for their courses. The data science team parallely focused on building a machine learning model to automatically classify threads/comments and started exploring the social component of these interactions. The details will be listed by the respective teams.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f4b38d880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f4b38d880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Talking of overall learnings, we realized the importance of conducting interviews with end-users early-on, which helps keep the project focused. In addition, the use of Trello for tracking sprints and individual progress, communication using slack, and the importance of documentation (meetings, notebooks, code etc.) was also acknowledged. For this semester, the goal is to go one step further by adopting industry best-practices of documentation, test-driven development and maintaining a well-structured design document. The possibility of a Continuous Integration and Deployment pipeline for the web-app will also be explored. Now, I’ll let the teams walk through the details, starting with the data science team.</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efbeba6a1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efbeba6a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bea1223c9f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bea1223c9f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Nidhi</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efbeba6a1c_0_5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gefbeba6a1c_0_5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Nidhi</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bea1223c9f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gbea1223c9f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f234d063be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gf234d063be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efbeba6a1c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gefbeba6a1c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32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efbeba6a1c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efbeba6a1c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Sarah</a:t>
            </a:r>
            <a:endParaRPr/>
          </a:p>
          <a:p>
            <a:pPr indent="0" lvl="0" marL="0" rtl="0" algn="l">
              <a:lnSpc>
                <a:spcPct val="100000"/>
              </a:lnSpc>
              <a:spcBef>
                <a:spcPts val="0"/>
              </a:spcBef>
              <a:spcAft>
                <a:spcPts val="0"/>
              </a:spcAft>
              <a:buSzPts val="1100"/>
              <a:buNone/>
            </a:pPr>
            <a:r>
              <a:rPr lang="en-US"/>
              <a:t>social presence </a:t>
            </a:r>
            <a:r>
              <a:rPr lang="en-US"/>
              <a:t>desks</a:t>
            </a:r>
            <a:r>
              <a:rPr lang="en-US"/>
              <a:t> more with looking at students as individuals</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f4bb9c8d2f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f4bb9c8d2f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sarah</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efbeba6a1c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efbeba6a1c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Sarah</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efbeba6a1c_0_5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efbeba6a1c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efbeba6a1c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gefbeba6a1c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Nidhi</a:t>
            </a:r>
            <a:endParaRPr/>
          </a:p>
          <a:p>
            <a:pPr indent="0" lvl="0" marL="0" rtl="0" algn="l">
              <a:lnSpc>
                <a:spcPct val="100000"/>
              </a:lnSpc>
              <a:spcBef>
                <a:spcPts val="0"/>
              </a:spcBef>
              <a:spcAft>
                <a:spcPts val="0"/>
              </a:spcAft>
              <a:buSzPts val="1100"/>
              <a:buNone/>
            </a:pPr>
            <a:r>
              <a:rPr lang="en-US"/>
              <a:t>Joyner - talked about threading issues regarding structure of interface, and sampling bias becasue few students actually participate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efbeba6a1c_0_4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efbeba6a1c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Nidhi</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efbeba6a1c_0_4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efbeba6a1c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Gautam</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efbeba6a1c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efbeba6a1c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9d659091a8_1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g9d659091a8_1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Sambhav</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efb32003e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efb32003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Aanya</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f234d063be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gf234d063be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Gautam</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To conclude, the next steps in the roadmap are conducting more interviews/survey which will be used to improve the user-interface by the web-app team, getting the design document ready and integration of the classification pipeline with the web-app. In addition, we’ll also continue exploring </a:t>
            </a:r>
            <a:r>
              <a:rPr lang="en-US"/>
              <a:t>social presence and tuning our cognitive presence model to get better performance. Thank you for your time.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9d48565bb2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g9d48565bb2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efbeba6a1c_0_5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gefbeba6a1c_0_5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Malav</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bee4de09ef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gbee4de09ef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bee4de09ef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gbee4de09ef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ba764dde3e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gba764dde3e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bea1223c9f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gbea1223c9f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 name="Shape 6"/>
        <p:cNvGrpSpPr/>
        <p:nvPr/>
      </p:nvGrpSpPr>
      <p:grpSpPr>
        <a:xfrm>
          <a:off x="0" y="0"/>
          <a:ext cx="0" cy="0"/>
          <a:chOff x="0" y="0"/>
          <a:chExt cx="0" cy="0"/>
        </a:xfrm>
      </p:grpSpPr>
      <p:sp>
        <p:nvSpPr>
          <p:cNvPr id="7" name="Google Shape;7;p14"/>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lvl1pPr lvl="0" marR="0" rtl="0" algn="l">
              <a:lnSpc>
                <a:spcPct val="120000"/>
              </a:lnSpc>
              <a:spcBef>
                <a:spcPts val="600"/>
              </a:spcBef>
              <a:spcAft>
                <a:spcPts val="0"/>
              </a:spcAft>
              <a:buClr>
                <a:srgbClr val="7F7F7F"/>
              </a:buClr>
              <a:buSzPts val="3000"/>
              <a:buFont typeface="Arial"/>
              <a:buNone/>
              <a:defRPr b="0" i="0" sz="3000" u="none" cap="none" strike="noStrike">
                <a:solidFill>
                  <a:srgbClr val="7F7F7F"/>
                </a:solidFill>
                <a:latin typeface="Roboto Condensed Light"/>
                <a:ea typeface="Roboto Condensed Light"/>
                <a:cs typeface="Roboto Condensed Light"/>
                <a:sym typeface="Roboto Condensed Light"/>
              </a:defRPr>
            </a:lvl1pPr>
            <a:lvl2pPr lvl="1" marR="0" rtl="0" algn="ctr">
              <a:lnSpc>
                <a:spcPct val="100000"/>
              </a:lnSpc>
              <a:spcBef>
                <a:spcPts val="420"/>
              </a:spcBef>
              <a:spcAft>
                <a:spcPts val="0"/>
              </a:spcAft>
              <a:buClr>
                <a:srgbClr val="888888"/>
              </a:buClr>
              <a:buSzPts val="2100"/>
              <a:buFont typeface="Arial"/>
              <a:buNone/>
              <a:defRPr b="0" i="0" sz="2100" u="none" cap="none" strike="noStrike">
                <a:solidFill>
                  <a:srgbClr val="888888"/>
                </a:solidFill>
                <a:latin typeface="Arial"/>
                <a:ea typeface="Arial"/>
                <a:cs typeface="Arial"/>
                <a:sym typeface="Arial"/>
              </a:defRPr>
            </a:lvl2pPr>
            <a:lvl3pPr lvl="2" marR="0" rtl="0" algn="ctr">
              <a:lnSpc>
                <a:spcPct val="100000"/>
              </a:lnSpc>
              <a:spcBef>
                <a:spcPts val="360"/>
              </a:spcBef>
              <a:spcAft>
                <a:spcPts val="0"/>
              </a:spcAft>
              <a:buClr>
                <a:srgbClr val="888888"/>
              </a:buClr>
              <a:buSzPts val="1800"/>
              <a:buFont typeface="Arial"/>
              <a:buNone/>
              <a:defRPr b="0" i="0" sz="1800" u="none" cap="none" strike="noStrike">
                <a:solidFill>
                  <a:srgbClr val="888888"/>
                </a:solidFill>
                <a:latin typeface="Arial"/>
                <a:ea typeface="Arial"/>
                <a:cs typeface="Arial"/>
                <a:sym typeface="Arial"/>
              </a:defRPr>
            </a:lvl3pPr>
            <a:lvl4pPr lvl="3"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4pPr>
            <a:lvl5pPr lvl="4"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5pPr>
            <a:lvl6pPr lvl="5"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6pPr>
            <a:lvl7pPr lvl="6"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7pPr>
            <a:lvl8pPr lvl="7"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8pPr>
            <a:lvl9pPr lvl="8"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9pPr>
          </a:lstStyle>
          <a:p/>
        </p:txBody>
      </p:sp>
      <p:sp>
        <p:nvSpPr>
          <p:cNvPr id="8" name="Google Shape;8;p14"/>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lvl1pPr lvl="0" marR="0" rtl="0" algn="l">
              <a:lnSpc>
                <a:spcPct val="114285"/>
              </a:lnSpc>
              <a:spcBef>
                <a:spcPts val="0"/>
              </a:spcBef>
              <a:spcAft>
                <a:spcPts val="0"/>
              </a:spcAft>
              <a:buClr>
                <a:srgbClr val="A7934B"/>
              </a:buClr>
              <a:buSzPts val="4200"/>
              <a:buFont typeface="Roboto"/>
              <a:buNone/>
              <a:defRPr b="1" i="0" sz="42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
        <p:nvSpPr>
          <p:cNvPr id="16" name="Google Shape;16;p16"/>
          <p:cNvSpPr txBox="1"/>
          <p:nvPr>
            <p:ph idx="1" type="body"/>
          </p:nvPr>
        </p:nvSpPr>
        <p:spPr>
          <a:xfrm>
            <a:off x="381000" y="1215484"/>
            <a:ext cx="11430000" cy="459635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16"/>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6"/>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6"/>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0" name="Google Shape;20;p16"/>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17"/>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7"/>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7"/>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spTree>
      <p:nvGrpSpPr>
        <p:cNvPr id="25" name="Shape 25"/>
        <p:cNvGrpSpPr/>
        <p:nvPr/>
      </p:nvGrpSpPr>
      <p:grpSpPr>
        <a:xfrm>
          <a:off x="0" y="0"/>
          <a:ext cx="0" cy="0"/>
          <a:chOff x="0" y="0"/>
          <a:chExt cx="0" cy="0"/>
        </a:xfrm>
      </p:grpSpPr>
      <p:sp>
        <p:nvSpPr>
          <p:cNvPr id="26" name="Google Shape;26;p18"/>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8"/>
          <p:cNvSpPr txBox="1"/>
          <p:nvPr>
            <p:ph idx="1" type="body"/>
          </p:nvPr>
        </p:nvSpPr>
        <p:spPr>
          <a:xfrm>
            <a:off x="379048" y="1215483"/>
            <a:ext cx="5615353" cy="4961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8"/>
          <p:cNvSpPr txBox="1"/>
          <p:nvPr>
            <p:ph idx="2" type="body"/>
          </p:nvPr>
        </p:nvSpPr>
        <p:spPr>
          <a:xfrm>
            <a:off x="6197600" y="1215483"/>
            <a:ext cx="5613400" cy="4961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8"/>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8"/>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8"/>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2" name="Shape 32"/>
        <p:cNvGrpSpPr/>
        <p:nvPr/>
      </p:nvGrpSpPr>
      <p:grpSpPr>
        <a:xfrm>
          <a:off x="0" y="0"/>
          <a:ext cx="0" cy="0"/>
          <a:chOff x="0" y="0"/>
          <a:chExt cx="0" cy="0"/>
        </a:xfrm>
      </p:grpSpPr>
      <p:sp>
        <p:nvSpPr>
          <p:cNvPr id="33" name="Google Shape;33;p19"/>
          <p:cNvSpPr txBox="1"/>
          <p:nvPr>
            <p:ph idx="1" type="body"/>
          </p:nvPr>
        </p:nvSpPr>
        <p:spPr>
          <a:xfrm>
            <a:off x="381001" y="1235113"/>
            <a:ext cx="5617633"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4" name="Google Shape;34;p19"/>
          <p:cNvSpPr txBox="1"/>
          <p:nvPr>
            <p:ph idx="2" type="body"/>
          </p:nvPr>
        </p:nvSpPr>
        <p:spPr>
          <a:xfrm>
            <a:off x="381001" y="2078657"/>
            <a:ext cx="5617633" cy="4111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19"/>
          <p:cNvSpPr txBox="1"/>
          <p:nvPr>
            <p:ph idx="3" type="body"/>
          </p:nvPr>
        </p:nvSpPr>
        <p:spPr>
          <a:xfrm>
            <a:off x="6172200" y="1235113"/>
            <a:ext cx="563880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6" name="Google Shape;36;p19"/>
          <p:cNvSpPr txBox="1"/>
          <p:nvPr>
            <p:ph idx="4" type="body"/>
          </p:nvPr>
        </p:nvSpPr>
        <p:spPr>
          <a:xfrm>
            <a:off x="6172200" y="2078657"/>
            <a:ext cx="5638800" cy="4111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9"/>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9"/>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9"/>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19"/>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spTree>
      <p:nvGrpSpPr>
        <p:cNvPr id="41" name="Shape 41"/>
        <p:cNvGrpSpPr/>
        <p:nvPr/>
      </p:nvGrpSpPr>
      <p:grpSpPr>
        <a:xfrm>
          <a:off x="0" y="0"/>
          <a:ext cx="0" cy="0"/>
          <a:chOff x="0" y="0"/>
          <a:chExt cx="0" cy="0"/>
        </a:xfrm>
      </p:grpSpPr>
      <p:sp>
        <p:nvSpPr>
          <p:cNvPr id="42" name="Google Shape;42;p20"/>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0"/>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0"/>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0"/>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type="objTx">
  <p:cSld name="OBJECT_WITH_CAPTION_TEXT">
    <p:spTree>
      <p:nvGrpSpPr>
        <p:cNvPr id="46" name="Shape 46"/>
        <p:cNvGrpSpPr/>
        <p:nvPr/>
      </p:nvGrpSpPr>
      <p:grpSpPr>
        <a:xfrm>
          <a:off x="0" y="0"/>
          <a:ext cx="0" cy="0"/>
          <a:chOff x="0" y="0"/>
          <a:chExt cx="0" cy="0"/>
        </a:xfrm>
      </p:grpSpPr>
      <p:sp>
        <p:nvSpPr>
          <p:cNvPr id="47" name="Google Shape;47;p21"/>
          <p:cNvSpPr txBox="1"/>
          <p:nvPr>
            <p:ph type="title"/>
          </p:nvPr>
        </p:nvSpPr>
        <p:spPr>
          <a:xfrm>
            <a:off x="381001" y="457200"/>
            <a:ext cx="393276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1"/>
          <p:cNvSpPr txBox="1"/>
          <p:nvPr>
            <p:ph idx="1" type="body"/>
          </p:nvPr>
        </p:nvSpPr>
        <p:spPr>
          <a:xfrm>
            <a:off x="4313768" y="457201"/>
            <a:ext cx="7497233" cy="540385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9" name="Google Shape;49;p21"/>
          <p:cNvSpPr txBox="1"/>
          <p:nvPr>
            <p:ph idx="2" type="body"/>
          </p:nvPr>
        </p:nvSpPr>
        <p:spPr>
          <a:xfrm>
            <a:off x="381001" y="2274849"/>
            <a:ext cx="3932767" cy="35941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0" name="Google Shape;50;p21"/>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1"/>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picTx">
  <p:cSld name="PICTURE_WITH_CAPTION_TEXT">
    <p:spTree>
      <p:nvGrpSpPr>
        <p:cNvPr id="53" name="Shape 53"/>
        <p:cNvGrpSpPr/>
        <p:nvPr/>
      </p:nvGrpSpPr>
      <p:grpSpPr>
        <a:xfrm>
          <a:off x="0" y="0"/>
          <a:ext cx="0" cy="0"/>
          <a:chOff x="0" y="0"/>
          <a:chExt cx="0" cy="0"/>
        </a:xfrm>
      </p:grpSpPr>
      <p:sp>
        <p:nvSpPr>
          <p:cNvPr id="54" name="Google Shape;54;p22"/>
          <p:cNvSpPr txBox="1"/>
          <p:nvPr>
            <p:ph type="title"/>
          </p:nvPr>
        </p:nvSpPr>
        <p:spPr>
          <a:xfrm>
            <a:off x="381001" y="457200"/>
            <a:ext cx="393276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2"/>
          <p:cNvSpPr/>
          <p:nvPr>
            <p:ph idx="2" type="pic"/>
          </p:nvPr>
        </p:nvSpPr>
        <p:spPr>
          <a:xfrm>
            <a:off x="4313768" y="457201"/>
            <a:ext cx="7497233" cy="5403850"/>
          </a:xfrm>
          <a:prstGeom prst="rect">
            <a:avLst/>
          </a:prstGeom>
          <a:noFill/>
          <a:ln>
            <a:noFill/>
          </a:ln>
        </p:spPr>
      </p:sp>
      <p:sp>
        <p:nvSpPr>
          <p:cNvPr id="56" name="Google Shape;56;p22"/>
          <p:cNvSpPr txBox="1"/>
          <p:nvPr>
            <p:ph idx="1" type="body"/>
          </p:nvPr>
        </p:nvSpPr>
        <p:spPr>
          <a:xfrm>
            <a:off x="381001" y="2274849"/>
            <a:ext cx="3932767" cy="35941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7" name="Google Shape;57;p22"/>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2"/>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spTree>
      <p:nvGrpSpPr>
        <p:cNvPr id="60" name="Shape 60"/>
        <p:cNvGrpSpPr/>
        <p:nvPr/>
      </p:nvGrpSpPr>
      <p:grpSpPr>
        <a:xfrm>
          <a:off x="0" y="0"/>
          <a:ext cx="0" cy="0"/>
          <a:chOff x="0" y="0"/>
          <a:chExt cx="0" cy="0"/>
        </a:xfrm>
      </p:grpSpPr>
      <p:sp>
        <p:nvSpPr>
          <p:cNvPr id="61" name="Google Shape;61;p23"/>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3"/>
          <p:cNvSpPr txBox="1"/>
          <p:nvPr>
            <p:ph idx="1" type="body"/>
          </p:nvPr>
        </p:nvSpPr>
        <p:spPr>
          <a:xfrm rot="5400000">
            <a:off x="3797823" y="-2201338"/>
            <a:ext cx="4596355" cy="11430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23"/>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3"/>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3"/>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spTree>
      <p:nvGrpSpPr>
        <p:cNvPr id="66" name="Shape 66"/>
        <p:cNvGrpSpPr/>
        <p:nvPr/>
      </p:nvGrpSpPr>
      <p:grpSpPr>
        <a:xfrm>
          <a:off x="0" y="0"/>
          <a:ext cx="0" cy="0"/>
          <a:chOff x="0" y="0"/>
          <a:chExt cx="0" cy="0"/>
        </a:xfrm>
      </p:grpSpPr>
      <p:sp>
        <p:nvSpPr>
          <p:cNvPr id="67" name="Google Shape;67;p24"/>
          <p:cNvSpPr txBox="1"/>
          <p:nvPr>
            <p:ph type="title"/>
          </p:nvPr>
        </p:nvSpPr>
        <p:spPr>
          <a:xfrm rot="5400000">
            <a:off x="7590632"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4"/>
          <p:cNvSpPr txBox="1"/>
          <p:nvPr>
            <p:ph idx="1" type="body"/>
          </p:nvPr>
        </p:nvSpPr>
        <p:spPr>
          <a:xfrm rot="5400000">
            <a:off x="1875632" y="-1129506"/>
            <a:ext cx="5811838" cy="88011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4"/>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4"/>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3.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A7934B"/>
              </a:buClr>
              <a:buSzPts val="3600"/>
              <a:buFont typeface="Roboto"/>
              <a:buNone/>
              <a:defRPr b="1" i="0" sz="36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5"/>
          <p:cNvSpPr txBox="1"/>
          <p:nvPr>
            <p:ph idx="1" type="body"/>
          </p:nvPr>
        </p:nvSpPr>
        <p:spPr>
          <a:xfrm>
            <a:off x="381000" y="1215484"/>
            <a:ext cx="11430000" cy="4596355"/>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Roboto"/>
                <a:ea typeface="Roboto"/>
                <a:cs typeface="Roboto"/>
                <a:sym typeface="Robo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Roboto"/>
                <a:ea typeface="Roboto"/>
                <a:cs typeface="Roboto"/>
                <a:sym typeface="Robo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5"/>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5"/>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5"/>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15.png"/><Relationship Id="rId9" Type="http://schemas.openxmlformats.org/officeDocument/2006/relationships/image" Target="../media/image9.jpg"/><Relationship Id="rId5" Type="http://schemas.openxmlformats.org/officeDocument/2006/relationships/image" Target="../media/image5.jpg"/><Relationship Id="rId6" Type="http://schemas.openxmlformats.org/officeDocument/2006/relationships/image" Target="../media/image2.png"/><Relationship Id="rId7" Type="http://schemas.openxmlformats.org/officeDocument/2006/relationships/image" Target="../media/image12.png"/><Relationship Id="rId8"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doi.org/10.1016/j.asej.2014.04.011"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 name="Shape 75"/>
        <p:cNvGrpSpPr/>
        <p:nvPr/>
      </p:nvGrpSpPr>
      <p:grpSpPr>
        <a:xfrm>
          <a:off x="0" y="0"/>
          <a:ext cx="0" cy="0"/>
          <a:chOff x="0" y="0"/>
          <a:chExt cx="0" cy="0"/>
        </a:xfrm>
      </p:grpSpPr>
      <p:sp>
        <p:nvSpPr>
          <p:cNvPr id="76" name="Google Shape;76;p1"/>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rgbClr val="7F7F7F"/>
              </a:buClr>
              <a:buSzPts val="3000"/>
              <a:buNone/>
            </a:pPr>
            <a:r>
              <a:rPr lang="en-US"/>
              <a:t>Discussion Forum Subteam</a:t>
            </a:r>
            <a:endParaRPr/>
          </a:p>
          <a:p>
            <a:pPr indent="0" lvl="0" marL="0" rtl="0" algn="l">
              <a:lnSpc>
                <a:spcPct val="120000"/>
              </a:lnSpc>
              <a:spcBef>
                <a:spcPts val="600"/>
              </a:spcBef>
              <a:spcAft>
                <a:spcPts val="0"/>
              </a:spcAft>
              <a:buClr>
                <a:srgbClr val="7F7F7F"/>
              </a:buClr>
              <a:buSzPts val="3000"/>
              <a:buNone/>
            </a:pPr>
            <a:r>
              <a:rPr lang="en-US"/>
              <a:t>Presentation 1 - 9/29/2021</a:t>
            </a:r>
            <a:endParaRPr/>
          </a:p>
        </p:txBody>
      </p:sp>
      <p:sp>
        <p:nvSpPr>
          <p:cNvPr id="77" name="Google Shape;77;p1"/>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p>
            <a:pPr indent="0" lvl="0" marL="0" rtl="0" algn="l">
              <a:lnSpc>
                <a:spcPct val="114285"/>
              </a:lnSpc>
              <a:spcBef>
                <a:spcPts val="0"/>
              </a:spcBef>
              <a:spcAft>
                <a:spcPts val="0"/>
              </a:spcAft>
              <a:buClr>
                <a:srgbClr val="A7934B"/>
              </a:buClr>
              <a:buSzPts val="4200"/>
              <a:buFont typeface="Roboto"/>
              <a:buNone/>
            </a:pPr>
            <a:r>
              <a:rPr lang="en-US"/>
              <a:t>Data Driven Education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800"/>
              <a:buNone/>
            </a:pPr>
            <a:r>
              <a:rPr lang="en-US"/>
              <a:t>Team Members</a:t>
            </a:r>
            <a:endParaRPr/>
          </a:p>
        </p:txBody>
      </p:sp>
      <p:sp>
        <p:nvSpPr>
          <p:cNvPr id="83" name="Google Shape;83;p2"/>
          <p:cNvSpPr txBox="1"/>
          <p:nvPr/>
        </p:nvSpPr>
        <p:spPr>
          <a:xfrm>
            <a:off x="1537750" y="5614188"/>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Aanya Khandelwal</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Back-end</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Developer</a:t>
            </a:r>
            <a:endParaRPr b="0" i="0" sz="1400" u="none" cap="none" strike="noStrike">
              <a:solidFill>
                <a:srgbClr val="000000"/>
              </a:solidFill>
              <a:latin typeface="Roboto"/>
              <a:ea typeface="Roboto"/>
              <a:cs typeface="Roboto"/>
              <a:sym typeface="Roboto"/>
            </a:endParaRPr>
          </a:p>
        </p:txBody>
      </p:sp>
      <p:sp>
        <p:nvSpPr>
          <p:cNvPr id="84" name="Google Shape;84;p2"/>
          <p:cNvSpPr txBox="1"/>
          <p:nvPr/>
        </p:nvSpPr>
        <p:spPr>
          <a:xfrm>
            <a:off x="4110175" y="56002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Gautam Sugasi</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Back-end </a:t>
            </a:r>
            <a:endParaRPr>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Develope</a:t>
            </a:r>
            <a:r>
              <a:rPr b="0" i="0" lang="en-US" sz="1400" u="none" cap="none" strike="noStrike">
                <a:solidFill>
                  <a:srgbClr val="000000"/>
                </a:solidFill>
                <a:latin typeface="Roboto"/>
                <a:ea typeface="Roboto"/>
                <a:cs typeface="Roboto"/>
                <a:sym typeface="Roboto"/>
              </a:rPr>
              <a:t>r</a:t>
            </a:r>
            <a:endParaRPr b="0" i="0" sz="1400" u="none" cap="none" strike="noStrike">
              <a:solidFill>
                <a:srgbClr val="000000"/>
              </a:solidFill>
              <a:latin typeface="Roboto"/>
              <a:ea typeface="Roboto"/>
              <a:cs typeface="Roboto"/>
              <a:sym typeface="Roboto"/>
            </a:endParaRPr>
          </a:p>
        </p:txBody>
      </p:sp>
      <p:sp>
        <p:nvSpPr>
          <p:cNvPr id="85" name="Google Shape;85;p2"/>
          <p:cNvSpPr txBox="1"/>
          <p:nvPr/>
        </p:nvSpPr>
        <p:spPr>
          <a:xfrm>
            <a:off x="6682600" y="56002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Sambhav Jaideep</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Front-end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Web Developer</a:t>
            </a:r>
            <a:endParaRPr b="0" i="0" sz="1400" u="none" cap="none" strike="noStrike">
              <a:solidFill>
                <a:srgbClr val="000000"/>
              </a:solidFill>
              <a:latin typeface="Roboto"/>
              <a:ea typeface="Roboto"/>
              <a:cs typeface="Roboto"/>
              <a:sym typeface="Roboto"/>
            </a:endParaRPr>
          </a:p>
        </p:txBody>
      </p:sp>
      <p:sp>
        <p:nvSpPr>
          <p:cNvPr id="86" name="Google Shape;86;p2"/>
          <p:cNvSpPr txBox="1"/>
          <p:nvPr/>
        </p:nvSpPr>
        <p:spPr>
          <a:xfrm>
            <a:off x="6687563" y="29478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Nidhi Pai</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sp>
        <p:nvSpPr>
          <p:cNvPr id="87" name="Google Shape;87;p2"/>
          <p:cNvSpPr/>
          <p:nvPr/>
        </p:nvSpPr>
        <p:spPr>
          <a:xfrm>
            <a:off x="7001200" y="42751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
          <p:cNvSpPr txBox="1"/>
          <p:nvPr/>
        </p:nvSpPr>
        <p:spPr>
          <a:xfrm>
            <a:off x="9207425" y="409525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Pratik Agarwal</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Project Manager</a:t>
            </a:r>
            <a:endParaRPr b="0" i="0" sz="1400" u="none" cap="none" strike="noStrike">
              <a:solidFill>
                <a:srgbClr val="000000"/>
              </a:solidFill>
              <a:latin typeface="Roboto"/>
              <a:ea typeface="Roboto"/>
              <a:cs typeface="Roboto"/>
              <a:sym typeface="Roboto"/>
            </a:endParaRPr>
          </a:p>
        </p:txBody>
      </p:sp>
      <p:pic>
        <p:nvPicPr>
          <p:cNvPr id="89" name="Google Shape;89;p2"/>
          <p:cNvPicPr preferRelativeResize="0"/>
          <p:nvPr/>
        </p:nvPicPr>
        <p:blipFill rotWithShape="1">
          <a:blip r:embed="rId3">
            <a:alphaModFix/>
          </a:blip>
          <a:srcRect b="0" l="0" r="0" t="0"/>
          <a:stretch/>
        </p:blipFill>
        <p:spPr>
          <a:xfrm>
            <a:off x="6953050" y="4242100"/>
            <a:ext cx="1249500" cy="1249500"/>
          </a:xfrm>
          <a:prstGeom prst="ellipse">
            <a:avLst/>
          </a:prstGeom>
          <a:noFill/>
          <a:ln>
            <a:noFill/>
          </a:ln>
        </p:spPr>
      </p:pic>
      <p:sp>
        <p:nvSpPr>
          <p:cNvPr id="90" name="Google Shape;90;p2"/>
          <p:cNvSpPr/>
          <p:nvPr/>
        </p:nvSpPr>
        <p:spPr>
          <a:xfrm>
            <a:off x="4404700" y="43291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1" name="Google Shape;91;p2"/>
          <p:cNvPicPr preferRelativeResize="0"/>
          <p:nvPr/>
        </p:nvPicPr>
        <p:blipFill rotWithShape="1">
          <a:blip r:embed="rId4">
            <a:alphaModFix/>
          </a:blip>
          <a:srcRect b="0" l="2552" r="2561" t="0"/>
          <a:stretch/>
        </p:blipFill>
        <p:spPr>
          <a:xfrm>
            <a:off x="6927588" y="1554300"/>
            <a:ext cx="1252800" cy="1320300"/>
          </a:xfrm>
          <a:prstGeom prst="ellipse">
            <a:avLst/>
          </a:prstGeom>
          <a:noFill/>
          <a:ln>
            <a:noFill/>
          </a:ln>
        </p:spPr>
      </p:pic>
      <p:pic>
        <p:nvPicPr>
          <p:cNvPr id="92" name="Google Shape;92;p2"/>
          <p:cNvPicPr preferRelativeResize="0"/>
          <p:nvPr/>
        </p:nvPicPr>
        <p:blipFill rotWithShape="1">
          <a:blip r:embed="rId5">
            <a:alphaModFix/>
          </a:blip>
          <a:srcRect b="0" l="0" r="0" t="0"/>
          <a:stretch/>
        </p:blipFill>
        <p:spPr>
          <a:xfrm>
            <a:off x="1866300" y="4329112"/>
            <a:ext cx="1252800" cy="1269000"/>
          </a:xfrm>
          <a:prstGeom prst="ellipse">
            <a:avLst/>
          </a:prstGeom>
          <a:noFill/>
          <a:ln>
            <a:noFill/>
          </a:ln>
          <a:effectLst>
            <a:outerShdw blurRad="57150" rotWithShape="0" algn="bl" dir="5400000" dist="19050">
              <a:srgbClr val="000000">
                <a:alpha val="49803"/>
              </a:srgbClr>
            </a:outerShdw>
          </a:effectLst>
        </p:spPr>
      </p:pic>
      <p:pic>
        <p:nvPicPr>
          <p:cNvPr id="93" name="Google Shape;93;p2"/>
          <p:cNvPicPr preferRelativeResize="0"/>
          <p:nvPr/>
        </p:nvPicPr>
        <p:blipFill rotWithShape="1">
          <a:blip r:embed="rId6">
            <a:alphaModFix/>
          </a:blip>
          <a:srcRect b="0" l="0" r="0" t="0"/>
          <a:stretch/>
        </p:blipFill>
        <p:spPr>
          <a:xfrm>
            <a:off x="9458825" y="2737800"/>
            <a:ext cx="1413775" cy="1413750"/>
          </a:xfrm>
          <a:prstGeom prst="rect">
            <a:avLst/>
          </a:prstGeom>
          <a:noFill/>
          <a:ln>
            <a:noFill/>
          </a:ln>
        </p:spPr>
      </p:pic>
      <p:sp>
        <p:nvSpPr>
          <p:cNvPr id="94" name="Google Shape;94;p2"/>
          <p:cNvSpPr txBox="1"/>
          <p:nvPr/>
        </p:nvSpPr>
        <p:spPr>
          <a:xfrm>
            <a:off x="1537750" y="28254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Malav Patel</a:t>
            </a:r>
            <a:endParaRPr>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Data Scientist</a:t>
            </a:r>
            <a:endParaRPr>
              <a:latin typeface="Roboto"/>
              <a:ea typeface="Roboto"/>
              <a:cs typeface="Roboto"/>
              <a:sym typeface="Roboto"/>
            </a:endParaRPr>
          </a:p>
        </p:txBody>
      </p:sp>
      <p:sp>
        <p:nvSpPr>
          <p:cNvPr id="95" name="Google Shape;95;p2"/>
          <p:cNvSpPr txBox="1"/>
          <p:nvPr/>
        </p:nvSpPr>
        <p:spPr>
          <a:xfrm>
            <a:off x="4110175" y="28254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Sarah Kaufman</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lang="en-US">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pic>
        <p:nvPicPr>
          <p:cNvPr id="96" name="Google Shape;96;p2"/>
          <p:cNvPicPr preferRelativeResize="0"/>
          <p:nvPr/>
        </p:nvPicPr>
        <p:blipFill rotWithShape="1">
          <a:blip r:embed="rId7">
            <a:alphaModFix/>
          </a:blip>
          <a:srcRect b="15388" l="0" r="0" t="20468"/>
          <a:stretch/>
        </p:blipFill>
        <p:spPr>
          <a:xfrm>
            <a:off x="4356550" y="4214050"/>
            <a:ext cx="1249500" cy="1413600"/>
          </a:xfrm>
          <a:prstGeom prst="ellipse">
            <a:avLst/>
          </a:prstGeom>
          <a:noFill/>
          <a:ln>
            <a:noFill/>
          </a:ln>
        </p:spPr>
      </p:pic>
      <p:pic>
        <p:nvPicPr>
          <p:cNvPr id="97" name="Google Shape;97;p2"/>
          <p:cNvPicPr preferRelativeResize="0"/>
          <p:nvPr/>
        </p:nvPicPr>
        <p:blipFill>
          <a:blip r:embed="rId8">
            <a:alphaModFix/>
          </a:blip>
          <a:stretch>
            <a:fillRect/>
          </a:stretch>
        </p:blipFill>
        <p:spPr>
          <a:xfrm>
            <a:off x="1715699" y="1554300"/>
            <a:ext cx="1367439" cy="1320300"/>
          </a:xfrm>
          <a:prstGeom prst="rect">
            <a:avLst/>
          </a:prstGeom>
          <a:noFill/>
          <a:ln>
            <a:noFill/>
          </a:ln>
        </p:spPr>
      </p:pic>
      <p:pic>
        <p:nvPicPr>
          <p:cNvPr id="98" name="Google Shape;98;p2"/>
          <p:cNvPicPr preferRelativeResize="0"/>
          <p:nvPr/>
        </p:nvPicPr>
        <p:blipFill rotWithShape="1">
          <a:blip r:embed="rId9">
            <a:alphaModFix/>
          </a:blip>
          <a:srcRect b="0" l="13267" r="13267" t="0"/>
          <a:stretch/>
        </p:blipFill>
        <p:spPr>
          <a:xfrm>
            <a:off x="4321649" y="1505100"/>
            <a:ext cx="1367400" cy="132030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g9d48565bb2_0_0"/>
          <p:cNvSpPr txBox="1"/>
          <p:nvPr>
            <p:ph idx="1" type="body"/>
          </p:nvPr>
        </p:nvSpPr>
        <p:spPr>
          <a:xfrm>
            <a:off x="381000" y="1215475"/>
            <a:ext cx="7187100" cy="45963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1500"/>
              </a:spcBef>
              <a:spcAft>
                <a:spcPts val="0"/>
              </a:spcAft>
              <a:buSzPts val="1600"/>
              <a:buChar char="●"/>
            </a:pPr>
            <a:r>
              <a:rPr lang="en-US" sz="2600"/>
              <a:t>Discussion forums</a:t>
            </a:r>
            <a:endParaRPr sz="2600"/>
          </a:p>
          <a:p>
            <a:pPr indent="-330200" lvl="1" marL="914400" rtl="0" algn="l">
              <a:lnSpc>
                <a:spcPct val="100000"/>
              </a:lnSpc>
              <a:spcBef>
                <a:spcPts val="1500"/>
              </a:spcBef>
              <a:spcAft>
                <a:spcPts val="0"/>
              </a:spcAft>
              <a:buSzPts val="1600"/>
              <a:buChar char="•"/>
            </a:pPr>
            <a:r>
              <a:rPr lang="en-US" sz="2200"/>
              <a:t>Online formats - primary source of interaction</a:t>
            </a:r>
            <a:endParaRPr sz="2200"/>
          </a:p>
          <a:p>
            <a:pPr indent="-330200" lvl="0" marL="457200" rtl="0" algn="l">
              <a:lnSpc>
                <a:spcPct val="100000"/>
              </a:lnSpc>
              <a:spcBef>
                <a:spcPts val="1500"/>
              </a:spcBef>
              <a:spcAft>
                <a:spcPts val="0"/>
              </a:spcAft>
              <a:buSzPts val="1600"/>
              <a:buChar char="●"/>
            </a:pPr>
            <a:r>
              <a:rPr lang="en-US" sz="2600"/>
              <a:t>Student interaction </a:t>
            </a:r>
            <a:endParaRPr sz="2600"/>
          </a:p>
          <a:p>
            <a:pPr indent="-330200" lvl="1" marL="914400" rtl="0" algn="l">
              <a:lnSpc>
                <a:spcPct val="100000"/>
              </a:lnSpc>
              <a:spcBef>
                <a:spcPts val="1500"/>
              </a:spcBef>
              <a:spcAft>
                <a:spcPts val="0"/>
              </a:spcAft>
              <a:buSzPts val="1600"/>
              <a:buChar char="•"/>
            </a:pPr>
            <a:r>
              <a:rPr lang="en-US" sz="2200"/>
              <a:t>Cognitive presence</a:t>
            </a:r>
            <a:endParaRPr sz="2200"/>
          </a:p>
          <a:p>
            <a:pPr indent="-330200" lvl="1" marL="914400" rtl="0" algn="l">
              <a:lnSpc>
                <a:spcPct val="100000"/>
              </a:lnSpc>
              <a:spcBef>
                <a:spcPts val="1500"/>
              </a:spcBef>
              <a:spcAft>
                <a:spcPts val="0"/>
              </a:spcAft>
              <a:buSzPts val="1600"/>
              <a:buChar char="•"/>
            </a:pPr>
            <a:r>
              <a:rPr lang="en-US" sz="2200"/>
              <a:t>Social presence</a:t>
            </a:r>
            <a:endParaRPr sz="2200"/>
          </a:p>
          <a:p>
            <a:pPr indent="-330200" lvl="0" marL="457200" rtl="0" algn="l">
              <a:lnSpc>
                <a:spcPct val="100000"/>
              </a:lnSpc>
              <a:spcBef>
                <a:spcPts val="1500"/>
              </a:spcBef>
              <a:spcAft>
                <a:spcPts val="0"/>
              </a:spcAft>
              <a:buSzPts val="1600"/>
              <a:buChar char="●"/>
            </a:pPr>
            <a:r>
              <a:rPr lang="en-US" sz="2600"/>
              <a:t>Activity on forums indicative of student engagement and interest</a:t>
            </a:r>
            <a:endParaRPr sz="2600"/>
          </a:p>
          <a:p>
            <a:pPr indent="-330200" lvl="0" marL="457200" rtl="0" algn="l">
              <a:lnSpc>
                <a:spcPct val="100000"/>
              </a:lnSpc>
              <a:spcBef>
                <a:spcPts val="1500"/>
              </a:spcBef>
              <a:spcAft>
                <a:spcPts val="1500"/>
              </a:spcAft>
              <a:buSzPts val="1600"/>
              <a:buChar char="●"/>
            </a:pPr>
            <a:r>
              <a:rPr b="1" lang="en-US" sz="2600"/>
              <a:t>Goal:</a:t>
            </a:r>
            <a:r>
              <a:rPr lang="en-US" sz="2600"/>
              <a:t> Creating a web application to be used by professors to make their courses more effective and engaging</a:t>
            </a:r>
            <a:endParaRPr sz="2600"/>
          </a:p>
        </p:txBody>
      </p:sp>
      <p:sp>
        <p:nvSpPr>
          <p:cNvPr id="104" name="Google Shape;104;g9d48565bb2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Introduction</a:t>
            </a:r>
            <a:endParaRPr/>
          </a:p>
        </p:txBody>
      </p:sp>
      <p:pic>
        <p:nvPicPr>
          <p:cNvPr id="105" name="Google Shape;105;g9d48565bb2_0_0"/>
          <p:cNvPicPr preferRelativeResize="0"/>
          <p:nvPr/>
        </p:nvPicPr>
        <p:blipFill rotWithShape="1">
          <a:blip r:embed="rId3">
            <a:alphaModFix/>
          </a:blip>
          <a:srcRect b="0" l="0" r="0" t="0"/>
          <a:stretch/>
        </p:blipFill>
        <p:spPr>
          <a:xfrm>
            <a:off x="6123100" y="1018700"/>
            <a:ext cx="3108126" cy="802100"/>
          </a:xfrm>
          <a:prstGeom prst="rect">
            <a:avLst/>
          </a:prstGeom>
          <a:noFill/>
          <a:ln>
            <a:noFill/>
          </a:ln>
        </p:spPr>
      </p:pic>
      <p:pic>
        <p:nvPicPr>
          <p:cNvPr id="106" name="Google Shape;106;g9d48565bb2_0_0"/>
          <p:cNvPicPr preferRelativeResize="0"/>
          <p:nvPr/>
        </p:nvPicPr>
        <p:blipFill>
          <a:blip r:embed="rId4">
            <a:alphaModFix/>
          </a:blip>
          <a:stretch>
            <a:fillRect/>
          </a:stretch>
        </p:blipFill>
        <p:spPr>
          <a:xfrm>
            <a:off x="7568100" y="1950800"/>
            <a:ext cx="4442200" cy="3991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ba764dde3e_0_0"/>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500"/>
              </a:spcBef>
              <a:spcAft>
                <a:spcPts val="0"/>
              </a:spcAft>
              <a:buSzPts val="1800"/>
              <a:buChar char="●"/>
            </a:pPr>
            <a:r>
              <a:rPr b="1" lang="en-US"/>
              <a:t>Data Science</a:t>
            </a:r>
            <a:endParaRPr b="1"/>
          </a:p>
          <a:p>
            <a:pPr indent="-342900" lvl="1" marL="914400" rtl="0" algn="l">
              <a:lnSpc>
                <a:spcPct val="100000"/>
              </a:lnSpc>
              <a:spcBef>
                <a:spcPts val="1500"/>
              </a:spcBef>
              <a:spcAft>
                <a:spcPts val="0"/>
              </a:spcAft>
              <a:buSzPts val="1800"/>
              <a:buChar char="•"/>
            </a:pPr>
            <a:r>
              <a:rPr lang="en-US"/>
              <a:t>Model for automated classification of </a:t>
            </a:r>
            <a:r>
              <a:rPr lang="en-US"/>
              <a:t>cognitive</a:t>
            </a:r>
            <a:r>
              <a:rPr lang="en-US"/>
              <a:t> presence</a:t>
            </a:r>
            <a:endParaRPr/>
          </a:p>
          <a:p>
            <a:pPr indent="-342900" lvl="1" marL="914400" rtl="0" algn="l">
              <a:lnSpc>
                <a:spcPct val="100000"/>
              </a:lnSpc>
              <a:spcBef>
                <a:spcPts val="1500"/>
              </a:spcBef>
              <a:spcAft>
                <a:spcPts val="0"/>
              </a:spcAft>
              <a:buSzPts val="1800"/>
              <a:buChar char="•"/>
            </a:pPr>
            <a:r>
              <a:rPr lang="en-US"/>
              <a:t>Exploratory social network analysis highlighting the concentration of activity in forums around certain users </a:t>
            </a:r>
            <a:endParaRPr/>
          </a:p>
          <a:p>
            <a:pPr indent="-342900" lvl="0" marL="457200" rtl="0" algn="l">
              <a:lnSpc>
                <a:spcPct val="100000"/>
              </a:lnSpc>
              <a:spcBef>
                <a:spcPts val="1500"/>
              </a:spcBef>
              <a:spcAft>
                <a:spcPts val="0"/>
              </a:spcAft>
              <a:buSzPts val="1800"/>
              <a:buChar char="●"/>
            </a:pPr>
            <a:r>
              <a:rPr b="1" lang="en-US"/>
              <a:t>UX research</a:t>
            </a:r>
            <a:endParaRPr b="1"/>
          </a:p>
          <a:p>
            <a:pPr indent="-342900" lvl="1" marL="914400" rtl="0" algn="l">
              <a:lnSpc>
                <a:spcPct val="100000"/>
              </a:lnSpc>
              <a:spcBef>
                <a:spcPts val="1500"/>
              </a:spcBef>
              <a:spcAft>
                <a:spcPts val="0"/>
              </a:spcAft>
              <a:buSzPts val="1800"/>
              <a:buChar char="•"/>
            </a:pPr>
            <a:r>
              <a:rPr lang="en-US"/>
              <a:t>Interviews/surveys with instructors</a:t>
            </a:r>
            <a:endParaRPr/>
          </a:p>
          <a:p>
            <a:pPr indent="-342900" lvl="1" marL="914400" rtl="0" algn="l">
              <a:lnSpc>
                <a:spcPct val="100000"/>
              </a:lnSpc>
              <a:spcBef>
                <a:spcPts val="1500"/>
              </a:spcBef>
              <a:spcAft>
                <a:spcPts val="0"/>
              </a:spcAft>
              <a:buSzPts val="1800"/>
              <a:buChar char="•"/>
            </a:pPr>
            <a:r>
              <a:rPr lang="en-US"/>
              <a:t>Identification of metrics of interest, and some preliminary visualizations for these metrics</a:t>
            </a:r>
            <a:endParaRPr/>
          </a:p>
          <a:p>
            <a:pPr indent="-342900" lvl="0" marL="457200" rtl="0" algn="l">
              <a:lnSpc>
                <a:spcPct val="100000"/>
              </a:lnSpc>
              <a:spcBef>
                <a:spcPts val="1500"/>
              </a:spcBef>
              <a:spcAft>
                <a:spcPts val="0"/>
              </a:spcAft>
              <a:buSzPts val="1800"/>
              <a:buChar char="●"/>
            </a:pPr>
            <a:r>
              <a:rPr b="1" lang="en-US"/>
              <a:t>Web-dev</a:t>
            </a:r>
            <a:endParaRPr b="1"/>
          </a:p>
          <a:p>
            <a:pPr indent="-342900" lvl="1" marL="914400" rtl="0" algn="l">
              <a:lnSpc>
                <a:spcPct val="100000"/>
              </a:lnSpc>
              <a:spcBef>
                <a:spcPts val="1500"/>
              </a:spcBef>
              <a:spcAft>
                <a:spcPts val="0"/>
              </a:spcAft>
              <a:buSzPts val="1800"/>
              <a:buChar char="•"/>
            </a:pPr>
            <a:r>
              <a:rPr lang="en-US"/>
              <a:t>Working demo of the web-app based on dummy data</a:t>
            </a:r>
            <a:endParaRPr/>
          </a:p>
          <a:p>
            <a:pPr indent="0" lvl="0" marL="0" rtl="0" algn="l">
              <a:lnSpc>
                <a:spcPct val="100000"/>
              </a:lnSpc>
              <a:spcBef>
                <a:spcPts val="1500"/>
              </a:spcBef>
              <a:spcAft>
                <a:spcPts val="1500"/>
              </a:spcAft>
              <a:buSzPts val="1800"/>
              <a:buNone/>
            </a:pPr>
            <a:r>
              <a:t/>
            </a:r>
            <a:endParaRPr/>
          </a:p>
        </p:txBody>
      </p:sp>
      <p:sp>
        <p:nvSpPr>
          <p:cNvPr id="112" name="Google Shape;112;gba764dde3e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Recap of Spring 2021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gf4b38d8802_0_0"/>
          <p:cNvPicPr preferRelativeResize="0"/>
          <p:nvPr/>
        </p:nvPicPr>
        <p:blipFill>
          <a:blip r:embed="rId3">
            <a:alphaModFix/>
          </a:blip>
          <a:stretch>
            <a:fillRect/>
          </a:stretch>
        </p:blipFill>
        <p:spPr>
          <a:xfrm>
            <a:off x="5897050" y="2846613"/>
            <a:ext cx="5819775" cy="1781175"/>
          </a:xfrm>
          <a:prstGeom prst="rect">
            <a:avLst/>
          </a:prstGeom>
          <a:noFill/>
          <a:ln>
            <a:noFill/>
          </a:ln>
        </p:spPr>
      </p:pic>
      <p:sp>
        <p:nvSpPr>
          <p:cNvPr id="118" name="Google Shape;118;gf4b38d8802_0_0"/>
          <p:cNvSpPr txBox="1"/>
          <p:nvPr/>
        </p:nvSpPr>
        <p:spPr>
          <a:xfrm>
            <a:off x="190850" y="1115050"/>
            <a:ext cx="10292400" cy="5600100"/>
          </a:xfrm>
          <a:prstGeom prst="rect">
            <a:avLst/>
          </a:prstGeom>
          <a:noFill/>
          <a:ln>
            <a:noFill/>
          </a:ln>
        </p:spPr>
        <p:txBody>
          <a:bodyPr anchorCtr="0" anchor="t" bIns="91425" lIns="91425" spcFirstLastPara="1" rIns="91425" wrap="square" tIns="91425">
            <a:spAutoFit/>
          </a:bodyPr>
          <a:lstStyle/>
          <a:p>
            <a:pPr indent="-387350" lvl="0" marL="457200" rtl="0" algn="l">
              <a:lnSpc>
                <a:spcPct val="90000"/>
              </a:lnSpc>
              <a:spcBef>
                <a:spcPts val="0"/>
              </a:spcBef>
              <a:spcAft>
                <a:spcPts val="0"/>
              </a:spcAft>
              <a:buClr>
                <a:schemeClr val="dk1"/>
              </a:buClr>
              <a:buSzPts val="2500"/>
              <a:buFont typeface="Roboto"/>
              <a:buChar char="●"/>
            </a:pPr>
            <a:r>
              <a:rPr lang="en-US" sz="2500">
                <a:solidFill>
                  <a:schemeClr val="dk1"/>
                </a:solidFill>
                <a:latin typeface="Roboto"/>
                <a:ea typeface="Roboto"/>
                <a:cs typeface="Roboto"/>
                <a:sym typeface="Roboto"/>
              </a:rPr>
              <a:t>Inter-team communication and project alignment - Slack</a:t>
            </a:r>
            <a:endParaRPr sz="2500">
              <a:solidFill>
                <a:schemeClr val="dk1"/>
              </a:solidFill>
              <a:latin typeface="Roboto"/>
              <a:ea typeface="Roboto"/>
              <a:cs typeface="Roboto"/>
              <a:sym typeface="Roboto"/>
            </a:endParaRPr>
          </a:p>
          <a:p>
            <a:pPr indent="0" lvl="0" marL="457200" rtl="0" algn="l">
              <a:lnSpc>
                <a:spcPct val="90000"/>
              </a:lnSpc>
              <a:spcBef>
                <a:spcPts val="0"/>
              </a:spcBef>
              <a:spcAft>
                <a:spcPts val="0"/>
              </a:spcAft>
              <a:buNone/>
            </a:pPr>
            <a:r>
              <a:t/>
            </a:r>
            <a:endParaRPr sz="2500">
              <a:solidFill>
                <a:schemeClr val="dk1"/>
              </a:solidFill>
              <a:latin typeface="Roboto"/>
              <a:ea typeface="Roboto"/>
              <a:cs typeface="Roboto"/>
              <a:sym typeface="Roboto"/>
            </a:endParaRPr>
          </a:p>
          <a:p>
            <a:pPr indent="-387350" lvl="0" marL="457200" rtl="0" algn="l">
              <a:lnSpc>
                <a:spcPct val="90000"/>
              </a:lnSpc>
              <a:spcBef>
                <a:spcPts val="0"/>
              </a:spcBef>
              <a:spcAft>
                <a:spcPts val="0"/>
              </a:spcAft>
              <a:buClr>
                <a:schemeClr val="dk1"/>
              </a:buClr>
              <a:buSzPts val="2500"/>
              <a:buFont typeface="Roboto"/>
              <a:buChar char="●"/>
            </a:pPr>
            <a:r>
              <a:rPr lang="en-US" sz="2500">
                <a:solidFill>
                  <a:schemeClr val="dk1"/>
                </a:solidFill>
                <a:latin typeface="Roboto"/>
                <a:ea typeface="Roboto"/>
                <a:cs typeface="Roboto"/>
                <a:sym typeface="Roboto"/>
              </a:rPr>
              <a:t>Agile Sprint - Trello boards</a:t>
            </a:r>
            <a:endParaRPr sz="2500">
              <a:solidFill>
                <a:schemeClr val="dk1"/>
              </a:solidFill>
              <a:latin typeface="Roboto"/>
              <a:ea typeface="Roboto"/>
              <a:cs typeface="Roboto"/>
              <a:sym typeface="Roboto"/>
            </a:endParaRPr>
          </a:p>
          <a:p>
            <a:pPr indent="0" lvl="0" marL="457200" rtl="0" algn="l">
              <a:lnSpc>
                <a:spcPct val="90000"/>
              </a:lnSpc>
              <a:spcBef>
                <a:spcPts val="0"/>
              </a:spcBef>
              <a:spcAft>
                <a:spcPts val="0"/>
              </a:spcAft>
              <a:buNone/>
            </a:pPr>
            <a:r>
              <a:rPr lang="en-US" sz="1500">
                <a:solidFill>
                  <a:schemeClr val="dk1"/>
                </a:solidFill>
              </a:rPr>
              <a:t>•</a:t>
            </a:r>
            <a:r>
              <a:rPr lang="en-US" sz="2100">
                <a:solidFill>
                  <a:schemeClr val="dk1"/>
                </a:solidFill>
                <a:latin typeface="Roboto"/>
                <a:ea typeface="Roboto"/>
                <a:cs typeface="Roboto"/>
                <a:sym typeface="Roboto"/>
              </a:rPr>
              <a:t>Current progress is reflected</a:t>
            </a:r>
            <a:endParaRPr sz="2100">
              <a:solidFill>
                <a:schemeClr val="dk1"/>
              </a:solidFill>
              <a:latin typeface="Roboto"/>
              <a:ea typeface="Roboto"/>
              <a:cs typeface="Roboto"/>
              <a:sym typeface="Roboto"/>
            </a:endParaRPr>
          </a:p>
          <a:p>
            <a:pPr indent="0" lvl="0" marL="457200" rtl="0" algn="l">
              <a:lnSpc>
                <a:spcPct val="90000"/>
              </a:lnSpc>
              <a:spcBef>
                <a:spcPts val="0"/>
              </a:spcBef>
              <a:spcAft>
                <a:spcPts val="0"/>
              </a:spcAft>
              <a:buNone/>
            </a:pPr>
            <a:r>
              <a:rPr lang="en-US" sz="1500">
                <a:solidFill>
                  <a:schemeClr val="dk1"/>
                </a:solidFill>
              </a:rPr>
              <a:t>•</a:t>
            </a:r>
            <a:r>
              <a:rPr lang="en-US" sz="2100">
                <a:solidFill>
                  <a:schemeClr val="dk1"/>
                </a:solidFill>
                <a:latin typeface="Roboto"/>
                <a:ea typeface="Roboto"/>
                <a:cs typeface="Roboto"/>
                <a:sym typeface="Roboto"/>
              </a:rPr>
              <a:t>Backlog provides insight for future subteams</a:t>
            </a:r>
            <a:endParaRPr sz="2100">
              <a:solidFill>
                <a:schemeClr val="dk1"/>
              </a:solidFill>
              <a:latin typeface="Roboto"/>
              <a:ea typeface="Roboto"/>
              <a:cs typeface="Roboto"/>
              <a:sym typeface="Roboto"/>
            </a:endParaRPr>
          </a:p>
          <a:p>
            <a:pPr indent="0" lvl="0" marL="457200" rtl="0" algn="l">
              <a:lnSpc>
                <a:spcPct val="90000"/>
              </a:lnSpc>
              <a:spcBef>
                <a:spcPts val="0"/>
              </a:spcBef>
              <a:spcAft>
                <a:spcPts val="0"/>
              </a:spcAft>
              <a:buNone/>
            </a:pPr>
            <a:r>
              <a:t/>
            </a:r>
            <a:endParaRPr sz="2100">
              <a:solidFill>
                <a:schemeClr val="dk1"/>
              </a:solidFill>
              <a:latin typeface="Roboto"/>
              <a:ea typeface="Roboto"/>
              <a:cs typeface="Roboto"/>
              <a:sym typeface="Roboto"/>
            </a:endParaRPr>
          </a:p>
          <a:p>
            <a:pPr indent="-387350" lvl="0" marL="457200" rtl="0" algn="l">
              <a:lnSpc>
                <a:spcPct val="90000"/>
              </a:lnSpc>
              <a:spcBef>
                <a:spcPts val="0"/>
              </a:spcBef>
              <a:spcAft>
                <a:spcPts val="0"/>
              </a:spcAft>
              <a:buClr>
                <a:schemeClr val="dk1"/>
              </a:buClr>
              <a:buSzPts val="2500"/>
              <a:buFont typeface="Roboto"/>
              <a:buChar char="●"/>
            </a:pPr>
            <a:r>
              <a:rPr lang="en-US" sz="2500">
                <a:solidFill>
                  <a:schemeClr val="dk1"/>
                </a:solidFill>
                <a:latin typeface="Roboto"/>
                <a:ea typeface="Roboto"/>
                <a:cs typeface="Roboto"/>
                <a:sym typeface="Roboto"/>
              </a:rPr>
              <a:t>Minutes were helpful</a:t>
            </a:r>
            <a:endParaRPr sz="2500">
              <a:solidFill>
                <a:schemeClr val="dk1"/>
              </a:solidFill>
              <a:latin typeface="Roboto"/>
              <a:ea typeface="Roboto"/>
              <a:cs typeface="Roboto"/>
              <a:sym typeface="Roboto"/>
            </a:endParaRPr>
          </a:p>
          <a:p>
            <a:pPr indent="0" lvl="0" marL="457200" rtl="0" algn="l">
              <a:lnSpc>
                <a:spcPct val="90000"/>
              </a:lnSpc>
              <a:spcBef>
                <a:spcPts val="0"/>
              </a:spcBef>
              <a:spcAft>
                <a:spcPts val="0"/>
              </a:spcAft>
              <a:buNone/>
            </a:pPr>
            <a:r>
              <a:rPr lang="en-US" sz="1500">
                <a:solidFill>
                  <a:schemeClr val="dk1"/>
                </a:solidFill>
              </a:rPr>
              <a:t>•</a:t>
            </a:r>
            <a:r>
              <a:rPr lang="en-US" sz="2100">
                <a:solidFill>
                  <a:schemeClr val="dk1"/>
                </a:solidFill>
                <a:latin typeface="Roboto"/>
                <a:ea typeface="Roboto"/>
                <a:cs typeface="Roboto"/>
                <a:sym typeface="Roboto"/>
              </a:rPr>
              <a:t>Notebooks</a:t>
            </a:r>
            <a:endParaRPr sz="2100">
              <a:solidFill>
                <a:schemeClr val="dk1"/>
              </a:solidFill>
              <a:latin typeface="Roboto"/>
              <a:ea typeface="Roboto"/>
              <a:cs typeface="Roboto"/>
              <a:sym typeface="Roboto"/>
            </a:endParaRPr>
          </a:p>
          <a:p>
            <a:pPr indent="0" lvl="0" marL="457200" rtl="0" algn="l">
              <a:lnSpc>
                <a:spcPct val="90000"/>
              </a:lnSpc>
              <a:spcBef>
                <a:spcPts val="0"/>
              </a:spcBef>
              <a:spcAft>
                <a:spcPts val="0"/>
              </a:spcAft>
              <a:buNone/>
            </a:pPr>
            <a:r>
              <a:rPr lang="en-US" sz="1500">
                <a:solidFill>
                  <a:schemeClr val="dk1"/>
                </a:solidFill>
              </a:rPr>
              <a:t>•</a:t>
            </a:r>
            <a:r>
              <a:rPr lang="en-US" sz="2100">
                <a:solidFill>
                  <a:schemeClr val="dk1"/>
                </a:solidFill>
                <a:latin typeface="Roboto"/>
                <a:ea typeface="Roboto"/>
                <a:cs typeface="Roboto"/>
                <a:sym typeface="Roboto"/>
              </a:rPr>
              <a:t>Review</a:t>
            </a:r>
            <a:endParaRPr sz="2100">
              <a:solidFill>
                <a:schemeClr val="dk1"/>
              </a:solidFill>
              <a:latin typeface="Roboto"/>
              <a:ea typeface="Roboto"/>
              <a:cs typeface="Roboto"/>
              <a:sym typeface="Roboto"/>
            </a:endParaRPr>
          </a:p>
          <a:p>
            <a:pPr indent="0" lvl="0" marL="457200" rtl="0" algn="l">
              <a:lnSpc>
                <a:spcPct val="90000"/>
              </a:lnSpc>
              <a:spcBef>
                <a:spcPts val="0"/>
              </a:spcBef>
              <a:spcAft>
                <a:spcPts val="0"/>
              </a:spcAft>
              <a:buNone/>
            </a:pPr>
            <a:r>
              <a:rPr lang="en-US" sz="1500">
                <a:solidFill>
                  <a:schemeClr val="dk1"/>
                </a:solidFill>
              </a:rPr>
              <a:t>•</a:t>
            </a:r>
            <a:r>
              <a:rPr lang="en-US" sz="2100">
                <a:solidFill>
                  <a:schemeClr val="dk1"/>
                </a:solidFill>
                <a:latin typeface="Roboto"/>
                <a:ea typeface="Roboto"/>
                <a:cs typeface="Roboto"/>
                <a:sym typeface="Roboto"/>
              </a:rPr>
              <a:t>Future team</a:t>
            </a:r>
            <a:endParaRPr sz="21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t/>
            </a:r>
            <a:endParaRPr sz="2500">
              <a:solidFill>
                <a:schemeClr val="dk1"/>
              </a:solidFill>
              <a:latin typeface="Roboto"/>
              <a:ea typeface="Roboto"/>
              <a:cs typeface="Roboto"/>
              <a:sym typeface="Roboto"/>
            </a:endParaRPr>
          </a:p>
          <a:p>
            <a:pPr indent="-387350" lvl="0" marL="457200" rtl="0" algn="l">
              <a:lnSpc>
                <a:spcPct val="90000"/>
              </a:lnSpc>
              <a:spcBef>
                <a:spcPts val="0"/>
              </a:spcBef>
              <a:spcAft>
                <a:spcPts val="0"/>
              </a:spcAft>
              <a:buClr>
                <a:schemeClr val="dk1"/>
              </a:buClr>
              <a:buSzPts val="2500"/>
              <a:buFont typeface="Roboto"/>
              <a:buChar char="●"/>
            </a:pPr>
            <a:r>
              <a:rPr lang="en-US" sz="2500">
                <a:solidFill>
                  <a:schemeClr val="dk1"/>
                </a:solidFill>
                <a:latin typeface="Roboto"/>
                <a:ea typeface="Roboto"/>
                <a:cs typeface="Roboto"/>
                <a:sym typeface="Roboto"/>
              </a:rPr>
              <a:t>Should have conducted interviews early on</a:t>
            </a:r>
            <a:endParaRPr sz="2500">
              <a:solidFill>
                <a:schemeClr val="dk1"/>
              </a:solidFill>
              <a:latin typeface="Roboto"/>
              <a:ea typeface="Roboto"/>
              <a:cs typeface="Roboto"/>
              <a:sym typeface="Roboto"/>
            </a:endParaRPr>
          </a:p>
          <a:p>
            <a:pPr indent="-387350" lvl="0" marL="457200" rtl="0" algn="l">
              <a:lnSpc>
                <a:spcPct val="90000"/>
              </a:lnSpc>
              <a:spcBef>
                <a:spcPts val="1000"/>
              </a:spcBef>
              <a:spcAft>
                <a:spcPts val="0"/>
              </a:spcAft>
              <a:buClr>
                <a:schemeClr val="dk1"/>
              </a:buClr>
              <a:buSzPts val="2500"/>
              <a:buFont typeface="Roboto"/>
              <a:buChar char="●"/>
            </a:pPr>
            <a:r>
              <a:rPr b="1" lang="en-US" sz="2500">
                <a:solidFill>
                  <a:schemeClr val="dk1"/>
                </a:solidFill>
                <a:latin typeface="Roboto"/>
                <a:ea typeface="Roboto"/>
                <a:cs typeface="Roboto"/>
                <a:sym typeface="Roboto"/>
              </a:rPr>
              <a:t>This semester:</a:t>
            </a:r>
            <a:r>
              <a:rPr lang="en-US" sz="2500">
                <a:solidFill>
                  <a:schemeClr val="dk1"/>
                </a:solidFill>
                <a:latin typeface="Roboto"/>
                <a:ea typeface="Roboto"/>
                <a:cs typeface="Roboto"/>
                <a:sym typeface="Roboto"/>
              </a:rPr>
              <a:t> </a:t>
            </a:r>
            <a:r>
              <a:rPr lang="en-US" sz="2500">
                <a:solidFill>
                  <a:schemeClr val="dk1"/>
                </a:solidFill>
                <a:latin typeface="Roboto"/>
                <a:ea typeface="Roboto"/>
                <a:cs typeface="Roboto"/>
                <a:sym typeface="Roboto"/>
              </a:rPr>
              <a:t>Design document, Test-driven development, good documentation practices, and explore the possibility of a CI/CD pipeline</a:t>
            </a:r>
            <a:endParaRPr sz="2500">
              <a:solidFill>
                <a:schemeClr val="dk1"/>
              </a:solidFill>
              <a:latin typeface="Roboto"/>
              <a:ea typeface="Roboto"/>
              <a:cs typeface="Roboto"/>
              <a:sym typeface="Roboto"/>
            </a:endParaRPr>
          </a:p>
        </p:txBody>
      </p:sp>
      <p:sp>
        <p:nvSpPr>
          <p:cNvPr id="119" name="Google Shape;119;gf4b38d8802_0_0"/>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Key Takeaways for project overall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efbeba6a1c_0_0"/>
          <p:cNvSpPr txBox="1"/>
          <p:nvPr>
            <p:ph idx="4294967295" type="title"/>
          </p:nvPr>
        </p:nvSpPr>
        <p:spPr>
          <a:xfrm>
            <a:off x="381000" y="292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sz="7000"/>
              <a:t>Data Science</a:t>
            </a:r>
            <a:endParaRPr sz="7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bea1223c9f_0_11"/>
          <p:cNvSpPr txBox="1"/>
          <p:nvPr>
            <p:ph idx="1" type="body"/>
          </p:nvPr>
        </p:nvSpPr>
        <p:spPr>
          <a:xfrm>
            <a:off x="381000" y="2522700"/>
            <a:ext cx="11430000" cy="30273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1000"/>
              </a:spcBef>
              <a:spcAft>
                <a:spcPts val="0"/>
              </a:spcAft>
              <a:buSzPts val="1800"/>
              <a:buNone/>
            </a:pPr>
            <a:r>
              <a:rPr lang="en-US"/>
              <a:t>Identify key factors influencing student </a:t>
            </a:r>
            <a:r>
              <a:rPr b="1" lang="en-US"/>
              <a:t>engagement</a:t>
            </a:r>
            <a:r>
              <a:rPr lang="en-US"/>
              <a:t> and </a:t>
            </a:r>
            <a:r>
              <a:rPr b="1" lang="en-US"/>
              <a:t>performance </a:t>
            </a:r>
            <a:r>
              <a:rPr lang="en-US"/>
              <a:t>in an asynchronous online classroom </a:t>
            </a:r>
            <a:r>
              <a:rPr lang="en-US"/>
              <a:t>using</a:t>
            </a:r>
            <a:r>
              <a:rPr lang="en-US"/>
              <a:t> the </a:t>
            </a:r>
            <a:r>
              <a:rPr b="1" lang="en-US" u="sng"/>
              <a:t>community of inquiry framework</a:t>
            </a:r>
            <a:r>
              <a:rPr lang="en-US"/>
              <a:t>, and provide actionable insights to the instructors through the </a:t>
            </a:r>
            <a:r>
              <a:rPr b="1" lang="en-US"/>
              <a:t>web app</a:t>
            </a:r>
            <a:r>
              <a:rPr lang="en-US"/>
              <a:t>.</a:t>
            </a:r>
            <a:endParaRPr/>
          </a:p>
          <a:p>
            <a:pPr indent="0" lvl="0" marL="0" rtl="0" algn="just">
              <a:lnSpc>
                <a:spcPct val="90000"/>
              </a:lnSpc>
              <a:spcBef>
                <a:spcPts val="1000"/>
              </a:spcBef>
              <a:spcAft>
                <a:spcPts val="0"/>
              </a:spcAft>
              <a:buSzPts val="1800"/>
              <a:buNone/>
            </a:pPr>
            <a:r>
              <a:t/>
            </a:r>
            <a:endParaRPr/>
          </a:p>
          <a:p>
            <a:pPr indent="0" lvl="0" marL="0" rtl="0" algn="just">
              <a:lnSpc>
                <a:spcPct val="90000"/>
              </a:lnSpc>
              <a:spcBef>
                <a:spcPts val="1000"/>
              </a:spcBef>
              <a:spcAft>
                <a:spcPts val="0"/>
              </a:spcAft>
              <a:buSzPts val="1800"/>
              <a:buNone/>
            </a:pPr>
            <a:r>
              <a:t/>
            </a:r>
            <a:endParaRPr/>
          </a:p>
        </p:txBody>
      </p:sp>
      <p:sp>
        <p:nvSpPr>
          <p:cNvPr id="130" name="Google Shape;130;gbea1223c9f_0_11"/>
          <p:cNvSpPr txBox="1"/>
          <p:nvPr>
            <p:ph type="title"/>
          </p:nvPr>
        </p:nvSpPr>
        <p:spPr>
          <a:xfrm>
            <a:off x="381000" y="212247"/>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Research Goal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efbeba6a1c_0_509"/>
          <p:cNvSpPr txBox="1"/>
          <p:nvPr>
            <p:ph idx="1" type="body"/>
          </p:nvPr>
        </p:nvSpPr>
        <p:spPr>
          <a:xfrm>
            <a:off x="381000" y="1215474"/>
            <a:ext cx="11430000" cy="16437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Data available</a:t>
            </a:r>
            <a:endParaRPr/>
          </a:p>
          <a:p>
            <a:pPr indent="-342900" lvl="1" marL="914400" rtl="0" algn="l">
              <a:spcBef>
                <a:spcPts val="0"/>
              </a:spcBef>
              <a:spcAft>
                <a:spcPts val="0"/>
              </a:spcAft>
              <a:buSzPts val="1800"/>
              <a:buChar char="•"/>
            </a:pPr>
            <a:r>
              <a:rPr lang="en-US"/>
              <a:t>Focusing on Piazza data from Dr. Thad Starner</a:t>
            </a:r>
            <a:endParaRPr/>
          </a:p>
          <a:p>
            <a:pPr indent="-342900" lvl="1" marL="914400" rtl="0" algn="l">
              <a:spcBef>
                <a:spcPts val="0"/>
              </a:spcBef>
              <a:spcAft>
                <a:spcPts val="0"/>
              </a:spcAft>
              <a:buSzPts val="1800"/>
              <a:buChar char="•"/>
            </a:pPr>
            <a:r>
              <a:rPr lang="en-US"/>
              <a:t>1493 posts, coded for cognitive presence</a:t>
            </a:r>
            <a:endParaRPr/>
          </a:p>
          <a:p>
            <a:pPr indent="-342900" lvl="1" marL="914400" rtl="0" algn="l">
              <a:spcBef>
                <a:spcPts val="0"/>
              </a:spcBef>
              <a:spcAft>
                <a:spcPts val="0"/>
              </a:spcAft>
              <a:buSzPts val="1800"/>
              <a:buChar char="•"/>
            </a:pPr>
            <a:r>
              <a:rPr lang="en-US"/>
              <a:t>Include student outcomes: final grades</a:t>
            </a:r>
            <a:endParaRPr/>
          </a:p>
        </p:txBody>
      </p:sp>
      <p:sp>
        <p:nvSpPr>
          <p:cNvPr id="136" name="Google Shape;136;gefbeba6a1c_0_509"/>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Data Science Big Picture</a:t>
            </a:r>
            <a:endParaRPr/>
          </a:p>
        </p:txBody>
      </p:sp>
      <p:sp>
        <p:nvSpPr>
          <p:cNvPr id="137" name="Google Shape;137;gefbeba6a1c_0_509"/>
          <p:cNvSpPr/>
          <p:nvPr/>
        </p:nvSpPr>
        <p:spPr>
          <a:xfrm>
            <a:off x="5002788" y="4111075"/>
            <a:ext cx="2186400" cy="7101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300">
                <a:solidFill>
                  <a:schemeClr val="lt1"/>
                </a:solidFill>
              </a:rPr>
              <a:t>Data Science</a:t>
            </a:r>
            <a:endParaRPr sz="2300">
              <a:solidFill>
                <a:schemeClr val="lt1"/>
              </a:solidFill>
            </a:endParaRPr>
          </a:p>
        </p:txBody>
      </p:sp>
      <p:sp>
        <p:nvSpPr>
          <p:cNvPr id="138" name="Google Shape;138;gefbeba6a1c_0_509"/>
          <p:cNvSpPr/>
          <p:nvPr/>
        </p:nvSpPr>
        <p:spPr>
          <a:xfrm>
            <a:off x="4611888" y="302882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300">
                <a:solidFill>
                  <a:schemeClr val="lt1"/>
                </a:solidFill>
              </a:rPr>
              <a:t>Cognitive Presence </a:t>
            </a:r>
            <a:endParaRPr sz="2300">
              <a:solidFill>
                <a:schemeClr val="lt1"/>
              </a:solidFill>
            </a:endParaRPr>
          </a:p>
        </p:txBody>
      </p:sp>
      <p:sp>
        <p:nvSpPr>
          <p:cNvPr id="139" name="Google Shape;139;gefbeba6a1c_0_509"/>
          <p:cNvSpPr/>
          <p:nvPr/>
        </p:nvSpPr>
        <p:spPr>
          <a:xfrm>
            <a:off x="4611888" y="499082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300">
                <a:solidFill>
                  <a:schemeClr val="lt1"/>
                </a:solidFill>
              </a:rPr>
              <a:t>Social Presence</a:t>
            </a:r>
            <a:endParaRPr sz="2300">
              <a:solidFill>
                <a:schemeClr val="lt1"/>
              </a:solidFill>
            </a:endParaRPr>
          </a:p>
        </p:txBody>
      </p:sp>
      <p:sp>
        <p:nvSpPr>
          <p:cNvPr id="140" name="Google Shape;140;gefbeba6a1c_0_509"/>
          <p:cNvSpPr/>
          <p:nvPr/>
        </p:nvSpPr>
        <p:spPr>
          <a:xfrm>
            <a:off x="7990275" y="400982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300">
                <a:solidFill>
                  <a:schemeClr val="lt1"/>
                </a:solidFill>
              </a:rPr>
              <a:t>Student Outcomes</a:t>
            </a:r>
            <a:endParaRPr sz="2300">
              <a:solidFill>
                <a:schemeClr val="lt1"/>
              </a:solidFill>
            </a:endParaRPr>
          </a:p>
        </p:txBody>
      </p:sp>
      <p:sp>
        <p:nvSpPr>
          <p:cNvPr id="141" name="Google Shape;141;gefbeba6a1c_0_509"/>
          <p:cNvSpPr/>
          <p:nvPr/>
        </p:nvSpPr>
        <p:spPr>
          <a:xfrm>
            <a:off x="1233525" y="400982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300">
                <a:solidFill>
                  <a:schemeClr val="lt1"/>
                </a:solidFill>
              </a:rPr>
              <a:t>Sentiment Analysis</a:t>
            </a:r>
            <a:endParaRPr sz="2300">
              <a:solidFill>
                <a:schemeClr val="lt1"/>
              </a:solidFill>
            </a:endParaRPr>
          </a:p>
        </p:txBody>
      </p:sp>
      <p:cxnSp>
        <p:nvCxnSpPr>
          <p:cNvPr id="142" name="Google Shape;142;gefbeba6a1c_0_509"/>
          <p:cNvCxnSpPr>
            <a:endCxn id="138" idx="2"/>
          </p:cNvCxnSpPr>
          <p:nvPr/>
        </p:nvCxnSpPr>
        <p:spPr>
          <a:xfrm rot="10800000">
            <a:off x="6095988" y="3941425"/>
            <a:ext cx="0" cy="169500"/>
          </a:xfrm>
          <a:prstGeom prst="straightConnector1">
            <a:avLst/>
          </a:prstGeom>
          <a:noFill/>
          <a:ln cap="flat" cmpd="sng" w="9525">
            <a:solidFill>
              <a:schemeClr val="dk2"/>
            </a:solidFill>
            <a:prstDash val="solid"/>
            <a:round/>
            <a:headEnd len="med" w="med" type="none"/>
            <a:tailEnd len="med" w="med" type="triangle"/>
          </a:ln>
        </p:spPr>
      </p:cxnSp>
      <p:cxnSp>
        <p:nvCxnSpPr>
          <p:cNvPr id="143" name="Google Shape;143;gefbeba6a1c_0_509"/>
          <p:cNvCxnSpPr>
            <a:stCxn id="137" idx="1"/>
            <a:endCxn id="141" idx="3"/>
          </p:cNvCxnSpPr>
          <p:nvPr/>
        </p:nvCxnSpPr>
        <p:spPr>
          <a:xfrm rot="10800000">
            <a:off x="4201788" y="4466125"/>
            <a:ext cx="801000" cy="0"/>
          </a:xfrm>
          <a:prstGeom prst="straightConnector1">
            <a:avLst/>
          </a:prstGeom>
          <a:noFill/>
          <a:ln cap="flat" cmpd="sng" w="9525">
            <a:solidFill>
              <a:schemeClr val="dk2"/>
            </a:solidFill>
            <a:prstDash val="solid"/>
            <a:round/>
            <a:headEnd len="med" w="med" type="none"/>
            <a:tailEnd len="med" w="med" type="triangle"/>
          </a:ln>
        </p:spPr>
      </p:cxnSp>
      <p:cxnSp>
        <p:nvCxnSpPr>
          <p:cNvPr id="144" name="Google Shape;144;gefbeba6a1c_0_509"/>
          <p:cNvCxnSpPr>
            <a:stCxn id="137" idx="3"/>
            <a:endCxn id="140" idx="1"/>
          </p:cNvCxnSpPr>
          <p:nvPr/>
        </p:nvCxnSpPr>
        <p:spPr>
          <a:xfrm>
            <a:off x="7189188" y="4466125"/>
            <a:ext cx="801000" cy="0"/>
          </a:xfrm>
          <a:prstGeom prst="straightConnector1">
            <a:avLst/>
          </a:prstGeom>
          <a:noFill/>
          <a:ln cap="flat" cmpd="sng" w="9525">
            <a:solidFill>
              <a:schemeClr val="dk2"/>
            </a:solidFill>
            <a:prstDash val="solid"/>
            <a:round/>
            <a:headEnd len="med" w="med" type="none"/>
            <a:tailEnd len="med" w="med" type="triangle"/>
          </a:ln>
        </p:spPr>
      </p:cxnSp>
      <p:cxnSp>
        <p:nvCxnSpPr>
          <p:cNvPr id="145" name="Google Shape;145;gefbeba6a1c_0_509"/>
          <p:cNvCxnSpPr>
            <a:stCxn id="137" idx="2"/>
            <a:endCxn id="139" idx="0"/>
          </p:cNvCxnSpPr>
          <p:nvPr/>
        </p:nvCxnSpPr>
        <p:spPr>
          <a:xfrm>
            <a:off x="6095988" y="4821175"/>
            <a:ext cx="0" cy="169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bea1223c9f_0_16"/>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Cognitive Presence (Garrison et al., 2001)</a:t>
            </a:r>
            <a:endParaRPr/>
          </a:p>
        </p:txBody>
      </p:sp>
      <p:grpSp>
        <p:nvGrpSpPr>
          <p:cNvPr id="151" name="Google Shape;151;gbea1223c9f_0_16"/>
          <p:cNvGrpSpPr/>
          <p:nvPr/>
        </p:nvGrpSpPr>
        <p:grpSpPr>
          <a:xfrm>
            <a:off x="0" y="1586613"/>
            <a:ext cx="2952726" cy="4290074"/>
            <a:chOff x="0" y="1189989"/>
            <a:chExt cx="2214600" cy="3217636"/>
          </a:xfrm>
        </p:grpSpPr>
        <p:sp>
          <p:nvSpPr>
            <p:cNvPr id="152" name="Google Shape;152;gbea1223c9f_0_16"/>
            <p:cNvSpPr/>
            <p:nvPr/>
          </p:nvSpPr>
          <p:spPr>
            <a:xfrm>
              <a:off x="0" y="1189989"/>
              <a:ext cx="2214600" cy="669000"/>
            </a:xfrm>
            <a:prstGeom prst="homePlate">
              <a:avLst>
                <a:gd fmla="val 50000" name="adj"/>
              </a:avLst>
            </a:prstGeom>
            <a:solidFill>
              <a:srgbClr val="0944A1"/>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rgbClr val="FFFFFF"/>
                  </a:solidFill>
                  <a:latin typeface="Roboto"/>
                  <a:ea typeface="Roboto"/>
                  <a:cs typeface="Roboto"/>
                  <a:sym typeface="Roboto"/>
                </a:rPr>
                <a:t>0: No Cognitive Presence</a:t>
              </a:r>
              <a:endParaRPr b="0" i="0" sz="1900" u="none" cap="none" strike="noStrike">
                <a:solidFill>
                  <a:srgbClr val="FFFFFF"/>
                </a:solidFill>
                <a:latin typeface="Roboto"/>
                <a:ea typeface="Roboto"/>
                <a:cs typeface="Roboto"/>
                <a:sym typeface="Roboto"/>
              </a:endParaRPr>
            </a:p>
          </p:txBody>
        </p:sp>
        <p:sp>
          <p:nvSpPr>
            <p:cNvPr id="153" name="Google Shape;153;gbea1223c9f_0_16"/>
            <p:cNvSpPr txBox="1"/>
            <p:nvPr/>
          </p:nvSpPr>
          <p:spPr>
            <a:xfrm>
              <a:off x="295050" y="2057125"/>
              <a:ext cx="1624500" cy="2350500"/>
            </a:xfrm>
            <a:prstGeom prst="rect">
              <a:avLst/>
            </a:prstGeom>
            <a:noFill/>
            <a:ln>
              <a:noFill/>
            </a:ln>
          </p:spPr>
          <p:txBody>
            <a:bodyPr anchorCtr="0" anchor="t" bIns="121900" lIns="121900" spcFirstLastPara="1" rIns="121900" wrap="square" tIns="121900">
              <a:noAutofit/>
            </a:bodyPr>
            <a:lstStyle/>
            <a:p>
              <a:pPr indent="-323850" lvl="0" marL="457200" marR="0" rtl="0" algn="l">
                <a:lnSpc>
                  <a:spcPct val="115000"/>
                </a:lnSpc>
                <a:spcBef>
                  <a:spcPts val="0"/>
                </a:spcBef>
                <a:spcAft>
                  <a:spcPts val="0"/>
                </a:spcAft>
                <a:buClr>
                  <a:srgbClr val="000000"/>
                </a:buClr>
                <a:buSzPts val="1500"/>
                <a:buFont typeface="Roboto"/>
                <a:buChar char="●"/>
              </a:pPr>
              <a:r>
                <a:rPr b="0" i="0" lang="en-US" sz="1500" u="none" cap="none" strike="noStrike">
                  <a:solidFill>
                    <a:srgbClr val="000000"/>
                  </a:solidFill>
                  <a:latin typeface="Roboto"/>
                  <a:ea typeface="Roboto"/>
                  <a:cs typeface="Roboto"/>
                  <a:sym typeface="Roboto"/>
                </a:rPr>
                <a:t>Logistics</a:t>
              </a:r>
              <a:endParaRPr b="0" i="0" sz="1500" u="none" cap="none" strike="noStrike">
                <a:solidFill>
                  <a:srgbClr val="000000"/>
                </a:solidFill>
                <a:latin typeface="Roboto"/>
                <a:ea typeface="Roboto"/>
                <a:cs typeface="Roboto"/>
                <a:sym typeface="Roboto"/>
              </a:endParaRPr>
            </a:p>
            <a:p>
              <a:pPr indent="-323850" lvl="0" marL="457200" marR="0" rtl="0" algn="l">
                <a:lnSpc>
                  <a:spcPct val="115000"/>
                </a:lnSpc>
                <a:spcBef>
                  <a:spcPts val="0"/>
                </a:spcBef>
                <a:spcAft>
                  <a:spcPts val="0"/>
                </a:spcAft>
                <a:buClr>
                  <a:srgbClr val="000000"/>
                </a:buClr>
                <a:buSzPts val="1500"/>
                <a:buFont typeface="Roboto"/>
                <a:buChar char="●"/>
              </a:pPr>
              <a:r>
                <a:rPr b="0" i="0" lang="en-US" sz="1500" u="none" cap="none" strike="noStrike">
                  <a:solidFill>
                    <a:srgbClr val="000000"/>
                  </a:solidFill>
                  <a:latin typeface="Roboto"/>
                  <a:ea typeface="Roboto"/>
                  <a:cs typeface="Roboto"/>
                  <a:sym typeface="Roboto"/>
                </a:rPr>
                <a:t>Socializing</a:t>
              </a:r>
              <a:endParaRPr b="0" i="0" sz="1500" u="none" cap="none" strike="noStrike">
                <a:solidFill>
                  <a:srgbClr val="000000"/>
                </a:solidFill>
                <a:latin typeface="Roboto"/>
                <a:ea typeface="Roboto"/>
                <a:cs typeface="Roboto"/>
                <a:sym typeface="Roboto"/>
              </a:endParaRPr>
            </a:p>
            <a:p>
              <a:pPr indent="-323850" lvl="0" marL="457200" marR="0" rtl="0" algn="l">
                <a:lnSpc>
                  <a:spcPct val="115000"/>
                </a:lnSpc>
                <a:spcBef>
                  <a:spcPts val="0"/>
                </a:spcBef>
                <a:spcAft>
                  <a:spcPts val="0"/>
                </a:spcAft>
                <a:buClr>
                  <a:srgbClr val="000000"/>
                </a:buClr>
                <a:buSzPts val="1500"/>
                <a:buFont typeface="Roboto"/>
                <a:buChar char="●"/>
              </a:pPr>
              <a:r>
                <a:rPr b="0" i="0" lang="en-US" sz="1500" u="none" cap="none" strike="noStrike">
                  <a:solidFill>
                    <a:srgbClr val="000000"/>
                  </a:solidFill>
                  <a:latin typeface="Roboto"/>
                  <a:ea typeface="Roboto"/>
                  <a:cs typeface="Roboto"/>
                  <a:sym typeface="Roboto"/>
                </a:rPr>
                <a:t>“Thank you”</a:t>
              </a:r>
              <a:endParaRPr b="0" i="0" sz="1500" u="none" cap="none" strike="noStrike">
                <a:solidFill>
                  <a:srgbClr val="000000"/>
                </a:solidFill>
                <a:latin typeface="Roboto"/>
                <a:ea typeface="Roboto"/>
                <a:cs typeface="Roboto"/>
                <a:sym typeface="Roboto"/>
              </a:endParaRPr>
            </a:p>
            <a:p>
              <a:pPr indent="-323850" lvl="0" marL="457200" marR="0" rtl="0" algn="l">
                <a:lnSpc>
                  <a:spcPct val="115000"/>
                </a:lnSpc>
                <a:spcBef>
                  <a:spcPts val="0"/>
                </a:spcBef>
                <a:spcAft>
                  <a:spcPts val="0"/>
                </a:spcAft>
                <a:buClr>
                  <a:srgbClr val="000000"/>
                </a:buClr>
                <a:buSzPts val="1500"/>
                <a:buFont typeface="Roboto"/>
                <a:buChar char="●"/>
              </a:pPr>
              <a:r>
                <a:rPr b="0" i="0" lang="en-US" sz="1500" u="none" cap="none" strike="noStrike">
                  <a:solidFill>
                    <a:srgbClr val="000000"/>
                  </a:solidFill>
                  <a:latin typeface="Roboto"/>
                  <a:ea typeface="Roboto"/>
                  <a:cs typeface="Roboto"/>
                  <a:sym typeface="Roboto"/>
                </a:rPr>
                <a:t>Unclear comments (code without comment)</a:t>
              </a:r>
              <a:endParaRPr b="0" i="0" sz="1500" u="none" cap="none" strike="noStrike">
                <a:solidFill>
                  <a:srgbClr val="000000"/>
                </a:solidFill>
                <a:latin typeface="Roboto"/>
                <a:ea typeface="Roboto"/>
                <a:cs typeface="Roboto"/>
                <a:sym typeface="Roboto"/>
              </a:endParaRPr>
            </a:p>
          </p:txBody>
        </p:sp>
      </p:grpSp>
      <p:grpSp>
        <p:nvGrpSpPr>
          <p:cNvPr id="154" name="Google Shape;154;gbea1223c9f_0_16"/>
          <p:cNvGrpSpPr/>
          <p:nvPr/>
        </p:nvGrpSpPr>
        <p:grpSpPr>
          <a:xfrm>
            <a:off x="2451039" y="1586327"/>
            <a:ext cx="2751931" cy="4290359"/>
            <a:chOff x="1838325" y="1189775"/>
            <a:chExt cx="2064000" cy="3217850"/>
          </a:xfrm>
        </p:grpSpPr>
        <p:sp>
          <p:nvSpPr>
            <p:cNvPr id="155" name="Google Shape;155;gbea1223c9f_0_16"/>
            <p:cNvSpPr/>
            <p:nvPr/>
          </p:nvSpPr>
          <p:spPr>
            <a:xfrm>
              <a:off x="1838325" y="1189775"/>
              <a:ext cx="2064000" cy="669000"/>
            </a:xfrm>
            <a:prstGeom prst="chevron">
              <a:avLst>
                <a:gd fmla="val 50000" name="adj"/>
              </a:avLst>
            </a:prstGeom>
            <a:solidFill>
              <a:srgbClr val="0C58D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rgbClr val="FFFFFF"/>
                  </a:solidFill>
                  <a:latin typeface="Roboto"/>
                  <a:ea typeface="Roboto"/>
                  <a:cs typeface="Roboto"/>
                  <a:sym typeface="Roboto"/>
                </a:rPr>
                <a:t>1: Triggering Event</a:t>
              </a:r>
              <a:endParaRPr b="0" i="0" sz="1900" u="none" cap="none" strike="noStrike">
                <a:solidFill>
                  <a:srgbClr val="FFFFFF"/>
                </a:solidFill>
                <a:latin typeface="Roboto"/>
                <a:ea typeface="Roboto"/>
                <a:cs typeface="Roboto"/>
                <a:sym typeface="Roboto"/>
              </a:endParaRPr>
            </a:p>
          </p:txBody>
        </p:sp>
        <p:sp>
          <p:nvSpPr>
            <p:cNvPr id="156" name="Google Shape;156;gbea1223c9f_0_16"/>
            <p:cNvSpPr txBox="1"/>
            <p:nvPr/>
          </p:nvSpPr>
          <p:spPr>
            <a:xfrm>
              <a:off x="2017250" y="2057125"/>
              <a:ext cx="1624500" cy="2350500"/>
            </a:xfrm>
            <a:prstGeom prst="rect">
              <a:avLst/>
            </a:prstGeom>
            <a:noFill/>
            <a:ln>
              <a:noFill/>
            </a:ln>
          </p:spPr>
          <p:txBody>
            <a:bodyPr anchorCtr="0" anchor="t" bIns="121900" lIns="121900" spcFirstLastPara="1" rIns="121900" wrap="square" tIns="121900">
              <a:noAutofit/>
            </a:bodyPr>
            <a:lstStyle/>
            <a:p>
              <a:pPr indent="-323850" lvl="0" marL="457200" marR="0" rtl="0" algn="l">
                <a:lnSpc>
                  <a:spcPct val="115000"/>
                </a:lnSpc>
                <a:spcBef>
                  <a:spcPts val="0"/>
                </a:spcBef>
                <a:spcAft>
                  <a:spcPts val="0"/>
                </a:spcAft>
                <a:buClr>
                  <a:srgbClr val="000000"/>
                </a:buClr>
                <a:buSzPts val="1500"/>
                <a:buFont typeface="Roboto"/>
                <a:buChar char="●"/>
              </a:pPr>
              <a:r>
                <a:rPr b="0" i="0" lang="en-US" sz="1500" u="none" cap="none" strike="noStrike">
                  <a:solidFill>
                    <a:srgbClr val="000000"/>
                  </a:solidFill>
                  <a:latin typeface="Roboto"/>
                  <a:ea typeface="Roboto"/>
                  <a:cs typeface="Roboto"/>
                  <a:sym typeface="Roboto"/>
                </a:rPr>
                <a:t>Short questions</a:t>
              </a:r>
              <a:endParaRPr b="0" i="0" sz="1500" u="none" cap="none" strike="noStrike">
                <a:solidFill>
                  <a:srgbClr val="000000"/>
                </a:solidFill>
                <a:latin typeface="Roboto"/>
                <a:ea typeface="Roboto"/>
                <a:cs typeface="Roboto"/>
                <a:sym typeface="Roboto"/>
              </a:endParaRPr>
            </a:p>
            <a:p>
              <a:pPr indent="-323850" lvl="0" marL="457200" marR="0" rtl="0" algn="l">
                <a:lnSpc>
                  <a:spcPct val="115000"/>
                </a:lnSpc>
                <a:spcBef>
                  <a:spcPts val="0"/>
                </a:spcBef>
                <a:spcAft>
                  <a:spcPts val="0"/>
                </a:spcAft>
                <a:buClr>
                  <a:srgbClr val="000000"/>
                </a:buClr>
                <a:buSzPts val="1500"/>
                <a:buFont typeface="Roboto"/>
                <a:buChar char="●"/>
              </a:pPr>
              <a:r>
                <a:rPr b="0" i="0" lang="en-US" sz="1500" u="none" cap="none" strike="noStrike">
                  <a:solidFill>
                    <a:srgbClr val="000000"/>
                  </a:solidFill>
                  <a:latin typeface="Roboto"/>
                  <a:ea typeface="Roboto"/>
                  <a:cs typeface="Roboto"/>
                  <a:sym typeface="Roboto"/>
                </a:rPr>
                <a:t>Technical clarification</a:t>
              </a:r>
              <a:endParaRPr b="0" i="0" sz="1500" u="none" cap="none" strike="noStrike">
                <a:solidFill>
                  <a:srgbClr val="000000"/>
                </a:solidFill>
                <a:latin typeface="Roboto"/>
                <a:ea typeface="Roboto"/>
                <a:cs typeface="Roboto"/>
                <a:sym typeface="Roboto"/>
              </a:endParaRPr>
            </a:p>
            <a:p>
              <a:pPr indent="-323850" lvl="0" marL="457200" marR="0" rtl="0" algn="l">
                <a:lnSpc>
                  <a:spcPct val="115000"/>
                </a:lnSpc>
                <a:spcBef>
                  <a:spcPts val="0"/>
                </a:spcBef>
                <a:spcAft>
                  <a:spcPts val="0"/>
                </a:spcAft>
                <a:buClr>
                  <a:srgbClr val="000000"/>
                </a:buClr>
                <a:buSzPts val="1500"/>
                <a:buFont typeface="Roboto"/>
                <a:buChar char="●"/>
              </a:pPr>
              <a:r>
                <a:rPr b="0" i="0" lang="en-US" sz="1500" u="none" cap="none" strike="noStrike">
                  <a:solidFill>
                    <a:srgbClr val="000000"/>
                  </a:solidFill>
                  <a:latin typeface="Roboto"/>
                  <a:ea typeface="Roboto"/>
                  <a:cs typeface="Roboto"/>
                  <a:sym typeface="Roboto"/>
                </a:rPr>
                <a:t>“I am clueless”</a:t>
              </a:r>
              <a:endParaRPr b="0" i="0" sz="1500" u="none" cap="none" strike="noStrike">
                <a:solidFill>
                  <a:srgbClr val="000000"/>
                </a:solidFill>
                <a:latin typeface="Roboto"/>
                <a:ea typeface="Roboto"/>
                <a:cs typeface="Roboto"/>
                <a:sym typeface="Roboto"/>
              </a:endParaRPr>
            </a:p>
            <a:p>
              <a:pPr indent="-323850" lvl="0" marL="457200" marR="0" rtl="0" algn="l">
                <a:lnSpc>
                  <a:spcPct val="115000"/>
                </a:lnSpc>
                <a:spcBef>
                  <a:spcPts val="0"/>
                </a:spcBef>
                <a:spcAft>
                  <a:spcPts val="0"/>
                </a:spcAft>
                <a:buClr>
                  <a:srgbClr val="000000"/>
                </a:buClr>
                <a:buSzPts val="1500"/>
                <a:buFont typeface="Roboto"/>
                <a:buChar char="●"/>
              </a:pPr>
              <a:r>
                <a:rPr b="0" i="0" lang="en-US" sz="1500" u="none" cap="none" strike="noStrike">
                  <a:solidFill>
                    <a:srgbClr val="000000"/>
                  </a:solidFill>
                  <a:latin typeface="Roboto"/>
                  <a:ea typeface="Roboto"/>
                  <a:cs typeface="Roboto"/>
                  <a:sym typeface="Roboto"/>
                </a:rPr>
                <a:t>“I think this is right/wrong”</a:t>
              </a:r>
              <a:endParaRPr b="0" i="0" sz="1500" u="none" cap="none" strike="noStrike">
                <a:solidFill>
                  <a:srgbClr val="000000"/>
                </a:solidFill>
                <a:latin typeface="Roboto"/>
                <a:ea typeface="Roboto"/>
                <a:cs typeface="Roboto"/>
                <a:sym typeface="Roboto"/>
              </a:endParaRPr>
            </a:p>
            <a:p>
              <a:pPr indent="-323850" lvl="0" marL="457200" marR="0" rtl="0" algn="l">
                <a:lnSpc>
                  <a:spcPct val="115000"/>
                </a:lnSpc>
                <a:spcBef>
                  <a:spcPts val="0"/>
                </a:spcBef>
                <a:spcAft>
                  <a:spcPts val="0"/>
                </a:spcAft>
                <a:buClr>
                  <a:srgbClr val="000000"/>
                </a:buClr>
                <a:buSzPts val="1500"/>
                <a:buFont typeface="Roboto"/>
                <a:buChar char="●"/>
              </a:pPr>
              <a:r>
                <a:rPr b="0" i="0" lang="en-US" sz="1500" u="none" cap="none" strike="noStrike">
                  <a:solidFill>
                    <a:srgbClr val="000000"/>
                  </a:solidFill>
                  <a:latin typeface="Roboto"/>
                  <a:ea typeface="Roboto"/>
                  <a:cs typeface="Roboto"/>
                  <a:sym typeface="Roboto"/>
                </a:rPr>
                <a:t>Focus on the problem itself</a:t>
              </a:r>
              <a:endParaRPr b="0" i="0" sz="1500" u="none" cap="none" strike="noStrike">
                <a:solidFill>
                  <a:srgbClr val="000000"/>
                </a:solidFill>
                <a:latin typeface="Roboto"/>
                <a:ea typeface="Roboto"/>
                <a:cs typeface="Roboto"/>
                <a:sym typeface="Roboto"/>
              </a:endParaRPr>
            </a:p>
          </p:txBody>
        </p:sp>
      </p:grpSp>
      <p:grpSp>
        <p:nvGrpSpPr>
          <p:cNvPr id="157" name="Google Shape;157;gbea1223c9f_0_16"/>
          <p:cNvGrpSpPr/>
          <p:nvPr/>
        </p:nvGrpSpPr>
        <p:grpSpPr>
          <a:xfrm>
            <a:off x="4688882" y="1586327"/>
            <a:ext cx="2751931" cy="4290359"/>
            <a:chOff x="3516750" y="1189775"/>
            <a:chExt cx="2064000" cy="3217850"/>
          </a:xfrm>
        </p:grpSpPr>
        <p:sp>
          <p:nvSpPr>
            <p:cNvPr id="158" name="Google Shape;158;gbea1223c9f_0_16"/>
            <p:cNvSpPr/>
            <p:nvPr/>
          </p:nvSpPr>
          <p:spPr>
            <a:xfrm>
              <a:off x="3516750" y="1189775"/>
              <a:ext cx="2064000" cy="669000"/>
            </a:xfrm>
            <a:prstGeom prst="chevron">
              <a:avLst>
                <a:gd fmla="val 50000" name="adj"/>
              </a:avLst>
            </a:prstGeom>
            <a:solidFill>
              <a:srgbClr val="0D5DDF"/>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rgbClr val="FFFFFF"/>
                  </a:solidFill>
                  <a:latin typeface="Roboto"/>
                  <a:ea typeface="Roboto"/>
                  <a:cs typeface="Roboto"/>
                  <a:sym typeface="Roboto"/>
                </a:rPr>
                <a:t>2: Exploration</a:t>
              </a:r>
              <a:endParaRPr b="0" i="0" sz="1900" u="none" cap="none" strike="noStrike">
                <a:solidFill>
                  <a:srgbClr val="FFFFFF"/>
                </a:solidFill>
                <a:latin typeface="Roboto"/>
                <a:ea typeface="Roboto"/>
                <a:cs typeface="Roboto"/>
                <a:sym typeface="Roboto"/>
              </a:endParaRPr>
            </a:p>
          </p:txBody>
        </p:sp>
        <p:sp>
          <p:nvSpPr>
            <p:cNvPr id="159" name="Google Shape;159;gbea1223c9f_0_16"/>
            <p:cNvSpPr txBox="1"/>
            <p:nvPr/>
          </p:nvSpPr>
          <p:spPr>
            <a:xfrm>
              <a:off x="3739450" y="2057125"/>
              <a:ext cx="1624500" cy="2350500"/>
            </a:xfrm>
            <a:prstGeom prst="rect">
              <a:avLst/>
            </a:prstGeom>
            <a:noFill/>
            <a:ln>
              <a:noFill/>
            </a:ln>
          </p:spPr>
          <p:txBody>
            <a:bodyPr anchorCtr="0" anchor="t" bIns="121900" lIns="121900" spcFirstLastPara="1" rIns="121900" wrap="square" tIns="121900">
              <a:noAutofit/>
            </a:bodyPr>
            <a:lstStyle/>
            <a:p>
              <a:pPr indent="-323850" lvl="0" marL="457200" marR="0" rtl="0" algn="l">
                <a:lnSpc>
                  <a:spcPct val="115000"/>
                </a:lnSpc>
                <a:spcBef>
                  <a:spcPts val="0"/>
                </a:spcBef>
                <a:spcAft>
                  <a:spcPts val="0"/>
                </a:spcAft>
                <a:buClr>
                  <a:srgbClr val="000000"/>
                </a:buClr>
                <a:buSzPts val="1500"/>
                <a:buFont typeface="Roboto"/>
                <a:buChar char="●"/>
              </a:pPr>
              <a:r>
                <a:rPr b="0" i="0" lang="en-US" sz="1500" u="none" cap="none" strike="noStrike">
                  <a:solidFill>
                    <a:srgbClr val="000000"/>
                  </a:solidFill>
                  <a:latin typeface="Roboto"/>
                  <a:ea typeface="Roboto"/>
                  <a:cs typeface="Roboto"/>
                  <a:sym typeface="Roboto"/>
                </a:rPr>
                <a:t>Describing a problem</a:t>
              </a:r>
              <a:endParaRPr b="0" i="0" sz="1500" u="none" cap="none" strike="noStrike">
                <a:solidFill>
                  <a:srgbClr val="000000"/>
                </a:solidFill>
                <a:latin typeface="Roboto"/>
                <a:ea typeface="Roboto"/>
                <a:cs typeface="Roboto"/>
                <a:sym typeface="Roboto"/>
              </a:endParaRPr>
            </a:p>
            <a:p>
              <a:pPr indent="-323850" lvl="0" marL="457200" marR="0" rtl="0" algn="l">
                <a:lnSpc>
                  <a:spcPct val="115000"/>
                </a:lnSpc>
                <a:spcBef>
                  <a:spcPts val="0"/>
                </a:spcBef>
                <a:spcAft>
                  <a:spcPts val="0"/>
                </a:spcAft>
                <a:buClr>
                  <a:srgbClr val="000000"/>
                </a:buClr>
                <a:buSzPts val="1500"/>
                <a:buFont typeface="Roboto"/>
                <a:buChar char="●"/>
              </a:pPr>
              <a:r>
                <a:rPr b="0" i="0" lang="en-US" sz="1500" u="none" cap="none" strike="noStrike">
                  <a:solidFill>
                    <a:srgbClr val="000000"/>
                  </a:solidFill>
                  <a:latin typeface="Roboto"/>
                  <a:ea typeface="Roboto"/>
                  <a:cs typeface="Roboto"/>
                  <a:sym typeface="Roboto"/>
                </a:rPr>
                <a:t>Giving suggestions</a:t>
              </a:r>
              <a:endParaRPr b="0" i="0" sz="1500" u="none" cap="none" strike="noStrike">
                <a:solidFill>
                  <a:srgbClr val="000000"/>
                </a:solidFill>
                <a:latin typeface="Roboto"/>
                <a:ea typeface="Roboto"/>
                <a:cs typeface="Roboto"/>
                <a:sym typeface="Roboto"/>
              </a:endParaRPr>
            </a:p>
            <a:p>
              <a:pPr indent="-323850" lvl="0" marL="457200" marR="0" rtl="0" algn="l">
                <a:lnSpc>
                  <a:spcPct val="115000"/>
                </a:lnSpc>
                <a:spcBef>
                  <a:spcPts val="0"/>
                </a:spcBef>
                <a:spcAft>
                  <a:spcPts val="0"/>
                </a:spcAft>
                <a:buClr>
                  <a:srgbClr val="000000"/>
                </a:buClr>
                <a:buSzPts val="1500"/>
                <a:buFont typeface="Roboto"/>
                <a:buChar char="●"/>
              </a:pPr>
              <a:r>
                <a:rPr b="0" i="0" lang="en-US" sz="1500" u="none" cap="none" strike="noStrike">
                  <a:solidFill>
                    <a:srgbClr val="000000"/>
                  </a:solidFill>
                  <a:latin typeface="Roboto"/>
                  <a:ea typeface="Roboto"/>
                  <a:cs typeface="Roboto"/>
                  <a:sym typeface="Roboto"/>
                </a:rPr>
                <a:t>Partial understanding</a:t>
              </a:r>
              <a:endParaRPr b="0" i="0" sz="1500" u="none" cap="none" strike="noStrike">
                <a:solidFill>
                  <a:srgbClr val="000000"/>
                </a:solidFill>
                <a:latin typeface="Roboto"/>
                <a:ea typeface="Roboto"/>
                <a:cs typeface="Roboto"/>
                <a:sym typeface="Roboto"/>
              </a:endParaRPr>
            </a:p>
            <a:p>
              <a:pPr indent="-323850" lvl="0" marL="457200" marR="0" rtl="0" algn="l">
                <a:lnSpc>
                  <a:spcPct val="115000"/>
                </a:lnSpc>
                <a:spcBef>
                  <a:spcPts val="0"/>
                </a:spcBef>
                <a:spcAft>
                  <a:spcPts val="0"/>
                </a:spcAft>
                <a:buClr>
                  <a:srgbClr val="000000"/>
                </a:buClr>
                <a:buSzPts val="1500"/>
                <a:buFont typeface="Roboto"/>
                <a:buChar char="●"/>
              </a:pPr>
              <a:r>
                <a:rPr b="0" i="0" lang="en-US" sz="1500" u="none" cap="none" strike="noStrike">
                  <a:solidFill>
                    <a:srgbClr val="000000"/>
                  </a:solidFill>
                  <a:latin typeface="Roboto"/>
                  <a:ea typeface="Roboto"/>
                  <a:cs typeface="Roboto"/>
                  <a:sym typeface="Roboto"/>
                </a:rPr>
                <a:t>Clarifications with detailed description or own assumptions</a:t>
              </a:r>
              <a:endParaRPr b="0" i="0" sz="1500" u="none" cap="none" strike="noStrike">
                <a:solidFill>
                  <a:srgbClr val="000000"/>
                </a:solidFill>
                <a:latin typeface="Roboto"/>
                <a:ea typeface="Roboto"/>
                <a:cs typeface="Roboto"/>
                <a:sym typeface="Roboto"/>
              </a:endParaRPr>
            </a:p>
          </p:txBody>
        </p:sp>
      </p:grpSp>
      <p:grpSp>
        <p:nvGrpSpPr>
          <p:cNvPr id="160" name="Google Shape;160;gbea1223c9f_0_16"/>
          <p:cNvGrpSpPr/>
          <p:nvPr/>
        </p:nvGrpSpPr>
        <p:grpSpPr>
          <a:xfrm>
            <a:off x="9165137" y="1586327"/>
            <a:ext cx="2751931" cy="4290359"/>
            <a:chOff x="6874025" y="1189775"/>
            <a:chExt cx="2064000" cy="3217850"/>
          </a:xfrm>
        </p:grpSpPr>
        <p:sp>
          <p:nvSpPr>
            <p:cNvPr id="161" name="Google Shape;161;gbea1223c9f_0_16"/>
            <p:cNvSpPr/>
            <p:nvPr/>
          </p:nvSpPr>
          <p:spPr>
            <a:xfrm>
              <a:off x="6874025" y="1189775"/>
              <a:ext cx="2064000" cy="669000"/>
            </a:xfrm>
            <a:prstGeom prst="chevron">
              <a:avLst>
                <a:gd fmla="val 50000" name="adj"/>
              </a:avLst>
            </a:prstGeom>
            <a:solidFill>
              <a:srgbClr val="307BF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rgbClr val="FFFFFF"/>
                  </a:solidFill>
                  <a:latin typeface="Roboto"/>
                  <a:ea typeface="Roboto"/>
                  <a:cs typeface="Roboto"/>
                  <a:sym typeface="Roboto"/>
                </a:rPr>
                <a:t>4: Resolution</a:t>
              </a:r>
              <a:endParaRPr b="0" i="0" sz="1900" u="none" cap="none" strike="noStrike">
                <a:solidFill>
                  <a:srgbClr val="FFFFFF"/>
                </a:solidFill>
                <a:latin typeface="Roboto"/>
                <a:ea typeface="Roboto"/>
                <a:cs typeface="Roboto"/>
                <a:sym typeface="Roboto"/>
              </a:endParaRPr>
            </a:p>
          </p:txBody>
        </p:sp>
        <p:sp>
          <p:nvSpPr>
            <p:cNvPr id="162" name="Google Shape;162;gbea1223c9f_0_16"/>
            <p:cNvSpPr txBox="1"/>
            <p:nvPr/>
          </p:nvSpPr>
          <p:spPr>
            <a:xfrm>
              <a:off x="7183850" y="2057125"/>
              <a:ext cx="1624500" cy="2350500"/>
            </a:xfrm>
            <a:prstGeom prst="rect">
              <a:avLst/>
            </a:prstGeom>
            <a:noFill/>
            <a:ln>
              <a:noFill/>
            </a:ln>
          </p:spPr>
          <p:txBody>
            <a:bodyPr anchorCtr="0" anchor="t" bIns="121900" lIns="121900" spcFirstLastPara="1" rIns="121900" wrap="square" tIns="121900">
              <a:noAutofit/>
            </a:bodyPr>
            <a:lstStyle/>
            <a:p>
              <a:pPr indent="-323850" lvl="0" marL="457200" marR="0" rtl="0" algn="l">
                <a:lnSpc>
                  <a:spcPct val="115000"/>
                </a:lnSpc>
                <a:spcBef>
                  <a:spcPts val="0"/>
                </a:spcBef>
                <a:spcAft>
                  <a:spcPts val="0"/>
                </a:spcAft>
                <a:buClr>
                  <a:srgbClr val="000000"/>
                </a:buClr>
                <a:buSzPts val="1500"/>
                <a:buFont typeface="Roboto"/>
                <a:buChar char="●"/>
              </a:pPr>
              <a:r>
                <a:rPr b="0" i="0" lang="en-US" sz="1500" u="none" cap="none" strike="noStrike">
                  <a:solidFill>
                    <a:srgbClr val="000000"/>
                  </a:solidFill>
                  <a:latin typeface="Roboto"/>
                  <a:ea typeface="Roboto"/>
                  <a:cs typeface="Roboto"/>
                  <a:sym typeface="Roboto"/>
                </a:rPr>
                <a:t>Confirmation of ideas</a:t>
              </a:r>
              <a:endParaRPr b="0" i="0" sz="1500" u="none" cap="none" strike="noStrike">
                <a:solidFill>
                  <a:srgbClr val="000000"/>
                </a:solidFill>
                <a:latin typeface="Roboto"/>
                <a:ea typeface="Roboto"/>
                <a:cs typeface="Roboto"/>
                <a:sym typeface="Roboto"/>
              </a:endParaRPr>
            </a:p>
            <a:p>
              <a:pPr indent="-323850" lvl="0" marL="457200" marR="0" rtl="0" algn="l">
                <a:lnSpc>
                  <a:spcPct val="115000"/>
                </a:lnSpc>
                <a:spcBef>
                  <a:spcPts val="0"/>
                </a:spcBef>
                <a:spcAft>
                  <a:spcPts val="0"/>
                </a:spcAft>
                <a:buClr>
                  <a:srgbClr val="000000"/>
                </a:buClr>
                <a:buSzPts val="1500"/>
                <a:buFont typeface="Roboto"/>
                <a:buChar char="●"/>
              </a:pPr>
              <a:r>
                <a:rPr b="0" i="0" lang="en-US" sz="1500" u="none" cap="none" strike="noStrike">
                  <a:solidFill>
                    <a:srgbClr val="000000"/>
                  </a:solidFill>
                  <a:latin typeface="Roboto"/>
                  <a:ea typeface="Roboto"/>
                  <a:cs typeface="Roboto"/>
                  <a:sym typeface="Roboto"/>
                </a:rPr>
                <a:t>Elaboration on solution</a:t>
              </a:r>
              <a:endParaRPr b="0" i="0" sz="1500" u="none" cap="none" strike="noStrike">
                <a:solidFill>
                  <a:srgbClr val="000000"/>
                </a:solidFill>
                <a:latin typeface="Roboto"/>
                <a:ea typeface="Roboto"/>
                <a:cs typeface="Roboto"/>
                <a:sym typeface="Roboto"/>
              </a:endParaRPr>
            </a:p>
            <a:p>
              <a:pPr indent="-323850" lvl="0" marL="457200" marR="0" rtl="0" algn="l">
                <a:lnSpc>
                  <a:spcPct val="115000"/>
                </a:lnSpc>
                <a:spcBef>
                  <a:spcPts val="0"/>
                </a:spcBef>
                <a:spcAft>
                  <a:spcPts val="0"/>
                </a:spcAft>
                <a:buClr>
                  <a:srgbClr val="000000"/>
                </a:buClr>
                <a:buSzPts val="1500"/>
                <a:buFont typeface="Roboto"/>
                <a:buChar char="●"/>
              </a:pPr>
              <a:r>
                <a:rPr b="0" i="0" lang="en-US" sz="1500" u="none" cap="none" strike="noStrike">
                  <a:solidFill>
                    <a:srgbClr val="000000"/>
                  </a:solidFill>
                  <a:latin typeface="Roboto"/>
                  <a:ea typeface="Roboto"/>
                  <a:cs typeface="Roboto"/>
                  <a:sym typeface="Roboto"/>
                </a:rPr>
                <a:t>Explain why/how solution works in detail</a:t>
              </a:r>
              <a:endParaRPr b="0" i="0" sz="1500" u="none" cap="none" strike="noStrike">
                <a:solidFill>
                  <a:srgbClr val="000000"/>
                </a:solidFill>
                <a:latin typeface="Roboto"/>
                <a:ea typeface="Roboto"/>
                <a:cs typeface="Roboto"/>
                <a:sym typeface="Roboto"/>
              </a:endParaRPr>
            </a:p>
            <a:p>
              <a:pPr indent="-323850" lvl="0" marL="457200" marR="0" rtl="0" algn="l">
                <a:lnSpc>
                  <a:spcPct val="115000"/>
                </a:lnSpc>
                <a:spcBef>
                  <a:spcPts val="0"/>
                </a:spcBef>
                <a:spcAft>
                  <a:spcPts val="0"/>
                </a:spcAft>
                <a:buClr>
                  <a:srgbClr val="000000"/>
                </a:buClr>
                <a:buSzPts val="1500"/>
                <a:buFont typeface="Roboto"/>
                <a:buChar char="●"/>
              </a:pPr>
              <a:r>
                <a:rPr b="0" i="0" lang="en-US" sz="1500" u="none" cap="none" strike="noStrike">
                  <a:solidFill>
                    <a:srgbClr val="000000"/>
                  </a:solidFill>
                  <a:latin typeface="Roboto"/>
                  <a:ea typeface="Roboto"/>
                  <a:cs typeface="Roboto"/>
                  <a:sym typeface="Roboto"/>
                </a:rPr>
                <a:t>Definite comments</a:t>
              </a:r>
              <a:endParaRPr b="0" i="0" sz="1500" u="none" cap="none" strike="noStrike">
                <a:solidFill>
                  <a:srgbClr val="000000"/>
                </a:solidFill>
                <a:latin typeface="Roboto"/>
                <a:ea typeface="Roboto"/>
                <a:cs typeface="Roboto"/>
                <a:sym typeface="Roboto"/>
              </a:endParaRPr>
            </a:p>
            <a:p>
              <a:pPr indent="-323850" lvl="0" marL="457200" marR="0" rtl="0" algn="l">
                <a:lnSpc>
                  <a:spcPct val="115000"/>
                </a:lnSpc>
                <a:spcBef>
                  <a:spcPts val="0"/>
                </a:spcBef>
                <a:spcAft>
                  <a:spcPts val="0"/>
                </a:spcAft>
                <a:buClr>
                  <a:srgbClr val="000000"/>
                </a:buClr>
                <a:buSzPts val="1500"/>
                <a:buFont typeface="Roboto"/>
                <a:buChar char="●"/>
              </a:pPr>
              <a:r>
                <a:rPr b="0" i="0" lang="en-US" sz="1500" u="none" cap="none" strike="noStrike">
                  <a:solidFill>
                    <a:srgbClr val="000000"/>
                  </a:solidFill>
                  <a:latin typeface="Roboto"/>
                  <a:ea typeface="Roboto"/>
                  <a:cs typeface="Roboto"/>
                  <a:sym typeface="Roboto"/>
                </a:rPr>
                <a:t>Comments from instructors</a:t>
              </a:r>
              <a:endParaRPr b="0" i="0" sz="1500" u="none" cap="none" strike="noStrike">
                <a:solidFill>
                  <a:srgbClr val="000000"/>
                </a:solidFill>
                <a:latin typeface="Roboto"/>
                <a:ea typeface="Roboto"/>
                <a:cs typeface="Roboto"/>
                <a:sym typeface="Roboto"/>
              </a:endParaRPr>
            </a:p>
            <a:p>
              <a:pPr indent="-323850" lvl="0" marL="457200" marR="0" rtl="0" algn="l">
                <a:lnSpc>
                  <a:spcPct val="115000"/>
                </a:lnSpc>
                <a:spcBef>
                  <a:spcPts val="0"/>
                </a:spcBef>
                <a:spcAft>
                  <a:spcPts val="0"/>
                </a:spcAft>
                <a:buClr>
                  <a:srgbClr val="000000"/>
                </a:buClr>
                <a:buSzPts val="1500"/>
                <a:buFont typeface="Roboto"/>
                <a:buChar char="●"/>
              </a:pPr>
              <a:r>
                <a:rPr b="0" i="0" lang="en-US" sz="1500" u="none" cap="none" strike="noStrike">
                  <a:solidFill>
                    <a:srgbClr val="000000"/>
                  </a:solidFill>
                  <a:latin typeface="Roboto"/>
                  <a:ea typeface="Roboto"/>
                  <a:cs typeface="Roboto"/>
                  <a:sym typeface="Roboto"/>
                </a:rPr>
                <a:t>Direct answer</a:t>
              </a:r>
              <a:endParaRPr b="0" i="0" sz="1500" u="none" cap="none" strike="noStrike">
                <a:solidFill>
                  <a:srgbClr val="000000"/>
                </a:solidFill>
                <a:latin typeface="Roboto"/>
                <a:ea typeface="Roboto"/>
                <a:cs typeface="Roboto"/>
                <a:sym typeface="Roboto"/>
              </a:endParaRPr>
            </a:p>
          </p:txBody>
        </p:sp>
      </p:grpSp>
      <p:grpSp>
        <p:nvGrpSpPr>
          <p:cNvPr id="163" name="Google Shape;163;gbea1223c9f_0_16"/>
          <p:cNvGrpSpPr/>
          <p:nvPr/>
        </p:nvGrpSpPr>
        <p:grpSpPr>
          <a:xfrm>
            <a:off x="6926960" y="1586327"/>
            <a:ext cx="2751931" cy="4290359"/>
            <a:chOff x="5195350" y="1189775"/>
            <a:chExt cx="2064000" cy="3217850"/>
          </a:xfrm>
        </p:grpSpPr>
        <p:sp>
          <p:nvSpPr>
            <p:cNvPr id="164" name="Google Shape;164;gbea1223c9f_0_16"/>
            <p:cNvSpPr/>
            <p:nvPr/>
          </p:nvSpPr>
          <p:spPr>
            <a:xfrm>
              <a:off x="5195350" y="1189775"/>
              <a:ext cx="2064000" cy="669000"/>
            </a:xfrm>
            <a:prstGeom prst="chevron">
              <a:avLst>
                <a:gd fmla="val 50000" name="adj"/>
              </a:avLst>
            </a:prstGeom>
            <a:solidFill>
              <a:srgbClr val="0E65F0"/>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rgbClr val="FFFFFF"/>
                  </a:solidFill>
                  <a:latin typeface="Roboto"/>
                  <a:ea typeface="Roboto"/>
                  <a:cs typeface="Roboto"/>
                  <a:sym typeface="Roboto"/>
                </a:rPr>
                <a:t>3: Integration</a:t>
              </a:r>
              <a:endParaRPr b="0" i="0" sz="1900" u="none" cap="none" strike="noStrike">
                <a:solidFill>
                  <a:srgbClr val="FFFFFF"/>
                </a:solidFill>
                <a:latin typeface="Roboto"/>
                <a:ea typeface="Roboto"/>
                <a:cs typeface="Roboto"/>
                <a:sym typeface="Roboto"/>
              </a:endParaRPr>
            </a:p>
          </p:txBody>
        </p:sp>
        <p:sp>
          <p:nvSpPr>
            <p:cNvPr id="165" name="Google Shape;165;gbea1223c9f_0_16"/>
            <p:cNvSpPr txBox="1"/>
            <p:nvPr/>
          </p:nvSpPr>
          <p:spPr>
            <a:xfrm>
              <a:off x="5461650" y="2057125"/>
              <a:ext cx="1624500" cy="2350500"/>
            </a:xfrm>
            <a:prstGeom prst="rect">
              <a:avLst/>
            </a:prstGeom>
            <a:noFill/>
            <a:ln>
              <a:noFill/>
            </a:ln>
          </p:spPr>
          <p:txBody>
            <a:bodyPr anchorCtr="0" anchor="t" bIns="121900" lIns="121900" spcFirstLastPara="1" rIns="121900" wrap="square" tIns="121900">
              <a:noAutofit/>
            </a:bodyPr>
            <a:lstStyle/>
            <a:p>
              <a:pPr indent="-323850" lvl="0" marL="457200" marR="0" rtl="0" algn="l">
                <a:lnSpc>
                  <a:spcPct val="115000"/>
                </a:lnSpc>
                <a:spcBef>
                  <a:spcPts val="0"/>
                </a:spcBef>
                <a:spcAft>
                  <a:spcPts val="0"/>
                </a:spcAft>
                <a:buClr>
                  <a:srgbClr val="000000"/>
                </a:buClr>
                <a:buSzPts val="1500"/>
                <a:buFont typeface="Roboto"/>
                <a:buChar char="●"/>
              </a:pPr>
              <a:r>
                <a:rPr b="0" i="0" lang="en-US" sz="1500" u="none" cap="none" strike="noStrike">
                  <a:solidFill>
                    <a:srgbClr val="000000"/>
                  </a:solidFill>
                  <a:latin typeface="Roboto"/>
                  <a:ea typeface="Roboto"/>
                  <a:cs typeface="Roboto"/>
                  <a:sym typeface="Roboto"/>
                </a:rPr>
                <a:t>Proposing a solution</a:t>
              </a:r>
              <a:endParaRPr b="0" i="0" sz="1500" u="none" cap="none" strike="noStrike">
                <a:solidFill>
                  <a:srgbClr val="000000"/>
                </a:solidFill>
                <a:latin typeface="Roboto"/>
                <a:ea typeface="Roboto"/>
                <a:cs typeface="Roboto"/>
                <a:sym typeface="Roboto"/>
              </a:endParaRPr>
            </a:p>
            <a:p>
              <a:pPr indent="-323850" lvl="0" marL="457200" marR="0" rtl="0" algn="l">
                <a:lnSpc>
                  <a:spcPct val="115000"/>
                </a:lnSpc>
                <a:spcBef>
                  <a:spcPts val="0"/>
                </a:spcBef>
                <a:spcAft>
                  <a:spcPts val="0"/>
                </a:spcAft>
                <a:buClr>
                  <a:srgbClr val="000000"/>
                </a:buClr>
                <a:buSzPts val="1500"/>
                <a:buFont typeface="Roboto"/>
                <a:buChar char="●"/>
              </a:pPr>
              <a:r>
                <a:rPr b="0" i="0" lang="en-US" sz="1500" u="none" cap="none" strike="noStrike">
                  <a:solidFill>
                    <a:srgbClr val="000000"/>
                  </a:solidFill>
                  <a:latin typeface="Roboto"/>
                  <a:ea typeface="Roboto"/>
                  <a:cs typeface="Roboto"/>
                  <a:sym typeface="Roboto"/>
                </a:rPr>
                <a:t>Giving their solution</a:t>
              </a:r>
              <a:endParaRPr b="0" i="0" sz="1500" u="none" cap="none" strike="noStrike">
                <a:solidFill>
                  <a:srgbClr val="000000"/>
                </a:solidFill>
                <a:latin typeface="Roboto"/>
                <a:ea typeface="Roboto"/>
                <a:cs typeface="Roboto"/>
                <a:sym typeface="Roboto"/>
              </a:endParaRPr>
            </a:p>
            <a:p>
              <a:pPr indent="-323850" lvl="0" marL="457200" marR="0" rtl="0" algn="l">
                <a:lnSpc>
                  <a:spcPct val="115000"/>
                </a:lnSpc>
                <a:spcBef>
                  <a:spcPts val="0"/>
                </a:spcBef>
                <a:spcAft>
                  <a:spcPts val="0"/>
                </a:spcAft>
                <a:buClr>
                  <a:srgbClr val="000000"/>
                </a:buClr>
                <a:buSzPts val="1500"/>
                <a:buFont typeface="Roboto"/>
                <a:buChar char="●"/>
              </a:pPr>
              <a:r>
                <a:rPr b="0" i="0" lang="en-US" sz="1500" u="none" cap="none" strike="noStrike">
                  <a:solidFill>
                    <a:srgbClr val="000000"/>
                  </a:solidFill>
                  <a:latin typeface="Roboto"/>
                  <a:ea typeface="Roboto"/>
                  <a:cs typeface="Roboto"/>
                  <a:sym typeface="Roboto"/>
                </a:rPr>
                <a:t>Giving a textbook or other reference</a:t>
              </a:r>
              <a:endParaRPr b="0" i="0" sz="1500" u="none" cap="none" strike="noStrike">
                <a:solidFill>
                  <a:srgbClr val="000000"/>
                </a:solidFill>
                <a:latin typeface="Roboto"/>
                <a:ea typeface="Roboto"/>
                <a:cs typeface="Roboto"/>
                <a:sym typeface="Roboto"/>
              </a:endParaRPr>
            </a:p>
            <a:p>
              <a:pPr indent="-323850" lvl="0" marL="457200" marR="0" rtl="0" algn="l">
                <a:lnSpc>
                  <a:spcPct val="115000"/>
                </a:lnSpc>
                <a:spcBef>
                  <a:spcPts val="0"/>
                </a:spcBef>
                <a:spcAft>
                  <a:spcPts val="0"/>
                </a:spcAft>
                <a:buClr>
                  <a:srgbClr val="000000"/>
                </a:buClr>
                <a:buSzPts val="1500"/>
                <a:buFont typeface="Roboto"/>
                <a:buChar char="●"/>
              </a:pPr>
              <a:r>
                <a:rPr b="0" i="0" lang="en-US" sz="1500" u="none" cap="none" strike="noStrike">
                  <a:solidFill>
                    <a:srgbClr val="000000"/>
                  </a:solidFill>
                  <a:latin typeface="Roboto"/>
                  <a:ea typeface="Roboto"/>
                  <a:cs typeface="Roboto"/>
                  <a:sym typeface="Roboto"/>
                </a:rPr>
                <a:t>Partial solutions</a:t>
              </a:r>
              <a:endParaRPr b="0" i="0" sz="1500" u="none" cap="none" strike="noStrike">
                <a:solidFill>
                  <a:srgbClr val="000000"/>
                </a:solidFill>
                <a:latin typeface="Roboto"/>
                <a:ea typeface="Roboto"/>
                <a:cs typeface="Roboto"/>
                <a:sym typeface="Roboto"/>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f234d063be_0_4"/>
          <p:cNvSpPr txBox="1"/>
          <p:nvPr>
            <p:ph idx="1" type="body"/>
          </p:nvPr>
        </p:nvSpPr>
        <p:spPr>
          <a:xfrm>
            <a:off x="381000" y="1215474"/>
            <a:ext cx="11430000" cy="50118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1000"/>
              </a:spcBef>
              <a:spcAft>
                <a:spcPts val="0"/>
              </a:spcAft>
              <a:buSzPts val="1400"/>
              <a:buChar char="•"/>
            </a:pPr>
            <a:r>
              <a:rPr lang="en-US" sz="2400"/>
              <a:t>Work with the</a:t>
            </a:r>
            <a:r>
              <a:rPr lang="en-US" sz="2400"/>
              <a:t> model to predict cognitive presence in Piazza comments </a:t>
            </a:r>
            <a:endParaRPr sz="2400"/>
          </a:p>
          <a:p>
            <a:pPr indent="-342900" lvl="0" marL="457200" rtl="0" algn="l">
              <a:lnSpc>
                <a:spcPct val="100000"/>
              </a:lnSpc>
              <a:spcBef>
                <a:spcPts val="1000"/>
              </a:spcBef>
              <a:spcAft>
                <a:spcPts val="0"/>
              </a:spcAft>
              <a:buSzPts val="1800"/>
              <a:buChar char="•"/>
            </a:pPr>
            <a:r>
              <a:rPr b="1" lang="en-US" sz="2600"/>
              <a:t>Last semester:</a:t>
            </a:r>
            <a:r>
              <a:rPr lang="en-US" sz="2600"/>
              <a:t> </a:t>
            </a:r>
            <a:r>
              <a:rPr lang="en-US" sz="2400"/>
              <a:t>&gt;80% f1-score was achieved on the Training set with BERT Fine-tuning Language Model</a:t>
            </a:r>
            <a:endParaRPr sz="2400"/>
          </a:p>
          <a:p>
            <a:pPr indent="-330200" lvl="0" marL="457200" rtl="0" algn="l">
              <a:lnSpc>
                <a:spcPct val="100000"/>
              </a:lnSpc>
              <a:spcBef>
                <a:spcPts val="1000"/>
              </a:spcBef>
              <a:spcAft>
                <a:spcPts val="0"/>
              </a:spcAft>
              <a:buSzPts val="1600"/>
              <a:buChar char="•"/>
            </a:pPr>
            <a:r>
              <a:rPr b="1" lang="en-US" sz="2600"/>
              <a:t>Challenges encountered:</a:t>
            </a:r>
            <a:r>
              <a:rPr lang="en-US" sz="2600"/>
              <a:t> </a:t>
            </a:r>
            <a:r>
              <a:rPr lang="en-US" sz="2400"/>
              <a:t>Mis-classification in test set frequent                among adjacent labels, needed to consider different metrics</a:t>
            </a:r>
            <a:endParaRPr sz="2400"/>
          </a:p>
          <a:p>
            <a:pPr indent="-342900" lvl="0" marL="457200" rtl="0" algn="l">
              <a:lnSpc>
                <a:spcPct val="100000"/>
              </a:lnSpc>
              <a:spcBef>
                <a:spcPts val="1000"/>
              </a:spcBef>
              <a:spcAft>
                <a:spcPts val="0"/>
              </a:spcAft>
              <a:buSzPts val="1800"/>
              <a:buChar char="•"/>
            </a:pPr>
            <a:r>
              <a:rPr b="1" lang="en-US"/>
              <a:t>Goals for this semester</a:t>
            </a:r>
            <a:r>
              <a:rPr lang="en-US"/>
              <a:t>:</a:t>
            </a:r>
            <a:endParaRPr/>
          </a:p>
          <a:p>
            <a:pPr indent="-368300" lvl="1" marL="914400" rtl="0" algn="l">
              <a:lnSpc>
                <a:spcPct val="100000"/>
              </a:lnSpc>
              <a:spcBef>
                <a:spcPts val="1000"/>
              </a:spcBef>
              <a:spcAft>
                <a:spcPts val="0"/>
              </a:spcAft>
              <a:buSzPts val="2200"/>
              <a:buChar char="•"/>
            </a:pPr>
            <a:r>
              <a:rPr lang="en-US"/>
              <a:t>More data, cleaner extraction from Piazza (removing code segments etc)</a:t>
            </a:r>
            <a:endParaRPr/>
          </a:p>
          <a:p>
            <a:pPr indent="-342900" lvl="1" marL="914400" rtl="0" algn="l">
              <a:lnSpc>
                <a:spcPct val="100000"/>
              </a:lnSpc>
              <a:spcBef>
                <a:spcPts val="1000"/>
              </a:spcBef>
              <a:spcAft>
                <a:spcPts val="0"/>
              </a:spcAft>
              <a:buSzPts val="1800"/>
              <a:buChar char="•"/>
            </a:pPr>
            <a:r>
              <a:rPr lang="en-US"/>
              <a:t>Using the BERT (Devlin J. et al, 2018) model to generate output with the Piazza data</a:t>
            </a:r>
            <a:endParaRPr/>
          </a:p>
          <a:p>
            <a:pPr indent="-342900" lvl="1" marL="914400" rtl="0" algn="l">
              <a:lnSpc>
                <a:spcPct val="100000"/>
              </a:lnSpc>
              <a:spcBef>
                <a:spcPts val="1000"/>
              </a:spcBef>
              <a:spcAft>
                <a:spcPts val="0"/>
              </a:spcAft>
              <a:buSzPts val="1800"/>
              <a:buChar char="•"/>
            </a:pPr>
            <a:r>
              <a:rPr lang="en-US"/>
              <a:t>Improve the accuracy of the existing model (w/o using different metric) or develop a new model (if time permits)</a:t>
            </a:r>
            <a:endParaRPr/>
          </a:p>
        </p:txBody>
      </p:sp>
      <p:sp>
        <p:nvSpPr>
          <p:cNvPr id="171" name="Google Shape;171;gf234d063be_0_4"/>
          <p:cNvSpPr txBox="1"/>
          <p:nvPr>
            <p:ph type="title"/>
          </p:nvPr>
        </p:nvSpPr>
        <p:spPr>
          <a:xfrm>
            <a:off x="78825" y="212250"/>
            <a:ext cx="12192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Cognitive Presence Modeling with BERT Language Model </a:t>
            </a:r>
            <a:endParaRPr/>
          </a:p>
        </p:txBody>
      </p:sp>
      <p:pic>
        <p:nvPicPr>
          <p:cNvPr id="172" name="Google Shape;172;gf234d063be_0_4"/>
          <p:cNvPicPr preferRelativeResize="0"/>
          <p:nvPr/>
        </p:nvPicPr>
        <p:blipFill rotWithShape="1">
          <a:blip r:embed="rId3">
            <a:alphaModFix/>
          </a:blip>
          <a:srcRect b="0" l="7464" r="11228" t="9444"/>
          <a:stretch/>
        </p:blipFill>
        <p:spPr>
          <a:xfrm>
            <a:off x="9708925" y="2124900"/>
            <a:ext cx="2483076" cy="20756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efbeba6a1c_0_10"/>
          <p:cNvSpPr txBox="1"/>
          <p:nvPr>
            <p:ph idx="1" type="body"/>
          </p:nvPr>
        </p:nvSpPr>
        <p:spPr>
          <a:xfrm>
            <a:off x="381000" y="1215474"/>
            <a:ext cx="11430000" cy="5143200"/>
          </a:xfrm>
          <a:prstGeom prst="rect">
            <a:avLst/>
          </a:prstGeom>
          <a:noFill/>
          <a:ln>
            <a:noFill/>
          </a:ln>
        </p:spPr>
        <p:txBody>
          <a:bodyPr anchorCtr="0" anchor="t" bIns="45700" lIns="91425" spcFirstLastPara="1" rIns="91425" wrap="square" tIns="45700">
            <a:noAutofit/>
          </a:bodyPr>
          <a:lstStyle/>
          <a:p>
            <a:pPr indent="-368300" lvl="0" marL="457200" rtl="0" algn="l">
              <a:lnSpc>
                <a:spcPct val="100000"/>
              </a:lnSpc>
              <a:spcBef>
                <a:spcPts val="1000"/>
              </a:spcBef>
              <a:spcAft>
                <a:spcPts val="0"/>
              </a:spcAft>
              <a:buSzPts val="2200"/>
              <a:buChar char="•"/>
            </a:pPr>
            <a:r>
              <a:rPr lang="en-US"/>
              <a:t>Rate posts by positive, negative, or neutral sentiment </a:t>
            </a:r>
            <a:endParaRPr/>
          </a:p>
          <a:p>
            <a:pPr indent="-368300" lvl="0" marL="457200" rtl="0" algn="l">
              <a:lnSpc>
                <a:spcPct val="100000"/>
              </a:lnSpc>
              <a:spcBef>
                <a:spcPts val="1000"/>
              </a:spcBef>
              <a:spcAft>
                <a:spcPts val="0"/>
              </a:spcAft>
              <a:buSzPts val="2200"/>
              <a:buChar char="•"/>
            </a:pPr>
            <a:r>
              <a:rPr b="1" lang="en-US"/>
              <a:t>L</a:t>
            </a:r>
            <a:r>
              <a:rPr b="1" lang="en-US"/>
              <a:t>ast semester:</a:t>
            </a:r>
            <a:r>
              <a:rPr lang="en-US"/>
              <a:t> Conducted sentiment analysis with pre-existing VADER model in Python Natural Language Toolkit (nltk) package</a:t>
            </a:r>
            <a:endParaRPr/>
          </a:p>
          <a:p>
            <a:pPr indent="-342900" lvl="0" marL="457200" rtl="0" algn="l">
              <a:lnSpc>
                <a:spcPct val="100000"/>
              </a:lnSpc>
              <a:spcBef>
                <a:spcPts val="1000"/>
              </a:spcBef>
              <a:spcAft>
                <a:spcPts val="0"/>
              </a:spcAft>
              <a:buSzPts val="1800"/>
              <a:buChar char="•"/>
            </a:pPr>
            <a:r>
              <a:rPr b="1" lang="en-US"/>
              <a:t>Challenges encountered:</a:t>
            </a:r>
            <a:r>
              <a:rPr lang="en-US"/>
              <a:t> </a:t>
            </a:r>
            <a:r>
              <a:rPr lang="en-US" sz="2500"/>
              <a:t>Pre-existing models used, limited data available</a:t>
            </a:r>
            <a:endParaRPr sz="2500"/>
          </a:p>
          <a:p>
            <a:pPr indent="-342900" lvl="0" marL="457200" rtl="0" algn="l">
              <a:lnSpc>
                <a:spcPct val="100000"/>
              </a:lnSpc>
              <a:spcBef>
                <a:spcPts val="1000"/>
              </a:spcBef>
              <a:spcAft>
                <a:spcPts val="0"/>
              </a:spcAft>
              <a:buSzPts val="1800"/>
              <a:buChar char="•"/>
            </a:pPr>
            <a:r>
              <a:rPr b="1" lang="en-US"/>
              <a:t>Goals for mid-semester</a:t>
            </a:r>
            <a:r>
              <a:rPr lang="en-US"/>
              <a:t>: </a:t>
            </a:r>
            <a:endParaRPr/>
          </a:p>
          <a:p>
            <a:pPr indent="-342900" lvl="1" marL="914400" rtl="0" algn="l">
              <a:lnSpc>
                <a:spcPct val="100000"/>
              </a:lnSpc>
              <a:spcBef>
                <a:spcPts val="1000"/>
              </a:spcBef>
              <a:spcAft>
                <a:spcPts val="0"/>
              </a:spcAft>
              <a:buSzPts val="1800"/>
              <a:buChar char="•"/>
            </a:pPr>
            <a:r>
              <a:rPr lang="en-US"/>
              <a:t>Search for a better model to perform the analysis</a:t>
            </a:r>
            <a:endParaRPr/>
          </a:p>
          <a:p>
            <a:pPr indent="-342900" lvl="1" marL="914400" rtl="0" algn="l">
              <a:lnSpc>
                <a:spcPct val="100000"/>
              </a:lnSpc>
              <a:spcBef>
                <a:spcPts val="1000"/>
              </a:spcBef>
              <a:spcAft>
                <a:spcPts val="0"/>
              </a:spcAft>
              <a:buSzPts val="1800"/>
              <a:buChar char="•"/>
            </a:pPr>
            <a:r>
              <a:rPr lang="en-US"/>
              <a:t>Perform Sentiment Analysis on actual Piazza data </a:t>
            </a:r>
            <a:r>
              <a:rPr lang="en-US"/>
              <a:t>(comments)</a:t>
            </a:r>
            <a:r>
              <a:rPr lang="en-US"/>
              <a:t> pre-existing/new model</a:t>
            </a:r>
            <a:endParaRPr/>
          </a:p>
          <a:p>
            <a:pPr indent="-342900" lvl="1" marL="914400" rtl="0" algn="l">
              <a:lnSpc>
                <a:spcPct val="100000"/>
              </a:lnSpc>
              <a:spcBef>
                <a:spcPts val="1000"/>
              </a:spcBef>
              <a:spcAft>
                <a:spcPts val="0"/>
              </a:spcAft>
              <a:buSzPts val="1800"/>
              <a:buChar char="•"/>
            </a:pPr>
            <a:r>
              <a:rPr lang="en-US"/>
              <a:t>Provide results to the Web Development team</a:t>
            </a:r>
            <a:endParaRPr/>
          </a:p>
        </p:txBody>
      </p:sp>
      <p:sp>
        <p:nvSpPr>
          <p:cNvPr id="178" name="Google Shape;178;gefbeba6a1c_0_1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Sentiment Analysis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efbeba6a1c_0_20"/>
          <p:cNvSpPr txBox="1"/>
          <p:nvPr>
            <p:ph idx="1" type="body"/>
          </p:nvPr>
        </p:nvSpPr>
        <p:spPr>
          <a:xfrm>
            <a:off x="381000" y="1215475"/>
            <a:ext cx="6551700" cy="51006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1000"/>
              </a:spcBef>
              <a:spcAft>
                <a:spcPts val="0"/>
              </a:spcAft>
              <a:buSzPts val="1600"/>
              <a:buChar char="•"/>
            </a:pPr>
            <a:r>
              <a:rPr b="1" lang="en-US" sz="2600"/>
              <a:t>L</a:t>
            </a:r>
            <a:r>
              <a:rPr b="1" lang="en-US" sz="2600"/>
              <a:t>ast semester:</a:t>
            </a:r>
            <a:endParaRPr b="1" sz="2600"/>
          </a:p>
          <a:p>
            <a:pPr indent="-330200" lvl="1" marL="914400" rtl="0" algn="l">
              <a:lnSpc>
                <a:spcPct val="100000"/>
              </a:lnSpc>
              <a:spcBef>
                <a:spcPts val="1000"/>
              </a:spcBef>
              <a:spcAft>
                <a:spcPts val="0"/>
              </a:spcAft>
              <a:buSzPts val="1600"/>
              <a:buChar char="•"/>
            </a:pPr>
            <a:r>
              <a:rPr lang="en-US" sz="2200"/>
              <a:t>Created a graph representation of the interactions between students</a:t>
            </a:r>
            <a:endParaRPr sz="2200"/>
          </a:p>
          <a:p>
            <a:pPr indent="-330200" lvl="1" marL="914400" rtl="0" algn="l">
              <a:lnSpc>
                <a:spcPct val="100000"/>
              </a:lnSpc>
              <a:spcBef>
                <a:spcPts val="1000"/>
              </a:spcBef>
              <a:spcAft>
                <a:spcPts val="0"/>
              </a:spcAft>
              <a:buSzPts val="1600"/>
              <a:buChar char="•"/>
            </a:pPr>
            <a:r>
              <a:rPr lang="en-US" sz="2200"/>
              <a:t>Found that the majority of posts were created by a small number of users</a:t>
            </a:r>
            <a:endParaRPr sz="2200"/>
          </a:p>
          <a:p>
            <a:pPr indent="0" lvl="0" marL="0" rtl="0" algn="l">
              <a:lnSpc>
                <a:spcPct val="100000"/>
              </a:lnSpc>
              <a:spcBef>
                <a:spcPts val="1000"/>
              </a:spcBef>
              <a:spcAft>
                <a:spcPts val="0"/>
              </a:spcAft>
              <a:buNone/>
            </a:pPr>
            <a:r>
              <a:t/>
            </a:r>
            <a:endParaRPr b="1" sz="2600"/>
          </a:p>
          <a:p>
            <a:pPr indent="-330200" lvl="0" marL="457200" rtl="0" algn="l">
              <a:lnSpc>
                <a:spcPct val="100000"/>
              </a:lnSpc>
              <a:spcBef>
                <a:spcPts val="1000"/>
              </a:spcBef>
              <a:spcAft>
                <a:spcPts val="0"/>
              </a:spcAft>
              <a:buSzPts val="1600"/>
              <a:buChar char="•"/>
            </a:pPr>
            <a:r>
              <a:rPr b="1" lang="en-US" sz="2600"/>
              <a:t>Challenges encountered:</a:t>
            </a:r>
            <a:endParaRPr b="1" sz="2600"/>
          </a:p>
          <a:p>
            <a:pPr indent="-330200" lvl="1" marL="914400" rtl="0" algn="l">
              <a:lnSpc>
                <a:spcPct val="100000"/>
              </a:lnSpc>
              <a:spcBef>
                <a:spcPts val="1000"/>
              </a:spcBef>
              <a:spcAft>
                <a:spcPts val="0"/>
              </a:spcAft>
              <a:buSzPts val="1600"/>
              <a:buChar char="•"/>
            </a:pPr>
            <a:r>
              <a:rPr lang="en-US" sz="2200"/>
              <a:t>Sampling bias. Lack of data on students who passively browse the forums</a:t>
            </a:r>
            <a:endParaRPr sz="2200"/>
          </a:p>
        </p:txBody>
      </p:sp>
      <p:sp>
        <p:nvSpPr>
          <p:cNvPr id="184" name="Google Shape;184;gefbeba6a1c_0_2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Social Presence</a:t>
            </a:r>
            <a:endParaRPr/>
          </a:p>
        </p:txBody>
      </p:sp>
      <p:pic>
        <p:nvPicPr>
          <p:cNvPr id="185" name="Google Shape;185;gefbeba6a1c_0_20"/>
          <p:cNvPicPr preferRelativeResize="0"/>
          <p:nvPr/>
        </p:nvPicPr>
        <p:blipFill>
          <a:blip r:embed="rId3">
            <a:alphaModFix/>
          </a:blip>
          <a:stretch>
            <a:fillRect/>
          </a:stretch>
        </p:blipFill>
        <p:spPr>
          <a:xfrm>
            <a:off x="6705950" y="1315300"/>
            <a:ext cx="5253525" cy="4227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f4bb9c8d2f_2_0"/>
          <p:cNvSpPr txBox="1"/>
          <p:nvPr/>
        </p:nvSpPr>
        <p:spPr>
          <a:xfrm>
            <a:off x="424650" y="1215625"/>
            <a:ext cx="11342700" cy="2472900"/>
          </a:xfrm>
          <a:prstGeom prst="rect">
            <a:avLst/>
          </a:prstGeom>
          <a:noFill/>
          <a:ln>
            <a:noFill/>
          </a:ln>
        </p:spPr>
        <p:txBody>
          <a:bodyPr anchorCtr="0" anchor="t" bIns="91425" lIns="91425" spcFirstLastPara="1" rIns="91425" wrap="square" tIns="91425">
            <a:spAutoFit/>
          </a:bodyPr>
          <a:lstStyle/>
          <a:p>
            <a:pPr indent="-330200" lvl="0" marL="457200" rtl="0" algn="l">
              <a:spcBef>
                <a:spcPts val="1000"/>
              </a:spcBef>
              <a:spcAft>
                <a:spcPts val="0"/>
              </a:spcAft>
              <a:buClr>
                <a:schemeClr val="dk1"/>
              </a:buClr>
              <a:buSzPts val="1600"/>
              <a:buChar char="•"/>
            </a:pPr>
            <a:r>
              <a:rPr lang="en-US" sz="2200">
                <a:solidFill>
                  <a:schemeClr val="dk1"/>
                </a:solidFill>
                <a:latin typeface="Roboto"/>
                <a:ea typeface="Roboto"/>
                <a:cs typeface="Roboto"/>
                <a:sym typeface="Roboto"/>
              </a:rPr>
              <a:t>Analyzing the topics where the student participation is concentrated, and the sentiment around those topics</a:t>
            </a:r>
            <a:endParaRPr sz="2200">
              <a:solidFill>
                <a:schemeClr val="dk1"/>
              </a:solidFill>
              <a:latin typeface="Roboto"/>
              <a:ea typeface="Roboto"/>
              <a:cs typeface="Roboto"/>
              <a:sym typeface="Roboto"/>
            </a:endParaRPr>
          </a:p>
          <a:p>
            <a:pPr indent="-330200" lvl="0" marL="457200" rtl="0" algn="l">
              <a:spcBef>
                <a:spcPts val="1000"/>
              </a:spcBef>
              <a:spcAft>
                <a:spcPts val="0"/>
              </a:spcAft>
              <a:buClr>
                <a:schemeClr val="dk1"/>
              </a:buClr>
              <a:buSzPts val="1600"/>
              <a:buChar char="•"/>
            </a:pPr>
            <a:r>
              <a:rPr lang="en-US" sz="2200">
                <a:solidFill>
                  <a:schemeClr val="dk1"/>
                </a:solidFill>
                <a:latin typeface="Roboto"/>
                <a:ea typeface="Roboto"/>
                <a:cs typeface="Roboto"/>
                <a:sym typeface="Roboto"/>
              </a:rPr>
              <a:t>Identifying the variation in the style of communication between students from the lens of CoI framework</a:t>
            </a:r>
            <a:endParaRPr sz="2200">
              <a:solidFill>
                <a:schemeClr val="dk1"/>
              </a:solidFill>
              <a:latin typeface="Roboto"/>
              <a:ea typeface="Roboto"/>
              <a:cs typeface="Roboto"/>
              <a:sym typeface="Roboto"/>
            </a:endParaRPr>
          </a:p>
          <a:p>
            <a:pPr indent="-330200" lvl="0" marL="457200" rtl="0" algn="l">
              <a:spcBef>
                <a:spcPts val="1000"/>
              </a:spcBef>
              <a:spcAft>
                <a:spcPts val="0"/>
              </a:spcAft>
              <a:buClr>
                <a:schemeClr val="dk1"/>
              </a:buClr>
              <a:buSzPts val="1600"/>
              <a:buChar char="•"/>
            </a:pPr>
            <a:r>
              <a:rPr lang="en-US" sz="2200">
                <a:solidFill>
                  <a:schemeClr val="dk1"/>
                </a:solidFill>
                <a:latin typeface="Roboto"/>
                <a:ea typeface="Roboto"/>
                <a:cs typeface="Roboto"/>
                <a:sym typeface="Roboto"/>
              </a:rPr>
              <a:t>Studying the relationship between discussion forum activity and performance in the course</a:t>
            </a:r>
            <a:endParaRPr sz="2200">
              <a:solidFill>
                <a:schemeClr val="dk1"/>
              </a:solidFill>
              <a:latin typeface="Roboto"/>
              <a:ea typeface="Roboto"/>
              <a:cs typeface="Roboto"/>
              <a:sym typeface="Roboto"/>
            </a:endParaRPr>
          </a:p>
        </p:txBody>
      </p:sp>
      <p:sp>
        <p:nvSpPr>
          <p:cNvPr id="191" name="Google Shape;191;gf4bb9c8d2f_2_0"/>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Goals for this semester (Social Presence)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efbeba6a1c_0_25"/>
          <p:cNvSpPr txBox="1"/>
          <p:nvPr>
            <p:ph idx="1" type="body"/>
          </p:nvPr>
        </p:nvSpPr>
        <p:spPr>
          <a:xfrm>
            <a:off x="381000" y="1215475"/>
            <a:ext cx="5823000" cy="47082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b="1" lang="en-US"/>
              <a:t>Goal: </a:t>
            </a:r>
            <a:r>
              <a:rPr lang="en-US"/>
              <a:t>Model student final grades as a function of discussion forum participation </a:t>
            </a:r>
            <a:endParaRPr/>
          </a:p>
          <a:p>
            <a:pPr indent="-342900" lvl="0" marL="457200" rtl="0" algn="l">
              <a:lnSpc>
                <a:spcPct val="100000"/>
              </a:lnSpc>
              <a:spcBef>
                <a:spcPts val="1000"/>
              </a:spcBef>
              <a:spcAft>
                <a:spcPts val="0"/>
              </a:spcAft>
              <a:buSzPts val="1800"/>
              <a:buChar char="•"/>
            </a:pPr>
            <a:r>
              <a:rPr lang="en-US"/>
              <a:t>Features that predict final grades are likely also useful for professors to see on dashboard</a:t>
            </a:r>
            <a:endParaRPr/>
          </a:p>
          <a:p>
            <a:pPr indent="-342900" lvl="0" marL="457200" rtl="0" algn="l">
              <a:lnSpc>
                <a:spcPct val="100000"/>
              </a:lnSpc>
              <a:spcBef>
                <a:spcPts val="1000"/>
              </a:spcBef>
              <a:spcAft>
                <a:spcPts val="0"/>
              </a:spcAft>
              <a:buSzPts val="1800"/>
              <a:buChar char="•"/>
            </a:pPr>
            <a:r>
              <a:rPr b="1" lang="en-US"/>
              <a:t>Goals for this semester:</a:t>
            </a:r>
            <a:endParaRPr b="1"/>
          </a:p>
          <a:p>
            <a:pPr indent="-342900" lvl="1" marL="914400" rtl="0" algn="l">
              <a:lnSpc>
                <a:spcPct val="100000"/>
              </a:lnSpc>
              <a:spcBef>
                <a:spcPts val="1000"/>
              </a:spcBef>
              <a:spcAft>
                <a:spcPts val="0"/>
              </a:spcAft>
              <a:buSzPts val="1800"/>
              <a:buChar char="•"/>
            </a:pPr>
            <a:r>
              <a:rPr lang="en-US"/>
              <a:t>Correlation analyses to identify important features</a:t>
            </a:r>
            <a:endParaRPr/>
          </a:p>
          <a:p>
            <a:pPr indent="-342900" lvl="1" marL="914400" rtl="0" algn="l">
              <a:lnSpc>
                <a:spcPct val="100000"/>
              </a:lnSpc>
              <a:spcBef>
                <a:spcPts val="1000"/>
              </a:spcBef>
              <a:spcAft>
                <a:spcPts val="0"/>
              </a:spcAft>
              <a:buSzPts val="1800"/>
              <a:buChar char="•"/>
            </a:pPr>
            <a:r>
              <a:rPr lang="en-US"/>
              <a:t>Predictive model</a:t>
            </a:r>
            <a:endParaRPr/>
          </a:p>
        </p:txBody>
      </p:sp>
      <p:sp>
        <p:nvSpPr>
          <p:cNvPr id="197" name="Google Shape;197;gefbeba6a1c_0_25"/>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Student Outcomes</a:t>
            </a:r>
            <a:endParaRPr/>
          </a:p>
        </p:txBody>
      </p:sp>
      <p:sp>
        <p:nvSpPr>
          <p:cNvPr id="198" name="Google Shape;198;gefbeba6a1c_0_25"/>
          <p:cNvSpPr/>
          <p:nvPr/>
        </p:nvSpPr>
        <p:spPr>
          <a:xfrm>
            <a:off x="10184175" y="2850100"/>
            <a:ext cx="1831200" cy="7662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900">
                <a:solidFill>
                  <a:schemeClr val="lt1"/>
                </a:solidFill>
                <a:latin typeface="Roboto"/>
                <a:ea typeface="Roboto"/>
                <a:cs typeface="Roboto"/>
                <a:sym typeface="Roboto"/>
              </a:rPr>
              <a:t>Final grades</a:t>
            </a:r>
            <a:endParaRPr sz="1900">
              <a:solidFill>
                <a:schemeClr val="lt1"/>
              </a:solidFill>
              <a:latin typeface="Roboto"/>
              <a:ea typeface="Roboto"/>
              <a:cs typeface="Roboto"/>
              <a:sym typeface="Roboto"/>
            </a:endParaRPr>
          </a:p>
        </p:txBody>
      </p:sp>
      <p:sp>
        <p:nvSpPr>
          <p:cNvPr id="199" name="Google Shape;199;gefbeba6a1c_0_25"/>
          <p:cNvSpPr/>
          <p:nvPr/>
        </p:nvSpPr>
        <p:spPr>
          <a:xfrm>
            <a:off x="7159875" y="3300700"/>
            <a:ext cx="1831200" cy="7662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900">
                <a:solidFill>
                  <a:schemeClr val="lt1"/>
                </a:solidFill>
                <a:latin typeface="Roboto"/>
                <a:ea typeface="Roboto"/>
                <a:cs typeface="Roboto"/>
                <a:sym typeface="Roboto"/>
              </a:rPr>
              <a:t>Number of posts</a:t>
            </a:r>
            <a:endParaRPr sz="1900">
              <a:solidFill>
                <a:schemeClr val="lt1"/>
              </a:solidFill>
              <a:latin typeface="Roboto"/>
              <a:ea typeface="Roboto"/>
              <a:cs typeface="Roboto"/>
              <a:sym typeface="Roboto"/>
            </a:endParaRPr>
          </a:p>
        </p:txBody>
      </p:sp>
      <p:sp>
        <p:nvSpPr>
          <p:cNvPr id="200" name="Google Shape;200;gefbeba6a1c_0_25"/>
          <p:cNvSpPr/>
          <p:nvPr/>
        </p:nvSpPr>
        <p:spPr>
          <a:xfrm>
            <a:off x="7159875" y="2263925"/>
            <a:ext cx="1831200" cy="7662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900">
                <a:solidFill>
                  <a:schemeClr val="lt1"/>
                </a:solidFill>
                <a:latin typeface="Roboto"/>
                <a:ea typeface="Roboto"/>
                <a:cs typeface="Roboto"/>
                <a:sym typeface="Roboto"/>
              </a:rPr>
              <a:t>Cognitive</a:t>
            </a:r>
            <a:r>
              <a:rPr lang="en-US" sz="1900">
                <a:solidFill>
                  <a:schemeClr val="lt1"/>
                </a:solidFill>
                <a:latin typeface="Roboto"/>
                <a:ea typeface="Roboto"/>
                <a:cs typeface="Roboto"/>
                <a:sym typeface="Roboto"/>
              </a:rPr>
              <a:t> presence</a:t>
            </a:r>
            <a:endParaRPr sz="1900">
              <a:solidFill>
                <a:schemeClr val="lt1"/>
              </a:solidFill>
              <a:latin typeface="Roboto"/>
              <a:ea typeface="Roboto"/>
              <a:cs typeface="Roboto"/>
              <a:sym typeface="Roboto"/>
            </a:endParaRPr>
          </a:p>
        </p:txBody>
      </p:sp>
      <p:sp>
        <p:nvSpPr>
          <p:cNvPr id="201" name="Google Shape;201;gefbeba6a1c_0_25"/>
          <p:cNvSpPr/>
          <p:nvPr/>
        </p:nvSpPr>
        <p:spPr>
          <a:xfrm>
            <a:off x="7159875" y="1227150"/>
            <a:ext cx="1831200" cy="7662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900">
                <a:solidFill>
                  <a:schemeClr val="lt1"/>
                </a:solidFill>
                <a:latin typeface="Roboto"/>
                <a:ea typeface="Roboto"/>
                <a:cs typeface="Roboto"/>
                <a:sym typeface="Roboto"/>
              </a:rPr>
              <a:t>Number of answers</a:t>
            </a:r>
            <a:endParaRPr sz="1900">
              <a:solidFill>
                <a:schemeClr val="lt1"/>
              </a:solidFill>
              <a:latin typeface="Roboto"/>
              <a:ea typeface="Roboto"/>
              <a:cs typeface="Roboto"/>
              <a:sym typeface="Roboto"/>
            </a:endParaRPr>
          </a:p>
        </p:txBody>
      </p:sp>
      <p:sp>
        <p:nvSpPr>
          <p:cNvPr id="202" name="Google Shape;202;gefbeba6a1c_0_25"/>
          <p:cNvSpPr/>
          <p:nvPr/>
        </p:nvSpPr>
        <p:spPr>
          <a:xfrm>
            <a:off x="7159875" y="4337475"/>
            <a:ext cx="1831200" cy="7662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900">
                <a:solidFill>
                  <a:schemeClr val="lt1"/>
                </a:solidFill>
                <a:latin typeface="Roboto"/>
                <a:ea typeface="Roboto"/>
                <a:cs typeface="Roboto"/>
                <a:sym typeface="Roboto"/>
              </a:rPr>
              <a:t>Timing of posts</a:t>
            </a:r>
            <a:endParaRPr sz="1900">
              <a:solidFill>
                <a:schemeClr val="lt1"/>
              </a:solidFill>
              <a:latin typeface="Roboto"/>
              <a:ea typeface="Roboto"/>
              <a:cs typeface="Roboto"/>
              <a:sym typeface="Roboto"/>
            </a:endParaRPr>
          </a:p>
        </p:txBody>
      </p:sp>
      <p:cxnSp>
        <p:nvCxnSpPr>
          <p:cNvPr id="203" name="Google Shape;203;gefbeba6a1c_0_25"/>
          <p:cNvCxnSpPr>
            <a:stCxn id="201" idx="3"/>
            <a:endCxn id="198" idx="1"/>
          </p:cNvCxnSpPr>
          <p:nvPr/>
        </p:nvCxnSpPr>
        <p:spPr>
          <a:xfrm>
            <a:off x="8991075" y="1610250"/>
            <a:ext cx="1193100" cy="1623000"/>
          </a:xfrm>
          <a:prstGeom prst="straightConnector1">
            <a:avLst/>
          </a:prstGeom>
          <a:noFill/>
          <a:ln cap="flat" cmpd="sng" w="9525">
            <a:solidFill>
              <a:schemeClr val="dk2"/>
            </a:solidFill>
            <a:prstDash val="solid"/>
            <a:round/>
            <a:headEnd len="med" w="med" type="none"/>
            <a:tailEnd len="med" w="med" type="triangle"/>
          </a:ln>
        </p:spPr>
      </p:cxnSp>
      <p:cxnSp>
        <p:nvCxnSpPr>
          <p:cNvPr id="204" name="Google Shape;204;gefbeba6a1c_0_25"/>
          <p:cNvCxnSpPr>
            <a:stCxn id="200" idx="3"/>
            <a:endCxn id="198" idx="1"/>
          </p:cNvCxnSpPr>
          <p:nvPr/>
        </p:nvCxnSpPr>
        <p:spPr>
          <a:xfrm>
            <a:off x="8991075" y="2647025"/>
            <a:ext cx="1193100" cy="586200"/>
          </a:xfrm>
          <a:prstGeom prst="straightConnector1">
            <a:avLst/>
          </a:prstGeom>
          <a:noFill/>
          <a:ln cap="flat" cmpd="sng" w="9525">
            <a:solidFill>
              <a:schemeClr val="dk2"/>
            </a:solidFill>
            <a:prstDash val="solid"/>
            <a:round/>
            <a:headEnd len="med" w="med" type="none"/>
            <a:tailEnd len="med" w="med" type="triangle"/>
          </a:ln>
        </p:spPr>
      </p:cxnSp>
      <p:cxnSp>
        <p:nvCxnSpPr>
          <p:cNvPr id="205" name="Google Shape;205;gefbeba6a1c_0_25"/>
          <p:cNvCxnSpPr>
            <a:stCxn id="199" idx="3"/>
            <a:endCxn id="198" idx="1"/>
          </p:cNvCxnSpPr>
          <p:nvPr/>
        </p:nvCxnSpPr>
        <p:spPr>
          <a:xfrm flipH="1" rot="10800000">
            <a:off x="8991075" y="3233200"/>
            <a:ext cx="1193100" cy="450600"/>
          </a:xfrm>
          <a:prstGeom prst="straightConnector1">
            <a:avLst/>
          </a:prstGeom>
          <a:noFill/>
          <a:ln cap="flat" cmpd="sng" w="9525">
            <a:solidFill>
              <a:schemeClr val="dk2"/>
            </a:solidFill>
            <a:prstDash val="solid"/>
            <a:round/>
            <a:headEnd len="med" w="med" type="none"/>
            <a:tailEnd len="med" w="med" type="triangle"/>
          </a:ln>
        </p:spPr>
      </p:cxnSp>
      <p:cxnSp>
        <p:nvCxnSpPr>
          <p:cNvPr id="206" name="Google Shape;206;gefbeba6a1c_0_25"/>
          <p:cNvCxnSpPr>
            <a:stCxn id="202" idx="3"/>
            <a:endCxn id="198" idx="1"/>
          </p:cNvCxnSpPr>
          <p:nvPr/>
        </p:nvCxnSpPr>
        <p:spPr>
          <a:xfrm flipH="1" rot="10800000">
            <a:off x="8991075" y="3233175"/>
            <a:ext cx="1193100" cy="1487400"/>
          </a:xfrm>
          <a:prstGeom prst="straightConnector1">
            <a:avLst/>
          </a:prstGeom>
          <a:noFill/>
          <a:ln cap="flat" cmpd="sng" w="9525">
            <a:solidFill>
              <a:schemeClr val="dk2"/>
            </a:solidFill>
            <a:prstDash val="solid"/>
            <a:round/>
            <a:headEnd len="med" w="med" type="none"/>
            <a:tailEnd len="med" w="med" type="triangle"/>
          </a:ln>
        </p:spPr>
      </p:cxnSp>
      <p:sp>
        <p:nvSpPr>
          <p:cNvPr id="207" name="Google Shape;207;gefbeba6a1c_0_25"/>
          <p:cNvSpPr/>
          <p:nvPr/>
        </p:nvSpPr>
        <p:spPr>
          <a:xfrm>
            <a:off x="7979200" y="5363075"/>
            <a:ext cx="91500" cy="91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gefbeba6a1c_0_25"/>
          <p:cNvSpPr/>
          <p:nvPr/>
        </p:nvSpPr>
        <p:spPr>
          <a:xfrm>
            <a:off x="7979200" y="5667875"/>
            <a:ext cx="91500" cy="91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efbeba6a1c_0_25"/>
          <p:cNvSpPr/>
          <p:nvPr/>
        </p:nvSpPr>
        <p:spPr>
          <a:xfrm>
            <a:off x="7979200" y="5972675"/>
            <a:ext cx="91500" cy="915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efbeba6a1c_0_514"/>
          <p:cNvSpPr txBox="1"/>
          <p:nvPr>
            <p:ph idx="4294967295" type="title"/>
          </p:nvPr>
        </p:nvSpPr>
        <p:spPr>
          <a:xfrm>
            <a:off x="381000" y="292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sz="7000"/>
              <a:t>UX Research</a:t>
            </a:r>
            <a:endParaRPr sz="7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efbeba6a1c_0_15"/>
          <p:cNvSpPr txBox="1"/>
          <p:nvPr>
            <p:ph idx="1" type="body"/>
          </p:nvPr>
        </p:nvSpPr>
        <p:spPr>
          <a:xfrm>
            <a:off x="381000" y="1532300"/>
            <a:ext cx="11430000" cy="4989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000"/>
              </a:spcBef>
              <a:spcAft>
                <a:spcPts val="0"/>
              </a:spcAft>
              <a:buNone/>
            </a:pPr>
            <a:r>
              <a:rPr b="1" lang="en-US"/>
              <a:t>Goal:</a:t>
            </a:r>
            <a:r>
              <a:rPr lang="en-US"/>
              <a:t> Understand what metrics instructors need on the dashboard</a:t>
            </a:r>
            <a:endParaRPr/>
          </a:p>
          <a:p>
            <a:pPr indent="-342900" lvl="0" marL="457200" rtl="0" algn="l">
              <a:lnSpc>
                <a:spcPct val="100000"/>
              </a:lnSpc>
              <a:spcBef>
                <a:spcPts val="1000"/>
              </a:spcBef>
              <a:spcAft>
                <a:spcPts val="0"/>
              </a:spcAft>
              <a:buSzPts val="1800"/>
              <a:buChar char="•"/>
            </a:pPr>
            <a:r>
              <a:rPr lang="en-US"/>
              <a:t>Disconnect between what researchers and professors want to know about discussion forums</a:t>
            </a:r>
            <a:endParaRPr/>
          </a:p>
          <a:p>
            <a:pPr indent="0" lvl="0" marL="0" rtl="0" algn="l">
              <a:lnSpc>
                <a:spcPct val="100000"/>
              </a:lnSpc>
              <a:spcBef>
                <a:spcPts val="1000"/>
              </a:spcBef>
              <a:spcAft>
                <a:spcPts val="0"/>
              </a:spcAft>
              <a:buNone/>
            </a:pPr>
            <a:r>
              <a:rPr b="1" lang="en-US"/>
              <a:t>L</a:t>
            </a:r>
            <a:r>
              <a:rPr b="1" lang="en-US"/>
              <a:t>ast semester:</a:t>
            </a:r>
            <a:endParaRPr b="1"/>
          </a:p>
          <a:p>
            <a:pPr indent="-342900" lvl="1" marL="914400" rtl="0" algn="l">
              <a:lnSpc>
                <a:spcPct val="100000"/>
              </a:lnSpc>
              <a:spcBef>
                <a:spcPts val="1000"/>
              </a:spcBef>
              <a:spcAft>
                <a:spcPts val="0"/>
              </a:spcAft>
              <a:buSzPts val="1800"/>
              <a:buChar char="•"/>
            </a:pPr>
            <a:r>
              <a:rPr lang="en-US"/>
              <a:t>Conducted a pilot survey of TA’s and instructors to understand what metrics from Piazza are useful to them</a:t>
            </a:r>
            <a:endParaRPr/>
          </a:p>
          <a:p>
            <a:pPr indent="-342900" lvl="1" marL="914400" rtl="0" algn="l">
              <a:lnSpc>
                <a:spcPct val="100000"/>
              </a:lnSpc>
              <a:spcBef>
                <a:spcPts val="1000"/>
              </a:spcBef>
              <a:spcAft>
                <a:spcPts val="0"/>
              </a:spcAft>
              <a:buSzPts val="1800"/>
              <a:buChar char="•"/>
            </a:pPr>
            <a:r>
              <a:rPr lang="en-US"/>
              <a:t>Showed instructors some ideas for metrics and asked them to rate usefulness</a:t>
            </a:r>
            <a:endParaRPr/>
          </a:p>
          <a:p>
            <a:pPr indent="-342900" lvl="1" marL="914400" rtl="0" algn="l">
              <a:lnSpc>
                <a:spcPct val="100000"/>
              </a:lnSpc>
              <a:spcBef>
                <a:spcPts val="1000"/>
              </a:spcBef>
              <a:spcAft>
                <a:spcPts val="0"/>
              </a:spcAft>
              <a:buSzPts val="1800"/>
              <a:buChar char="•"/>
            </a:pPr>
            <a:r>
              <a:rPr lang="en-US"/>
              <a:t>Interviewed Dr. David Joyner: discussed design of online forums</a:t>
            </a:r>
            <a:endParaRPr>
              <a:highlight>
                <a:srgbClr val="FFFF00"/>
              </a:highlight>
            </a:endParaRPr>
          </a:p>
        </p:txBody>
      </p:sp>
      <p:sp>
        <p:nvSpPr>
          <p:cNvPr id="220" name="Google Shape;220;gefbeba6a1c_0_15"/>
          <p:cNvSpPr txBox="1"/>
          <p:nvPr>
            <p:ph type="title"/>
          </p:nvPr>
        </p:nvSpPr>
        <p:spPr>
          <a:xfrm>
            <a:off x="381000" y="33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User Surveys &amp; Interviews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efbeba6a1c_0_430"/>
          <p:cNvSpPr txBox="1"/>
          <p:nvPr>
            <p:ph idx="1" type="body"/>
          </p:nvPr>
        </p:nvSpPr>
        <p:spPr>
          <a:xfrm>
            <a:off x="381000" y="1532301"/>
            <a:ext cx="11430000" cy="4279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b="1" lang="en-US"/>
              <a:t>Survey composition: </a:t>
            </a:r>
            <a:endParaRPr b="1"/>
          </a:p>
          <a:p>
            <a:pPr indent="-304800" lvl="0" marL="457200" rtl="0" algn="l">
              <a:spcBef>
                <a:spcPts val="1000"/>
              </a:spcBef>
              <a:spcAft>
                <a:spcPts val="0"/>
              </a:spcAft>
              <a:buSzPts val="1200"/>
              <a:buChar char="•"/>
            </a:pPr>
            <a:r>
              <a:rPr lang="en-US" sz="2200"/>
              <a:t>26 responses, mostly CS TA’s</a:t>
            </a:r>
            <a:endParaRPr sz="2200"/>
          </a:p>
          <a:p>
            <a:pPr indent="0" lvl="0" marL="0" rtl="0" algn="l">
              <a:spcBef>
                <a:spcPts val="1000"/>
              </a:spcBef>
              <a:spcAft>
                <a:spcPts val="0"/>
              </a:spcAft>
              <a:buClr>
                <a:schemeClr val="dk1"/>
              </a:buClr>
              <a:buSzPts val="1100"/>
              <a:buFont typeface="Arial"/>
              <a:buNone/>
            </a:pPr>
            <a:r>
              <a:rPr b="1" lang="en-US"/>
              <a:t>Use cases of metrics from Piazza:</a:t>
            </a:r>
            <a:endParaRPr b="1"/>
          </a:p>
          <a:p>
            <a:pPr indent="-304800" lvl="0" marL="457200" rtl="0" algn="l">
              <a:spcBef>
                <a:spcPts val="1000"/>
              </a:spcBef>
              <a:spcAft>
                <a:spcPts val="0"/>
              </a:spcAft>
              <a:buSzPts val="1200"/>
              <a:buChar char="•"/>
            </a:pPr>
            <a:r>
              <a:rPr lang="en-US" sz="2200"/>
              <a:t>Identifying students who contribute often with good posts</a:t>
            </a:r>
            <a:endParaRPr sz="2200"/>
          </a:p>
          <a:p>
            <a:pPr indent="-304800" lvl="0" marL="457200" rtl="0" algn="l">
              <a:spcBef>
                <a:spcPts val="1000"/>
              </a:spcBef>
              <a:spcAft>
                <a:spcPts val="0"/>
              </a:spcAft>
              <a:buSzPts val="1200"/>
              <a:buChar char="•"/>
            </a:pPr>
            <a:r>
              <a:rPr lang="en-US" sz="2200"/>
              <a:t>Identifying struggling students</a:t>
            </a:r>
            <a:endParaRPr sz="2200"/>
          </a:p>
          <a:p>
            <a:pPr indent="-304800" lvl="0" marL="457200" rtl="0" algn="l">
              <a:spcBef>
                <a:spcPts val="1000"/>
              </a:spcBef>
              <a:spcAft>
                <a:spcPts val="0"/>
              </a:spcAft>
              <a:buSzPts val="1200"/>
              <a:buChar char="•"/>
            </a:pPr>
            <a:r>
              <a:rPr lang="en-US" sz="2200"/>
              <a:t>Finding common topics that students are struggling with</a:t>
            </a:r>
            <a:endParaRPr sz="2200"/>
          </a:p>
          <a:p>
            <a:pPr indent="-304800" lvl="0" marL="457200" rtl="0" algn="l">
              <a:spcBef>
                <a:spcPts val="1000"/>
              </a:spcBef>
              <a:spcAft>
                <a:spcPts val="0"/>
              </a:spcAft>
              <a:buSzPts val="1200"/>
              <a:buChar char="•"/>
            </a:pPr>
            <a:r>
              <a:rPr lang="en-US" sz="2200"/>
              <a:t>Gauge of class activity &amp; morale</a:t>
            </a:r>
            <a:endParaRPr sz="2200"/>
          </a:p>
          <a:p>
            <a:pPr indent="-304800" lvl="0" marL="457200" rtl="0" algn="l">
              <a:spcBef>
                <a:spcPts val="1000"/>
              </a:spcBef>
              <a:spcAft>
                <a:spcPts val="1000"/>
              </a:spcAft>
              <a:buSzPts val="1200"/>
              <a:buChar char="•"/>
            </a:pPr>
            <a:r>
              <a:rPr lang="en-US" sz="2200"/>
              <a:t>Increasing instructor presence and distributing workload across TAs</a:t>
            </a:r>
            <a:endParaRPr sz="2200"/>
          </a:p>
        </p:txBody>
      </p:sp>
      <p:sp>
        <p:nvSpPr>
          <p:cNvPr id="226" name="Google Shape;226;gefbeba6a1c_0_430"/>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US"/>
              <a:t>User Surveys &amp; Interviews - Previous Work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efbeba6a1c_0_498"/>
          <p:cNvSpPr txBox="1"/>
          <p:nvPr>
            <p:ph idx="1" type="body"/>
          </p:nvPr>
        </p:nvSpPr>
        <p:spPr>
          <a:xfrm>
            <a:off x="381000" y="1215484"/>
            <a:ext cx="11430000" cy="4596300"/>
          </a:xfrm>
          <a:prstGeom prst="rect">
            <a:avLst/>
          </a:prstGeom>
        </p:spPr>
        <p:txBody>
          <a:bodyPr anchorCtr="0" anchor="t" bIns="45700" lIns="91425" spcFirstLastPara="1" rIns="91425" wrap="square" tIns="45700">
            <a:normAutofit/>
          </a:bodyPr>
          <a:lstStyle/>
          <a:p>
            <a:pPr indent="0" lvl="0" marL="0" rtl="0" algn="l">
              <a:lnSpc>
                <a:spcPct val="100000"/>
              </a:lnSpc>
              <a:spcBef>
                <a:spcPts val="1000"/>
              </a:spcBef>
              <a:spcAft>
                <a:spcPts val="0"/>
              </a:spcAft>
              <a:buNone/>
            </a:pPr>
            <a:r>
              <a:rPr b="1" lang="en-US"/>
              <a:t>Challenges encountered:</a:t>
            </a:r>
            <a:endParaRPr b="1"/>
          </a:p>
          <a:p>
            <a:pPr indent="-342900" lvl="1" marL="914400" rtl="0" algn="l">
              <a:lnSpc>
                <a:spcPct val="100000"/>
              </a:lnSpc>
              <a:spcBef>
                <a:spcPts val="1000"/>
              </a:spcBef>
              <a:spcAft>
                <a:spcPts val="0"/>
              </a:spcAft>
              <a:buSzPts val="1800"/>
              <a:buChar char="•"/>
            </a:pPr>
            <a:r>
              <a:rPr lang="en-US"/>
              <a:t>Ill-defined metrics, metrics created off intuition</a:t>
            </a:r>
            <a:endParaRPr/>
          </a:p>
          <a:p>
            <a:pPr indent="-342900" lvl="1" marL="914400" rtl="0" algn="l">
              <a:lnSpc>
                <a:spcPct val="100000"/>
              </a:lnSpc>
              <a:spcBef>
                <a:spcPts val="1000"/>
              </a:spcBef>
              <a:spcAft>
                <a:spcPts val="0"/>
              </a:spcAft>
              <a:buSzPts val="1800"/>
              <a:buChar char="•"/>
            </a:pPr>
            <a:r>
              <a:rPr lang="en-US"/>
              <a:t>Small sample size</a:t>
            </a:r>
            <a:endParaRPr/>
          </a:p>
          <a:p>
            <a:pPr indent="0" lvl="0" marL="0" rtl="0" algn="l">
              <a:lnSpc>
                <a:spcPct val="100000"/>
              </a:lnSpc>
              <a:spcBef>
                <a:spcPts val="1000"/>
              </a:spcBef>
              <a:spcAft>
                <a:spcPts val="0"/>
              </a:spcAft>
              <a:buNone/>
            </a:pPr>
            <a:r>
              <a:rPr b="1" lang="en-US"/>
              <a:t>Goals for this semester:</a:t>
            </a:r>
            <a:endParaRPr b="1"/>
          </a:p>
          <a:p>
            <a:pPr indent="-342900" lvl="1" marL="914400" rtl="0" algn="l">
              <a:lnSpc>
                <a:spcPct val="100000"/>
              </a:lnSpc>
              <a:spcBef>
                <a:spcPts val="1000"/>
              </a:spcBef>
              <a:spcAft>
                <a:spcPts val="0"/>
              </a:spcAft>
              <a:buSzPts val="1800"/>
              <a:buChar char="•"/>
            </a:pPr>
            <a:r>
              <a:rPr lang="en-US"/>
              <a:t>Refine what metrics we ask about</a:t>
            </a:r>
            <a:endParaRPr/>
          </a:p>
          <a:p>
            <a:pPr indent="-342900" lvl="1" marL="914400" rtl="0" algn="l">
              <a:lnSpc>
                <a:spcPct val="100000"/>
              </a:lnSpc>
              <a:spcBef>
                <a:spcPts val="1000"/>
              </a:spcBef>
              <a:spcAft>
                <a:spcPts val="0"/>
              </a:spcAft>
              <a:buSzPts val="1800"/>
              <a:buChar char="•"/>
            </a:pPr>
            <a:r>
              <a:rPr lang="en-US"/>
              <a:t>Expand the sample size for survey, especially in different departments</a:t>
            </a:r>
            <a:endParaRPr/>
          </a:p>
          <a:p>
            <a:pPr indent="-342900" lvl="1" marL="914400" rtl="0" algn="l">
              <a:lnSpc>
                <a:spcPct val="100000"/>
              </a:lnSpc>
              <a:spcBef>
                <a:spcPts val="1000"/>
              </a:spcBef>
              <a:spcAft>
                <a:spcPts val="0"/>
              </a:spcAft>
              <a:buSzPts val="1800"/>
              <a:buChar char="•"/>
            </a:pPr>
            <a:r>
              <a:rPr lang="en-US"/>
              <a:t>Interview some TAs and more instructors</a:t>
            </a:r>
            <a:endParaRPr b="1"/>
          </a:p>
        </p:txBody>
      </p:sp>
      <p:sp>
        <p:nvSpPr>
          <p:cNvPr id="232" name="Google Shape;232;gefbeba6a1c_0_498"/>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User Surveys &amp; Interviews - Challenges &amp; Goals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efbeba6a1c_0_34"/>
          <p:cNvSpPr txBox="1"/>
          <p:nvPr>
            <p:ph idx="4294967295" type="title"/>
          </p:nvPr>
        </p:nvSpPr>
        <p:spPr>
          <a:xfrm>
            <a:off x="381000" y="292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sz="7000"/>
              <a:t>Web Development</a:t>
            </a:r>
            <a:endParaRPr sz="7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9d659091a8_1_15"/>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1000"/>
              </a:spcBef>
              <a:spcAft>
                <a:spcPts val="0"/>
              </a:spcAft>
              <a:buSzPts val="1400"/>
              <a:buChar char="•"/>
            </a:pPr>
            <a:r>
              <a:rPr lang="en-US" sz="2400"/>
              <a:t>Created high-fidelity mockups using Figma (design software)</a:t>
            </a:r>
            <a:endParaRPr sz="2400"/>
          </a:p>
          <a:p>
            <a:pPr indent="-317500" lvl="1" marL="914400" rtl="0" algn="l">
              <a:lnSpc>
                <a:spcPct val="100000"/>
              </a:lnSpc>
              <a:spcBef>
                <a:spcPts val="1000"/>
              </a:spcBef>
              <a:spcAft>
                <a:spcPts val="0"/>
              </a:spcAft>
              <a:buSzPts val="1400"/>
              <a:buChar char="•"/>
            </a:pPr>
            <a:r>
              <a:rPr lang="en-US" sz="2000"/>
              <a:t>Based off of low-fidelity wireframes of last semester</a:t>
            </a:r>
            <a:endParaRPr sz="2000"/>
          </a:p>
          <a:p>
            <a:pPr indent="-317500" lvl="0" marL="457200" rtl="0" algn="l">
              <a:lnSpc>
                <a:spcPct val="100000"/>
              </a:lnSpc>
              <a:spcBef>
                <a:spcPts val="1000"/>
              </a:spcBef>
              <a:spcAft>
                <a:spcPts val="0"/>
              </a:spcAft>
              <a:buSzPts val="1400"/>
              <a:buChar char="•"/>
            </a:pPr>
            <a:r>
              <a:rPr lang="en-US" sz="2400"/>
              <a:t>Will continue translating design into code, iterating using feedback	</a:t>
            </a:r>
            <a:endParaRPr sz="2400"/>
          </a:p>
          <a:p>
            <a:pPr indent="-317500" lvl="1" marL="914400" rtl="0" algn="l">
              <a:lnSpc>
                <a:spcPct val="100000"/>
              </a:lnSpc>
              <a:spcBef>
                <a:spcPts val="1000"/>
              </a:spcBef>
              <a:spcAft>
                <a:spcPts val="0"/>
              </a:spcAft>
              <a:buSzPts val="1400"/>
              <a:buChar char="•"/>
            </a:pPr>
            <a:r>
              <a:rPr lang="en-US" sz="2000"/>
              <a:t>Using React.js, HTML, CSS, JavaScript</a:t>
            </a:r>
            <a:endParaRPr sz="2000"/>
          </a:p>
        </p:txBody>
      </p:sp>
      <p:sp>
        <p:nvSpPr>
          <p:cNvPr id="243" name="Google Shape;243;g9d659091a8_1_15"/>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Front-End Web Development</a:t>
            </a:r>
            <a:endParaRPr/>
          </a:p>
        </p:txBody>
      </p:sp>
      <p:pic>
        <p:nvPicPr>
          <p:cNvPr id="244" name="Google Shape;244;g9d659091a8_1_15"/>
          <p:cNvPicPr preferRelativeResize="0"/>
          <p:nvPr/>
        </p:nvPicPr>
        <p:blipFill>
          <a:blip r:embed="rId3">
            <a:alphaModFix/>
          </a:blip>
          <a:stretch>
            <a:fillRect/>
          </a:stretch>
        </p:blipFill>
        <p:spPr>
          <a:xfrm>
            <a:off x="4044100" y="3371548"/>
            <a:ext cx="3386100" cy="2223379"/>
          </a:xfrm>
          <a:prstGeom prst="rect">
            <a:avLst/>
          </a:prstGeom>
          <a:noFill/>
          <a:ln cap="flat" cmpd="sng" w="9525">
            <a:solidFill>
              <a:schemeClr val="dk2"/>
            </a:solidFill>
            <a:prstDash val="solid"/>
            <a:round/>
            <a:headEnd len="sm" w="sm" type="none"/>
            <a:tailEnd len="sm" w="sm" type="none"/>
          </a:ln>
        </p:spPr>
      </p:pic>
      <p:pic>
        <p:nvPicPr>
          <p:cNvPr id="245" name="Google Shape;245;g9d659091a8_1_15"/>
          <p:cNvPicPr preferRelativeResize="0"/>
          <p:nvPr/>
        </p:nvPicPr>
        <p:blipFill>
          <a:blip r:embed="rId4">
            <a:alphaModFix/>
          </a:blip>
          <a:stretch>
            <a:fillRect/>
          </a:stretch>
        </p:blipFill>
        <p:spPr>
          <a:xfrm>
            <a:off x="152425" y="3397375"/>
            <a:ext cx="3386105" cy="2498249"/>
          </a:xfrm>
          <a:prstGeom prst="rect">
            <a:avLst/>
          </a:prstGeom>
          <a:noFill/>
          <a:ln cap="flat" cmpd="sng" w="9525">
            <a:solidFill>
              <a:schemeClr val="dk2"/>
            </a:solidFill>
            <a:prstDash val="solid"/>
            <a:round/>
            <a:headEnd len="sm" w="sm" type="none"/>
            <a:tailEnd len="sm" w="sm" type="none"/>
          </a:ln>
        </p:spPr>
      </p:pic>
      <p:pic>
        <p:nvPicPr>
          <p:cNvPr id="246" name="Google Shape;246;g9d659091a8_1_15"/>
          <p:cNvPicPr preferRelativeResize="0"/>
          <p:nvPr/>
        </p:nvPicPr>
        <p:blipFill>
          <a:blip r:embed="rId5">
            <a:alphaModFix/>
          </a:blip>
          <a:stretch>
            <a:fillRect/>
          </a:stretch>
        </p:blipFill>
        <p:spPr>
          <a:xfrm>
            <a:off x="8216200" y="3371550"/>
            <a:ext cx="3834966" cy="2414400"/>
          </a:xfrm>
          <a:prstGeom prst="rect">
            <a:avLst/>
          </a:prstGeom>
          <a:noFill/>
          <a:ln cap="flat" cmpd="sng" w="9525">
            <a:solidFill>
              <a:schemeClr val="dk2"/>
            </a:solidFill>
            <a:prstDash val="solid"/>
            <a:round/>
            <a:headEnd len="sm" w="sm" type="none"/>
            <a:tailEnd len="sm" w="sm" type="none"/>
          </a:ln>
        </p:spPr>
      </p:pic>
      <p:sp>
        <p:nvSpPr>
          <p:cNvPr id="247" name="Google Shape;247;g9d659091a8_1_15"/>
          <p:cNvSpPr txBox="1"/>
          <p:nvPr/>
        </p:nvSpPr>
        <p:spPr>
          <a:xfrm>
            <a:off x="1325875" y="5993175"/>
            <a:ext cx="103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Roboto"/>
                <a:ea typeface="Roboto"/>
                <a:cs typeface="Roboto"/>
                <a:sym typeface="Roboto"/>
              </a:rPr>
              <a:t>Wireframe</a:t>
            </a:r>
            <a:endParaRPr>
              <a:latin typeface="Roboto"/>
              <a:ea typeface="Roboto"/>
              <a:cs typeface="Roboto"/>
              <a:sym typeface="Roboto"/>
            </a:endParaRPr>
          </a:p>
        </p:txBody>
      </p:sp>
      <p:sp>
        <p:nvSpPr>
          <p:cNvPr id="248" name="Google Shape;248;g9d659091a8_1_15"/>
          <p:cNvSpPr txBox="1"/>
          <p:nvPr/>
        </p:nvSpPr>
        <p:spPr>
          <a:xfrm>
            <a:off x="5053925" y="2997175"/>
            <a:ext cx="168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Roboto"/>
                <a:ea typeface="Roboto"/>
                <a:cs typeface="Roboto"/>
                <a:sym typeface="Roboto"/>
              </a:rPr>
              <a:t>Spring 2021 Demo</a:t>
            </a:r>
            <a:endParaRPr>
              <a:latin typeface="Roboto"/>
              <a:ea typeface="Roboto"/>
              <a:cs typeface="Roboto"/>
              <a:sym typeface="Roboto"/>
            </a:endParaRPr>
          </a:p>
        </p:txBody>
      </p:sp>
      <p:sp>
        <p:nvSpPr>
          <p:cNvPr id="249" name="Google Shape;249;g9d659091a8_1_15"/>
          <p:cNvSpPr txBox="1"/>
          <p:nvPr/>
        </p:nvSpPr>
        <p:spPr>
          <a:xfrm>
            <a:off x="9399938" y="5882125"/>
            <a:ext cx="136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Roboto"/>
                <a:ea typeface="Roboto"/>
                <a:cs typeface="Roboto"/>
                <a:sym typeface="Roboto"/>
              </a:rPr>
              <a:t>Figma Mockup </a:t>
            </a:r>
            <a:endParaRPr>
              <a:latin typeface="Roboto"/>
              <a:ea typeface="Roboto"/>
              <a:cs typeface="Roboto"/>
              <a:sym typeface="Roboto"/>
            </a:endParaRPr>
          </a:p>
        </p:txBody>
      </p:sp>
      <p:pic>
        <p:nvPicPr>
          <p:cNvPr id="250" name="Google Shape;250;g9d659091a8_1_15"/>
          <p:cNvPicPr preferRelativeResize="0"/>
          <p:nvPr/>
        </p:nvPicPr>
        <p:blipFill>
          <a:blip r:embed="rId6">
            <a:alphaModFix/>
          </a:blip>
          <a:stretch>
            <a:fillRect/>
          </a:stretch>
        </p:blipFill>
        <p:spPr>
          <a:xfrm>
            <a:off x="4718875" y="4645976"/>
            <a:ext cx="3344125" cy="190097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efb32003ea_0_0"/>
          <p:cNvSpPr txBox="1"/>
          <p:nvPr>
            <p:ph idx="1" type="body"/>
          </p:nvPr>
        </p:nvSpPr>
        <p:spPr>
          <a:xfrm>
            <a:off x="381000" y="1215484"/>
            <a:ext cx="11430000" cy="4596300"/>
          </a:xfrm>
          <a:prstGeom prst="rect">
            <a:avLst/>
          </a:prstGeom>
        </p:spPr>
        <p:txBody>
          <a:bodyPr anchorCtr="0" anchor="t" bIns="45700" lIns="91425" spcFirstLastPara="1" rIns="91425" wrap="square" tIns="45700">
            <a:normAutofit/>
          </a:bodyPr>
          <a:lstStyle/>
          <a:p>
            <a:pPr indent="-342900" lvl="0" marL="457200" rtl="0" algn="l">
              <a:lnSpc>
                <a:spcPct val="100000"/>
              </a:lnSpc>
              <a:spcBef>
                <a:spcPts val="1000"/>
              </a:spcBef>
              <a:spcAft>
                <a:spcPts val="0"/>
              </a:spcAft>
              <a:buSzPts val="1800"/>
              <a:buChar char="•"/>
            </a:pPr>
            <a:r>
              <a:rPr lang="en-US"/>
              <a:t>Created a dummy </a:t>
            </a:r>
            <a:r>
              <a:rPr lang="en-US"/>
              <a:t>pipeline</a:t>
            </a:r>
            <a:r>
              <a:rPr lang="en-US"/>
              <a:t> in </a:t>
            </a:r>
            <a:r>
              <a:rPr lang="en-US"/>
              <a:t>previous</a:t>
            </a:r>
            <a:r>
              <a:rPr lang="en-US"/>
              <a:t> semesters</a:t>
            </a:r>
            <a:endParaRPr/>
          </a:p>
          <a:p>
            <a:pPr indent="-349250" lvl="1" marL="914400" rtl="0" algn="l">
              <a:lnSpc>
                <a:spcPct val="100000"/>
              </a:lnSpc>
              <a:spcBef>
                <a:spcPts val="0"/>
              </a:spcBef>
              <a:spcAft>
                <a:spcPts val="0"/>
              </a:spcAft>
              <a:buSzPts val="1900"/>
              <a:buChar char="•"/>
            </a:pPr>
            <a:r>
              <a:rPr lang="en-US" sz="2500"/>
              <a:t>Pipeline integrates React with the backend database </a:t>
            </a:r>
            <a:endParaRPr sz="2500"/>
          </a:p>
          <a:p>
            <a:pPr indent="-349250" lvl="1" marL="914400" rtl="0" algn="l">
              <a:lnSpc>
                <a:spcPct val="100000"/>
              </a:lnSpc>
              <a:spcBef>
                <a:spcPts val="0"/>
              </a:spcBef>
              <a:spcAft>
                <a:spcPts val="0"/>
              </a:spcAft>
              <a:buSzPts val="1900"/>
              <a:buChar char="•"/>
            </a:pPr>
            <a:r>
              <a:rPr lang="en-US" sz="2500"/>
              <a:t>Using Flask, SQLite, and SQLAlchemy</a:t>
            </a:r>
            <a:endParaRPr sz="2500"/>
          </a:p>
          <a:p>
            <a:pPr indent="-342900" lvl="0" marL="457200" rtl="0" algn="l">
              <a:lnSpc>
                <a:spcPct val="100000"/>
              </a:lnSpc>
              <a:spcBef>
                <a:spcPts val="0"/>
              </a:spcBef>
              <a:spcAft>
                <a:spcPts val="0"/>
              </a:spcAft>
              <a:buSzPts val="1800"/>
              <a:buChar char="•"/>
            </a:pPr>
            <a:r>
              <a:rPr lang="en-US"/>
              <a:t>Start with extracting </a:t>
            </a:r>
            <a:r>
              <a:rPr lang="en-US"/>
              <a:t>metrics</a:t>
            </a:r>
            <a:r>
              <a:rPr lang="en-US"/>
              <a:t> used by data science team and sending it to the front-end</a:t>
            </a:r>
            <a:endParaRPr/>
          </a:p>
          <a:p>
            <a:pPr indent="-342900" lvl="1" marL="914400" rtl="0" algn="l">
              <a:lnSpc>
                <a:spcPct val="100000"/>
              </a:lnSpc>
              <a:spcBef>
                <a:spcPts val="0"/>
              </a:spcBef>
              <a:spcAft>
                <a:spcPts val="0"/>
              </a:spcAft>
              <a:buSzPts val="1800"/>
              <a:buChar char="•"/>
            </a:pPr>
            <a:r>
              <a:rPr lang="en-US" sz="2500"/>
              <a:t>sentiment and polarity</a:t>
            </a:r>
            <a:endParaRPr sz="2500"/>
          </a:p>
          <a:p>
            <a:pPr indent="-342900" lvl="0" marL="457200" rtl="0" algn="l">
              <a:lnSpc>
                <a:spcPct val="100000"/>
              </a:lnSpc>
              <a:spcBef>
                <a:spcPts val="0"/>
              </a:spcBef>
              <a:spcAft>
                <a:spcPts val="0"/>
              </a:spcAft>
              <a:buSzPts val="1800"/>
              <a:buChar char="•"/>
            </a:pPr>
            <a:r>
              <a:rPr lang="en-US"/>
              <a:t>Transitioning into research phase to learn more about the metrics we need</a:t>
            </a:r>
            <a:endParaRPr/>
          </a:p>
          <a:p>
            <a:pPr indent="-349250" lvl="1" marL="914400" rtl="0" algn="l">
              <a:lnSpc>
                <a:spcPct val="100000"/>
              </a:lnSpc>
              <a:spcBef>
                <a:spcPts val="0"/>
              </a:spcBef>
              <a:spcAft>
                <a:spcPts val="0"/>
              </a:spcAft>
              <a:buSzPts val="1900"/>
              <a:buChar char="•"/>
            </a:pPr>
            <a:r>
              <a:rPr lang="en-US" sz="2500"/>
              <a:t>S</a:t>
            </a:r>
            <a:r>
              <a:rPr lang="en-US" sz="2500"/>
              <a:t>urveys</a:t>
            </a:r>
            <a:r>
              <a:rPr lang="en-US" sz="2500"/>
              <a:t>, interviews with TAs, meetings with professors, etc.</a:t>
            </a:r>
            <a:endParaRPr sz="2500"/>
          </a:p>
        </p:txBody>
      </p:sp>
      <p:sp>
        <p:nvSpPr>
          <p:cNvPr id="256" name="Google Shape;256;gefb32003ea_0_0"/>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Back-End Web Development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f234d063be_0_9"/>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Workflow</a:t>
            </a:r>
            <a:r>
              <a:rPr lang="en-US"/>
              <a:t> Diagram</a:t>
            </a:r>
            <a:endParaRPr/>
          </a:p>
        </p:txBody>
      </p:sp>
      <p:sp>
        <p:nvSpPr>
          <p:cNvPr id="262" name="Google Shape;262;gf234d063be_0_9"/>
          <p:cNvSpPr/>
          <p:nvPr/>
        </p:nvSpPr>
        <p:spPr>
          <a:xfrm>
            <a:off x="1006250" y="1924125"/>
            <a:ext cx="1735200" cy="89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Raw Data in Database</a:t>
            </a:r>
            <a:endParaRPr/>
          </a:p>
        </p:txBody>
      </p:sp>
      <p:sp>
        <p:nvSpPr>
          <p:cNvPr id="263" name="Google Shape;263;gf234d063be_0_9"/>
          <p:cNvSpPr/>
          <p:nvPr/>
        </p:nvSpPr>
        <p:spPr>
          <a:xfrm>
            <a:off x="3702125" y="3823725"/>
            <a:ext cx="1735200" cy="89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Analysis from Data Science Team</a:t>
            </a:r>
            <a:endParaRPr/>
          </a:p>
        </p:txBody>
      </p:sp>
      <p:sp>
        <p:nvSpPr>
          <p:cNvPr id="264" name="Google Shape;264;gf234d063be_0_9"/>
          <p:cNvSpPr/>
          <p:nvPr/>
        </p:nvSpPr>
        <p:spPr>
          <a:xfrm>
            <a:off x="6505000" y="1924125"/>
            <a:ext cx="1735200" cy="89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Integration with Back-End</a:t>
            </a:r>
            <a:endParaRPr/>
          </a:p>
        </p:txBody>
      </p:sp>
      <p:sp>
        <p:nvSpPr>
          <p:cNvPr id="265" name="Google Shape;265;gf234d063be_0_9"/>
          <p:cNvSpPr/>
          <p:nvPr/>
        </p:nvSpPr>
        <p:spPr>
          <a:xfrm>
            <a:off x="9450550" y="3823725"/>
            <a:ext cx="1735200" cy="89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Presentation via Front-End</a:t>
            </a:r>
            <a:endParaRPr/>
          </a:p>
        </p:txBody>
      </p:sp>
      <p:cxnSp>
        <p:nvCxnSpPr>
          <p:cNvPr id="266" name="Google Shape;266;gf234d063be_0_9"/>
          <p:cNvCxnSpPr/>
          <p:nvPr/>
        </p:nvCxnSpPr>
        <p:spPr>
          <a:xfrm>
            <a:off x="2717775" y="2970075"/>
            <a:ext cx="831900" cy="796200"/>
          </a:xfrm>
          <a:prstGeom prst="straightConnector1">
            <a:avLst/>
          </a:prstGeom>
          <a:noFill/>
          <a:ln cap="flat" cmpd="sng" w="9525">
            <a:solidFill>
              <a:schemeClr val="dk2"/>
            </a:solidFill>
            <a:prstDash val="solid"/>
            <a:round/>
            <a:headEnd len="med" w="med" type="none"/>
            <a:tailEnd len="med" w="med" type="triangle"/>
          </a:ln>
        </p:spPr>
      </p:cxnSp>
      <p:cxnSp>
        <p:nvCxnSpPr>
          <p:cNvPr id="267" name="Google Shape;267;gf234d063be_0_9"/>
          <p:cNvCxnSpPr/>
          <p:nvPr/>
        </p:nvCxnSpPr>
        <p:spPr>
          <a:xfrm flipH="1" rot="10800000">
            <a:off x="5522775" y="2851225"/>
            <a:ext cx="701400" cy="903300"/>
          </a:xfrm>
          <a:prstGeom prst="straightConnector1">
            <a:avLst/>
          </a:prstGeom>
          <a:noFill/>
          <a:ln cap="flat" cmpd="sng" w="9525">
            <a:solidFill>
              <a:schemeClr val="dk2"/>
            </a:solidFill>
            <a:prstDash val="solid"/>
            <a:round/>
            <a:headEnd len="med" w="med" type="none"/>
            <a:tailEnd len="med" w="med" type="triangle"/>
          </a:ln>
        </p:spPr>
      </p:cxnSp>
      <p:cxnSp>
        <p:nvCxnSpPr>
          <p:cNvPr id="268" name="Google Shape;268;gf234d063be_0_9"/>
          <p:cNvCxnSpPr/>
          <p:nvPr/>
        </p:nvCxnSpPr>
        <p:spPr>
          <a:xfrm>
            <a:off x="8387200" y="2827450"/>
            <a:ext cx="974700" cy="891300"/>
          </a:xfrm>
          <a:prstGeom prst="straightConnector1">
            <a:avLst/>
          </a:prstGeom>
          <a:noFill/>
          <a:ln cap="flat" cmpd="sng" w="9525">
            <a:solidFill>
              <a:schemeClr val="dk2"/>
            </a:solidFill>
            <a:prstDash val="solid"/>
            <a:round/>
            <a:headEnd len="med" w="med" type="none"/>
            <a:tailEnd len="med" w="med" type="triangle"/>
          </a:ln>
        </p:spPr>
      </p:cxnSp>
      <p:sp>
        <p:nvSpPr>
          <p:cNvPr id="269" name="Google Shape;269;gf234d063be_0_9"/>
          <p:cNvSpPr txBox="1"/>
          <p:nvPr/>
        </p:nvSpPr>
        <p:spPr>
          <a:xfrm>
            <a:off x="3837075" y="4715025"/>
            <a:ext cx="168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a:latin typeface="Roboto"/>
                <a:ea typeface="Roboto"/>
                <a:cs typeface="Roboto"/>
                <a:sym typeface="Roboto"/>
              </a:rPr>
              <a:t>Here right now</a:t>
            </a:r>
            <a:endParaRPr i="1">
              <a:latin typeface="Roboto"/>
              <a:ea typeface="Roboto"/>
              <a:cs typeface="Roboto"/>
              <a:sym typeface="Roboto"/>
            </a:endParaRPr>
          </a:p>
        </p:txBody>
      </p:sp>
      <p:sp>
        <p:nvSpPr>
          <p:cNvPr id="270" name="Google Shape;270;gf234d063be_0_9"/>
          <p:cNvSpPr txBox="1"/>
          <p:nvPr/>
        </p:nvSpPr>
        <p:spPr>
          <a:xfrm>
            <a:off x="1162425" y="2862375"/>
            <a:ext cx="168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a:latin typeface="Roboto"/>
                <a:ea typeface="Roboto"/>
                <a:cs typeface="Roboto"/>
                <a:sym typeface="Roboto"/>
              </a:rPr>
              <a:t>Last semester</a:t>
            </a:r>
            <a:endParaRPr i="1">
              <a:latin typeface="Roboto"/>
              <a:ea typeface="Roboto"/>
              <a:cs typeface="Roboto"/>
              <a:sym typeface="Roboto"/>
            </a:endParaRPr>
          </a:p>
        </p:txBody>
      </p:sp>
      <p:sp>
        <p:nvSpPr>
          <p:cNvPr id="271" name="Google Shape;271;gf234d063be_0_9"/>
          <p:cNvSpPr txBox="1"/>
          <p:nvPr/>
        </p:nvSpPr>
        <p:spPr>
          <a:xfrm>
            <a:off x="6554500" y="2862375"/>
            <a:ext cx="1685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a:latin typeface="Roboto"/>
                <a:ea typeface="Roboto"/>
                <a:cs typeface="Roboto"/>
                <a:sym typeface="Roboto"/>
              </a:rPr>
              <a:t>End goal for this semester</a:t>
            </a:r>
            <a:endParaRPr i="1">
              <a:latin typeface="Roboto"/>
              <a:ea typeface="Roboto"/>
              <a:cs typeface="Roboto"/>
              <a:sym typeface="Roboto"/>
            </a:endParaRPr>
          </a:p>
        </p:txBody>
      </p:sp>
      <p:sp>
        <p:nvSpPr>
          <p:cNvPr id="272" name="Google Shape;272;gf234d063be_0_9"/>
          <p:cNvSpPr txBox="1"/>
          <p:nvPr/>
        </p:nvSpPr>
        <p:spPr>
          <a:xfrm>
            <a:off x="9500050" y="4715025"/>
            <a:ext cx="16857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a:latin typeface="Roboto"/>
                <a:ea typeface="Roboto"/>
                <a:cs typeface="Roboto"/>
                <a:sym typeface="Roboto"/>
              </a:rPr>
              <a:t>End goal for this semester/</a:t>
            </a:r>
            <a:r>
              <a:rPr i="1" lang="en-US">
                <a:latin typeface="Roboto"/>
                <a:ea typeface="Roboto"/>
                <a:cs typeface="Roboto"/>
                <a:sym typeface="Roboto"/>
              </a:rPr>
              <a:t>continue</a:t>
            </a:r>
            <a:r>
              <a:rPr i="1" lang="en-US">
                <a:latin typeface="Roboto"/>
                <a:ea typeface="Roboto"/>
                <a:cs typeface="Roboto"/>
                <a:sym typeface="Roboto"/>
              </a:rPr>
              <a:t> working next semester</a:t>
            </a:r>
            <a:endParaRPr i="1">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1"/>
          <p:cNvSpPr txBox="1"/>
          <p:nvPr>
            <p:ph idx="1" type="body"/>
          </p:nvPr>
        </p:nvSpPr>
        <p:spPr>
          <a:xfrm>
            <a:off x="381000" y="1215471"/>
            <a:ext cx="11430000" cy="50883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000"/>
              </a:spcBef>
              <a:spcAft>
                <a:spcPts val="0"/>
              </a:spcAft>
              <a:buClr>
                <a:srgbClr val="000000"/>
              </a:buClr>
              <a:buSzPts val="1800"/>
              <a:buChar char="●"/>
            </a:pPr>
            <a:r>
              <a:rPr b="1" lang="en-US">
                <a:solidFill>
                  <a:srgbClr val="000000"/>
                </a:solidFill>
              </a:rPr>
              <a:t>Project Roadmap</a:t>
            </a:r>
            <a:endParaRPr b="1">
              <a:solidFill>
                <a:srgbClr val="000000"/>
              </a:solidFill>
            </a:endParaRPr>
          </a:p>
          <a:p>
            <a:pPr indent="-342900" lvl="1" marL="914400" rtl="0" algn="l">
              <a:lnSpc>
                <a:spcPct val="115000"/>
              </a:lnSpc>
              <a:spcBef>
                <a:spcPts val="1000"/>
              </a:spcBef>
              <a:spcAft>
                <a:spcPts val="0"/>
              </a:spcAft>
              <a:buClr>
                <a:srgbClr val="000000"/>
              </a:buClr>
              <a:buSzPts val="1800"/>
              <a:buChar char="•"/>
            </a:pPr>
            <a:r>
              <a:rPr lang="en-US">
                <a:solidFill>
                  <a:srgbClr val="000000"/>
                </a:solidFill>
              </a:rPr>
              <a:t>Interviews/surveys</a:t>
            </a:r>
            <a:endParaRPr>
              <a:solidFill>
                <a:srgbClr val="000000"/>
              </a:solidFill>
            </a:endParaRPr>
          </a:p>
          <a:p>
            <a:pPr indent="-342900" lvl="1" marL="914400" rtl="0" algn="l">
              <a:lnSpc>
                <a:spcPct val="115000"/>
              </a:lnSpc>
              <a:spcBef>
                <a:spcPts val="1000"/>
              </a:spcBef>
              <a:spcAft>
                <a:spcPts val="0"/>
              </a:spcAft>
              <a:buClr>
                <a:srgbClr val="000000"/>
              </a:buClr>
              <a:buSzPts val="1800"/>
              <a:buChar char="•"/>
            </a:pPr>
            <a:r>
              <a:rPr lang="en-US">
                <a:solidFill>
                  <a:srgbClr val="000000"/>
                </a:solidFill>
              </a:rPr>
              <a:t>Design document</a:t>
            </a:r>
            <a:endParaRPr>
              <a:solidFill>
                <a:srgbClr val="000000"/>
              </a:solidFill>
            </a:endParaRPr>
          </a:p>
          <a:p>
            <a:pPr indent="-342900" lvl="0" marL="457200" rtl="0" algn="l">
              <a:lnSpc>
                <a:spcPct val="115000"/>
              </a:lnSpc>
              <a:spcBef>
                <a:spcPts val="1000"/>
              </a:spcBef>
              <a:spcAft>
                <a:spcPts val="0"/>
              </a:spcAft>
              <a:buClr>
                <a:srgbClr val="000000"/>
              </a:buClr>
              <a:buSzPts val="1800"/>
              <a:buChar char="●"/>
            </a:pPr>
            <a:r>
              <a:rPr b="1" lang="en-US">
                <a:solidFill>
                  <a:srgbClr val="000000"/>
                </a:solidFill>
              </a:rPr>
              <a:t>Data science</a:t>
            </a:r>
            <a:endParaRPr b="1">
              <a:solidFill>
                <a:srgbClr val="000000"/>
              </a:solidFill>
            </a:endParaRPr>
          </a:p>
          <a:p>
            <a:pPr indent="-342900" lvl="1" marL="914400" rtl="0" algn="l">
              <a:lnSpc>
                <a:spcPct val="115000"/>
              </a:lnSpc>
              <a:spcBef>
                <a:spcPts val="1000"/>
              </a:spcBef>
              <a:spcAft>
                <a:spcPts val="0"/>
              </a:spcAft>
              <a:buClr>
                <a:srgbClr val="000000"/>
              </a:buClr>
              <a:buSzPts val="1800"/>
              <a:buChar char="•"/>
            </a:pPr>
            <a:r>
              <a:rPr lang="en-US">
                <a:solidFill>
                  <a:srgbClr val="000000"/>
                </a:solidFill>
              </a:rPr>
              <a:t>Integrating the classification pipeline with the web-app</a:t>
            </a:r>
            <a:endParaRPr>
              <a:solidFill>
                <a:srgbClr val="000000"/>
              </a:solidFill>
            </a:endParaRPr>
          </a:p>
          <a:p>
            <a:pPr indent="-342900" lvl="1" marL="914400" rtl="0" algn="l">
              <a:lnSpc>
                <a:spcPct val="115000"/>
              </a:lnSpc>
              <a:spcBef>
                <a:spcPts val="1000"/>
              </a:spcBef>
              <a:spcAft>
                <a:spcPts val="0"/>
              </a:spcAft>
              <a:buClr>
                <a:srgbClr val="000000"/>
              </a:buClr>
              <a:buSzPts val="1800"/>
              <a:buChar char="•"/>
            </a:pPr>
            <a:r>
              <a:rPr lang="en-US">
                <a:solidFill>
                  <a:srgbClr val="000000"/>
                </a:solidFill>
              </a:rPr>
              <a:t>Continue exploring social presence, and improve cognitive presence model</a:t>
            </a:r>
            <a:endParaRPr>
              <a:solidFill>
                <a:srgbClr val="000000"/>
              </a:solidFill>
            </a:endParaRPr>
          </a:p>
          <a:p>
            <a:pPr indent="-342900" lvl="0" marL="457200" rtl="0" algn="l">
              <a:lnSpc>
                <a:spcPct val="115000"/>
              </a:lnSpc>
              <a:spcBef>
                <a:spcPts val="1000"/>
              </a:spcBef>
              <a:spcAft>
                <a:spcPts val="0"/>
              </a:spcAft>
              <a:buClr>
                <a:srgbClr val="000000"/>
              </a:buClr>
              <a:buSzPts val="1800"/>
              <a:buChar char="●"/>
            </a:pPr>
            <a:r>
              <a:rPr b="1" lang="en-US">
                <a:solidFill>
                  <a:srgbClr val="000000"/>
                </a:solidFill>
              </a:rPr>
              <a:t>Web development</a:t>
            </a:r>
            <a:endParaRPr b="1">
              <a:solidFill>
                <a:srgbClr val="000000"/>
              </a:solidFill>
            </a:endParaRPr>
          </a:p>
          <a:p>
            <a:pPr indent="-342900" lvl="1" marL="914400" rtl="0" algn="l">
              <a:lnSpc>
                <a:spcPct val="115000"/>
              </a:lnSpc>
              <a:spcBef>
                <a:spcPts val="1000"/>
              </a:spcBef>
              <a:spcAft>
                <a:spcPts val="0"/>
              </a:spcAft>
              <a:buClr>
                <a:srgbClr val="000000"/>
              </a:buClr>
              <a:buSzPts val="1800"/>
              <a:buChar char="•"/>
            </a:pPr>
            <a:r>
              <a:rPr lang="en-US">
                <a:solidFill>
                  <a:srgbClr val="000000"/>
                </a:solidFill>
              </a:rPr>
              <a:t>Building out Front-End</a:t>
            </a:r>
            <a:endParaRPr>
              <a:solidFill>
                <a:srgbClr val="000000"/>
              </a:solidFill>
            </a:endParaRPr>
          </a:p>
          <a:p>
            <a:pPr indent="-342900" lvl="1" marL="914400" rtl="0" algn="l">
              <a:lnSpc>
                <a:spcPct val="115000"/>
              </a:lnSpc>
              <a:spcBef>
                <a:spcPts val="1000"/>
              </a:spcBef>
              <a:spcAft>
                <a:spcPts val="1000"/>
              </a:spcAft>
              <a:buClr>
                <a:srgbClr val="000000"/>
              </a:buClr>
              <a:buSzPts val="1800"/>
              <a:buChar char="•"/>
            </a:pPr>
            <a:r>
              <a:rPr lang="en-US">
                <a:solidFill>
                  <a:srgbClr val="000000"/>
                </a:solidFill>
              </a:rPr>
              <a:t>Working alongside data science team to do more research on the required data, metrics relevant to the instructors</a:t>
            </a:r>
            <a:endParaRPr>
              <a:solidFill>
                <a:srgbClr val="000000"/>
              </a:solidFill>
            </a:endParaRPr>
          </a:p>
        </p:txBody>
      </p:sp>
      <p:sp>
        <p:nvSpPr>
          <p:cNvPr id="278" name="Google Shape;278;p11"/>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Conclusion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9d48565bb2_0_10"/>
          <p:cNvSpPr txBox="1"/>
          <p:nvPr>
            <p:ph idx="1" type="body"/>
          </p:nvPr>
        </p:nvSpPr>
        <p:spPr>
          <a:xfrm>
            <a:off x="381000" y="1215473"/>
            <a:ext cx="11430000" cy="5818500"/>
          </a:xfrm>
          <a:prstGeom prst="rect">
            <a:avLst/>
          </a:prstGeom>
          <a:noFill/>
          <a:ln>
            <a:noFill/>
          </a:ln>
        </p:spPr>
        <p:txBody>
          <a:bodyPr anchorCtr="0" anchor="t" bIns="45700" lIns="91425" spcFirstLastPara="1" rIns="91425" wrap="square" tIns="45700">
            <a:noAutofit/>
          </a:bodyPr>
          <a:lstStyle/>
          <a:p>
            <a:pPr indent="-349250" lvl="0" marL="457200" rtl="0" algn="l">
              <a:lnSpc>
                <a:spcPct val="90000"/>
              </a:lnSpc>
              <a:spcBef>
                <a:spcPts val="0"/>
              </a:spcBef>
              <a:spcAft>
                <a:spcPts val="0"/>
              </a:spcAft>
              <a:buSzPts val="1900"/>
              <a:buAutoNum type="arabicPeriod"/>
            </a:pPr>
            <a:r>
              <a:rPr lang="en-US" sz="1900"/>
              <a:t>Garrison, D. R., Anderson, T., &amp; Archer, W. (1999). Critical Inquiry in a Text-Based Environment: Computer Conferencing in Higher Education. </a:t>
            </a:r>
            <a:r>
              <a:rPr i="1" lang="en-US" sz="1900"/>
              <a:t>The Internet and Higher Education</a:t>
            </a:r>
            <a:r>
              <a:rPr lang="en-US" sz="1900"/>
              <a:t>, 2(2–3), 87–105. https://doi.org/10.1016/S1096-7516(00)00016-6</a:t>
            </a:r>
            <a:endParaRPr sz="1900"/>
          </a:p>
          <a:p>
            <a:pPr indent="-349250" lvl="0" marL="457200" rtl="0" algn="l">
              <a:lnSpc>
                <a:spcPct val="90000"/>
              </a:lnSpc>
              <a:spcBef>
                <a:spcPts val="0"/>
              </a:spcBef>
              <a:spcAft>
                <a:spcPts val="0"/>
              </a:spcAft>
              <a:buSzPts val="1900"/>
              <a:buAutoNum type="arabicPeriod"/>
            </a:pPr>
            <a:r>
              <a:rPr lang="en-US" sz="1900"/>
              <a:t>Garrison, D. R., Anderson, T., &amp; Archer, W. (2001). Critical thinking, cognitive presence, and computer conferencing in distance education. </a:t>
            </a:r>
            <a:r>
              <a:rPr i="1" lang="en-US" sz="1900"/>
              <a:t>American Journal of Distance Education</a:t>
            </a:r>
            <a:r>
              <a:rPr lang="en-US" sz="1900"/>
              <a:t>, 15(1), 7–23. https://doi.org/10.1080/08923640109527071</a:t>
            </a:r>
            <a:endParaRPr sz="1900"/>
          </a:p>
          <a:p>
            <a:pPr indent="-349250" lvl="0" marL="457200" rtl="0" algn="l">
              <a:lnSpc>
                <a:spcPct val="90000"/>
              </a:lnSpc>
              <a:spcBef>
                <a:spcPts val="0"/>
              </a:spcBef>
              <a:spcAft>
                <a:spcPts val="0"/>
              </a:spcAft>
              <a:buSzPts val="1900"/>
              <a:buAutoNum type="arabicPeriod"/>
            </a:pPr>
            <a:r>
              <a:rPr lang="en-US" sz="1900"/>
              <a:t>Devlin, J., Chang, M. W., Lee, K., &amp; Toutanova, K. (2018). Bert: Pre-training of deep bidirectional transformers for language understanding. arXiv preprint arXiv:1810.04805.</a:t>
            </a:r>
            <a:endParaRPr sz="1900"/>
          </a:p>
          <a:p>
            <a:pPr indent="-349250" lvl="0" marL="457200" rtl="0" algn="l">
              <a:lnSpc>
                <a:spcPct val="90000"/>
              </a:lnSpc>
              <a:spcBef>
                <a:spcPts val="0"/>
              </a:spcBef>
              <a:spcAft>
                <a:spcPts val="0"/>
              </a:spcAft>
              <a:buSzPts val="1900"/>
              <a:buFont typeface="Roboto"/>
              <a:buAutoNum type="arabicPeriod"/>
            </a:pPr>
            <a:r>
              <a:rPr lang="en-US" sz="1900"/>
              <a:t>Medhat, Walaa, Hassan, Ahmed, Hoda, Korashy (2014). Sentiment analysis algorithms and applications: A survey. </a:t>
            </a:r>
            <a:r>
              <a:rPr i="1" lang="en-US" sz="1900"/>
              <a:t>Ain Sham Engineering Journals.</a:t>
            </a:r>
            <a:r>
              <a:rPr lang="en-US" sz="1900"/>
              <a:t> </a:t>
            </a:r>
            <a:r>
              <a:rPr lang="en-US" sz="1900">
                <a:uFill>
                  <a:noFill/>
                </a:uFill>
                <a:hlinkClick r:id="rId3"/>
              </a:rPr>
              <a:t>https://doi.org/10.1016/j.asej.2014.04.011</a:t>
            </a:r>
            <a:endParaRPr sz="1900"/>
          </a:p>
        </p:txBody>
      </p:sp>
      <p:sp>
        <p:nvSpPr>
          <p:cNvPr id="284" name="Google Shape;284;g9d48565bb2_0_1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Citations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2"/>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Questions?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3" name="Shape 293"/>
        <p:cNvGrpSpPr/>
        <p:nvPr/>
      </p:nvGrpSpPr>
      <p:grpSpPr>
        <a:xfrm>
          <a:off x="0" y="0"/>
          <a:ext cx="0" cy="0"/>
          <a:chOff x="0" y="0"/>
          <a:chExt cx="0" cy="0"/>
        </a:xfrm>
      </p:grpSpPr>
      <p:sp>
        <p:nvSpPr>
          <p:cNvPr id="294" name="Google Shape;294;gefbeba6a1c_0_518"/>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First, focus on </a:t>
            </a:r>
            <a:endParaRPr/>
          </a:p>
          <a:p>
            <a:pPr indent="-342900" lvl="0" marL="457200" rtl="0" algn="l">
              <a:lnSpc>
                <a:spcPct val="100000"/>
              </a:lnSpc>
              <a:spcBef>
                <a:spcPts val="1000"/>
              </a:spcBef>
              <a:spcAft>
                <a:spcPts val="0"/>
              </a:spcAft>
              <a:buSzPts val="1800"/>
              <a:buChar char="•"/>
            </a:pPr>
            <a:r>
              <a:rPr lang="en-US"/>
              <a:t>Timeframe</a:t>
            </a:r>
            <a:endParaRPr/>
          </a:p>
        </p:txBody>
      </p:sp>
      <p:sp>
        <p:nvSpPr>
          <p:cNvPr id="295" name="Google Shape;295;gefbeba6a1c_0_518"/>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Data Science Goals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9" name="Shape 299"/>
        <p:cNvGrpSpPr/>
        <p:nvPr/>
      </p:nvGrpSpPr>
      <p:grpSpPr>
        <a:xfrm>
          <a:off x="0" y="0"/>
          <a:ext cx="0" cy="0"/>
          <a:chOff x="0" y="0"/>
          <a:chExt cx="0" cy="0"/>
        </a:xfrm>
      </p:grpSpPr>
      <p:sp>
        <p:nvSpPr>
          <p:cNvPr id="300" name="Google Shape;300;gbee4de09ef_0_2"/>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rmAutofit/>
          </a:bodyPr>
          <a:lstStyle/>
          <a:p>
            <a:pPr indent="-342900" lvl="0" marL="457200" rtl="0" algn="l">
              <a:lnSpc>
                <a:spcPct val="115000"/>
              </a:lnSpc>
              <a:spcBef>
                <a:spcPts val="1000"/>
              </a:spcBef>
              <a:spcAft>
                <a:spcPts val="0"/>
              </a:spcAft>
              <a:buSzPts val="1800"/>
              <a:buChar char="•"/>
            </a:pPr>
            <a:r>
              <a:t/>
            </a:r>
            <a:endParaRPr/>
          </a:p>
        </p:txBody>
      </p:sp>
      <p:sp>
        <p:nvSpPr>
          <p:cNvPr id="301" name="Google Shape;301;gbee4de09ef_0_2"/>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Approach used in previous semester</a:t>
            </a:r>
            <a:endParaRPr/>
          </a:p>
        </p:txBody>
      </p:sp>
      <p:sp>
        <p:nvSpPr>
          <p:cNvPr id="302" name="Google Shape;302;gbee4de09ef_0_2"/>
          <p:cNvSpPr txBox="1"/>
          <p:nvPr/>
        </p:nvSpPr>
        <p:spPr>
          <a:xfrm>
            <a:off x="7872950" y="5852550"/>
            <a:ext cx="3395700" cy="493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The classic WMD example from [5]</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6" name="Shape 306"/>
        <p:cNvGrpSpPr/>
        <p:nvPr/>
      </p:nvGrpSpPr>
      <p:grpSpPr>
        <a:xfrm>
          <a:off x="0" y="0"/>
          <a:ext cx="0" cy="0"/>
          <a:chOff x="0" y="0"/>
          <a:chExt cx="0" cy="0"/>
        </a:xfrm>
      </p:grpSpPr>
      <p:sp>
        <p:nvSpPr>
          <p:cNvPr id="307" name="Google Shape;307;gbee4de09ef_0_7"/>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rmAutofit/>
          </a:bodyPr>
          <a:lstStyle/>
          <a:p>
            <a:pPr indent="-304800" lvl="0" marL="457200" rtl="0" algn="l">
              <a:lnSpc>
                <a:spcPct val="200000"/>
              </a:lnSpc>
              <a:spcBef>
                <a:spcPts val="1000"/>
              </a:spcBef>
              <a:spcAft>
                <a:spcPts val="1000"/>
              </a:spcAft>
              <a:buSzPts val="1200"/>
              <a:buChar char="•"/>
            </a:pPr>
            <a:r>
              <a:t/>
            </a:r>
            <a:endParaRPr sz="2200"/>
          </a:p>
        </p:txBody>
      </p:sp>
      <p:sp>
        <p:nvSpPr>
          <p:cNvPr id="308" name="Google Shape;308;gbee4de09ef_0_7"/>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Challenges encountered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2" name="Shape 312"/>
        <p:cNvGrpSpPr/>
        <p:nvPr/>
      </p:nvGrpSpPr>
      <p:grpSpPr>
        <a:xfrm>
          <a:off x="0" y="0"/>
          <a:ext cx="0" cy="0"/>
          <a:chOff x="0" y="0"/>
          <a:chExt cx="0" cy="0"/>
        </a:xfrm>
      </p:grpSpPr>
      <p:sp>
        <p:nvSpPr>
          <p:cNvPr id="313" name="Google Shape;313;gba764dde3e_0_5"/>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9250" lvl="0" marL="457200" rtl="0" algn="l">
              <a:lnSpc>
                <a:spcPct val="100000"/>
              </a:lnSpc>
              <a:spcBef>
                <a:spcPts val="1000"/>
              </a:spcBef>
              <a:spcAft>
                <a:spcPts val="1000"/>
              </a:spcAft>
              <a:buSzPts val="1900"/>
              <a:buChar char="•"/>
            </a:pPr>
            <a:r>
              <a:rPr b="1" i="1" lang="en-US" sz="1900"/>
              <a:t>Sentiment Analysis of Piazza Data</a:t>
            </a:r>
            <a:endParaRPr b="1" i="1" sz="1900"/>
          </a:p>
        </p:txBody>
      </p:sp>
      <p:sp>
        <p:nvSpPr>
          <p:cNvPr id="314" name="Google Shape;314;gba764dde3e_0_5"/>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Goals for this semester (Data Science)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8" name="Shape 318"/>
        <p:cNvGrpSpPr/>
        <p:nvPr/>
      </p:nvGrpSpPr>
      <p:grpSpPr>
        <a:xfrm>
          <a:off x="0" y="0"/>
          <a:ext cx="0" cy="0"/>
          <a:chOff x="0" y="0"/>
          <a:chExt cx="0" cy="0"/>
        </a:xfrm>
      </p:grpSpPr>
      <p:sp>
        <p:nvSpPr>
          <p:cNvPr id="319" name="Google Shape;319;gbea1223c9f_0_1"/>
          <p:cNvSpPr txBox="1"/>
          <p:nvPr>
            <p:ph idx="1" type="body"/>
          </p:nvPr>
        </p:nvSpPr>
        <p:spPr>
          <a:xfrm>
            <a:off x="6091850" y="1215475"/>
            <a:ext cx="5718900" cy="45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“a group of individuals who collaboratively engage in purposeful critical discourse and reflection to construct personal meaning and confirm mutual understanding”</a:t>
            </a:r>
            <a:endParaRPr/>
          </a:p>
        </p:txBody>
      </p:sp>
      <p:sp>
        <p:nvSpPr>
          <p:cNvPr id="320" name="Google Shape;320;gbea1223c9f_0_1"/>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Community of Inquiry</a:t>
            </a:r>
            <a:endParaRPr/>
          </a:p>
        </p:txBody>
      </p:sp>
      <p:pic>
        <p:nvPicPr>
          <p:cNvPr id="321" name="Google Shape;321;gbea1223c9f_0_1"/>
          <p:cNvPicPr preferRelativeResize="0"/>
          <p:nvPr/>
        </p:nvPicPr>
        <p:blipFill rotWithShape="1">
          <a:blip r:embed="rId3">
            <a:alphaModFix/>
          </a:blip>
          <a:srcRect b="11793" l="0" r="0" t="0"/>
          <a:stretch/>
        </p:blipFill>
        <p:spPr>
          <a:xfrm>
            <a:off x="488775" y="1215475"/>
            <a:ext cx="5117075" cy="4054150"/>
          </a:xfrm>
          <a:prstGeom prst="rect">
            <a:avLst/>
          </a:prstGeom>
          <a:noFill/>
          <a:ln>
            <a:noFill/>
          </a:ln>
        </p:spPr>
      </p:pic>
      <p:sp>
        <p:nvSpPr>
          <p:cNvPr id="322" name="Google Shape;322;gbea1223c9f_0_1"/>
          <p:cNvSpPr txBox="1"/>
          <p:nvPr/>
        </p:nvSpPr>
        <p:spPr>
          <a:xfrm>
            <a:off x="488763" y="5411575"/>
            <a:ext cx="5117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Elements of an Educational Experience (Garrison et al., 1999)</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2016-03-09T16:46:53Z</dcterms:created>
  <dc:creator>Microsoft Office User</dc:creator>
</cp:coreProperties>
</file>