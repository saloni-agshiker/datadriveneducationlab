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4"/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Roboto Condensed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33" Type="http://schemas.openxmlformats.org/officeDocument/2006/relationships/font" Target="fonts/RobotoCondensedLight-bold.fntdata"/><Relationship Id="rId10" Type="http://schemas.openxmlformats.org/officeDocument/2006/relationships/slide" Target="slides/slide3.xml"/><Relationship Id="rId32" Type="http://schemas.openxmlformats.org/officeDocument/2006/relationships/font" Target="fonts/RobotoCondensedLight-regular.fntdata"/><Relationship Id="rId13" Type="http://schemas.openxmlformats.org/officeDocument/2006/relationships/slide" Target="slides/slide6.xml"/><Relationship Id="rId35" Type="http://schemas.openxmlformats.org/officeDocument/2006/relationships/font" Target="fonts/RobotoCondensedLight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CondensedLight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375ca43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7375ca437f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0dd4328d6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70dd4328d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All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375ca437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7375ca437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70dd4328d6_0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70dd4328d6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375ca437f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7375ca437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375ca437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7375ca43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375ca437f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7375ca437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375ca437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375ca437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375ca437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7375ca43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1322b0b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1322b0b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3859eda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3859eda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73859edaa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73859edaa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3859dde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3859dde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1322b0b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1322b0b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0e6f77119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0e6f77119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0e6f77119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0e6f77119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3805ee4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3805ee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83805ee4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83805ee4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3805ee47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3805ee4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36f55d0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36f55d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>
  <p:cSld name="Title Slid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018346" y="2844801"/>
            <a:ext cx="50970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7F7F7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type="ctrTitle"/>
          </p:nvPr>
        </p:nvSpPr>
        <p:spPr>
          <a:xfrm>
            <a:off x="3018347" y="250225"/>
            <a:ext cx="5097000" cy="259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>
  <p:cSld name="Title and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_OBJECTS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284286" y="911612"/>
            <a:ext cx="4211400" cy="3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648200" y="911612"/>
            <a:ext cx="4209900" cy="3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>
  <p:cSld name="Comparis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285751" y="926335"/>
            <a:ext cx="4213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1" name="Google Shape;81;p19"/>
          <p:cNvSpPr txBox="1"/>
          <p:nvPr>
            <p:ph idx="2" type="body"/>
          </p:nvPr>
        </p:nvSpPr>
        <p:spPr>
          <a:xfrm>
            <a:off x="285751" y="1558993"/>
            <a:ext cx="4213200" cy="30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3" type="body"/>
          </p:nvPr>
        </p:nvSpPr>
        <p:spPr>
          <a:xfrm>
            <a:off x="4629150" y="926335"/>
            <a:ext cx="42291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3" name="Google Shape;83;p19"/>
          <p:cNvSpPr txBox="1"/>
          <p:nvPr>
            <p:ph idx="4" type="body"/>
          </p:nvPr>
        </p:nvSpPr>
        <p:spPr>
          <a:xfrm>
            <a:off x="4629150" y="1558993"/>
            <a:ext cx="4229100" cy="30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7" name="Google Shape;87;p19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BJECT_WITH_CAPTION_TEXT" type="objTx">
  <p:cSld name="OBJECT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285751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400"/>
              <a:buFont typeface="Roboto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235326" y="342901"/>
            <a:ext cx="56229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0" name="Google Shape;100;p22"/>
          <p:cNvSpPr txBox="1"/>
          <p:nvPr>
            <p:ph idx="2" type="body"/>
          </p:nvPr>
        </p:nvSpPr>
        <p:spPr>
          <a:xfrm>
            <a:off x="285751" y="1706137"/>
            <a:ext cx="2949600" cy="26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22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_WITH_CAPTION_TEXT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285751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400"/>
              <a:buFont typeface="Roboto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3"/>
          <p:cNvSpPr/>
          <p:nvPr>
            <p:ph idx="2" type="pic"/>
          </p:nvPr>
        </p:nvSpPr>
        <p:spPr>
          <a:xfrm>
            <a:off x="3235326" y="342901"/>
            <a:ext cx="56229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285751" y="1706137"/>
            <a:ext cx="2949600" cy="26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_TEXT" type="vertTx">
  <p:cSld name="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 rot="5400000">
            <a:off x="2848351" y="-1650987"/>
            <a:ext cx="34473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_TITLE_AND_VERTICAL_TEXT" type="vertTitleAndTx">
  <p:cSld name="VERTICAL_TITLE_AND_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 rot="5400000">
            <a:off x="56929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 rot="5400000">
            <a:off x="1406626" y="-847106"/>
            <a:ext cx="4359000" cy="6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700"/>
              <a:buFont typeface="Roboto"/>
              <a:buNone/>
              <a:defRPr b="1" i="0" sz="27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2857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2344615" y="4358879"/>
            <a:ext cx="44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68008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idx="1" type="subTitle"/>
          </p:nvPr>
        </p:nvSpPr>
        <p:spPr>
          <a:xfrm>
            <a:off x="3018351" y="1824475"/>
            <a:ext cx="62484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rPr lang="zh-CN"/>
              <a:t>Natural Language Processing (NLP) Subteam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rPr lang="zh-CN"/>
              <a:t>Presentation 3 - 4/15/2020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rPr lang="zh-CN"/>
              <a:t>Nine Sub-meetings: 2/7  2/14  2/21  2/28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rPr lang="zh-CN"/>
              <a:t>                                  3/6  3/13  3/31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rPr lang="zh-CN"/>
              <a:t>                                  4/3  4/10</a:t>
            </a:r>
            <a:endParaRPr/>
          </a:p>
        </p:txBody>
      </p:sp>
      <p:sp>
        <p:nvSpPr>
          <p:cNvPr id="128" name="Google Shape;128;p26"/>
          <p:cNvSpPr txBox="1"/>
          <p:nvPr>
            <p:ph type="ctrTitle"/>
          </p:nvPr>
        </p:nvSpPr>
        <p:spPr>
          <a:xfrm>
            <a:off x="3018347" y="-881900"/>
            <a:ext cx="5097000" cy="259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</a:pPr>
            <a:r>
              <a:rPr lang="zh-CN"/>
              <a:t>Data Driven Education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27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Team Members</a:t>
            </a: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1453950" y="1523794"/>
            <a:ext cx="864900" cy="887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1215000" y="2517619"/>
            <a:ext cx="1342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Yuntian Zhang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2796750" y="1523794"/>
            <a:ext cx="864900" cy="887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2557800" y="2517619"/>
            <a:ext cx="1342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Xinran Yu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3900600" y="2517619"/>
            <a:ext cx="1342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Morgan Powers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C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Researcher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5243400" y="2517619"/>
            <a:ext cx="1342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Lindsey Blackmore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CN" sz="1100">
                <a:latin typeface="Roboto"/>
                <a:ea typeface="Roboto"/>
                <a:cs typeface="Roboto"/>
                <a:sym typeface="Roboto"/>
              </a:rPr>
              <a:t>Researcher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6825150" y="1523794"/>
            <a:ext cx="864900" cy="887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6586200" y="2517619"/>
            <a:ext cx="1342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Erin Wrobel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C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Researcher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/>
          <p:nvPr/>
        </p:nvSpPr>
        <p:spPr>
          <a:xfrm>
            <a:off x="5482350" y="1523794"/>
            <a:ext cx="864900" cy="887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4139550" y="1523794"/>
            <a:ext cx="864900" cy="8877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214325" y="683700"/>
            <a:ext cx="89298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Team Focus</a:t>
            </a:r>
            <a:r>
              <a:rPr lang="zh-CN"/>
              <a:t>: </a:t>
            </a:r>
            <a:endParaRPr/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edX data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Shifted focus from Piazza data to edX data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2 tables: forum_thread_ferpa &amp; forum_comment_ferpa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2667 comments in total: includes online classes such as CS1301, ISYE6501, etc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Focus on CS1301-Online - 2137 comments in total</a:t>
            </a:r>
            <a:endParaRPr/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Cognitive presence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Four phases of cognitive presence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Created a document on categorizing cognitive presense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Labeled 500+ comments for model training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Next step: build a automatic categorizing model (Still undergoing…)</a:t>
            </a:r>
            <a:endParaRPr/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NLP analysis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Basic statical analysis on different phases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Overall NLP analysis on each phase of cognitive presence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Word frequency and word cloud analysis</a:t>
            </a:r>
            <a:endParaRPr/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type="title"/>
          </p:nvPr>
        </p:nvSpPr>
        <p:spPr>
          <a:xfrm>
            <a:off x="214313" y="112906"/>
            <a:ext cx="64293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Data Science Team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214325" y="683700"/>
            <a:ext cx="89298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edX data  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Shifted focus from Piazza data to edX data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2 tables: forum_thread_ferpa &amp; forum_comment_ferpa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2667 comments in total: includes online classes such as CS1301, ISYE6501, etc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Focus on CS1301-Online - 2137 comments in total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9"/>
          <p:cNvSpPr txBox="1"/>
          <p:nvPr>
            <p:ph type="title"/>
          </p:nvPr>
        </p:nvSpPr>
        <p:spPr>
          <a:xfrm>
            <a:off x="214313" y="112906"/>
            <a:ext cx="64293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Data Science Team</a:t>
            </a:r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0401"/>
            <a:ext cx="9144000" cy="264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74126"/>
            <a:ext cx="9144002" cy="2663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214325" y="683700"/>
            <a:ext cx="32886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Cognitive presence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Four phases of cognitive presence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Created a document on categorizing cognitive presense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Labeled 500+ comments for model training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Next step: build a automatic categorizing model (Still undergoing…)</a:t>
            </a:r>
            <a:endParaRPr/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0"/>
          <p:cNvSpPr txBox="1"/>
          <p:nvPr>
            <p:ph type="title"/>
          </p:nvPr>
        </p:nvSpPr>
        <p:spPr>
          <a:xfrm>
            <a:off x="178488" y="112806"/>
            <a:ext cx="64293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Data Science Team</a:t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001" y="193425"/>
            <a:ext cx="4656675" cy="46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 rotWithShape="1">
          <a:blip r:embed="rId4">
            <a:alphaModFix/>
          </a:blip>
          <a:srcRect b="5419" l="0" r="5419" t="0"/>
          <a:stretch/>
        </p:blipFill>
        <p:spPr>
          <a:xfrm>
            <a:off x="4014150" y="193425"/>
            <a:ext cx="4688725" cy="42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214325" y="683700"/>
            <a:ext cx="89298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NLP analysis</a:t>
            </a:r>
            <a:endParaRPr/>
          </a:p>
          <a:p>
            <a:pPr indent="-2794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Basic statical analysis on different phases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overall NLP analysis on each phases 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Word frequency and word cloud analysis</a:t>
            </a:r>
            <a:endParaRPr/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 txBox="1"/>
          <p:nvPr>
            <p:ph type="title"/>
          </p:nvPr>
        </p:nvSpPr>
        <p:spPr>
          <a:xfrm>
            <a:off x="178488" y="112806"/>
            <a:ext cx="64293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Data Science Team</a:t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425" y="1986300"/>
            <a:ext cx="5170800" cy="25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214325" y="683700"/>
            <a:ext cx="89298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2"/>
          <p:cNvSpPr txBox="1"/>
          <p:nvPr>
            <p:ph type="title"/>
          </p:nvPr>
        </p:nvSpPr>
        <p:spPr>
          <a:xfrm>
            <a:off x="178488" y="112806"/>
            <a:ext cx="64293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Data Science Team</a:t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025" y="655025"/>
            <a:ext cx="7844424" cy="44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30"/>
            <a:ext cx="9144002" cy="513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214325" y="683700"/>
            <a:ext cx="89298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CN"/>
              <a:t>Future job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Keep building the model for automatic </a:t>
            </a:r>
            <a:r>
              <a:rPr lang="zh-CN"/>
              <a:t>categorizing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Generalize the model &amp; Categorize document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More NLP analysis (using NLTK, etc)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Visualizations on the results</a:t>
            </a:r>
            <a:endParaRPr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More integration with the web-app development 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Special Thanks to Jonna for her prefessional help!!!</a:t>
            </a:r>
            <a:endParaRPr/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4"/>
          <p:cNvSpPr txBox="1"/>
          <p:nvPr>
            <p:ph type="title"/>
          </p:nvPr>
        </p:nvSpPr>
        <p:spPr>
          <a:xfrm>
            <a:off x="178488" y="112806"/>
            <a:ext cx="64293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/>
              <a:t>Data Science Team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zh-CN" sz="1800"/>
              <a:t>Became familiar with Flask, HTML, CSS, Javascript, React, and SQL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/>
              <a:t>Established the file/folder organization for the web app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/>
              <a:t>Designed UI mockups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/>
              <a:t>Developed a preliminary web app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/>
              <a:t>Created a unified design document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5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Web Application Development Team</a:t>
            </a:r>
            <a:endParaRPr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83" y="3310648"/>
            <a:ext cx="1174326" cy="15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350" y="3066563"/>
            <a:ext cx="2330625" cy="199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7279" y="3241927"/>
            <a:ext cx="2330625" cy="164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304" y="3151250"/>
            <a:ext cx="2637575" cy="18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Mockups - Modular</a:t>
            </a:r>
            <a:endParaRPr/>
          </a:p>
        </p:txBody>
      </p:sp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75" y="911650"/>
            <a:ext cx="2549874" cy="204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675" y="3041918"/>
            <a:ext cx="2549874" cy="183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1105" y="722663"/>
            <a:ext cx="4617924" cy="3698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Mockups - Data Dump</a:t>
            </a:r>
            <a:endParaRPr/>
          </a:p>
        </p:txBody>
      </p:sp>
      <p:pic>
        <p:nvPicPr>
          <p:cNvPr id="217" name="Google Shape;2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675" y="357338"/>
            <a:ext cx="2039125" cy="4428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24141"/>
            <a:ext cx="4902052" cy="3927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8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Preliminary Web App</a:t>
            </a:r>
            <a:endParaRPr/>
          </a:p>
        </p:txBody>
      </p:sp>
      <p:pic>
        <p:nvPicPr>
          <p:cNvPr id="225" name="Google Shape;2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5788"/>
            <a:ext cx="9143999" cy="43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285750" y="911638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Continue development of web application based on the results of the survey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Incorporate Dash for data visualization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Construct a relational database for discussion data</a:t>
            </a:r>
            <a:endParaRPr/>
          </a:p>
        </p:txBody>
      </p:sp>
      <p:sp>
        <p:nvSpPr>
          <p:cNvPr id="231" name="Google Shape;231;p39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/>
              <a:t>Web Application Development Team Goals for Fall 2020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285750" y="1079375"/>
            <a:ext cx="8572500" cy="3279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b="1" lang="zh-CN"/>
              <a:t>Goal:</a:t>
            </a:r>
            <a:r>
              <a:rPr lang="zh-CN"/>
              <a:t> determine usefulness and possible improvements for Canvas web app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zh-CN"/>
              <a:t>Audience:</a:t>
            </a:r>
            <a:r>
              <a:rPr lang="zh-CN"/>
              <a:t> Professors and TAs in CS, Psychology, Math, and other disciplines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zh-CN"/>
              <a:t>Method:</a:t>
            </a:r>
            <a:r>
              <a:rPr lang="zh-CN"/>
              <a:t> Qualtrics survey with app mockups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zh-CN"/>
              <a:t>Obstacles: </a:t>
            </a:r>
            <a:r>
              <a:rPr lang="zh-CN"/>
              <a:t>Later launch and lower participation than intended due to moving online</a:t>
            </a:r>
            <a:endParaRPr/>
          </a:p>
        </p:txBody>
      </p:sp>
      <p:sp>
        <p:nvSpPr>
          <p:cNvPr id="237" name="Google Shape;237;p40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Education Research: Gathering Opinions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4 responses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3 out of 4 responded positiviely to Navigable format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2 out of 4 responded positively to Waterfall format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2 out of 4 said they could see using the app in the classroom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General Complaints: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Use of bubbles and visualizations were unclear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Not capturing use case of students using forums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Don’t like extra complications</a:t>
            </a:r>
            <a:endParaRPr/>
          </a:p>
        </p:txBody>
      </p:sp>
      <p:sp>
        <p:nvSpPr>
          <p:cNvPr id="243" name="Google Shape;243;p41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Education Research: Results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idx="1" type="body"/>
          </p:nvPr>
        </p:nvSpPr>
        <p:spPr>
          <a:xfrm>
            <a:off x="285750" y="911615"/>
            <a:ext cx="4527900" cy="47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zh-CN"/>
              <a:t>Importance of Factors</a:t>
            </a:r>
            <a:endParaRPr/>
          </a:p>
        </p:txBody>
      </p:sp>
      <p:sp>
        <p:nvSpPr>
          <p:cNvPr id="249" name="Google Shape;249;p42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Education Research: Results</a:t>
            </a:r>
            <a:endParaRPr/>
          </a:p>
        </p:txBody>
      </p:sp>
      <p:pic>
        <p:nvPicPr>
          <p:cNvPr id="250" name="Google Shape;2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49" y="1390625"/>
            <a:ext cx="4527925" cy="29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2"/>
          <p:cNvSpPr txBox="1"/>
          <p:nvPr/>
        </p:nvSpPr>
        <p:spPr>
          <a:xfrm>
            <a:off x="4813675" y="1390625"/>
            <a:ext cx="4044600" cy="23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zh-CN" sz="2000">
                <a:latin typeface="Roboto"/>
                <a:ea typeface="Roboto"/>
                <a:cs typeface="Roboto"/>
                <a:sym typeface="Roboto"/>
              </a:rPr>
              <a:t>Most important: accessibility and interpretability of information</a:t>
            </a:r>
            <a:br>
              <a:rPr lang="zh-CN" sz="2000">
                <a:latin typeface="Roboto"/>
                <a:ea typeface="Roboto"/>
                <a:cs typeface="Roboto"/>
                <a:sym typeface="Roboto"/>
              </a:rPr>
            </a:b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zh-CN" sz="2000">
                <a:latin typeface="Roboto"/>
                <a:ea typeface="Roboto"/>
                <a:cs typeface="Roboto"/>
                <a:sym typeface="Roboto"/>
              </a:rPr>
              <a:t>Not important: aesthetic and student accessibility</a:t>
            </a:r>
            <a:br>
              <a:rPr lang="zh-CN" sz="2000">
                <a:latin typeface="Roboto"/>
                <a:ea typeface="Roboto"/>
                <a:cs typeface="Roboto"/>
                <a:sym typeface="Roboto"/>
              </a:rPr>
            </a:b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zh-CN" sz="2000">
                <a:latin typeface="Roboto"/>
                <a:ea typeface="Roboto"/>
                <a:cs typeface="Roboto"/>
                <a:sym typeface="Roboto"/>
              </a:rPr>
              <a:t>Other: “ease of installation into Canvas</a:t>
            </a:r>
            <a:r>
              <a:rPr lang="zh-CN" sz="2100">
                <a:latin typeface="Roboto"/>
                <a:ea typeface="Roboto"/>
                <a:cs typeface="Roboto"/>
                <a:sym typeface="Roboto"/>
              </a:rPr>
              <a:t> 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4235450" y="911625"/>
            <a:ext cx="46227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CN"/>
              <a:t>Importance of Features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Most important: student engagement analysis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Not important: Cognitive Presence and Deep Thinking</a:t>
            </a:r>
            <a:br>
              <a:rPr lang="zh-CN"/>
            </a:b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3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Education Research: Results</a:t>
            </a:r>
            <a:endParaRPr/>
          </a:p>
        </p:txBody>
      </p:sp>
      <p:pic>
        <p:nvPicPr>
          <p:cNvPr id="258" name="Google Shape;2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911650"/>
            <a:ext cx="3949700" cy="389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Collect more data!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For future surveys: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Make it clear that filler text is, in fact, filler 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Explain the included visualizations more clearly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Emphasize app as a statistics/ course information aid, not a discussion tool itself</a:t>
            </a:r>
            <a:br>
              <a:rPr lang="zh-C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Development Recommendations: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Tentative focus on navigable format over waterfall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Look into Student Engagement metrics</a:t>
            </a:r>
            <a:endParaRPr/>
          </a:p>
        </p:txBody>
      </p:sp>
      <p:sp>
        <p:nvSpPr>
          <p:cNvPr id="264" name="Google Shape;264;p44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Education Research: Moving Forward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285750" y="911613"/>
            <a:ext cx="8572500" cy="34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CN"/>
              <a:t>?</a:t>
            </a:r>
            <a:endParaRPr/>
          </a:p>
        </p:txBody>
      </p:sp>
      <p:sp>
        <p:nvSpPr>
          <p:cNvPr id="270" name="Google Shape;270;p45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