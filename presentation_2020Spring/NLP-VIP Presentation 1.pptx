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Roboto Condensed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73">
          <p15:clr>
            <a:srgbClr val="000000"/>
          </p15:clr>
        </p15:guide>
        <p15:guide id="2" pos="244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9" roundtripDataSignature="AMtx7mh5REyp6iDQgiQMTsOY23T4OqMQ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73" orient="horz"/>
        <p:guide pos="24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CondensedLight-bold.fntdata"/><Relationship Id="rId25" Type="http://schemas.openxmlformats.org/officeDocument/2006/relationships/font" Target="fonts/RobotoCondensedLight-regular.fntdata"/><Relationship Id="rId28" Type="http://schemas.openxmlformats.org/officeDocument/2006/relationships/font" Target="fonts/RobotoCondensedLight-boldItalic.fntdata"/><Relationship Id="rId27" Type="http://schemas.openxmlformats.org/officeDocument/2006/relationships/font" Target="fonts/RobotoCondensed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All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Lindsey, Xinran</a:t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6e8bda117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6e8bda11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6e967c9f1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6e967c9f1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7F7F7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marR="0" rt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6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_OBJECTS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379048" y="1215483"/>
            <a:ext cx="5615353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6197600" y="1215483"/>
            <a:ext cx="5613400" cy="496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>
  <p:cSld name="Comparis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381001" y="1235113"/>
            <a:ext cx="561763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381001" y="2078657"/>
            <a:ext cx="5617633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3" type="body"/>
          </p:nvPr>
        </p:nvSpPr>
        <p:spPr>
          <a:xfrm>
            <a:off x="6172200" y="1235113"/>
            <a:ext cx="5638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18"/>
          <p:cNvSpPr txBox="1"/>
          <p:nvPr>
            <p:ph idx="4" type="body"/>
          </p:nvPr>
        </p:nvSpPr>
        <p:spPr>
          <a:xfrm>
            <a:off x="6172200" y="2078657"/>
            <a:ext cx="5638800" cy="4111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8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BJECT_WITH_CAPTION_TEXT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_WITH_CAPTION_TEXT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381001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/>
          <p:nvPr>
            <p:ph idx="2" type="pic"/>
          </p:nvPr>
        </p:nvSpPr>
        <p:spPr>
          <a:xfrm>
            <a:off x="4313768" y="457201"/>
            <a:ext cx="7497233" cy="540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81001" y="2274849"/>
            <a:ext cx="3932767" cy="359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_TEXT" type="vertTx">
  <p:cSld name="VERTICAL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 rot="5400000">
            <a:off x="3797823" y="-2201338"/>
            <a:ext cx="4596355" cy="11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_TITLE_AND_VERTICAL_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 rot="5400000">
            <a:off x="75906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1875632" y="-1129506"/>
            <a:ext cx="5811838" cy="88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600"/>
              <a:buFont typeface="Roboto"/>
              <a:buNone/>
              <a:defRPr b="1" i="0" sz="3600" u="none" cap="none" strike="noStrike">
                <a:solidFill>
                  <a:srgbClr val="A7934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381000" y="1215484"/>
            <a:ext cx="11430000" cy="4596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3810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6154" y="5811839"/>
            <a:ext cx="59416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9067800" y="581183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>
            <p:ph idx="1" type="subTitle"/>
          </p:nvPr>
        </p:nvSpPr>
        <p:spPr>
          <a:xfrm>
            <a:off x="4024461" y="3793068"/>
            <a:ext cx="6795913" cy="1684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Natural Language Processing (NLP) Subteam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3000"/>
              <a:buNone/>
            </a:pPr>
            <a:r>
              <a:rPr lang="en-US"/>
              <a:t>Presentation 1 - 2/5/2020</a:t>
            </a:r>
            <a:endParaRPr/>
          </a:p>
        </p:txBody>
      </p:sp>
      <p:sp>
        <p:nvSpPr>
          <p:cNvPr id="77" name="Google Shape;77;p1"/>
          <p:cNvSpPr txBox="1"/>
          <p:nvPr>
            <p:ph type="ctrTitle"/>
          </p:nvPr>
        </p:nvSpPr>
        <p:spPr>
          <a:xfrm>
            <a:off x="4024462" y="333633"/>
            <a:ext cx="6795913" cy="345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4200"/>
              <a:buFont typeface="Roboto"/>
              <a:buNone/>
            </a:pPr>
            <a:r>
              <a:rPr lang="en-US"/>
              <a:t>Data Driven Education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Team Members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1938600" y="2031725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620000" y="3356825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Yuntian Zhang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729000" y="2031725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3410400" y="3356825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Xinran Yu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5200800" y="3356825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Morgan Powers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Manager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6991200" y="3356825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Lindsey Blackmore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Web Developer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9100200" y="2031725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8781600" y="3356825"/>
            <a:ext cx="17904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Erin Wrobel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Researcher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309800" y="2031725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5519400" y="2031725"/>
            <a:ext cx="1153200" cy="11835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idx="1" type="body"/>
          </p:nvPr>
        </p:nvSpPr>
        <p:spPr>
          <a:xfrm>
            <a:off x="381000" y="1215474"/>
            <a:ext cx="11430000" cy="5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>
                <a:solidFill>
                  <a:srgbClr val="000000"/>
                </a:solidFill>
              </a:rPr>
              <a:t>Focused on the Piazza data for ISYE 6501</a:t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Goals of the subteam</a:t>
            </a:r>
            <a:endParaRPr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Data Science Team</a:t>
            </a:r>
            <a:endParaRPr>
              <a:solidFill>
                <a:srgbClr val="000000"/>
              </a:solidFill>
            </a:endParaRPr>
          </a:p>
          <a:p>
            <a:pPr indent="-2286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>
                <a:solidFill>
                  <a:srgbClr val="000000"/>
                </a:solidFill>
              </a:rPr>
              <a:t>Web Application Team</a:t>
            </a:r>
            <a:endParaRPr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>
                <a:solidFill>
                  <a:srgbClr val="000000"/>
                </a:solidFill>
              </a:rPr>
              <a:t>Accomplishments</a:t>
            </a:r>
            <a:endParaRPr>
              <a:solidFill>
                <a:srgbClr val="000000"/>
              </a:solidFill>
            </a:endParaRPr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 sz="2800">
                <a:solidFill>
                  <a:srgbClr val="000000"/>
                </a:solidFill>
              </a:rPr>
              <a:t>Analyses and visualizations that Xinran and Jianan did</a:t>
            </a:r>
            <a:endParaRPr sz="2800">
              <a:solidFill>
                <a:srgbClr val="000000"/>
              </a:solidFill>
            </a:endParaRPr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Initial web mockup</a:t>
            </a:r>
            <a:endParaRPr sz="2800"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>
                <a:solidFill>
                  <a:srgbClr val="000000"/>
                </a:solidFill>
              </a:rPr>
              <a:t>Reflections</a:t>
            </a:r>
            <a:endParaRPr>
              <a:solidFill>
                <a:srgbClr val="000000"/>
              </a:solidFill>
            </a:endParaRPr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 sz="2800">
                <a:solidFill>
                  <a:srgbClr val="000000"/>
                </a:solidFill>
              </a:rPr>
              <a:t>Better communication and integration among the subteams</a:t>
            </a:r>
            <a:endParaRPr sz="2800">
              <a:solidFill>
                <a:srgbClr val="000000"/>
              </a:solidFill>
            </a:endParaRPr>
          </a:p>
          <a:p>
            <a:pPr indent="-29210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•"/>
            </a:pPr>
            <a:r>
              <a:rPr lang="en-US" sz="2800">
                <a:solidFill>
                  <a:srgbClr val="000000"/>
                </a:solidFill>
              </a:rPr>
              <a:t>More understanding of all the resources available</a:t>
            </a:r>
            <a:endParaRPr sz="2800">
              <a:solidFill>
                <a:srgbClr val="000000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600"/>
              <a:buFont typeface="Roboto"/>
              <a:buNone/>
            </a:pPr>
            <a:r>
              <a:rPr lang="en-US"/>
              <a:t>Overview of Last Semester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Performed basic sentiment and statistical analysis on Piazza data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Generated visualizations using Plotly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Stored the results in Jupyter Notebook</a:t>
            </a:r>
            <a:endParaRPr/>
          </a:p>
        </p:txBody>
      </p:sp>
      <p:sp>
        <p:nvSpPr>
          <p:cNvPr id="104" name="Google Shape;104;p4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Data Analysis (Fall 2019) </a:t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268175"/>
            <a:ext cx="6641475" cy="330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700" y="3268175"/>
            <a:ext cx="3678375" cy="34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Mockup for the flow and aesthetics of the web app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Front-end for the credentials page</a:t>
            </a:r>
            <a:endParaRPr/>
          </a:p>
        </p:txBody>
      </p:sp>
      <p:sp>
        <p:nvSpPr>
          <p:cNvPr id="112" name="Google Shape;112;p5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Recap of Web Application Development (Fall 2019)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-998" t="15973"/>
          <a:stretch/>
        </p:blipFill>
        <p:spPr>
          <a:xfrm>
            <a:off x="2567100" y="2693162"/>
            <a:ext cx="7057800" cy="33029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US"/>
              <a:t>Better communication and integration among the subteams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Char char="•"/>
            </a:pPr>
            <a:r>
              <a:rPr lang="en-US"/>
              <a:t>More understanding of all the resources available</a:t>
            </a:r>
            <a:endParaRPr/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Utilize Scrum boards (Trello) and Slack</a:t>
            </a:r>
            <a:endParaRPr/>
          </a:p>
        </p:txBody>
      </p:sp>
      <p:sp>
        <p:nvSpPr>
          <p:cNvPr id="119" name="Google Shape;119;p6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Takeaways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750" y="3200325"/>
            <a:ext cx="4784100" cy="307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9963" y="366863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Piazza</a:t>
            </a:r>
            <a:endParaRPr b="1"/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from ISYE 6501 classes</a:t>
            </a:r>
            <a:endParaRPr/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Topic &amp; Sentimental Analysis</a:t>
            </a:r>
            <a:endParaRPr/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Visualizations over different categories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Canvas</a:t>
            </a:r>
            <a:endParaRPr b="1"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from sandbox Canvas course</a:t>
            </a:r>
            <a:endParaRPr/>
          </a:p>
          <a:p>
            <a:pPr indent="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Design a web-application that can be used in Canvas</a:t>
            </a:r>
            <a:endParaRPr/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Display statistics &amp; visualizations on a specific class/student/instructor</a:t>
            </a:r>
            <a:endParaRPr/>
          </a:p>
        </p:txBody>
      </p:sp>
      <p:sp>
        <p:nvSpPr>
          <p:cNvPr id="127" name="Google Shape;127;p7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From Piazza to Canvas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387350" y="1227150"/>
            <a:ext cx="60285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Possible FERPA violations with the use of Piazza for GT courses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Canvas API </a:t>
            </a:r>
            <a:r>
              <a:rPr lang="en-US">
                <a:solidFill>
                  <a:srgbClr val="000000"/>
                </a:solidFill>
              </a:rPr>
              <a:t>simplifies the collection of discussion forum data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Lack of utilization of the Discussion feature within Canvas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33" name="Google Shape;133;p8"/>
          <p:cNvSpPr txBox="1"/>
          <p:nvPr>
            <p:ph type="title"/>
          </p:nvPr>
        </p:nvSpPr>
        <p:spPr>
          <a:xfrm>
            <a:off x="381000" y="200722"/>
            <a:ext cx="11430000" cy="1014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934B"/>
              </a:buClr>
              <a:buSzPts val="3240"/>
              <a:buFont typeface="Roboto"/>
              <a:buNone/>
            </a:pPr>
            <a:r>
              <a:rPr lang="en-US"/>
              <a:t>Reasons for this Change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4325" y="766100"/>
            <a:ext cx="2301377" cy="230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3450" y="3817452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More Visualization and statistics on different views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Class level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Student level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Instructor level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Deeper understanding of a specific student’s behavior and performance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Cognitive Presence Assessment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More Functionalities based on Canvas API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Possibility of combining discussion data with other data available on Canvas </a:t>
            </a:r>
            <a:endParaRPr/>
          </a:p>
        </p:txBody>
      </p:sp>
      <p:sp>
        <p:nvSpPr>
          <p:cNvPr id="141" name="Google Shape;141;p9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Goals on Data Science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381000" y="1215471"/>
            <a:ext cx="11430000" cy="5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-US">
                <a:solidFill>
                  <a:srgbClr val="000000"/>
                </a:solidFill>
              </a:rPr>
              <a:t>Flask app that will run the Python scripts on the data pulled from Canvas</a:t>
            </a:r>
            <a:endParaRPr>
              <a:solidFill>
                <a:srgbClr val="000000"/>
              </a:solidFill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○"/>
            </a:pPr>
            <a:r>
              <a:rPr lang="en-US" sz="2800">
                <a:solidFill>
                  <a:srgbClr val="000000"/>
                </a:solidFill>
              </a:rPr>
              <a:t>This will work for basic sentiment analysis but a database will most likely need to be established to do things like topic analysis</a:t>
            </a:r>
            <a:endParaRPr sz="2800"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oboto"/>
              <a:buChar char="●"/>
            </a:pPr>
            <a:r>
              <a:rPr lang="en-US">
                <a:solidFill>
                  <a:srgbClr val="000000"/>
                </a:solidFill>
              </a:rPr>
              <a:t>No need for a credential login page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7" name="Google Shape;147;p1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New and Improved Web Application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4826" y="4068150"/>
            <a:ext cx="4374849" cy="246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Goal: Ensure what we’re doing is useful!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Educational research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data best reflects success in a course?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can discussion forums most effectively be utilized?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do we encourage it?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much predictive power does NLP analysis of discussion boards have?</a:t>
            </a:r>
            <a:br>
              <a:rPr lang="en-US"/>
            </a:b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Market research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do professors want to see?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 can we make Canvas/the web app most appealing?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sorts of changes would encourage student engagement?</a:t>
            </a:r>
            <a:endParaRPr/>
          </a:p>
        </p:txBody>
      </p:sp>
      <p:sp>
        <p:nvSpPr>
          <p:cNvPr id="154" name="Google Shape;154;p11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Plans for Research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e8bda1176_0_0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Evaluation of the web app’s launch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Professor response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Student response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Statistical differences?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Student-view app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to suggest future study habits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Is there a need/would it encourage participation?</a:t>
            </a:r>
            <a:endParaRPr/>
          </a:p>
        </p:txBody>
      </p:sp>
      <p:sp>
        <p:nvSpPr>
          <p:cNvPr id="160" name="Google Shape;160;g6e8bda1176_0_0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Directions for Research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381000" y="1215484"/>
            <a:ext cx="114300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Create a few mockups in Adobe XD and then present them to stakeholders during the interviews for their input</a:t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Generate more data on the discussion board </a:t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Get access to the discussion board data using the Canvas API</a:t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Perform initial statistical analysis on the Canvas data</a:t>
            </a:r>
            <a:endParaRPr>
              <a:solidFill>
                <a:srgbClr val="00000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>
                <a:solidFill>
                  <a:srgbClr val="000000"/>
                </a:solidFill>
              </a:rPr>
              <a:t>Integrate Python scripts into the Flask app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2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Goals for the Coming Month</a:t>
            </a:r>
            <a:endParaRPr/>
          </a:p>
        </p:txBody>
      </p:sp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1525" y="4318099"/>
            <a:ext cx="4669524" cy="231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3479" y="4546300"/>
            <a:ext cx="1836450" cy="16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e967c9f19_0_4"/>
          <p:cNvSpPr txBox="1"/>
          <p:nvPr>
            <p:ph type="title"/>
          </p:nvPr>
        </p:nvSpPr>
        <p:spPr>
          <a:xfrm>
            <a:off x="381000" y="200722"/>
            <a:ext cx="11430000" cy="101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2016-03-09T16:46:53Z</dcterms:created>
  <dc:creator>Microsoft Office User</dc:creator>
</cp:coreProperties>
</file>