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4"/>
  </p:sldMasterIdLst>
  <p:notesMasterIdLst>
    <p:notesMasterId r:id="rId25"/>
  </p:notesMasterIdLst>
  <p:sldIdLst>
    <p:sldId id="256" r:id="rId5"/>
    <p:sldId id="257" r:id="rId6"/>
    <p:sldId id="258" r:id="rId7"/>
    <p:sldId id="259" r:id="rId8"/>
    <p:sldId id="260" r:id="rId9"/>
    <p:sldId id="261" r:id="rId10"/>
    <p:sldId id="262" r:id="rId11"/>
    <p:sldId id="263" r:id="rId12"/>
    <p:sldId id="264" r:id="rId13"/>
    <p:sldId id="265" r:id="rId14"/>
    <p:sldId id="266" r:id="rId15"/>
    <p:sldId id="275" r:id="rId16"/>
    <p:sldId id="267" r:id="rId17"/>
    <p:sldId id="268" r:id="rId18"/>
    <p:sldId id="270" r:id="rId19"/>
    <p:sldId id="271" r:id="rId20"/>
    <p:sldId id="276" r:id="rId21"/>
    <p:sldId id="272" r:id="rId22"/>
    <p:sldId id="273" r:id="rId23"/>
    <p:sldId id="274" r:id="rId24"/>
  </p:sldIdLst>
  <p:sldSz cx="9144000" cy="5143500" type="screen16x9"/>
  <p:notesSz cx="6858000" cy="9144000"/>
  <p:embeddedFontLst>
    <p:embeddedFont>
      <p:font typeface="Lato" panose="020F0502020204030203" pitchFamily="34" charset="0"/>
      <p:regular r:id="rId26"/>
      <p:bold r:id="rId27"/>
      <p:italic r:id="rId28"/>
      <p:boldItalic r:id="rId29"/>
    </p:embeddedFont>
    <p:embeddedFont>
      <p:font typeface="Roboto" panose="02000000000000000000" pitchFamily="2" charset="0"/>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F0ED40E-D529-A26B-964C-8A38724E78D1}" name="Yilmaz Soylu, Meryem" initials="MY" userId="S::msoylu6@gatech.edu::9d244683-376c-4a0e-bfc3-3f960265aded"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ED8A8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2DD459-83C2-D949-B19D-006FDFE77A2E}" v="575" dt="2025-09-23T19:08:17.605"/>
    <p1510:client id="{33283882-1C34-1F40-95E2-DF922D2921CE}" v="4" dt="2025-09-23T00:03:06.890"/>
    <p1510:client id="{6FB7E6A3-A829-C792-E5FB-8758001605E8}" v="67" dt="2025-09-22T16:40:48.851"/>
    <p1510:client id="{737DA74E-1BFB-1346-C35D-4C1C5D285FF8}" v="32" dt="2025-09-24T15:00:47.989"/>
    <p1510:client id="{83809C09-4CE3-340F-0068-E6FDC820E26C}" v="1433" dt="2025-09-22T20:54:59.405"/>
    <p1510:client id="{8ED2CE27-BB1F-AF6F-3FD4-C5D30238C078}" v="22" dt="2025-09-22T21:37:44.395"/>
    <p1510:client id="{96A18D8C-7FE7-1695-9C53-5ECE0A2F4815}" v="409" dt="2025-09-22T21:31:11.505"/>
    <p1510:client id="{A1CF835A-6D96-24C4-4FF2-30B8BC957FF6}" v="22" dt="2025-09-24T14:57:55.536"/>
    <p1510:client id="{CC849243-3AE1-2BCF-8082-8721C0121EAF}" v="39" dt="2025-09-22T21:35:54.436"/>
    <p1510:client id="{F22C88F7-0371-43C8-B2C2-A670D33F8D99}" v="2389" dt="2025-09-22T21:00:28.26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1.fntdata"/><Relationship Id="rId39" Type="http://schemas.microsoft.com/office/2018/10/relationships/authors" Target="authors.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4.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7.fntdata"/><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font" Target="fonts/font3.fntdata"/><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6.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32d593a5437_2_5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6" name="Google Shape;66;g32d593a5437_2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32ddadec7e4_3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32ddadec7e4_3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32d593a5437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7" name="Google Shape;87;g32d593a5437_0_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1100"/>
              </a:spcBef>
              <a:spcAft>
                <a:spcPts val="0"/>
              </a:spcAft>
              <a:buSzPts val="1100"/>
              <a:buNone/>
            </a:pPr>
            <a:r>
              <a:rPr lang="en"/>
              <a:t>Zilu</a:t>
            </a:r>
            <a:endParaRPr/>
          </a:p>
          <a:p>
            <a:pPr marL="0" lvl="0" indent="0" algn="l" rtl="0">
              <a:lnSpc>
                <a:spcPct val="100000"/>
              </a:lnSpc>
              <a:spcBef>
                <a:spcPts val="1100"/>
              </a:spcBef>
              <a:spcAft>
                <a:spcPts val="0"/>
              </a:spcAft>
              <a:buSzPts val="1100"/>
              <a:buNone/>
            </a:pPr>
            <a:r>
              <a:rPr lang="en"/>
              <a:t>Online Discussion platform is crucial in modern education. Ed Discussion, a widely used online discussion forum, enables students and instructors to interact and discuss course materials asynchronously.</a:t>
            </a:r>
            <a:endParaRPr/>
          </a:p>
          <a:p>
            <a:pPr marL="0" lvl="0" indent="0" algn="l" rtl="0">
              <a:lnSpc>
                <a:spcPct val="100000"/>
              </a:lnSpc>
              <a:spcBef>
                <a:spcPts val="1100"/>
              </a:spcBef>
              <a:spcAft>
                <a:spcPts val="0"/>
              </a:spcAft>
              <a:buSzPts val="1100"/>
              <a:buNone/>
            </a:pPr>
            <a:r>
              <a:rPr lang="en"/>
              <a:t>How is online discussion forum different from traditional classrooms and what could we do to better utilize this technology becomes a questions to all educators.</a:t>
            </a:r>
            <a:endParaRPr/>
          </a:p>
          <a:p>
            <a:pPr marL="0" lvl="0" indent="0" algn="l" rtl="0">
              <a:lnSpc>
                <a:spcPct val="100000"/>
              </a:lnSpc>
              <a:spcBef>
                <a:spcPts val="1100"/>
              </a:spcBef>
              <a:spcAft>
                <a:spcPts val="0"/>
              </a:spcAft>
              <a:buSzPts val="1100"/>
              <a:buNone/>
            </a:pPr>
            <a:r>
              <a:rPr lang="en"/>
              <a:t>In our study, we plan to utilize Ed Discussion data to analyze patterns of student participation, identify common learning challenges, and optimize instructor interventions in order to improve the whole education experience.</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32d593a5437_2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3" name="Google Shape;93;g32d593a5437_2_7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1100"/>
              </a:spcBef>
              <a:spcAft>
                <a:spcPts val="0"/>
              </a:spcAft>
              <a:buSzPts val="1100"/>
              <a:buNone/>
            </a:pPr>
            <a:r>
              <a:rPr lang="en"/>
              <a:t>Zilu</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2ddadec7e4_3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2ddadec7e4_3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a:spcBef>
                <a:spcPts val="0"/>
              </a:spcBef>
              <a:spcAft>
                <a:spcPts val="0"/>
              </a:spcAft>
              <a:buNone/>
            </a:pPr>
            <a:r>
              <a:rPr lang="en" sz="1400"/>
              <a:t>ETHAN</a:t>
            </a:r>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32d593a5437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32d593a5437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 sz="14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2ddadec7e4_1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2ddadec7e4_1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Zilu</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32ddadec7e4_3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2" name="Google Shape;122;g32ddadec7e4_3_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2fb6f5b961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32fb6f5b961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SALONI</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32ddadec7e4_3_1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 name="Google Shape;159;g32ddadec7e4_3_1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ETHAN</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2ddadec7e4_3_3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7" name="Google Shape;167;g32ddadec7e4_3_30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a:extLst>
            <a:ext uri="{FF2B5EF4-FFF2-40B4-BE49-F238E27FC236}">
              <a16:creationId xmlns:a16="http://schemas.microsoft.com/office/drawing/2014/main" id="{3C51B6C2-7455-5DBC-7A38-1191B732F723}"/>
            </a:ext>
          </a:extLst>
        </p:cNvPr>
        <p:cNvGrpSpPr/>
        <p:nvPr/>
      </p:nvGrpSpPr>
      <p:grpSpPr>
        <a:xfrm>
          <a:off x="0" y="0"/>
          <a:ext cx="0" cy="0"/>
          <a:chOff x="0" y="0"/>
          <a:chExt cx="0" cy="0"/>
        </a:xfrm>
      </p:grpSpPr>
      <p:sp>
        <p:nvSpPr>
          <p:cNvPr id="98" name="Google Shape;98;g32ddadec7e4_3_12:notes">
            <a:extLst>
              <a:ext uri="{FF2B5EF4-FFF2-40B4-BE49-F238E27FC236}">
                <a16:creationId xmlns:a16="http://schemas.microsoft.com/office/drawing/2014/main" id="{46C3FA66-3158-1DB5-03B8-6BA4C55BCA6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2ddadec7e4_3_12:notes">
            <a:extLst>
              <a:ext uri="{FF2B5EF4-FFF2-40B4-BE49-F238E27FC236}">
                <a16:creationId xmlns:a16="http://schemas.microsoft.com/office/drawing/2014/main" id="{C4B4B0EE-5C48-F45C-9630-9E665FBD756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a:spcBef>
                <a:spcPts val="0"/>
              </a:spcBef>
              <a:spcAft>
                <a:spcPts val="0"/>
              </a:spcAft>
              <a:buNone/>
            </a:pPr>
            <a:r>
              <a:rPr lang="en" sz="1400"/>
              <a:t>Harikesh</a:t>
            </a:r>
            <a:endParaRPr lang="en-US"/>
          </a:p>
        </p:txBody>
      </p:sp>
    </p:spTree>
    <p:extLst>
      <p:ext uri="{BB962C8B-B14F-4D97-AF65-F5344CB8AC3E}">
        <p14:creationId xmlns:p14="http://schemas.microsoft.com/office/powerpoint/2010/main" val="28660436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32ddadec7e4_3_3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32ddadec7e4_3_3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 sz="13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32fc6d7b05a_1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32fc6d7b05a_1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 sz="13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32ddadec7e4_3_3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5" name="Google Shape;195;g32ddadec7e4_3_37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Clara</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32ddadec7e4_3_3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32ddadec7e4_3_3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a:spcBef>
                <a:spcPts val="0"/>
              </a:spcBef>
              <a:spcAft>
                <a:spcPts val="0"/>
              </a:spcAft>
              <a:buNone/>
            </a:pPr>
            <a:r>
              <a:rPr lang="en"/>
              <a:t>Clara</a:t>
            </a:r>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a:extLst>
            <a:ext uri="{FF2B5EF4-FFF2-40B4-BE49-F238E27FC236}">
              <a16:creationId xmlns:a16="http://schemas.microsoft.com/office/drawing/2014/main" id="{963960BE-73CB-5C6D-F39E-B7FA34F5E3DE}"/>
            </a:ext>
          </a:extLst>
        </p:cNvPr>
        <p:cNvGrpSpPr/>
        <p:nvPr/>
      </p:nvGrpSpPr>
      <p:grpSpPr>
        <a:xfrm>
          <a:off x="0" y="0"/>
          <a:ext cx="0" cy="0"/>
          <a:chOff x="0" y="0"/>
          <a:chExt cx="0" cy="0"/>
        </a:xfrm>
      </p:grpSpPr>
      <p:sp>
        <p:nvSpPr>
          <p:cNvPr id="199" name="Google Shape;199;g32ddadec7e4_3_399:notes">
            <a:extLst>
              <a:ext uri="{FF2B5EF4-FFF2-40B4-BE49-F238E27FC236}">
                <a16:creationId xmlns:a16="http://schemas.microsoft.com/office/drawing/2014/main" id="{FE07B7E5-AAB8-B918-F719-8372637F668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32ddadec7e4_3_399:notes">
            <a:extLst>
              <a:ext uri="{FF2B5EF4-FFF2-40B4-BE49-F238E27FC236}">
                <a16:creationId xmlns:a16="http://schemas.microsoft.com/office/drawing/2014/main" id="{7E4A1C94-D46A-A70B-C261-27C77874D55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a:spcBef>
                <a:spcPts val="0"/>
              </a:spcBef>
              <a:spcAft>
                <a:spcPts val="0"/>
              </a:spcAft>
              <a:buNone/>
            </a:pPr>
            <a:r>
              <a:rPr lang="en"/>
              <a:t>Clara</a:t>
            </a:r>
            <a:endParaRPr lang="en-US"/>
          </a:p>
        </p:txBody>
      </p:sp>
    </p:spTree>
    <p:extLst>
      <p:ext uri="{BB962C8B-B14F-4D97-AF65-F5344CB8AC3E}">
        <p14:creationId xmlns:p14="http://schemas.microsoft.com/office/powerpoint/2010/main" val="7368855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32d593a5437_2_1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6" name="Google Shape;206;g32d593a5437_2_1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Zilu</a:t>
            </a:r>
            <a:endParaRPr/>
          </a:p>
          <a:p>
            <a:pPr marL="0" lvl="0" indent="0" algn="l" rtl="0">
              <a:lnSpc>
                <a:spcPct val="100000"/>
              </a:lnSpc>
              <a:spcBef>
                <a:spcPts val="0"/>
              </a:spcBef>
              <a:spcAft>
                <a:spcPts val="0"/>
              </a:spcAft>
              <a:buSzPts val="1100"/>
              <a:buNone/>
            </a:pPr>
            <a:endParaRPr lang="e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32d593a5437_2_1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2" name="Google Shape;212;g32d593a5437_2_14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32d593a5437_2_1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8" name="Google Shape;218;g32d593a5437_2_1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a:off x="2749050" y="748800"/>
            <a:ext cx="3645900" cy="3645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2992950" y="992700"/>
            <a:ext cx="3158100" cy="3158100"/>
          </a:xfrm>
          <a:prstGeom prst="rect">
            <a:avLst/>
          </a:prstGeom>
          <a:noFill/>
          <a:ln w="28575" cap="flat" cmpd="sng">
            <a:solidFill>
              <a:schemeClr val="lt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txBox="1">
            <a:spLocks noGrp="1"/>
          </p:cNvSpPr>
          <p:nvPr>
            <p:ph type="ctrTitle"/>
          </p:nvPr>
        </p:nvSpPr>
        <p:spPr>
          <a:xfrm>
            <a:off x="3096250" y="1627200"/>
            <a:ext cx="2951400" cy="15843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lt1"/>
              </a:buClr>
              <a:buSzPts val="3200"/>
              <a:buFont typeface="Lato"/>
              <a:buNone/>
              <a:defRPr>
                <a:solidFill>
                  <a:schemeClr val="lt1"/>
                </a:solidFill>
                <a:latin typeface="Lato"/>
                <a:ea typeface="Lato"/>
                <a:cs typeface="Lato"/>
                <a:sym typeface="Lato"/>
              </a:defRPr>
            </a:lvl1pPr>
            <a:lvl2pPr lvl="1" algn="ctr">
              <a:spcBef>
                <a:spcPts val="0"/>
              </a:spcBef>
              <a:spcAft>
                <a:spcPts val="0"/>
              </a:spcAft>
              <a:buClr>
                <a:schemeClr val="lt1"/>
              </a:buClr>
              <a:buSzPts val="3200"/>
              <a:buFont typeface="Lato"/>
              <a:buNone/>
              <a:defRPr>
                <a:solidFill>
                  <a:schemeClr val="lt1"/>
                </a:solidFill>
                <a:latin typeface="Lato"/>
                <a:ea typeface="Lato"/>
                <a:cs typeface="Lato"/>
                <a:sym typeface="Lato"/>
              </a:defRPr>
            </a:lvl2pPr>
            <a:lvl3pPr lvl="2" algn="ctr">
              <a:spcBef>
                <a:spcPts val="0"/>
              </a:spcBef>
              <a:spcAft>
                <a:spcPts val="0"/>
              </a:spcAft>
              <a:buClr>
                <a:schemeClr val="lt1"/>
              </a:buClr>
              <a:buSzPts val="3200"/>
              <a:buFont typeface="Lato"/>
              <a:buNone/>
              <a:defRPr>
                <a:solidFill>
                  <a:schemeClr val="lt1"/>
                </a:solidFill>
                <a:latin typeface="Lato"/>
                <a:ea typeface="Lato"/>
                <a:cs typeface="Lato"/>
                <a:sym typeface="Lato"/>
              </a:defRPr>
            </a:lvl3pPr>
            <a:lvl4pPr lvl="3" algn="ctr">
              <a:spcBef>
                <a:spcPts val="0"/>
              </a:spcBef>
              <a:spcAft>
                <a:spcPts val="0"/>
              </a:spcAft>
              <a:buClr>
                <a:schemeClr val="lt1"/>
              </a:buClr>
              <a:buSzPts val="3200"/>
              <a:buFont typeface="Lato"/>
              <a:buNone/>
              <a:defRPr>
                <a:solidFill>
                  <a:schemeClr val="lt1"/>
                </a:solidFill>
                <a:latin typeface="Lato"/>
                <a:ea typeface="Lato"/>
                <a:cs typeface="Lato"/>
                <a:sym typeface="Lato"/>
              </a:defRPr>
            </a:lvl4pPr>
            <a:lvl5pPr lvl="4" algn="ctr">
              <a:spcBef>
                <a:spcPts val="0"/>
              </a:spcBef>
              <a:spcAft>
                <a:spcPts val="0"/>
              </a:spcAft>
              <a:buClr>
                <a:schemeClr val="lt1"/>
              </a:buClr>
              <a:buSzPts val="3200"/>
              <a:buFont typeface="Lato"/>
              <a:buNone/>
              <a:defRPr>
                <a:solidFill>
                  <a:schemeClr val="lt1"/>
                </a:solidFill>
                <a:latin typeface="Lato"/>
                <a:ea typeface="Lato"/>
                <a:cs typeface="Lato"/>
                <a:sym typeface="Lato"/>
              </a:defRPr>
            </a:lvl5pPr>
            <a:lvl6pPr lvl="5" algn="ctr">
              <a:spcBef>
                <a:spcPts val="0"/>
              </a:spcBef>
              <a:spcAft>
                <a:spcPts val="0"/>
              </a:spcAft>
              <a:buClr>
                <a:schemeClr val="lt1"/>
              </a:buClr>
              <a:buSzPts val="3200"/>
              <a:buFont typeface="Lato"/>
              <a:buNone/>
              <a:defRPr>
                <a:solidFill>
                  <a:schemeClr val="lt1"/>
                </a:solidFill>
                <a:latin typeface="Lato"/>
                <a:ea typeface="Lato"/>
                <a:cs typeface="Lato"/>
                <a:sym typeface="Lato"/>
              </a:defRPr>
            </a:lvl6pPr>
            <a:lvl7pPr lvl="6" algn="ctr">
              <a:spcBef>
                <a:spcPts val="0"/>
              </a:spcBef>
              <a:spcAft>
                <a:spcPts val="0"/>
              </a:spcAft>
              <a:buClr>
                <a:schemeClr val="lt1"/>
              </a:buClr>
              <a:buSzPts val="3200"/>
              <a:buFont typeface="Lato"/>
              <a:buNone/>
              <a:defRPr>
                <a:solidFill>
                  <a:schemeClr val="lt1"/>
                </a:solidFill>
                <a:latin typeface="Lato"/>
                <a:ea typeface="Lato"/>
                <a:cs typeface="Lato"/>
                <a:sym typeface="Lato"/>
              </a:defRPr>
            </a:lvl7pPr>
            <a:lvl8pPr lvl="7" algn="ctr">
              <a:spcBef>
                <a:spcPts val="0"/>
              </a:spcBef>
              <a:spcAft>
                <a:spcPts val="0"/>
              </a:spcAft>
              <a:buClr>
                <a:schemeClr val="lt1"/>
              </a:buClr>
              <a:buSzPts val="3200"/>
              <a:buFont typeface="Lato"/>
              <a:buNone/>
              <a:defRPr>
                <a:solidFill>
                  <a:schemeClr val="lt1"/>
                </a:solidFill>
                <a:latin typeface="Lato"/>
                <a:ea typeface="Lato"/>
                <a:cs typeface="Lato"/>
                <a:sym typeface="Lato"/>
              </a:defRPr>
            </a:lvl8pPr>
            <a:lvl9pPr lvl="8" algn="ctr">
              <a:spcBef>
                <a:spcPts val="0"/>
              </a:spcBef>
              <a:spcAft>
                <a:spcPts val="0"/>
              </a:spcAft>
              <a:buClr>
                <a:schemeClr val="lt1"/>
              </a:buClr>
              <a:buSzPts val="3200"/>
              <a:buFont typeface="Lato"/>
              <a:buNone/>
              <a:defRPr>
                <a:solidFill>
                  <a:schemeClr val="lt1"/>
                </a:solidFill>
                <a:latin typeface="Lato"/>
                <a:ea typeface="Lato"/>
                <a:cs typeface="Lato"/>
                <a:sym typeface="Lato"/>
              </a:defRPr>
            </a:lvl9pPr>
          </a:lstStyle>
          <a:p>
            <a:endParaRPr/>
          </a:p>
        </p:txBody>
      </p:sp>
      <p:sp>
        <p:nvSpPr>
          <p:cNvPr id="13" name="Google Shape;13;p2"/>
          <p:cNvSpPr txBox="1">
            <a:spLocks noGrp="1"/>
          </p:cNvSpPr>
          <p:nvPr>
            <p:ph type="subTitle" idx="1"/>
          </p:nvPr>
        </p:nvSpPr>
        <p:spPr>
          <a:xfrm>
            <a:off x="3096363" y="3266930"/>
            <a:ext cx="2951400" cy="701400"/>
          </a:xfrm>
          <a:prstGeom prst="rect">
            <a:avLst/>
          </a:prstGeom>
        </p:spPr>
        <p:txBody>
          <a:bodyPr spcFirstLastPara="1" wrap="square" lIns="91425" tIns="91425" rIns="91425" bIns="91425" anchor="b" anchorCtr="0">
            <a:normAutofit/>
          </a:bodyPr>
          <a:lstStyle>
            <a:lvl1pPr lvl="0" algn="ctr">
              <a:lnSpc>
                <a:spcPct val="100000"/>
              </a:lnSpc>
              <a:spcBef>
                <a:spcPts val="0"/>
              </a:spcBef>
              <a:spcAft>
                <a:spcPts val="0"/>
              </a:spcAft>
              <a:buClr>
                <a:schemeClr val="lt1"/>
              </a:buClr>
              <a:buSzPts val="1800"/>
              <a:buFont typeface="Playfair Display"/>
              <a:buNone/>
              <a:defRPr b="1">
                <a:solidFill>
                  <a:schemeClr val="lt1"/>
                </a:solidFill>
                <a:latin typeface="Playfair Display"/>
                <a:ea typeface="Playfair Display"/>
                <a:cs typeface="Playfair Display"/>
                <a:sym typeface="Playfair Display"/>
              </a:defRPr>
            </a:lvl1pPr>
            <a:lvl2pPr lvl="1" algn="ctr">
              <a:lnSpc>
                <a:spcPct val="100000"/>
              </a:lnSpc>
              <a:spcBef>
                <a:spcPts val="0"/>
              </a:spcBef>
              <a:spcAft>
                <a:spcPts val="0"/>
              </a:spcAft>
              <a:buClr>
                <a:schemeClr val="lt1"/>
              </a:buClr>
              <a:buSzPts val="1800"/>
              <a:buFont typeface="Playfair Display"/>
              <a:buNone/>
              <a:defRPr sz="1800" b="1">
                <a:solidFill>
                  <a:schemeClr val="lt1"/>
                </a:solidFill>
                <a:latin typeface="Playfair Display"/>
                <a:ea typeface="Playfair Display"/>
                <a:cs typeface="Playfair Display"/>
                <a:sym typeface="Playfair Display"/>
              </a:defRPr>
            </a:lvl2pPr>
            <a:lvl3pPr lvl="2" algn="ctr">
              <a:lnSpc>
                <a:spcPct val="100000"/>
              </a:lnSpc>
              <a:spcBef>
                <a:spcPts val="0"/>
              </a:spcBef>
              <a:spcAft>
                <a:spcPts val="0"/>
              </a:spcAft>
              <a:buClr>
                <a:schemeClr val="lt1"/>
              </a:buClr>
              <a:buSzPts val="1800"/>
              <a:buFont typeface="Playfair Display"/>
              <a:buNone/>
              <a:defRPr sz="1800" b="1">
                <a:solidFill>
                  <a:schemeClr val="lt1"/>
                </a:solidFill>
                <a:latin typeface="Playfair Display"/>
                <a:ea typeface="Playfair Display"/>
                <a:cs typeface="Playfair Display"/>
                <a:sym typeface="Playfair Display"/>
              </a:defRPr>
            </a:lvl3pPr>
            <a:lvl4pPr lvl="3" algn="ctr">
              <a:lnSpc>
                <a:spcPct val="100000"/>
              </a:lnSpc>
              <a:spcBef>
                <a:spcPts val="0"/>
              </a:spcBef>
              <a:spcAft>
                <a:spcPts val="0"/>
              </a:spcAft>
              <a:buClr>
                <a:schemeClr val="lt1"/>
              </a:buClr>
              <a:buSzPts val="1800"/>
              <a:buFont typeface="Playfair Display"/>
              <a:buNone/>
              <a:defRPr sz="1800" b="1">
                <a:solidFill>
                  <a:schemeClr val="lt1"/>
                </a:solidFill>
                <a:latin typeface="Playfair Display"/>
                <a:ea typeface="Playfair Display"/>
                <a:cs typeface="Playfair Display"/>
                <a:sym typeface="Playfair Display"/>
              </a:defRPr>
            </a:lvl4pPr>
            <a:lvl5pPr lvl="4" algn="ctr">
              <a:lnSpc>
                <a:spcPct val="100000"/>
              </a:lnSpc>
              <a:spcBef>
                <a:spcPts val="0"/>
              </a:spcBef>
              <a:spcAft>
                <a:spcPts val="0"/>
              </a:spcAft>
              <a:buClr>
                <a:schemeClr val="lt1"/>
              </a:buClr>
              <a:buSzPts val="1800"/>
              <a:buFont typeface="Playfair Display"/>
              <a:buNone/>
              <a:defRPr sz="1800" b="1">
                <a:solidFill>
                  <a:schemeClr val="lt1"/>
                </a:solidFill>
                <a:latin typeface="Playfair Display"/>
                <a:ea typeface="Playfair Display"/>
                <a:cs typeface="Playfair Display"/>
                <a:sym typeface="Playfair Display"/>
              </a:defRPr>
            </a:lvl5pPr>
            <a:lvl6pPr lvl="5" algn="ctr">
              <a:lnSpc>
                <a:spcPct val="100000"/>
              </a:lnSpc>
              <a:spcBef>
                <a:spcPts val="0"/>
              </a:spcBef>
              <a:spcAft>
                <a:spcPts val="0"/>
              </a:spcAft>
              <a:buClr>
                <a:schemeClr val="lt1"/>
              </a:buClr>
              <a:buSzPts val="1800"/>
              <a:buFont typeface="Playfair Display"/>
              <a:buNone/>
              <a:defRPr sz="1800" b="1">
                <a:solidFill>
                  <a:schemeClr val="lt1"/>
                </a:solidFill>
                <a:latin typeface="Playfair Display"/>
                <a:ea typeface="Playfair Display"/>
                <a:cs typeface="Playfair Display"/>
                <a:sym typeface="Playfair Display"/>
              </a:defRPr>
            </a:lvl6pPr>
            <a:lvl7pPr lvl="6" algn="ctr">
              <a:lnSpc>
                <a:spcPct val="100000"/>
              </a:lnSpc>
              <a:spcBef>
                <a:spcPts val="0"/>
              </a:spcBef>
              <a:spcAft>
                <a:spcPts val="0"/>
              </a:spcAft>
              <a:buClr>
                <a:schemeClr val="lt1"/>
              </a:buClr>
              <a:buSzPts val="1800"/>
              <a:buFont typeface="Playfair Display"/>
              <a:buNone/>
              <a:defRPr sz="1800" b="1">
                <a:solidFill>
                  <a:schemeClr val="lt1"/>
                </a:solidFill>
                <a:latin typeface="Playfair Display"/>
                <a:ea typeface="Playfair Display"/>
                <a:cs typeface="Playfair Display"/>
                <a:sym typeface="Playfair Display"/>
              </a:defRPr>
            </a:lvl7pPr>
            <a:lvl8pPr lvl="7" algn="ctr">
              <a:lnSpc>
                <a:spcPct val="100000"/>
              </a:lnSpc>
              <a:spcBef>
                <a:spcPts val="0"/>
              </a:spcBef>
              <a:spcAft>
                <a:spcPts val="0"/>
              </a:spcAft>
              <a:buClr>
                <a:schemeClr val="lt1"/>
              </a:buClr>
              <a:buSzPts val="1800"/>
              <a:buFont typeface="Playfair Display"/>
              <a:buNone/>
              <a:defRPr sz="1800" b="1">
                <a:solidFill>
                  <a:schemeClr val="lt1"/>
                </a:solidFill>
                <a:latin typeface="Playfair Display"/>
                <a:ea typeface="Playfair Display"/>
                <a:cs typeface="Playfair Display"/>
                <a:sym typeface="Playfair Display"/>
              </a:defRPr>
            </a:lvl8pPr>
            <a:lvl9pPr lvl="8" algn="ctr">
              <a:lnSpc>
                <a:spcPct val="100000"/>
              </a:lnSpc>
              <a:spcBef>
                <a:spcPts val="0"/>
              </a:spcBef>
              <a:spcAft>
                <a:spcPts val="0"/>
              </a:spcAft>
              <a:buClr>
                <a:schemeClr val="lt1"/>
              </a:buClr>
              <a:buSzPts val="1800"/>
              <a:buFont typeface="Playfair Display"/>
              <a:buNone/>
              <a:defRPr sz="1800" b="1">
                <a:solidFill>
                  <a:schemeClr val="lt1"/>
                </a:solidFill>
                <a:latin typeface="Playfair Display"/>
                <a:ea typeface="Playfair Display"/>
                <a:cs typeface="Playfair Display"/>
                <a:sym typeface="Playfair Display"/>
              </a:defRPr>
            </a:lvl9pPr>
          </a:lstStyle>
          <a:p>
            <a:endParaRPr/>
          </a:p>
        </p:txBody>
      </p:sp>
      <p:sp>
        <p:nvSpPr>
          <p:cNvPr id="14" name="Google Shape;14;p2"/>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5"/>
        <p:cNvGrpSpPr/>
        <p:nvPr/>
      </p:nvGrpSpPr>
      <p:grpSpPr>
        <a:xfrm>
          <a:off x="0" y="0"/>
          <a:ext cx="0" cy="0"/>
          <a:chOff x="0" y="0"/>
          <a:chExt cx="0" cy="0"/>
        </a:xfrm>
      </p:grpSpPr>
      <p:sp>
        <p:nvSpPr>
          <p:cNvPr id="16" name="Google Shape;16;p3"/>
          <p:cNvSpPr txBox="1">
            <a:spLocks noGrp="1"/>
          </p:cNvSpPr>
          <p:nvPr>
            <p:ph type="title"/>
          </p:nvPr>
        </p:nvSpPr>
        <p:spPr>
          <a:xfrm>
            <a:off x="509550" y="1423875"/>
            <a:ext cx="8124900" cy="17982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lt1"/>
              </a:buClr>
              <a:buSzPts val="4800"/>
              <a:buFont typeface="Lato"/>
              <a:buNone/>
              <a:defRPr sz="4800" b="0">
                <a:solidFill>
                  <a:schemeClr val="lt1"/>
                </a:solidFill>
                <a:latin typeface="Lato"/>
                <a:ea typeface="Lato"/>
                <a:cs typeface="Lato"/>
                <a:sym typeface="Lato"/>
              </a:defRPr>
            </a:lvl1pPr>
            <a:lvl2pPr lvl="1" algn="ctr">
              <a:spcBef>
                <a:spcPts val="0"/>
              </a:spcBef>
              <a:spcAft>
                <a:spcPts val="0"/>
              </a:spcAft>
              <a:buClr>
                <a:schemeClr val="lt1"/>
              </a:buClr>
              <a:buSzPts val="4800"/>
              <a:buFont typeface="Lato"/>
              <a:buNone/>
              <a:defRPr sz="4800" b="0">
                <a:solidFill>
                  <a:schemeClr val="lt1"/>
                </a:solidFill>
                <a:latin typeface="Lato"/>
                <a:ea typeface="Lato"/>
                <a:cs typeface="Lato"/>
                <a:sym typeface="Lato"/>
              </a:defRPr>
            </a:lvl2pPr>
            <a:lvl3pPr lvl="2" algn="ctr">
              <a:spcBef>
                <a:spcPts val="0"/>
              </a:spcBef>
              <a:spcAft>
                <a:spcPts val="0"/>
              </a:spcAft>
              <a:buClr>
                <a:schemeClr val="lt1"/>
              </a:buClr>
              <a:buSzPts val="4800"/>
              <a:buFont typeface="Lato"/>
              <a:buNone/>
              <a:defRPr sz="4800" b="0">
                <a:solidFill>
                  <a:schemeClr val="lt1"/>
                </a:solidFill>
                <a:latin typeface="Lato"/>
                <a:ea typeface="Lato"/>
                <a:cs typeface="Lato"/>
                <a:sym typeface="Lato"/>
              </a:defRPr>
            </a:lvl3pPr>
            <a:lvl4pPr lvl="3" algn="ctr">
              <a:spcBef>
                <a:spcPts val="0"/>
              </a:spcBef>
              <a:spcAft>
                <a:spcPts val="0"/>
              </a:spcAft>
              <a:buClr>
                <a:schemeClr val="lt1"/>
              </a:buClr>
              <a:buSzPts val="4800"/>
              <a:buFont typeface="Lato"/>
              <a:buNone/>
              <a:defRPr sz="4800" b="0">
                <a:solidFill>
                  <a:schemeClr val="lt1"/>
                </a:solidFill>
                <a:latin typeface="Lato"/>
                <a:ea typeface="Lato"/>
                <a:cs typeface="Lato"/>
                <a:sym typeface="Lato"/>
              </a:defRPr>
            </a:lvl4pPr>
            <a:lvl5pPr lvl="4" algn="ctr">
              <a:spcBef>
                <a:spcPts val="0"/>
              </a:spcBef>
              <a:spcAft>
                <a:spcPts val="0"/>
              </a:spcAft>
              <a:buClr>
                <a:schemeClr val="lt1"/>
              </a:buClr>
              <a:buSzPts val="4800"/>
              <a:buFont typeface="Lato"/>
              <a:buNone/>
              <a:defRPr sz="4800" b="0">
                <a:solidFill>
                  <a:schemeClr val="lt1"/>
                </a:solidFill>
                <a:latin typeface="Lato"/>
                <a:ea typeface="Lato"/>
                <a:cs typeface="Lato"/>
                <a:sym typeface="Lato"/>
              </a:defRPr>
            </a:lvl5pPr>
            <a:lvl6pPr lvl="5" algn="ctr">
              <a:spcBef>
                <a:spcPts val="0"/>
              </a:spcBef>
              <a:spcAft>
                <a:spcPts val="0"/>
              </a:spcAft>
              <a:buClr>
                <a:schemeClr val="lt1"/>
              </a:buClr>
              <a:buSzPts val="4800"/>
              <a:buFont typeface="Lato"/>
              <a:buNone/>
              <a:defRPr sz="4800" b="0">
                <a:solidFill>
                  <a:schemeClr val="lt1"/>
                </a:solidFill>
                <a:latin typeface="Lato"/>
                <a:ea typeface="Lato"/>
                <a:cs typeface="Lato"/>
                <a:sym typeface="Lato"/>
              </a:defRPr>
            </a:lvl6pPr>
            <a:lvl7pPr lvl="6" algn="ctr">
              <a:spcBef>
                <a:spcPts val="0"/>
              </a:spcBef>
              <a:spcAft>
                <a:spcPts val="0"/>
              </a:spcAft>
              <a:buClr>
                <a:schemeClr val="lt1"/>
              </a:buClr>
              <a:buSzPts val="4800"/>
              <a:buFont typeface="Lato"/>
              <a:buNone/>
              <a:defRPr sz="4800" b="0">
                <a:solidFill>
                  <a:schemeClr val="lt1"/>
                </a:solidFill>
                <a:latin typeface="Lato"/>
                <a:ea typeface="Lato"/>
                <a:cs typeface="Lato"/>
                <a:sym typeface="Lato"/>
              </a:defRPr>
            </a:lvl7pPr>
            <a:lvl8pPr lvl="7" algn="ctr">
              <a:spcBef>
                <a:spcPts val="0"/>
              </a:spcBef>
              <a:spcAft>
                <a:spcPts val="0"/>
              </a:spcAft>
              <a:buClr>
                <a:schemeClr val="lt1"/>
              </a:buClr>
              <a:buSzPts val="4800"/>
              <a:buFont typeface="Lato"/>
              <a:buNone/>
              <a:defRPr sz="4800" b="0">
                <a:solidFill>
                  <a:schemeClr val="lt1"/>
                </a:solidFill>
                <a:latin typeface="Lato"/>
                <a:ea typeface="Lato"/>
                <a:cs typeface="Lato"/>
                <a:sym typeface="Lato"/>
              </a:defRPr>
            </a:lvl8pPr>
            <a:lvl9pPr lvl="8" algn="ctr">
              <a:spcBef>
                <a:spcPts val="0"/>
              </a:spcBef>
              <a:spcAft>
                <a:spcPts val="0"/>
              </a:spcAft>
              <a:buClr>
                <a:schemeClr val="lt1"/>
              </a:buClr>
              <a:buSzPts val="4800"/>
              <a:buFont typeface="Lato"/>
              <a:buNone/>
              <a:defRPr sz="4800" b="0">
                <a:solidFill>
                  <a:schemeClr val="lt1"/>
                </a:solidFill>
                <a:latin typeface="Lato"/>
                <a:ea typeface="Lato"/>
                <a:cs typeface="Lato"/>
                <a:sym typeface="Lato"/>
              </a:defRPr>
            </a:lvl9pPr>
          </a:lstStyle>
          <a:p>
            <a:endParaRPr/>
          </a:p>
        </p:txBody>
      </p:sp>
      <p:sp>
        <p:nvSpPr>
          <p:cNvPr id="17" name="Google Shape;17;p3"/>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sp>
        <p:nvSpPr>
          <p:cNvPr id="19" name="Google Shape;19;p4"/>
          <p:cNvSpPr/>
          <p:nvPr/>
        </p:nvSpPr>
        <p:spPr>
          <a:xfrm>
            <a:off x="0" y="5045700"/>
            <a:ext cx="91440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4"/>
          <p:cNvSpPr txBox="1">
            <a:spLocks noGrp="1"/>
          </p:cNvSpPr>
          <p:nvPr>
            <p:ph type="title"/>
          </p:nvPr>
        </p:nvSpPr>
        <p:spPr>
          <a:xfrm>
            <a:off x="311700" y="391350"/>
            <a:ext cx="8520600" cy="626100"/>
          </a:xfrm>
          <a:prstGeom prst="rect">
            <a:avLst/>
          </a:prstGeom>
        </p:spPr>
        <p:txBody>
          <a:bodyPr spcFirstLastPara="1" wrap="square" lIns="91425" tIns="91425" rIns="91425" bIns="91425" anchor="t" anchorCtr="0">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21" name="Google Shape;21;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2" name="Google Shape;22;p4"/>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3"/>
        <p:cNvGrpSpPr/>
        <p:nvPr/>
      </p:nvGrpSpPr>
      <p:grpSpPr>
        <a:xfrm>
          <a:off x="0" y="0"/>
          <a:ext cx="0" cy="0"/>
          <a:chOff x="0" y="0"/>
          <a:chExt cx="0" cy="0"/>
        </a:xfrm>
      </p:grpSpPr>
      <p:sp>
        <p:nvSpPr>
          <p:cNvPr id="24" name="Google Shape;24;p5"/>
          <p:cNvSpPr txBox="1">
            <a:spLocks noGrp="1"/>
          </p:cNvSpPr>
          <p:nvPr>
            <p:ph type="title"/>
          </p:nvPr>
        </p:nvSpPr>
        <p:spPr>
          <a:xfrm>
            <a:off x="311700" y="391350"/>
            <a:ext cx="8520600" cy="626100"/>
          </a:xfrm>
          <a:prstGeom prst="rect">
            <a:avLst/>
          </a:prstGeom>
        </p:spPr>
        <p:txBody>
          <a:bodyPr spcFirstLastPara="1" wrap="square" lIns="91425" tIns="91425" rIns="91425" bIns="91425" anchor="t" anchorCtr="0">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25" name="Google Shape;25;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6" name="Google Shape;26;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7" name="Google Shape;27;p5"/>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8"/>
        <p:cNvGrpSpPr/>
        <p:nvPr/>
      </p:nvGrpSpPr>
      <p:grpSpPr>
        <a:xfrm>
          <a:off x="0" y="0"/>
          <a:ext cx="0" cy="0"/>
          <a:chOff x="0" y="0"/>
          <a:chExt cx="0" cy="0"/>
        </a:xfrm>
      </p:grpSpPr>
      <p:sp>
        <p:nvSpPr>
          <p:cNvPr id="29" name="Google Shape;29;p6"/>
          <p:cNvSpPr txBox="1">
            <a:spLocks noGrp="1"/>
          </p:cNvSpPr>
          <p:nvPr>
            <p:ph type="title"/>
          </p:nvPr>
        </p:nvSpPr>
        <p:spPr>
          <a:xfrm>
            <a:off x="311700" y="391350"/>
            <a:ext cx="8520600" cy="626100"/>
          </a:xfrm>
          <a:prstGeom prst="rect">
            <a:avLst/>
          </a:prstGeom>
        </p:spPr>
        <p:txBody>
          <a:bodyPr spcFirstLastPara="1" wrap="square" lIns="91425" tIns="91425" rIns="91425" bIns="91425" anchor="t" anchorCtr="0">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30" name="Google Shape;30;p6"/>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1"/>
        <p:cNvGrpSpPr/>
        <p:nvPr/>
      </p:nvGrpSpPr>
      <p:grpSpPr>
        <a:xfrm>
          <a:off x="0" y="0"/>
          <a:ext cx="0" cy="0"/>
          <a:chOff x="0" y="0"/>
          <a:chExt cx="0" cy="0"/>
        </a:xfrm>
      </p:grpSpPr>
      <p:sp>
        <p:nvSpPr>
          <p:cNvPr id="32" name="Google Shape;32;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3" name="Google Shape;33;p7"/>
          <p:cNvSpPr txBox="1">
            <a:spLocks noGrp="1"/>
          </p:cNvSpPr>
          <p:nvPr>
            <p:ph type="body" idx="1"/>
          </p:nvPr>
        </p:nvSpPr>
        <p:spPr>
          <a:xfrm>
            <a:off x="311700" y="1391378"/>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4" name="Google Shape;34;p7"/>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dk2"/>
        </a:solidFill>
        <a:effectLst/>
      </p:bgPr>
    </p:bg>
    <p:spTree>
      <p:nvGrpSpPr>
        <p:cNvPr id="1" name="Shape 35"/>
        <p:cNvGrpSpPr/>
        <p:nvPr/>
      </p:nvGrpSpPr>
      <p:grpSpPr>
        <a:xfrm>
          <a:off x="0" y="0"/>
          <a:ext cx="0" cy="0"/>
          <a:chOff x="0" y="0"/>
          <a:chExt cx="0" cy="0"/>
        </a:xfrm>
      </p:grpSpPr>
      <p:sp>
        <p:nvSpPr>
          <p:cNvPr id="36" name="Google Shape;36;p8"/>
          <p:cNvSpPr txBox="1">
            <a:spLocks noGrp="1"/>
          </p:cNvSpPr>
          <p:nvPr>
            <p:ph type="title"/>
          </p:nvPr>
        </p:nvSpPr>
        <p:spPr>
          <a:xfrm>
            <a:off x="490250" y="526350"/>
            <a:ext cx="5618700" cy="4090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4800"/>
              <a:buFont typeface="Lato"/>
              <a:buNone/>
              <a:defRPr sz="4800" b="0">
                <a:solidFill>
                  <a:schemeClr val="lt1"/>
                </a:solidFill>
                <a:latin typeface="Lato"/>
                <a:ea typeface="Lato"/>
                <a:cs typeface="Lato"/>
                <a:sym typeface="Lato"/>
              </a:defRPr>
            </a:lvl1pPr>
            <a:lvl2pPr lvl="1">
              <a:spcBef>
                <a:spcPts val="0"/>
              </a:spcBef>
              <a:spcAft>
                <a:spcPts val="0"/>
              </a:spcAft>
              <a:buClr>
                <a:schemeClr val="lt1"/>
              </a:buClr>
              <a:buSzPts val="4800"/>
              <a:buFont typeface="Lato"/>
              <a:buNone/>
              <a:defRPr sz="4800" b="0">
                <a:solidFill>
                  <a:schemeClr val="lt1"/>
                </a:solidFill>
                <a:latin typeface="Lato"/>
                <a:ea typeface="Lato"/>
                <a:cs typeface="Lato"/>
                <a:sym typeface="Lato"/>
              </a:defRPr>
            </a:lvl2pPr>
            <a:lvl3pPr lvl="2">
              <a:spcBef>
                <a:spcPts val="0"/>
              </a:spcBef>
              <a:spcAft>
                <a:spcPts val="0"/>
              </a:spcAft>
              <a:buClr>
                <a:schemeClr val="lt1"/>
              </a:buClr>
              <a:buSzPts val="4800"/>
              <a:buFont typeface="Lato"/>
              <a:buNone/>
              <a:defRPr sz="4800" b="0">
                <a:solidFill>
                  <a:schemeClr val="lt1"/>
                </a:solidFill>
                <a:latin typeface="Lato"/>
                <a:ea typeface="Lato"/>
                <a:cs typeface="Lato"/>
                <a:sym typeface="Lato"/>
              </a:defRPr>
            </a:lvl3pPr>
            <a:lvl4pPr lvl="3">
              <a:spcBef>
                <a:spcPts val="0"/>
              </a:spcBef>
              <a:spcAft>
                <a:spcPts val="0"/>
              </a:spcAft>
              <a:buClr>
                <a:schemeClr val="lt1"/>
              </a:buClr>
              <a:buSzPts val="4800"/>
              <a:buFont typeface="Lato"/>
              <a:buNone/>
              <a:defRPr sz="4800" b="0">
                <a:solidFill>
                  <a:schemeClr val="lt1"/>
                </a:solidFill>
                <a:latin typeface="Lato"/>
                <a:ea typeface="Lato"/>
                <a:cs typeface="Lato"/>
                <a:sym typeface="Lato"/>
              </a:defRPr>
            </a:lvl4pPr>
            <a:lvl5pPr lvl="4">
              <a:spcBef>
                <a:spcPts val="0"/>
              </a:spcBef>
              <a:spcAft>
                <a:spcPts val="0"/>
              </a:spcAft>
              <a:buClr>
                <a:schemeClr val="lt1"/>
              </a:buClr>
              <a:buSzPts val="4800"/>
              <a:buFont typeface="Lato"/>
              <a:buNone/>
              <a:defRPr sz="4800" b="0">
                <a:solidFill>
                  <a:schemeClr val="lt1"/>
                </a:solidFill>
                <a:latin typeface="Lato"/>
                <a:ea typeface="Lato"/>
                <a:cs typeface="Lato"/>
                <a:sym typeface="Lato"/>
              </a:defRPr>
            </a:lvl5pPr>
            <a:lvl6pPr lvl="5">
              <a:spcBef>
                <a:spcPts val="0"/>
              </a:spcBef>
              <a:spcAft>
                <a:spcPts val="0"/>
              </a:spcAft>
              <a:buClr>
                <a:schemeClr val="lt1"/>
              </a:buClr>
              <a:buSzPts val="4800"/>
              <a:buFont typeface="Lato"/>
              <a:buNone/>
              <a:defRPr sz="4800" b="0">
                <a:solidFill>
                  <a:schemeClr val="lt1"/>
                </a:solidFill>
                <a:latin typeface="Lato"/>
                <a:ea typeface="Lato"/>
                <a:cs typeface="Lato"/>
                <a:sym typeface="Lato"/>
              </a:defRPr>
            </a:lvl6pPr>
            <a:lvl7pPr lvl="6">
              <a:spcBef>
                <a:spcPts val="0"/>
              </a:spcBef>
              <a:spcAft>
                <a:spcPts val="0"/>
              </a:spcAft>
              <a:buClr>
                <a:schemeClr val="lt1"/>
              </a:buClr>
              <a:buSzPts val="4800"/>
              <a:buFont typeface="Lato"/>
              <a:buNone/>
              <a:defRPr sz="4800" b="0">
                <a:solidFill>
                  <a:schemeClr val="lt1"/>
                </a:solidFill>
                <a:latin typeface="Lato"/>
                <a:ea typeface="Lato"/>
                <a:cs typeface="Lato"/>
                <a:sym typeface="Lato"/>
              </a:defRPr>
            </a:lvl7pPr>
            <a:lvl8pPr lvl="7">
              <a:spcBef>
                <a:spcPts val="0"/>
              </a:spcBef>
              <a:spcAft>
                <a:spcPts val="0"/>
              </a:spcAft>
              <a:buClr>
                <a:schemeClr val="lt1"/>
              </a:buClr>
              <a:buSzPts val="4800"/>
              <a:buFont typeface="Lato"/>
              <a:buNone/>
              <a:defRPr sz="4800" b="0">
                <a:solidFill>
                  <a:schemeClr val="lt1"/>
                </a:solidFill>
                <a:latin typeface="Lato"/>
                <a:ea typeface="Lato"/>
                <a:cs typeface="Lato"/>
                <a:sym typeface="Lato"/>
              </a:defRPr>
            </a:lvl8pPr>
            <a:lvl9pPr lvl="8">
              <a:spcBef>
                <a:spcPts val="0"/>
              </a:spcBef>
              <a:spcAft>
                <a:spcPts val="0"/>
              </a:spcAft>
              <a:buClr>
                <a:schemeClr val="lt1"/>
              </a:buClr>
              <a:buSzPts val="4800"/>
              <a:buFont typeface="Lato"/>
              <a:buNone/>
              <a:defRPr sz="4800" b="0">
                <a:solidFill>
                  <a:schemeClr val="lt1"/>
                </a:solidFill>
                <a:latin typeface="Lato"/>
                <a:ea typeface="Lato"/>
                <a:cs typeface="Lato"/>
                <a:sym typeface="Lato"/>
              </a:defRPr>
            </a:lvl9pPr>
          </a:lstStyle>
          <a:p>
            <a:endParaRPr/>
          </a:p>
        </p:txBody>
      </p:sp>
      <p:sp>
        <p:nvSpPr>
          <p:cNvPr id="37" name="Google Shape;37;p8"/>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8"/>
        <p:cNvGrpSpPr/>
        <p:nvPr/>
      </p:nvGrpSpPr>
      <p:grpSpPr>
        <a:xfrm>
          <a:off x="0" y="0"/>
          <a:ext cx="0" cy="0"/>
          <a:chOff x="0" y="0"/>
          <a:chExt cx="0" cy="0"/>
        </a:xfrm>
      </p:grpSpPr>
      <p:sp>
        <p:nvSpPr>
          <p:cNvPr id="39" name="Google Shape;39;p9"/>
          <p:cNvSpPr/>
          <p:nvPr/>
        </p:nvSpPr>
        <p:spPr>
          <a:xfrm>
            <a:off x="4572000" y="-2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0" name="Google Shape;40;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1" name="Google Shape;41;p9"/>
          <p:cNvSpPr txBox="1">
            <a:spLocks noGrp="1"/>
          </p:cNvSpPr>
          <p:nvPr>
            <p:ph type="title"/>
          </p:nvPr>
        </p:nvSpPr>
        <p:spPr>
          <a:xfrm>
            <a:off x="265500" y="1107950"/>
            <a:ext cx="4045200" cy="16836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2" name="Google Shape;42;p9"/>
          <p:cNvSpPr txBox="1">
            <a:spLocks noGrp="1"/>
          </p:cNvSpPr>
          <p:nvPr>
            <p:ph type="subTitle" idx="1"/>
          </p:nvPr>
        </p:nvSpPr>
        <p:spPr>
          <a:xfrm>
            <a:off x="265500" y="2845201"/>
            <a:ext cx="4045200" cy="13455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3" name="Google Shape;43;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sp>
        <p:nvSpPr>
          <p:cNvPr id="44" name="Google Shape;44;p9"/>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5"/>
        <p:cNvGrpSpPr/>
        <p:nvPr/>
      </p:nvGrpSpPr>
      <p:grpSpPr>
        <a:xfrm>
          <a:off x="0" y="0"/>
          <a:ext cx="0" cy="0"/>
          <a:chOff x="0" y="0"/>
          <a:chExt cx="0" cy="0"/>
        </a:xfrm>
      </p:grpSpPr>
      <p:sp>
        <p:nvSpPr>
          <p:cNvPr id="46" name="Google Shape;46;p10"/>
          <p:cNvSpPr txBox="1">
            <a:spLocks noGrp="1"/>
          </p:cNvSpPr>
          <p:nvPr>
            <p:ph type="body" idx="1"/>
          </p:nvPr>
        </p:nvSpPr>
        <p:spPr>
          <a:xfrm>
            <a:off x="319500" y="423057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7" name="Google Shape;47;p10"/>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8"/>
        <p:cNvGrpSpPr/>
        <p:nvPr/>
      </p:nvGrpSpPr>
      <p:grpSpPr>
        <a:xfrm>
          <a:off x="0" y="0"/>
          <a:ext cx="0" cy="0"/>
          <a:chOff x="0" y="0"/>
          <a:chExt cx="0" cy="0"/>
        </a:xfrm>
      </p:grpSpPr>
      <p:sp>
        <p:nvSpPr>
          <p:cNvPr id="49" name="Google Shape;49;p11"/>
          <p:cNvSpPr/>
          <p:nvPr/>
        </p:nvSpPr>
        <p:spPr>
          <a:xfrm>
            <a:off x="0" y="5045700"/>
            <a:ext cx="91440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11"/>
          <p:cNvSpPr txBox="1">
            <a:spLocks noGrp="1"/>
          </p:cNvSpPr>
          <p:nvPr>
            <p:ph type="title" hasCustomPrompt="1"/>
          </p:nvPr>
        </p:nvSpPr>
        <p:spPr>
          <a:xfrm>
            <a:off x="311700" y="1233100"/>
            <a:ext cx="8520600" cy="1610100"/>
          </a:xfrm>
          <a:prstGeom prst="rect">
            <a:avLst/>
          </a:prstGeom>
        </p:spPr>
        <p:txBody>
          <a:bodyPr spcFirstLastPara="1" wrap="square" lIns="91425" tIns="91425" rIns="91425" bIns="91425" anchor="b" anchorCtr="0">
            <a:normAutofit/>
          </a:bodyPr>
          <a:lstStyle>
            <a:lvl1pPr lvl="0" algn="ctr">
              <a:spcBef>
                <a:spcPts val="0"/>
              </a:spcBef>
              <a:spcAft>
                <a:spcPts val="0"/>
              </a:spcAft>
              <a:buSzPts val="10000"/>
              <a:buFont typeface="Lato"/>
              <a:buNone/>
              <a:defRPr sz="10000">
                <a:latin typeface="Lato"/>
                <a:ea typeface="Lato"/>
                <a:cs typeface="Lato"/>
                <a:sym typeface="Lato"/>
              </a:defRPr>
            </a:lvl1pPr>
            <a:lvl2pPr lvl="1" algn="ctr">
              <a:spcBef>
                <a:spcPts val="0"/>
              </a:spcBef>
              <a:spcAft>
                <a:spcPts val="0"/>
              </a:spcAft>
              <a:buSzPts val="10000"/>
              <a:buFont typeface="Lato"/>
              <a:buNone/>
              <a:defRPr sz="10000">
                <a:latin typeface="Lato"/>
                <a:ea typeface="Lato"/>
                <a:cs typeface="Lato"/>
                <a:sym typeface="Lato"/>
              </a:defRPr>
            </a:lvl2pPr>
            <a:lvl3pPr lvl="2" algn="ctr">
              <a:spcBef>
                <a:spcPts val="0"/>
              </a:spcBef>
              <a:spcAft>
                <a:spcPts val="0"/>
              </a:spcAft>
              <a:buSzPts val="10000"/>
              <a:buFont typeface="Lato"/>
              <a:buNone/>
              <a:defRPr sz="10000">
                <a:latin typeface="Lato"/>
                <a:ea typeface="Lato"/>
                <a:cs typeface="Lato"/>
                <a:sym typeface="Lato"/>
              </a:defRPr>
            </a:lvl3pPr>
            <a:lvl4pPr lvl="3" algn="ctr">
              <a:spcBef>
                <a:spcPts val="0"/>
              </a:spcBef>
              <a:spcAft>
                <a:spcPts val="0"/>
              </a:spcAft>
              <a:buSzPts val="10000"/>
              <a:buFont typeface="Lato"/>
              <a:buNone/>
              <a:defRPr sz="10000">
                <a:latin typeface="Lato"/>
                <a:ea typeface="Lato"/>
                <a:cs typeface="Lato"/>
                <a:sym typeface="Lato"/>
              </a:defRPr>
            </a:lvl4pPr>
            <a:lvl5pPr lvl="4" algn="ctr">
              <a:spcBef>
                <a:spcPts val="0"/>
              </a:spcBef>
              <a:spcAft>
                <a:spcPts val="0"/>
              </a:spcAft>
              <a:buSzPts val="10000"/>
              <a:buFont typeface="Lato"/>
              <a:buNone/>
              <a:defRPr sz="10000">
                <a:latin typeface="Lato"/>
                <a:ea typeface="Lato"/>
                <a:cs typeface="Lato"/>
                <a:sym typeface="Lato"/>
              </a:defRPr>
            </a:lvl5pPr>
            <a:lvl6pPr lvl="5" algn="ctr">
              <a:spcBef>
                <a:spcPts val="0"/>
              </a:spcBef>
              <a:spcAft>
                <a:spcPts val="0"/>
              </a:spcAft>
              <a:buSzPts val="10000"/>
              <a:buFont typeface="Lato"/>
              <a:buNone/>
              <a:defRPr sz="10000">
                <a:latin typeface="Lato"/>
                <a:ea typeface="Lato"/>
                <a:cs typeface="Lato"/>
                <a:sym typeface="Lato"/>
              </a:defRPr>
            </a:lvl6pPr>
            <a:lvl7pPr lvl="6" algn="ctr">
              <a:spcBef>
                <a:spcPts val="0"/>
              </a:spcBef>
              <a:spcAft>
                <a:spcPts val="0"/>
              </a:spcAft>
              <a:buSzPts val="10000"/>
              <a:buFont typeface="Lato"/>
              <a:buNone/>
              <a:defRPr sz="10000">
                <a:latin typeface="Lato"/>
                <a:ea typeface="Lato"/>
                <a:cs typeface="Lato"/>
                <a:sym typeface="Lato"/>
              </a:defRPr>
            </a:lvl7pPr>
            <a:lvl8pPr lvl="7" algn="ctr">
              <a:spcBef>
                <a:spcPts val="0"/>
              </a:spcBef>
              <a:spcAft>
                <a:spcPts val="0"/>
              </a:spcAft>
              <a:buSzPts val="10000"/>
              <a:buFont typeface="Lato"/>
              <a:buNone/>
              <a:defRPr sz="10000">
                <a:latin typeface="Lato"/>
                <a:ea typeface="Lato"/>
                <a:cs typeface="Lato"/>
                <a:sym typeface="Lato"/>
              </a:defRPr>
            </a:lvl8pPr>
            <a:lvl9pPr lvl="8" algn="ctr">
              <a:spcBef>
                <a:spcPts val="0"/>
              </a:spcBef>
              <a:spcAft>
                <a:spcPts val="0"/>
              </a:spcAft>
              <a:buSzPts val="10000"/>
              <a:buFont typeface="Lato"/>
              <a:buNone/>
              <a:defRPr sz="10000">
                <a:latin typeface="Lato"/>
                <a:ea typeface="Lato"/>
                <a:cs typeface="Lato"/>
                <a:sym typeface="Lato"/>
              </a:defRPr>
            </a:lvl9pPr>
          </a:lstStyle>
          <a:p>
            <a:r>
              <a:t>xx%</a:t>
            </a:r>
          </a:p>
        </p:txBody>
      </p:sp>
      <p:sp>
        <p:nvSpPr>
          <p:cNvPr id="51" name="Google Shape;51;p11"/>
          <p:cNvSpPr txBox="1">
            <a:spLocks noGrp="1"/>
          </p:cNvSpPr>
          <p:nvPr>
            <p:ph type="body" idx="1"/>
          </p:nvPr>
        </p:nvSpPr>
        <p:spPr>
          <a:xfrm>
            <a:off x="311700" y="2919450"/>
            <a:ext cx="8520600" cy="10716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2" name="Google Shape;52;p11"/>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12"/>
          <p:cNvSpPr txBox="1">
            <a:spLocks noGrp="1"/>
          </p:cNvSpPr>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55"/>
        <p:cNvGrpSpPr/>
        <p:nvPr/>
      </p:nvGrpSpPr>
      <p:grpSpPr>
        <a:xfrm>
          <a:off x="0" y="0"/>
          <a:ext cx="0" cy="0"/>
          <a:chOff x="0" y="0"/>
          <a:chExt cx="0" cy="0"/>
        </a:xfrm>
      </p:grpSpPr>
      <p:sp>
        <p:nvSpPr>
          <p:cNvPr id="56" name="Google Shape;56;p13"/>
          <p:cNvSpPr txBox="1">
            <a:spLocks noGrp="1"/>
          </p:cNvSpPr>
          <p:nvPr>
            <p:ph type="subTitle" idx="1"/>
          </p:nvPr>
        </p:nvSpPr>
        <p:spPr>
          <a:xfrm>
            <a:off x="3018346" y="2844801"/>
            <a:ext cx="5097000" cy="1263600"/>
          </a:xfrm>
          <a:prstGeom prst="rect">
            <a:avLst/>
          </a:prstGeom>
          <a:noFill/>
          <a:ln>
            <a:noFill/>
          </a:ln>
        </p:spPr>
        <p:txBody>
          <a:bodyPr spcFirstLastPara="1" wrap="square" lIns="68575" tIns="34275" rIns="68575" bIns="34275" anchor="t" anchorCtr="0">
            <a:noAutofit/>
          </a:bodyPr>
          <a:lstStyle>
            <a:lvl1pPr marR="0" lvl="0" algn="l">
              <a:lnSpc>
                <a:spcPct val="120000"/>
              </a:lnSpc>
              <a:spcBef>
                <a:spcPts val="500"/>
              </a:spcBef>
              <a:spcAft>
                <a:spcPts val="0"/>
              </a:spcAft>
              <a:buClr>
                <a:srgbClr val="7F7F7F"/>
              </a:buClr>
              <a:buSzPts val="2300"/>
              <a:buFont typeface="Arial"/>
              <a:buNone/>
              <a:defRPr sz="2300" b="0" i="0" u="none" strike="noStrike" cap="none">
                <a:solidFill>
                  <a:srgbClr val="7F7F7F"/>
                </a:solidFill>
                <a:latin typeface="Roboto Condensed Light"/>
                <a:ea typeface="Roboto Condensed Light"/>
                <a:cs typeface="Roboto Condensed Light"/>
                <a:sym typeface="Roboto Condensed Light"/>
              </a:defRPr>
            </a:lvl1pPr>
            <a:lvl2pPr marR="0" lvl="1" algn="ctr">
              <a:lnSpc>
                <a:spcPct val="100000"/>
              </a:lnSpc>
              <a:spcBef>
                <a:spcPts val="300"/>
              </a:spcBef>
              <a:spcAft>
                <a:spcPts val="0"/>
              </a:spcAft>
              <a:buClr>
                <a:srgbClr val="888888"/>
              </a:buClr>
              <a:buSzPts val="1600"/>
              <a:buFont typeface="Arial"/>
              <a:buNone/>
              <a:defRPr sz="1600" b="0" i="0" u="none" strike="noStrike" cap="none">
                <a:solidFill>
                  <a:srgbClr val="888888"/>
                </a:solidFill>
                <a:latin typeface="Arial"/>
                <a:ea typeface="Arial"/>
                <a:cs typeface="Arial"/>
                <a:sym typeface="Arial"/>
              </a:defRPr>
            </a:lvl2pPr>
            <a:lvl3pPr marR="0" lvl="2" algn="ctr">
              <a:lnSpc>
                <a:spcPct val="100000"/>
              </a:lnSpc>
              <a:spcBef>
                <a:spcPts val="300"/>
              </a:spcBef>
              <a:spcAft>
                <a:spcPts val="0"/>
              </a:spcAft>
              <a:buClr>
                <a:srgbClr val="888888"/>
              </a:buClr>
              <a:buSzPts val="1400"/>
              <a:buFont typeface="Arial"/>
              <a:buNone/>
              <a:defRPr sz="1400" b="0" i="0" u="none" strike="noStrike" cap="none">
                <a:solidFill>
                  <a:srgbClr val="888888"/>
                </a:solidFill>
                <a:latin typeface="Arial"/>
                <a:ea typeface="Arial"/>
                <a:cs typeface="Arial"/>
                <a:sym typeface="Arial"/>
              </a:defRPr>
            </a:lvl3pPr>
            <a:lvl4pPr marR="0" lvl="3" algn="ctr">
              <a:lnSpc>
                <a:spcPct val="100000"/>
              </a:lnSpc>
              <a:spcBef>
                <a:spcPts val="200"/>
              </a:spcBef>
              <a:spcAft>
                <a:spcPts val="0"/>
              </a:spcAft>
              <a:buClr>
                <a:srgbClr val="888888"/>
              </a:buClr>
              <a:buSzPts val="1100"/>
              <a:buFont typeface="Arial"/>
              <a:buNone/>
              <a:defRPr sz="1100" b="0" i="0" u="none" strike="noStrike" cap="none">
                <a:solidFill>
                  <a:srgbClr val="888888"/>
                </a:solidFill>
                <a:latin typeface="Arial"/>
                <a:ea typeface="Arial"/>
                <a:cs typeface="Arial"/>
                <a:sym typeface="Arial"/>
              </a:defRPr>
            </a:lvl4pPr>
            <a:lvl5pPr marR="0" lvl="4" algn="ctr">
              <a:lnSpc>
                <a:spcPct val="100000"/>
              </a:lnSpc>
              <a:spcBef>
                <a:spcPts val="200"/>
              </a:spcBef>
              <a:spcAft>
                <a:spcPts val="0"/>
              </a:spcAft>
              <a:buClr>
                <a:srgbClr val="888888"/>
              </a:buClr>
              <a:buSzPts val="1100"/>
              <a:buFont typeface="Arial"/>
              <a:buNone/>
              <a:defRPr sz="1100" b="0" i="0" u="none" strike="noStrike" cap="none">
                <a:solidFill>
                  <a:srgbClr val="888888"/>
                </a:solidFill>
                <a:latin typeface="Arial"/>
                <a:ea typeface="Arial"/>
                <a:cs typeface="Arial"/>
                <a:sym typeface="Arial"/>
              </a:defRPr>
            </a:lvl5pPr>
            <a:lvl6pPr marR="0" lvl="5" algn="ctr">
              <a:lnSpc>
                <a:spcPct val="100000"/>
              </a:lnSpc>
              <a:spcBef>
                <a:spcPts val="200"/>
              </a:spcBef>
              <a:spcAft>
                <a:spcPts val="0"/>
              </a:spcAft>
              <a:buClr>
                <a:srgbClr val="888888"/>
              </a:buClr>
              <a:buSzPts val="1100"/>
              <a:buFont typeface="Arial"/>
              <a:buNone/>
              <a:defRPr sz="1100" b="0" i="0" u="none" strike="noStrike" cap="none">
                <a:solidFill>
                  <a:srgbClr val="888888"/>
                </a:solidFill>
                <a:latin typeface="Arial"/>
                <a:ea typeface="Arial"/>
                <a:cs typeface="Arial"/>
                <a:sym typeface="Arial"/>
              </a:defRPr>
            </a:lvl6pPr>
            <a:lvl7pPr marR="0" lvl="6" algn="ctr">
              <a:lnSpc>
                <a:spcPct val="100000"/>
              </a:lnSpc>
              <a:spcBef>
                <a:spcPts val="200"/>
              </a:spcBef>
              <a:spcAft>
                <a:spcPts val="0"/>
              </a:spcAft>
              <a:buClr>
                <a:srgbClr val="888888"/>
              </a:buClr>
              <a:buSzPts val="1100"/>
              <a:buFont typeface="Arial"/>
              <a:buNone/>
              <a:defRPr sz="1100" b="0" i="0" u="none" strike="noStrike" cap="none">
                <a:solidFill>
                  <a:srgbClr val="888888"/>
                </a:solidFill>
                <a:latin typeface="Arial"/>
                <a:ea typeface="Arial"/>
                <a:cs typeface="Arial"/>
                <a:sym typeface="Arial"/>
              </a:defRPr>
            </a:lvl7pPr>
            <a:lvl8pPr marR="0" lvl="7" algn="ctr">
              <a:lnSpc>
                <a:spcPct val="100000"/>
              </a:lnSpc>
              <a:spcBef>
                <a:spcPts val="200"/>
              </a:spcBef>
              <a:spcAft>
                <a:spcPts val="0"/>
              </a:spcAft>
              <a:buClr>
                <a:srgbClr val="888888"/>
              </a:buClr>
              <a:buSzPts val="1100"/>
              <a:buFont typeface="Arial"/>
              <a:buNone/>
              <a:defRPr sz="1100" b="0" i="0" u="none" strike="noStrike" cap="none">
                <a:solidFill>
                  <a:srgbClr val="888888"/>
                </a:solidFill>
                <a:latin typeface="Arial"/>
                <a:ea typeface="Arial"/>
                <a:cs typeface="Arial"/>
                <a:sym typeface="Arial"/>
              </a:defRPr>
            </a:lvl8pPr>
            <a:lvl9pPr marR="0" lvl="8" algn="ctr">
              <a:lnSpc>
                <a:spcPct val="100000"/>
              </a:lnSpc>
              <a:spcBef>
                <a:spcPts val="200"/>
              </a:spcBef>
              <a:spcAft>
                <a:spcPts val="0"/>
              </a:spcAft>
              <a:buClr>
                <a:srgbClr val="888888"/>
              </a:buClr>
              <a:buSzPts val="1100"/>
              <a:buFont typeface="Arial"/>
              <a:buNone/>
              <a:defRPr sz="1100" b="0" i="0" u="none" strike="noStrike" cap="none">
                <a:solidFill>
                  <a:srgbClr val="888888"/>
                </a:solidFill>
                <a:latin typeface="Arial"/>
                <a:ea typeface="Arial"/>
                <a:cs typeface="Arial"/>
                <a:sym typeface="Arial"/>
              </a:defRPr>
            </a:lvl9pPr>
          </a:lstStyle>
          <a:p>
            <a:endParaRPr/>
          </a:p>
        </p:txBody>
      </p:sp>
      <p:sp>
        <p:nvSpPr>
          <p:cNvPr id="57" name="Google Shape;57;p13"/>
          <p:cNvSpPr txBox="1">
            <a:spLocks noGrp="1"/>
          </p:cNvSpPr>
          <p:nvPr>
            <p:ph type="ctrTitle"/>
          </p:nvPr>
        </p:nvSpPr>
        <p:spPr>
          <a:xfrm>
            <a:off x="3018346" y="250225"/>
            <a:ext cx="5097000" cy="2594400"/>
          </a:xfrm>
          <a:prstGeom prst="rect">
            <a:avLst/>
          </a:prstGeom>
          <a:noFill/>
          <a:ln>
            <a:noFill/>
          </a:ln>
        </p:spPr>
        <p:txBody>
          <a:bodyPr spcFirstLastPara="1" wrap="square" lIns="68575" tIns="34275" rIns="68575" bIns="34275" anchor="b" anchorCtr="0">
            <a:normAutofit/>
          </a:bodyPr>
          <a:lstStyle>
            <a:lvl1pPr marR="0" lvl="0" algn="l">
              <a:lnSpc>
                <a:spcPct val="114285"/>
              </a:lnSpc>
              <a:spcBef>
                <a:spcPts val="0"/>
              </a:spcBef>
              <a:spcAft>
                <a:spcPts val="0"/>
              </a:spcAft>
              <a:buClr>
                <a:srgbClr val="A7934B"/>
              </a:buClr>
              <a:buSzPts val="3200"/>
              <a:buFont typeface="Roboto"/>
              <a:buNone/>
              <a:defRPr sz="3200" b="1" i="0" u="none" strike="noStrike" cap="none">
                <a:solidFill>
                  <a:srgbClr val="A7934B"/>
                </a:solidFill>
                <a:latin typeface="Roboto"/>
                <a:ea typeface="Roboto"/>
                <a:cs typeface="Roboto"/>
                <a:sym typeface="Roboto"/>
              </a:defRPr>
            </a:lvl1pPr>
            <a:lvl2pPr marR="0" lvl="1" algn="l">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58"/>
        <p:cNvGrpSpPr/>
        <p:nvPr/>
      </p:nvGrpSpPr>
      <p:grpSpPr>
        <a:xfrm>
          <a:off x="0" y="0"/>
          <a:ext cx="0" cy="0"/>
          <a:chOff x="0" y="0"/>
          <a:chExt cx="0" cy="0"/>
        </a:xfrm>
      </p:grpSpPr>
      <p:sp>
        <p:nvSpPr>
          <p:cNvPr id="59" name="Google Shape;59;p14"/>
          <p:cNvSpPr txBox="1">
            <a:spLocks noGrp="1"/>
          </p:cNvSpPr>
          <p:nvPr>
            <p:ph type="body" idx="1"/>
          </p:nvPr>
        </p:nvSpPr>
        <p:spPr>
          <a:xfrm>
            <a:off x="285750" y="911613"/>
            <a:ext cx="8572500" cy="34473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60" name="Google Shape;60;p14"/>
          <p:cNvSpPr txBox="1">
            <a:spLocks noGrp="1"/>
          </p:cNvSpPr>
          <p:nvPr>
            <p:ph type="dt" idx="10"/>
          </p:nvPr>
        </p:nvSpPr>
        <p:spPr>
          <a:xfrm>
            <a:off x="285750" y="4358879"/>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sz="1100"/>
            </a:lvl1pPr>
            <a:lvl2pPr lvl="1" algn="l">
              <a:lnSpc>
                <a:spcPct val="100000"/>
              </a:lnSpc>
              <a:spcBef>
                <a:spcPts val="0"/>
              </a:spcBef>
              <a:spcAft>
                <a:spcPts val="0"/>
              </a:spcAft>
              <a:buSzPts val="1100"/>
              <a:buNone/>
              <a:defRPr sz="1100"/>
            </a:lvl2pPr>
            <a:lvl3pPr lvl="2" algn="l">
              <a:lnSpc>
                <a:spcPct val="100000"/>
              </a:lnSpc>
              <a:spcBef>
                <a:spcPts val="0"/>
              </a:spcBef>
              <a:spcAft>
                <a:spcPts val="0"/>
              </a:spcAft>
              <a:buSzPts val="1100"/>
              <a:buNone/>
              <a:defRPr sz="1100"/>
            </a:lvl3pPr>
            <a:lvl4pPr lvl="3" algn="l">
              <a:lnSpc>
                <a:spcPct val="100000"/>
              </a:lnSpc>
              <a:spcBef>
                <a:spcPts val="0"/>
              </a:spcBef>
              <a:spcAft>
                <a:spcPts val="0"/>
              </a:spcAft>
              <a:buSzPts val="1100"/>
              <a:buNone/>
              <a:defRPr sz="1100"/>
            </a:lvl4pPr>
            <a:lvl5pPr lvl="4" algn="l">
              <a:lnSpc>
                <a:spcPct val="100000"/>
              </a:lnSpc>
              <a:spcBef>
                <a:spcPts val="0"/>
              </a:spcBef>
              <a:spcAft>
                <a:spcPts val="0"/>
              </a:spcAft>
              <a:buSzPts val="1100"/>
              <a:buNone/>
              <a:defRPr sz="1100"/>
            </a:lvl5pPr>
            <a:lvl6pPr lvl="5" algn="l">
              <a:lnSpc>
                <a:spcPct val="100000"/>
              </a:lnSpc>
              <a:spcBef>
                <a:spcPts val="0"/>
              </a:spcBef>
              <a:spcAft>
                <a:spcPts val="0"/>
              </a:spcAft>
              <a:buSzPts val="1100"/>
              <a:buNone/>
              <a:defRPr sz="1100"/>
            </a:lvl6pPr>
            <a:lvl7pPr lvl="6" algn="l">
              <a:lnSpc>
                <a:spcPct val="100000"/>
              </a:lnSpc>
              <a:spcBef>
                <a:spcPts val="0"/>
              </a:spcBef>
              <a:spcAft>
                <a:spcPts val="0"/>
              </a:spcAft>
              <a:buSzPts val="1100"/>
              <a:buNone/>
              <a:defRPr sz="1100"/>
            </a:lvl7pPr>
            <a:lvl8pPr lvl="7" algn="l">
              <a:lnSpc>
                <a:spcPct val="100000"/>
              </a:lnSpc>
              <a:spcBef>
                <a:spcPts val="0"/>
              </a:spcBef>
              <a:spcAft>
                <a:spcPts val="0"/>
              </a:spcAft>
              <a:buSzPts val="1100"/>
              <a:buNone/>
              <a:defRPr sz="1100"/>
            </a:lvl8pPr>
            <a:lvl9pPr lvl="8" algn="l">
              <a:lnSpc>
                <a:spcPct val="100000"/>
              </a:lnSpc>
              <a:spcBef>
                <a:spcPts val="0"/>
              </a:spcBef>
              <a:spcAft>
                <a:spcPts val="0"/>
              </a:spcAft>
              <a:buSzPts val="1100"/>
              <a:buNone/>
              <a:defRPr sz="1100"/>
            </a:lvl9pPr>
          </a:lstStyle>
          <a:p>
            <a:endParaRPr/>
          </a:p>
        </p:txBody>
      </p:sp>
      <p:sp>
        <p:nvSpPr>
          <p:cNvPr id="61" name="Google Shape;61;p14"/>
          <p:cNvSpPr txBox="1">
            <a:spLocks noGrp="1"/>
          </p:cNvSpPr>
          <p:nvPr>
            <p:ph type="ftr" idx="11"/>
          </p:nvPr>
        </p:nvSpPr>
        <p:spPr>
          <a:xfrm>
            <a:off x="2344616" y="4358879"/>
            <a:ext cx="44562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sz="1100"/>
            </a:lvl1pPr>
            <a:lvl2pPr lvl="1" algn="l">
              <a:lnSpc>
                <a:spcPct val="100000"/>
              </a:lnSpc>
              <a:spcBef>
                <a:spcPts val="0"/>
              </a:spcBef>
              <a:spcAft>
                <a:spcPts val="0"/>
              </a:spcAft>
              <a:buSzPts val="1100"/>
              <a:buNone/>
              <a:defRPr sz="1100"/>
            </a:lvl2pPr>
            <a:lvl3pPr lvl="2" algn="l">
              <a:lnSpc>
                <a:spcPct val="100000"/>
              </a:lnSpc>
              <a:spcBef>
                <a:spcPts val="0"/>
              </a:spcBef>
              <a:spcAft>
                <a:spcPts val="0"/>
              </a:spcAft>
              <a:buSzPts val="1100"/>
              <a:buNone/>
              <a:defRPr sz="1100"/>
            </a:lvl3pPr>
            <a:lvl4pPr lvl="3" algn="l">
              <a:lnSpc>
                <a:spcPct val="100000"/>
              </a:lnSpc>
              <a:spcBef>
                <a:spcPts val="0"/>
              </a:spcBef>
              <a:spcAft>
                <a:spcPts val="0"/>
              </a:spcAft>
              <a:buSzPts val="1100"/>
              <a:buNone/>
              <a:defRPr sz="1100"/>
            </a:lvl4pPr>
            <a:lvl5pPr lvl="4" algn="l">
              <a:lnSpc>
                <a:spcPct val="100000"/>
              </a:lnSpc>
              <a:spcBef>
                <a:spcPts val="0"/>
              </a:spcBef>
              <a:spcAft>
                <a:spcPts val="0"/>
              </a:spcAft>
              <a:buSzPts val="1100"/>
              <a:buNone/>
              <a:defRPr sz="1100"/>
            </a:lvl5pPr>
            <a:lvl6pPr lvl="5" algn="l">
              <a:lnSpc>
                <a:spcPct val="100000"/>
              </a:lnSpc>
              <a:spcBef>
                <a:spcPts val="0"/>
              </a:spcBef>
              <a:spcAft>
                <a:spcPts val="0"/>
              </a:spcAft>
              <a:buSzPts val="1100"/>
              <a:buNone/>
              <a:defRPr sz="1100"/>
            </a:lvl6pPr>
            <a:lvl7pPr lvl="6" algn="l">
              <a:lnSpc>
                <a:spcPct val="100000"/>
              </a:lnSpc>
              <a:spcBef>
                <a:spcPts val="0"/>
              </a:spcBef>
              <a:spcAft>
                <a:spcPts val="0"/>
              </a:spcAft>
              <a:buSzPts val="1100"/>
              <a:buNone/>
              <a:defRPr sz="1100"/>
            </a:lvl7pPr>
            <a:lvl8pPr lvl="7" algn="l">
              <a:lnSpc>
                <a:spcPct val="100000"/>
              </a:lnSpc>
              <a:spcBef>
                <a:spcPts val="0"/>
              </a:spcBef>
              <a:spcAft>
                <a:spcPts val="0"/>
              </a:spcAft>
              <a:buSzPts val="1100"/>
              <a:buNone/>
              <a:defRPr sz="1100"/>
            </a:lvl8pPr>
            <a:lvl9pPr lvl="8" algn="l">
              <a:lnSpc>
                <a:spcPct val="100000"/>
              </a:lnSpc>
              <a:spcBef>
                <a:spcPts val="0"/>
              </a:spcBef>
              <a:spcAft>
                <a:spcPts val="0"/>
              </a:spcAft>
              <a:buSzPts val="1100"/>
              <a:buNone/>
              <a:defRPr sz="1100"/>
            </a:lvl9pPr>
          </a:lstStyle>
          <a:p>
            <a:endParaRPr/>
          </a:p>
        </p:txBody>
      </p:sp>
      <p:sp>
        <p:nvSpPr>
          <p:cNvPr id="62" name="Google Shape;62;p14"/>
          <p:cNvSpPr txBox="1">
            <a:spLocks noGrp="1"/>
          </p:cNvSpPr>
          <p:nvPr>
            <p:ph type="sldNum" idx="12"/>
          </p:nvPr>
        </p:nvSpPr>
        <p:spPr>
          <a:xfrm>
            <a:off x="6800850" y="4358879"/>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63" name="Google Shape;63;p14"/>
          <p:cNvSpPr txBox="1">
            <a:spLocks noGrp="1"/>
          </p:cNvSpPr>
          <p:nvPr>
            <p:ph type="title"/>
          </p:nvPr>
        </p:nvSpPr>
        <p:spPr>
          <a:xfrm>
            <a:off x="285750" y="150541"/>
            <a:ext cx="8572500" cy="7611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rgbClr val="A7934B"/>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coral">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391350"/>
            <a:ext cx="8520600" cy="6261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3200"/>
              <a:buFont typeface="Playfair Display"/>
              <a:buNone/>
              <a:defRPr sz="3200" b="1">
                <a:solidFill>
                  <a:schemeClr val="dk1"/>
                </a:solidFill>
                <a:latin typeface="Playfair Display"/>
                <a:ea typeface="Playfair Display"/>
                <a:cs typeface="Playfair Display"/>
                <a:sym typeface="Playfair Display"/>
              </a:defRPr>
            </a:lvl1pPr>
            <a:lvl2pPr lvl="1">
              <a:spcBef>
                <a:spcPts val="0"/>
              </a:spcBef>
              <a:spcAft>
                <a:spcPts val="0"/>
              </a:spcAft>
              <a:buClr>
                <a:schemeClr val="dk1"/>
              </a:buClr>
              <a:buSzPts val="3200"/>
              <a:buFont typeface="Playfair Display"/>
              <a:buNone/>
              <a:defRPr sz="3200" b="1">
                <a:solidFill>
                  <a:schemeClr val="dk1"/>
                </a:solidFill>
                <a:latin typeface="Playfair Display"/>
                <a:ea typeface="Playfair Display"/>
                <a:cs typeface="Playfair Display"/>
                <a:sym typeface="Playfair Display"/>
              </a:defRPr>
            </a:lvl2pPr>
            <a:lvl3pPr lvl="2">
              <a:spcBef>
                <a:spcPts val="0"/>
              </a:spcBef>
              <a:spcAft>
                <a:spcPts val="0"/>
              </a:spcAft>
              <a:buClr>
                <a:schemeClr val="dk1"/>
              </a:buClr>
              <a:buSzPts val="3200"/>
              <a:buFont typeface="Playfair Display"/>
              <a:buNone/>
              <a:defRPr sz="3200" b="1">
                <a:solidFill>
                  <a:schemeClr val="dk1"/>
                </a:solidFill>
                <a:latin typeface="Playfair Display"/>
                <a:ea typeface="Playfair Display"/>
                <a:cs typeface="Playfair Display"/>
                <a:sym typeface="Playfair Display"/>
              </a:defRPr>
            </a:lvl3pPr>
            <a:lvl4pPr lvl="3">
              <a:spcBef>
                <a:spcPts val="0"/>
              </a:spcBef>
              <a:spcAft>
                <a:spcPts val="0"/>
              </a:spcAft>
              <a:buClr>
                <a:schemeClr val="dk1"/>
              </a:buClr>
              <a:buSzPts val="3200"/>
              <a:buFont typeface="Playfair Display"/>
              <a:buNone/>
              <a:defRPr sz="3200" b="1">
                <a:solidFill>
                  <a:schemeClr val="dk1"/>
                </a:solidFill>
                <a:latin typeface="Playfair Display"/>
                <a:ea typeface="Playfair Display"/>
                <a:cs typeface="Playfair Display"/>
                <a:sym typeface="Playfair Display"/>
              </a:defRPr>
            </a:lvl4pPr>
            <a:lvl5pPr lvl="4">
              <a:spcBef>
                <a:spcPts val="0"/>
              </a:spcBef>
              <a:spcAft>
                <a:spcPts val="0"/>
              </a:spcAft>
              <a:buClr>
                <a:schemeClr val="dk1"/>
              </a:buClr>
              <a:buSzPts val="3200"/>
              <a:buFont typeface="Playfair Display"/>
              <a:buNone/>
              <a:defRPr sz="3200" b="1">
                <a:solidFill>
                  <a:schemeClr val="dk1"/>
                </a:solidFill>
                <a:latin typeface="Playfair Display"/>
                <a:ea typeface="Playfair Display"/>
                <a:cs typeface="Playfair Display"/>
                <a:sym typeface="Playfair Display"/>
              </a:defRPr>
            </a:lvl5pPr>
            <a:lvl6pPr lvl="5">
              <a:spcBef>
                <a:spcPts val="0"/>
              </a:spcBef>
              <a:spcAft>
                <a:spcPts val="0"/>
              </a:spcAft>
              <a:buClr>
                <a:schemeClr val="dk1"/>
              </a:buClr>
              <a:buSzPts val="3200"/>
              <a:buFont typeface="Playfair Display"/>
              <a:buNone/>
              <a:defRPr sz="3200" b="1">
                <a:solidFill>
                  <a:schemeClr val="dk1"/>
                </a:solidFill>
                <a:latin typeface="Playfair Display"/>
                <a:ea typeface="Playfair Display"/>
                <a:cs typeface="Playfair Display"/>
                <a:sym typeface="Playfair Display"/>
              </a:defRPr>
            </a:lvl6pPr>
            <a:lvl7pPr lvl="6">
              <a:spcBef>
                <a:spcPts val="0"/>
              </a:spcBef>
              <a:spcAft>
                <a:spcPts val="0"/>
              </a:spcAft>
              <a:buClr>
                <a:schemeClr val="dk1"/>
              </a:buClr>
              <a:buSzPts val="3200"/>
              <a:buFont typeface="Playfair Display"/>
              <a:buNone/>
              <a:defRPr sz="3200" b="1">
                <a:solidFill>
                  <a:schemeClr val="dk1"/>
                </a:solidFill>
                <a:latin typeface="Playfair Display"/>
                <a:ea typeface="Playfair Display"/>
                <a:cs typeface="Playfair Display"/>
                <a:sym typeface="Playfair Display"/>
              </a:defRPr>
            </a:lvl7pPr>
            <a:lvl8pPr lvl="7">
              <a:spcBef>
                <a:spcPts val="0"/>
              </a:spcBef>
              <a:spcAft>
                <a:spcPts val="0"/>
              </a:spcAft>
              <a:buClr>
                <a:schemeClr val="dk1"/>
              </a:buClr>
              <a:buSzPts val="3200"/>
              <a:buFont typeface="Playfair Display"/>
              <a:buNone/>
              <a:defRPr sz="3200" b="1">
                <a:solidFill>
                  <a:schemeClr val="dk1"/>
                </a:solidFill>
                <a:latin typeface="Playfair Display"/>
                <a:ea typeface="Playfair Display"/>
                <a:cs typeface="Playfair Display"/>
                <a:sym typeface="Playfair Display"/>
              </a:defRPr>
            </a:lvl8pPr>
            <a:lvl9pPr lvl="8">
              <a:spcBef>
                <a:spcPts val="0"/>
              </a:spcBef>
              <a:spcAft>
                <a:spcPts val="0"/>
              </a:spcAft>
              <a:buClr>
                <a:schemeClr val="dk1"/>
              </a:buClr>
              <a:buSzPts val="3200"/>
              <a:buFont typeface="Playfair Display"/>
              <a:buNone/>
              <a:defRPr sz="3200" b="1">
                <a:solidFill>
                  <a:schemeClr val="dk1"/>
                </a:solidFill>
                <a:latin typeface="Playfair Display"/>
                <a:ea typeface="Playfair Display"/>
                <a:cs typeface="Playfair Display"/>
                <a:sym typeface="Playfair Displ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Lato"/>
              <a:buChar char="●"/>
              <a:defRPr sz="1800">
                <a:solidFill>
                  <a:schemeClr val="dk2"/>
                </a:solidFill>
                <a:latin typeface="Lato"/>
                <a:ea typeface="Lato"/>
                <a:cs typeface="Lato"/>
                <a:sym typeface="Lato"/>
              </a:defRPr>
            </a:lvl1pPr>
            <a:lvl2pPr marL="914400" lvl="1" indent="-3175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2pPr>
            <a:lvl3pPr marL="1371600" lvl="2" indent="-3175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3pPr>
            <a:lvl4pPr marL="1828800" lvl="3" indent="-3175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4pPr>
            <a:lvl5pPr marL="2286000" lvl="4" indent="-3175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5pPr>
            <a:lvl6pPr marL="2743200" lvl="5" indent="-3175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6pPr>
            <a:lvl7pPr marL="3200400" lvl="6" indent="-3175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7pPr>
            <a:lvl8pPr marL="3657600" lvl="7" indent="-3175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8pPr>
            <a:lvl9pPr marL="4114800" lvl="8" indent="-3175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490250" y="4681009"/>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Lato"/>
                <a:ea typeface="Lato"/>
                <a:cs typeface="Lato"/>
                <a:sym typeface="Lato"/>
              </a:defRPr>
            </a:lvl1pPr>
            <a:lvl2pPr lvl="1" algn="r">
              <a:buNone/>
              <a:defRPr sz="1000">
                <a:solidFill>
                  <a:schemeClr val="dk2"/>
                </a:solidFill>
                <a:latin typeface="Lato"/>
                <a:ea typeface="Lato"/>
                <a:cs typeface="Lato"/>
                <a:sym typeface="Lato"/>
              </a:defRPr>
            </a:lvl2pPr>
            <a:lvl3pPr lvl="2" algn="r">
              <a:buNone/>
              <a:defRPr sz="1000">
                <a:solidFill>
                  <a:schemeClr val="dk2"/>
                </a:solidFill>
                <a:latin typeface="Lato"/>
                <a:ea typeface="Lato"/>
                <a:cs typeface="Lato"/>
                <a:sym typeface="Lato"/>
              </a:defRPr>
            </a:lvl3pPr>
            <a:lvl4pPr lvl="3" algn="r">
              <a:buNone/>
              <a:defRPr sz="1000">
                <a:solidFill>
                  <a:schemeClr val="dk2"/>
                </a:solidFill>
                <a:latin typeface="Lato"/>
                <a:ea typeface="Lato"/>
                <a:cs typeface="Lato"/>
                <a:sym typeface="Lato"/>
              </a:defRPr>
            </a:lvl4pPr>
            <a:lvl5pPr lvl="4" algn="r">
              <a:buNone/>
              <a:defRPr sz="1000">
                <a:solidFill>
                  <a:schemeClr val="dk2"/>
                </a:solidFill>
                <a:latin typeface="Lato"/>
                <a:ea typeface="Lato"/>
                <a:cs typeface="Lato"/>
                <a:sym typeface="Lato"/>
              </a:defRPr>
            </a:lvl5pPr>
            <a:lvl6pPr lvl="5" algn="r">
              <a:buNone/>
              <a:defRPr sz="1000">
                <a:solidFill>
                  <a:schemeClr val="dk2"/>
                </a:solidFill>
                <a:latin typeface="Lato"/>
                <a:ea typeface="Lato"/>
                <a:cs typeface="Lato"/>
                <a:sym typeface="Lato"/>
              </a:defRPr>
            </a:lvl6pPr>
            <a:lvl7pPr lvl="6" algn="r">
              <a:buNone/>
              <a:defRPr sz="1000">
                <a:solidFill>
                  <a:schemeClr val="dk2"/>
                </a:solidFill>
                <a:latin typeface="Lato"/>
                <a:ea typeface="Lato"/>
                <a:cs typeface="Lato"/>
                <a:sym typeface="Lato"/>
              </a:defRPr>
            </a:lvl7pPr>
            <a:lvl8pPr lvl="7" algn="r">
              <a:buNone/>
              <a:defRPr sz="1000">
                <a:solidFill>
                  <a:schemeClr val="dk2"/>
                </a:solidFill>
                <a:latin typeface="Lato"/>
                <a:ea typeface="Lato"/>
                <a:cs typeface="Lato"/>
                <a:sym typeface="Lato"/>
              </a:defRPr>
            </a:lvl8pPr>
            <a:lvl9pPr lvl="8" algn="r">
              <a:buNone/>
              <a:defRPr sz="1000">
                <a:solidFill>
                  <a:schemeClr val="dk2"/>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3.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1.xml"/><Relationship Id="rId4" Type="http://schemas.openxmlformats.org/officeDocument/2006/relationships/hyperlink" Target="https://yasoob.me/2017/11/11/introduction-to-machine-learning-and-its-usage-in-remote-sensing/"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4.xml"/><Relationship Id="rId1" Type="http://schemas.openxmlformats.org/officeDocument/2006/relationships/slideLayout" Target="../slideLayouts/slideLayout11.xml"/><Relationship Id="rId4" Type="http://schemas.openxmlformats.org/officeDocument/2006/relationships/hyperlink" Target="https://devopedia.org/machine-learning-model" TargetMode="Externa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7"/>
        <p:cNvGrpSpPr/>
        <p:nvPr/>
      </p:nvGrpSpPr>
      <p:grpSpPr>
        <a:xfrm>
          <a:off x="0" y="0"/>
          <a:ext cx="0" cy="0"/>
          <a:chOff x="0" y="0"/>
          <a:chExt cx="0" cy="0"/>
        </a:xfrm>
      </p:grpSpPr>
      <p:sp>
        <p:nvSpPr>
          <p:cNvPr id="68" name="Google Shape;68;p15"/>
          <p:cNvSpPr txBox="1">
            <a:spLocks noGrp="1"/>
          </p:cNvSpPr>
          <p:nvPr>
            <p:ph type="subTitle" idx="1"/>
          </p:nvPr>
        </p:nvSpPr>
        <p:spPr>
          <a:xfrm>
            <a:off x="3018346" y="2844801"/>
            <a:ext cx="5097000" cy="1263600"/>
          </a:xfrm>
          <a:prstGeom prst="rect">
            <a:avLst/>
          </a:prstGeom>
          <a:noFill/>
          <a:ln>
            <a:noFill/>
          </a:ln>
        </p:spPr>
        <p:txBody>
          <a:bodyPr spcFirstLastPara="1" wrap="square" lIns="68575" tIns="34275" rIns="68575" bIns="34275" anchor="t" anchorCtr="0">
            <a:noAutofit/>
          </a:bodyPr>
          <a:lstStyle/>
          <a:p>
            <a:pPr marL="0" lvl="0" indent="0" algn="l" rtl="0">
              <a:lnSpc>
                <a:spcPct val="120000"/>
              </a:lnSpc>
              <a:spcBef>
                <a:spcPts val="0"/>
              </a:spcBef>
              <a:spcAft>
                <a:spcPts val="0"/>
              </a:spcAft>
              <a:buClr>
                <a:srgbClr val="7F7F7F"/>
              </a:buClr>
              <a:buSzPts val="2300"/>
              <a:buNone/>
            </a:pPr>
            <a:r>
              <a:rPr lang="en"/>
              <a:t>Discussion Forum </a:t>
            </a:r>
            <a:r>
              <a:rPr lang="en" err="1"/>
              <a:t>Subteam</a:t>
            </a:r>
            <a:endParaRPr err="1"/>
          </a:p>
          <a:p>
            <a:pPr marL="0" lvl="0" indent="0" algn="l" rtl="0">
              <a:lnSpc>
                <a:spcPct val="120000"/>
              </a:lnSpc>
              <a:spcBef>
                <a:spcPts val="500"/>
              </a:spcBef>
              <a:spcAft>
                <a:spcPts val="0"/>
              </a:spcAft>
              <a:buClr>
                <a:srgbClr val="7F7F7F"/>
              </a:buClr>
              <a:buSzPts val="2300"/>
              <a:buNone/>
            </a:pPr>
            <a:r>
              <a:rPr lang="en"/>
              <a:t>Presentation 1 - 09/24/2025</a:t>
            </a:r>
            <a:endParaRPr/>
          </a:p>
        </p:txBody>
      </p:sp>
      <p:sp>
        <p:nvSpPr>
          <p:cNvPr id="69" name="Google Shape;69;p15"/>
          <p:cNvSpPr txBox="1">
            <a:spLocks noGrp="1"/>
          </p:cNvSpPr>
          <p:nvPr>
            <p:ph type="ctrTitle"/>
          </p:nvPr>
        </p:nvSpPr>
        <p:spPr>
          <a:xfrm>
            <a:off x="3018346" y="250225"/>
            <a:ext cx="5097000" cy="2594400"/>
          </a:xfrm>
          <a:prstGeom prst="rect">
            <a:avLst/>
          </a:prstGeom>
          <a:noFill/>
          <a:ln>
            <a:noFill/>
          </a:ln>
        </p:spPr>
        <p:txBody>
          <a:bodyPr spcFirstLastPara="1" wrap="square" lIns="68575" tIns="34275" rIns="68575" bIns="34275" anchor="b" anchorCtr="0">
            <a:normAutofit/>
          </a:bodyPr>
          <a:lstStyle/>
          <a:p>
            <a:pPr marL="0" lvl="0" indent="0" algn="l" rtl="0">
              <a:lnSpc>
                <a:spcPct val="114285"/>
              </a:lnSpc>
              <a:spcBef>
                <a:spcPts val="0"/>
              </a:spcBef>
              <a:spcAft>
                <a:spcPts val="0"/>
              </a:spcAft>
              <a:buClr>
                <a:srgbClr val="A7934B"/>
              </a:buClr>
              <a:buSzPts val="3200"/>
              <a:buFont typeface="Roboto"/>
              <a:buNone/>
            </a:pPr>
            <a:r>
              <a:rPr lang="en"/>
              <a:t>Data Driven Education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6"/>
          <p:cNvSpPr txBox="1">
            <a:spLocks noGrp="1"/>
          </p:cNvSpPr>
          <p:nvPr>
            <p:ph type="title"/>
          </p:nvPr>
        </p:nvSpPr>
        <p:spPr>
          <a:xfrm>
            <a:off x="285750" y="150541"/>
            <a:ext cx="8572500" cy="7611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Meet the Team</a:t>
            </a:r>
            <a:endParaRPr/>
          </a:p>
        </p:txBody>
      </p:sp>
      <p:pic>
        <p:nvPicPr>
          <p:cNvPr id="77" name="Google Shape;77;p16"/>
          <p:cNvPicPr preferRelativeResize="0"/>
          <p:nvPr/>
        </p:nvPicPr>
        <p:blipFill>
          <a:blip r:embed="rId3">
            <a:alphaModFix/>
          </a:blip>
          <a:stretch>
            <a:fillRect/>
          </a:stretch>
        </p:blipFill>
        <p:spPr>
          <a:xfrm>
            <a:off x="5146979" y="2997114"/>
            <a:ext cx="1127401" cy="1127401"/>
          </a:xfrm>
          <a:prstGeom prst="rect">
            <a:avLst/>
          </a:prstGeom>
          <a:noFill/>
          <a:ln>
            <a:noFill/>
          </a:ln>
        </p:spPr>
      </p:pic>
      <p:sp>
        <p:nvSpPr>
          <p:cNvPr id="78" name="Google Shape;78;p16"/>
          <p:cNvSpPr txBox="1"/>
          <p:nvPr/>
        </p:nvSpPr>
        <p:spPr>
          <a:xfrm>
            <a:off x="4648066" y="4122914"/>
            <a:ext cx="2250600" cy="304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latin typeface="Roboto"/>
                <a:ea typeface="Roboto"/>
                <a:cs typeface="Roboto"/>
                <a:sym typeface="Roboto"/>
              </a:rPr>
              <a:t>Ethan Lu</a:t>
            </a:r>
            <a:endParaRPr sz="1200">
              <a:solidFill>
                <a:srgbClr val="000000"/>
              </a:solidFill>
              <a:latin typeface="Roboto"/>
              <a:ea typeface="Roboto"/>
              <a:cs typeface="Roboto"/>
              <a:sym typeface="Roboto"/>
            </a:endParaRPr>
          </a:p>
          <a:p>
            <a:pPr marL="0" lvl="0" indent="0" algn="ctr" rtl="0">
              <a:spcBef>
                <a:spcPts val="0"/>
              </a:spcBef>
              <a:spcAft>
                <a:spcPts val="0"/>
              </a:spcAft>
              <a:buNone/>
            </a:pPr>
            <a:r>
              <a:rPr lang="en" sz="1200" err="1">
                <a:latin typeface="Roboto"/>
                <a:ea typeface="Roboto"/>
                <a:cs typeface="Roboto"/>
                <a:sym typeface="Roboto"/>
              </a:rPr>
              <a:t>ML+Data</a:t>
            </a:r>
            <a:r>
              <a:rPr lang="en" sz="1200">
                <a:latin typeface="Roboto"/>
                <a:ea typeface="Roboto"/>
                <a:cs typeface="Roboto"/>
                <a:sym typeface="Roboto"/>
              </a:rPr>
              <a:t> Engineer</a:t>
            </a:r>
            <a:endParaRPr sz="1200">
              <a:solidFill>
                <a:srgbClr val="000000"/>
              </a:solidFill>
              <a:latin typeface="Roboto"/>
              <a:ea typeface="Roboto"/>
              <a:cs typeface="Roboto"/>
              <a:sym typeface="Roboto"/>
            </a:endParaRPr>
          </a:p>
        </p:txBody>
      </p:sp>
      <p:sp>
        <p:nvSpPr>
          <p:cNvPr id="82" name="Google Shape;82;p16"/>
          <p:cNvSpPr txBox="1"/>
          <p:nvPr/>
        </p:nvSpPr>
        <p:spPr>
          <a:xfrm>
            <a:off x="2165554" y="4141814"/>
            <a:ext cx="2735100" cy="304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latin typeface="Roboto"/>
                <a:ea typeface="Roboto"/>
                <a:cs typeface="Roboto"/>
                <a:sym typeface="Roboto"/>
              </a:rPr>
              <a:t>Saloni Agshiker</a:t>
            </a:r>
            <a:endParaRPr sz="1200">
              <a:solidFill>
                <a:srgbClr val="000000"/>
              </a:solidFill>
              <a:latin typeface="Roboto"/>
              <a:ea typeface="Roboto"/>
              <a:cs typeface="Roboto"/>
              <a:sym typeface="Roboto"/>
            </a:endParaRPr>
          </a:p>
          <a:p>
            <a:pPr marL="0" lvl="0" indent="0" algn="ctr" rtl="0">
              <a:spcBef>
                <a:spcPts val="0"/>
              </a:spcBef>
              <a:spcAft>
                <a:spcPts val="0"/>
              </a:spcAft>
              <a:buNone/>
            </a:pPr>
            <a:r>
              <a:rPr lang="en" sz="1200">
                <a:latin typeface="Roboto"/>
                <a:ea typeface="Roboto"/>
                <a:cs typeface="Roboto"/>
                <a:sym typeface="Roboto"/>
              </a:rPr>
              <a:t>Data Scientist</a:t>
            </a:r>
            <a:endParaRPr sz="1200">
              <a:solidFill>
                <a:srgbClr val="000000"/>
              </a:solidFill>
              <a:latin typeface="Roboto"/>
              <a:ea typeface="Roboto"/>
              <a:cs typeface="Roboto"/>
              <a:sym typeface="Roboto"/>
            </a:endParaRPr>
          </a:p>
        </p:txBody>
      </p:sp>
      <p:pic>
        <p:nvPicPr>
          <p:cNvPr id="2" name="Picture 1" descr="A person smiling at the camera">
            <a:extLst>
              <a:ext uri="{FF2B5EF4-FFF2-40B4-BE49-F238E27FC236}">
                <a16:creationId xmlns:a16="http://schemas.microsoft.com/office/drawing/2014/main" id="{3C9A93CB-F614-BFF2-8718-C8CFF092ECB8}"/>
              </a:ext>
            </a:extLst>
          </p:cNvPr>
          <p:cNvPicPr>
            <a:picLocks noChangeAspect="1"/>
          </p:cNvPicPr>
          <p:nvPr/>
        </p:nvPicPr>
        <p:blipFill>
          <a:blip r:embed="rId4"/>
          <a:stretch>
            <a:fillRect/>
          </a:stretch>
        </p:blipFill>
        <p:spPr>
          <a:xfrm>
            <a:off x="2916680" y="2936739"/>
            <a:ext cx="1233566" cy="1242935"/>
          </a:xfrm>
          <a:prstGeom prst="ellipse">
            <a:avLst/>
          </a:prstGeom>
        </p:spPr>
      </p:pic>
      <p:pic>
        <p:nvPicPr>
          <p:cNvPr id="79" name="Google Shape;79;p16"/>
          <p:cNvPicPr preferRelativeResize="0"/>
          <p:nvPr/>
        </p:nvPicPr>
        <p:blipFill rotWithShape="1">
          <a:blip r:embed="rId5">
            <a:alphaModFix/>
          </a:blip>
          <a:srcRect l="592" r="592"/>
          <a:stretch/>
        </p:blipFill>
        <p:spPr>
          <a:xfrm>
            <a:off x="1717495" y="1050910"/>
            <a:ext cx="1127400" cy="1140900"/>
          </a:xfrm>
          <a:prstGeom prst="ellipse">
            <a:avLst/>
          </a:prstGeom>
          <a:noFill/>
          <a:ln>
            <a:noFill/>
          </a:ln>
        </p:spPr>
      </p:pic>
      <p:sp>
        <p:nvSpPr>
          <p:cNvPr id="80" name="Google Shape;80;p16"/>
          <p:cNvSpPr txBox="1"/>
          <p:nvPr/>
        </p:nvSpPr>
        <p:spPr>
          <a:xfrm>
            <a:off x="913657" y="2196184"/>
            <a:ext cx="2735100" cy="304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latin typeface="Roboto"/>
                <a:ea typeface="Roboto"/>
                <a:cs typeface="Roboto"/>
                <a:sym typeface="Roboto"/>
              </a:rPr>
              <a:t>Zilu Zhu</a:t>
            </a:r>
            <a:endParaRPr sz="1200">
              <a:solidFill>
                <a:srgbClr val="000000"/>
              </a:solidFill>
              <a:latin typeface="Roboto"/>
              <a:ea typeface="Roboto"/>
              <a:cs typeface="Roboto"/>
              <a:sym typeface="Roboto"/>
            </a:endParaRPr>
          </a:p>
          <a:p>
            <a:pPr marL="0" lvl="0" indent="0" algn="ctr" rtl="0">
              <a:spcBef>
                <a:spcPts val="0"/>
              </a:spcBef>
              <a:spcAft>
                <a:spcPts val="0"/>
              </a:spcAft>
              <a:buNone/>
            </a:pPr>
            <a:r>
              <a:rPr lang="en" sz="1200">
                <a:latin typeface="Roboto"/>
                <a:ea typeface="Roboto"/>
                <a:cs typeface="Roboto"/>
                <a:sym typeface="Roboto"/>
              </a:rPr>
              <a:t>Project Manager</a:t>
            </a:r>
            <a:endParaRPr sz="1200">
              <a:solidFill>
                <a:srgbClr val="000000"/>
              </a:solidFill>
              <a:latin typeface="Roboto"/>
              <a:ea typeface="Roboto"/>
              <a:cs typeface="Roboto"/>
              <a:sym typeface="Roboto"/>
            </a:endParaRPr>
          </a:p>
        </p:txBody>
      </p:sp>
      <p:pic>
        <p:nvPicPr>
          <p:cNvPr id="3" name="Picture 2" descr="A person smiling at camera&#10;&#10;AI-generated content may be incorrect.">
            <a:extLst>
              <a:ext uri="{FF2B5EF4-FFF2-40B4-BE49-F238E27FC236}">
                <a16:creationId xmlns:a16="http://schemas.microsoft.com/office/drawing/2014/main" id="{5A259976-B241-22ED-6938-DEA0A9D1ABE1}"/>
              </a:ext>
            </a:extLst>
          </p:cNvPr>
          <p:cNvPicPr>
            <a:picLocks noChangeAspect="1"/>
          </p:cNvPicPr>
          <p:nvPr/>
        </p:nvPicPr>
        <p:blipFill>
          <a:blip r:embed="rId6"/>
          <a:stretch>
            <a:fillRect/>
          </a:stretch>
        </p:blipFill>
        <p:spPr>
          <a:xfrm>
            <a:off x="3901110" y="988075"/>
            <a:ext cx="1270875" cy="1266570"/>
          </a:xfrm>
          <a:prstGeom prst="ellipse">
            <a:avLst/>
          </a:prstGeom>
        </p:spPr>
      </p:pic>
      <p:sp>
        <p:nvSpPr>
          <p:cNvPr id="4" name="Google Shape;82;p16">
            <a:extLst>
              <a:ext uri="{FF2B5EF4-FFF2-40B4-BE49-F238E27FC236}">
                <a16:creationId xmlns:a16="http://schemas.microsoft.com/office/drawing/2014/main" id="{F7751132-B2FE-4069-6AB8-546855D9904D}"/>
              </a:ext>
            </a:extLst>
          </p:cNvPr>
          <p:cNvSpPr txBox="1"/>
          <p:nvPr/>
        </p:nvSpPr>
        <p:spPr>
          <a:xfrm>
            <a:off x="3164560" y="2188804"/>
            <a:ext cx="2735100" cy="304200"/>
          </a:xfrm>
          <a:prstGeom prst="rect">
            <a:avLst/>
          </a:prstGeom>
          <a:noFill/>
          <a:ln>
            <a:noFill/>
          </a:ln>
        </p:spPr>
        <p:txBody>
          <a:bodyPr spcFirstLastPara="1" wrap="square" lIns="91425" tIns="91425" rIns="91425" bIns="91425" anchor="t" anchorCtr="0">
            <a:noAutofit/>
          </a:bodyPr>
          <a:lstStyle/>
          <a:p>
            <a:pPr algn="ctr"/>
            <a:r>
              <a:rPr lang="en" sz="1200">
                <a:latin typeface="Roboto"/>
                <a:ea typeface="Roboto"/>
                <a:cs typeface="Roboto"/>
              </a:rPr>
              <a:t>Clara Murray</a:t>
            </a:r>
            <a:endParaRPr lang="en" sz="1200">
              <a:solidFill>
                <a:srgbClr val="000000"/>
              </a:solidFill>
              <a:latin typeface="Roboto"/>
              <a:ea typeface="Roboto"/>
              <a:cs typeface="Roboto"/>
            </a:endParaRPr>
          </a:p>
          <a:p>
            <a:pPr algn="ctr"/>
            <a:r>
              <a:rPr lang="en" sz="1200">
                <a:latin typeface="Roboto"/>
                <a:ea typeface="Roboto"/>
                <a:cs typeface="Roboto"/>
                <a:sym typeface="Roboto"/>
              </a:rPr>
              <a:t>Literature Reviewer</a:t>
            </a:r>
            <a:endParaRPr lang="en" sz="1200">
              <a:solidFill>
                <a:srgbClr val="000000"/>
              </a:solidFill>
              <a:latin typeface="Roboto"/>
              <a:ea typeface="Roboto"/>
              <a:cs typeface="Roboto"/>
            </a:endParaRPr>
          </a:p>
        </p:txBody>
      </p:sp>
      <p:pic>
        <p:nvPicPr>
          <p:cNvPr id="6" name="Picture 5">
            <a:extLst>
              <a:ext uri="{FF2B5EF4-FFF2-40B4-BE49-F238E27FC236}">
                <a16:creationId xmlns:a16="http://schemas.microsoft.com/office/drawing/2014/main" id="{14698DDF-5825-1500-A0F6-E3160D523C4E}"/>
              </a:ext>
            </a:extLst>
          </p:cNvPr>
          <p:cNvPicPr>
            <a:picLocks noChangeAspect="1"/>
          </p:cNvPicPr>
          <p:nvPr/>
        </p:nvPicPr>
        <p:blipFill>
          <a:blip r:embed="rId7"/>
          <a:srcRect/>
          <a:stretch>
            <a:fillRect/>
          </a:stretch>
        </p:blipFill>
        <p:spPr>
          <a:xfrm>
            <a:off x="6228200" y="990431"/>
            <a:ext cx="1269186" cy="1261858"/>
          </a:xfrm>
          <a:prstGeom prst="ellipse">
            <a:avLst/>
          </a:prstGeom>
        </p:spPr>
      </p:pic>
      <p:sp>
        <p:nvSpPr>
          <p:cNvPr id="9" name="Google Shape;82;p16">
            <a:extLst>
              <a:ext uri="{FF2B5EF4-FFF2-40B4-BE49-F238E27FC236}">
                <a16:creationId xmlns:a16="http://schemas.microsoft.com/office/drawing/2014/main" id="{5DCAB2C4-24D3-2D16-A270-DA57B4046FC2}"/>
              </a:ext>
            </a:extLst>
          </p:cNvPr>
          <p:cNvSpPr txBox="1"/>
          <p:nvPr/>
        </p:nvSpPr>
        <p:spPr>
          <a:xfrm>
            <a:off x="5495243" y="2188804"/>
            <a:ext cx="2735100" cy="304200"/>
          </a:xfrm>
          <a:prstGeom prst="rect">
            <a:avLst/>
          </a:prstGeom>
          <a:noFill/>
          <a:ln>
            <a:noFill/>
          </a:ln>
        </p:spPr>
        <p:txBody>
          <a:bodyPr spcFirstLastPara="1" wrap="square" lIns="91425" tIns="91425" rIns="91425" bIns="91425" anchor="t" anchorCtr="0">
            <a:noAutofit/>
          </a:bodyPr>
          <a:lstStyle/>
          <a:p>
            <a:pPr algn="ctr"/>
            <a:r>
              <a:rPr lang="en" sz="1200">
                <a:latin typeface="Roboto"/>
                <a:ea typeface="Roboto"/>
                <a:cs typeface="Roboto"/>
              </a:rPr>
              <a:t>Harikesh Tambareni</a:t>
            </a:r>
          </a:p>
          <a:p>
            <a:pPr algn="ctr"/>
            <a:r>
              <a:rPr lang="en" sz="1200">
                <a:latin typeface="Roboto"/>
                <a:ea typeface="Roboto"/>
                <a:cs typeface="Roboto"/>
              </a:rPr>
              <a:t>ML Engineer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7"/>
          <p:cNvSpPr txBox="1">
            <a:spLocks noGrp="1"/>
          </p:cNvSpPr>
          <p:nvPr>
            <p:ph type="body" idx="1"/>
          </p:nvPr>
        </p:nvSpPr>
        <p:spPr>
          <a:xfrm>
            <a:off x="332438" y="747731"/>
            <a:ext cx="8572500" cy="4112700"/>
          </a:xfrm>
          <a:prstGeom prst="rect">
            <a:avLst/>
          </a:prstGeom>
          <a:noFill/>
          <a:ln>
            <a:noFill/>
          </a:ln>
        </p:spPr>
        <p:txBody>
          <a:bodyPr spcFirstLastPara="1" wrap="square" lIns="68575" tIns="34275" rIns="68575" bIns="34275" anchor="t" anchorCtr="0">
            <a:noAutofit/>
          </a:bodyPr>
          <a:lstStyle/>
          <a:p>
            <a:pPr algn="just">
              <a:lnSpc>
                <a:spcPct val="200000"/>
              </a:lnSpc>
            </a:pPr>
            <a:r>
              <a:rPr lang="en"/>
              <a:t>Online Discussion platform is crucial in modern education and digital studies. </a:t>
            </a:r>
            <a:endParaRPr lang="en-US"/>
          </a:p>
          <a:p>
            <a:pPr algn="just">
              <a:lnSpc>
                <a:spcPct val="200000"/>
              </a:lnSpc>
              <a:spcBef>
                <a:spcPts val="0"/>
              </a:spcBef>
            </a:pPr>
            <a:r>
              <a:rPr lang="en" b="1"/>
              <a:t>Ed Discussion and EdX</a:t>
            </a:r>
            <a:r>
              <a:rPr lang="en"/>
              <a:t>: widely used online discussion forum</a:t>
            </a:r>
            <a:endParaRPr/>
          </a:p>
          <a:p>
            <a:pPr lvl="1" algn="just">
              <a:lnSpc>
                <a:spcPct val="200000"/>
              </a:lnSpc>
              <a:spcBef>
                <a:spcPts val="0"/>
              </a:spcBef>
            </a:pPr>
            <a:r>
              <a:rPr lang="en"/>
              <a:t>EdX offers </a:t>
            </a:r>
            <a:r>
              <a:rPr lang="en">
                <a:solidFill>
                  <a:srgbClr val="5E696C"/>
                </a:solidFill>
              </a:rPr>
              <a:t>Massive Open Online Courses (MOOCs)</a:t>
            </a:r>
          </a:p>
          <a:p>
            <a:pPr marL="914400" lvl="1" indent="-317500" algn="just">
              <a:lnSpc>
                <a:spcPct val="200000"/>
              </a:lnSpc>
              <a:spcBef>
                <a:spcPts val="0"/>
              </a:spcBef>
              <a:spcAft>
                <a:spcPts val="0"/>
              </a:spcAft>
              <a:buSzPts val="1400"/>
              <a:buChar char="•"/>
            </a:pPr>
            <a:r>
              <a:rPr lang="en"/>
              <a:t>enables students and instructors to interact </a:t>
            </a:r>
            <a:endParaRPr/>
          </a:p>
          <a:p>
            <a:pPr marL="914400" lvl="1" indent="-317500" algn="just" rtl="0">
              <a:lnSpc>
                <a:spcPct val="200000"/>
              </a:lnSpc>
              <a:spcBef>
                <a:spcPts val="0"/>
              </a:spcBef>
              <a:spcAft>
                <a:spcPts val="0"/>
              </a:spcAft>
              <a:buSzPts val="1400"/>
              <a:buChar char="•"/>
            </a:pPr>
            <a:r>
              <a:rPr lang="en"/>
              <a:t>discuss course materials asynchronously</a:t>
            </a:r>
            <a:endParaRPr/>
          </a:p>
          <a:p>
            <a:pPr algn="just">
              <a:lnSpc>
                <a:spcPct val="200000"/>
              </a:lnSpc>
              <a:spcBef>
                <a:spcPts val="0"/>
              </a:spcBef>
            </a:pPr>
            <a:r>
              <a:rPr lang="en"/>
              <a:t>What are some unique characteristics of Online Discussion Forums?</a:t>
            </a:r>
            <a:endParaRPr lang="en-US"/>
          </a:p>
          <a:p>
            <a:pPr algn="just">
              <a:lnSpc>
                <a:spcPct val="200000"/>
              </a:lnSpc>
              <a:spcBef>
                <a:spcPts val="0"/>
              </a:spcBef>
            </a:pPr>
            <a:r>
              <a:rPr lang="en"/>
              <a:t>What to do to utilize Online Discussion platforms better?</a:t>
            </a:r>
            <a:endParaRPr lang="en-US"/>
          </a:p>
          <a:p>
            <a:pPr marL="457200" lvl="0" indent="-317500" algn="just" rtl="0">
              <a:lnSpc>
                <a:spcPct val="200000"/>
              </a:lnSpc>
              <a:spcBef>
                <a:spcPts val="0"/>
              </a:spcBef>
              <a:spcAft>
                <a:spcPts val="0"/>
              </a:spcAft>
              <a:buSzPts val="1400"/>
              <a:buChar char="•"/>
            </a:pPr>
            <a:r>
              <a:rPr lang="en"/>
              <a:t>Improve the whole education experience </a:t>
            </a:r>
            <a:endParaRPr/>
          </a:p>
        </p:txBody>
      </p:sp>
      <p:sp>
        <p:nvSpPr>
          <p:cNvPr id="90" name="Google Shape;90;p17"/>
          <p:cNvSpPr txBox="1">
            <a:spLocks noGrp="1"/>
          </p:cNvSpPr>
          <p:nvPr>
            <p:ph type="title"/>
          </p:nvPr>
        </p:nvSpPr>
        <p:spPr>
          <a:xfrm>
            <a:off x="229106" y="159185"/>
            <a:ext cx="8572500" cy="7611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SzPts val="1400"/>
              <a:buNone/>
            </a:pPr>
            <a:r>
              <a:rPr lang="en"/>
              <a:t>Introduction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8"/>
          <p:cNvSpPr txBox="1">
            <a:spLocks noGrp="1"/>
          </p:cNvSpPr>
          <p:nvPr>
            <p:ph type="body" idx="1"/>
          </p:nvPr>
        </p:nvSpPr>
        <p:spPr>
          <a:xfrm>
            <a:off x="285738" y="920281"/>
            <a:ext cx="8572500" cy="4112700"/>
          </a:xfrm>
          <a:prstGeom prst="rect">
            <a:avLst/>
          </a:prstGeom>
          <a:noFill/>
          <a:ln>
            <a:noFill/>
          </a:ln>
        </p:spPr>
        <p:txBody>
          <a:bodyPr spcFirstLastPara="1" wrap="square" lIns="68575" tIns="34275" rIns="68575" bIns="34275" anchor="t" anchorCtr="0">
            <a:noAutofit/>
          </a:bodyPr>
          <a:lstStyle/>
          <a:p>
            <a:r>
              <a:rPr lang="en"/>
              <a:t>How to combine sentiment analysis and cognitive presences to provide insights into student engagement and attitudes toward the course?</a:t>
            </a:r>
            <a:endParaRPr lang="en-US"/>
          </a:p>
          <a:p>
            <a:endParaRPr lang="en"/>
          </a:p>
          <a:p>
            <a:r>
              <a:rPr lang="en-US"/>
              <a:t>How to use machine learning techniques to predict students' success in the course based on their discussion engagements?</a:t>
            </a:r>
          </a:p>
          <a:p>
            <a:endParaRPr lang="en-US"/>
          </a:p>
          <a:p>
            <a:r>
              <a:rPr lang="en"/>
              <a:t>What is the best way to present discussion analytics to instructors in an actionable and user-friendly dashboard?</a:t>
            </a:r>
            <a:endParaRPr lang="en-US"/>
          </a:p>
        </p:txBody>
      </p:sp>
      <p:sp>
        <p:nvSpPr>
          <p:cNvPr id="96" name="Google Shape;96;p18"/>
          <p:cNvSpPr txBox="1">
            <a:spLocks noGrp="1"/>
          </p:cNvSpPr>
          <p:nvPr>
            <p:ph type="title"/>
          </p:nvPr>
        </p:nvSpPr>
        <p:spPr>
          <a:xfrm>
            <a:off x="229106" y="159185"/>
            <a:ext cx="8572500" cy="7611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SzPts val="1400"/>
              <a:buNone/>
            </a:pPr>
            <a:r>
              <a:rPr lang="en"/>
              <a:t>Research Questions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9"/>
          <p:cNvSpPr txBox="1">
            <a:spLocks noGrp="1"/>
          </p:cNvSpPr>
          <p:nvPr>
            <p:ph type="body" idx="1"/>
          </p:nvPr>
        </p:nvSpPr>
        <p:spPr>
          <a:xfrm>
            <a:off x="285750" y="911625"/>
            <a:ext cx="3803785" cy="3893784"/>
          </a:xfrm>
          <a:prstGeom prst="rect">
            <a:avLst/>
          </a:prstGeom>
        </p:spPr>
        <p:txBody>
          <a:bodyPr spcFirstLastPara="1" wrap="square" lIns="68575" tIns="34275" rIns="68575" bIns="34275" anchor="t" anchorCtr="0">
            <a:normAutofit lnSpcReduction="10000"/>
          </a:bodyPr>
          <a:lstStyle/>
          <a:p>
            <a:pPr marL="0" lvl="0" indent="0" algn="l" rtl="0">
              <a:spcBef>
                <a:spcPts val="800"/>
              </a:spcBef>
              <a:spcAft>
                <a:spcPts val="0"/>
              </a:spcAft>
              <a:buNone/>
            </a:pPr>
            <a:r>
              <a:rPr lang="en-US"/>
              <a:t>Data Science: </a:t>
            </a:r>
          </a:p>
          <a:p>
            <a:r>
              <a:rPr lang="en-US" sz="1600"/>
              <a:t>Classification</a:t>
            </a:r>
          </a:p>
          <a:p>
            <a:pPr lvl="1">
              <a:buFont typeface="Courier New"/>
              <a:buChar char="o"/>
            </a:pPr>
            <a:r>
              <a:rPr lang="en-US"/>
              <a:t>Focus on text &gt; metadata classification</a:t>
            </a:r>
          </a:p>
          <a:p>
            <a:pPr lvl="1">
              <a:buFont typeface="Courier New"/>
              <a:buChar char="o"/>
            </a:pPr>
            <a:r>
              <a:rPr lang="en-US"/>
              <a:t>EdX DF dataset</a:t>
            </a:r>
          </a:p>
          <a:p>
            <a:r>
              <a:rPr lang="en-US" sz="1600"/>
              <a:t>Analysis and Interpretation</a:t>
            </a:r>
          </a:p>
          <a:p>
            <a:pPr lvl="1">
              <a:buFont typeface="Courier New"/>
              <a:buChar char="o"/>
            </a:pPr>
            <a:r>
              <a:rPr lang="en-US"/>
              <a:t>Latent-Dirichlet Allocation (LDA) to measure token-frequency</a:t>
            </a:r>
          </a:p>
          <a:p>
            <a:pPr lvl="1">
              <a:buFont typeface="Courier New"/>
              <a:buChar char="o"/>
            </a:pPr>
            <a:r>
              <a:rPr lang="en-US" err="1"/>
              <a:t>Gensim</a:t>
            </a:r>
            <a:r>
              <a:rPr lang="en-US"/>
              <a:t>, </a:t>
            </a:r>
            <a:r>
              <a:rPr lang="en-US" err="1"/>
              <a:t>PyLDAvis</a:t>
            </a:r>
            <a:r>
              <a:rPr lang="en-US"/>
              <a:t>, and Matplotlib</a:t>
            </a:r>
            <a:endParaRPr lang="en-US">
              <a:solidFill>
                <a:srgbClr val="F55E61"/>
              </a:solidFill>
            </a:endParaRPr>
          </a:p>
          <a:p>
            <a:pPr marL="139700" indent="0">
              <a:buNone/>
            </a:pPr>
            <a:r>
              <a:rPr lang="en-US"/>
              <a:t>Machine Learning: </a:t>
            </a:r>
            <a:endParaRPr lang="en-US">
              <a:solidFill>
                <a:srgbClr val="F55E61"/>
              </a:solidFill>
            </a:endParaRPr>
          </a:p>
          <a:p>
            <a:r>
              <a:rPr lang="en-US" sz="1600"/>
              <a:t>Outcome</a:t>
            </a:r>
          </a:p>
          <a:p>
            <a:pPr lvl="1">
              <a:buFont typeface="Courier New"/>
              <a:buChar char="o"/>
            </a:pPr>
            <a:r>
              <a:rPr lang="en-US"/>
              <a:t>Developed a synthetic CS 1301 dataset using OpenAI's o1 model</a:t>
            </a:r>
            <a:endParaRPr lang="en-US">
              <a:solidFill>
                <a:srgbClr val="F55E61"/>
              </a:solidFill>
            </a:endParaRPr>
          </a:p>
          <a:p>
            <a:pPr lvl="1">
              <a:buFont typeface="Courier New"/>
              <a:buChar char="o"/>
            </a:pPr>
            <a:r>
              <a:rPr lang="en-US"/>
              <a:t>Topic distribution over time</a:t>
            </a:r>
          </a:p>
          <a:p>
            <a:pPr marL="139700" indent="0">
              <a:buNone/>
            </a:pPr>
            <a:r>
              <a:rPr lang="en-US">
                <a:solidFill>
                  <a:srgbClr val="5E696C"/>
                </a:solidFill>
              </a:rPr>
              <a:t>Mock-up React dashboard </a:t>
            </a:r>
          </a:p>
          <a:p>
            <a:pPr lvl="1">
              <a:buFont typeface="Courier New"/>
              <a:buChar char="o"/>
            </a:pPr>
            <a:endParaRPr lang="en-US"/>
          </a:p>
          <a:p>
            <a:pPr lvl="1">
              <a:buFont typeface="Courier New"/>
              <a:buChar char="o"/>
            </a:pPr>
            <a:endParaRPr lang="en-US"/>
          </a:p>
        </p:txBody>
      </p:sp>
      <p:sp>
        <p:nvSpPr>
          <p:cNvPr id="102" name="Google Shape;102;p19"/>
          <p:cNvSpPr txBox="1">
            <a:spLocks noGrp="1"/>
          </p:cNvSpPr>
          <p:nvPr>
            <p:ph type="title"/>
          </p:nvPr>
        </p:nvSpPr>
        <p:spPr>
          <a:xfrm>
            <a:off x="285750" y="150541"/>
            <a:ext cx="8572500" cy="761100"/>
          </a:xfrm>
          <a:prstGeom prst="rect">
            <a:avLst/>
          </a:prstGeom>
        </p:spPr>
        <p:txBody>
          <a:bodyPr spcFirstLastPara="1" wrap="square" lIns="68575" tIns="34275" rIns="68575" bIns="34275" anchor="ctr" anchorCtr="0">
            <a:normAutofit/>
          </a:bodyPr>
          <a:lstStyle/>
          <a:p>
            <a:r>
              <a:rPr lang="en" sz="3100"/>
              <a:t>Spring 2025 Recap: </a:t>
            </a:r>
            <a:endParaRPr lang="en-US" sz="3100"/>
          </a:p>
        </p:txBody>
      </p:sp>
      <p:pic>
        <p:nvPicPr>
          <p:cNvPr id="2" name="Picture 1" descr="A screenshot of a computer&#10;&#10;AI-generated content may be incorrect.">
            <a:extLst>
              <a:ext uri="{FF2B5EF4-FFF2-40B4-BE49-F238E27FC236}">
                <a16:creationId xmlns:a16="http://schemas.microsoft.com/office/drawing/2014/main" id="{13775CFB-88C1-3713-EB86-A6C381E08FFE}"/>
              </a:ext>
            </a:extLst>
          </p:cNvPr>
          <p:cNvPicPr>
            <a:picLocks noChangeAspect="1"/>
          </p:cNvPicPr>
          <p:nvPr/>
        </p:nvPicPr>
        <p:blipFill>
          <a:blip r:embed="rId3"/>
          <a:srcRect l="31113" b="-206"/>
          <a:stretch>
            <a:fillRect/>
          </a:stretch>
        </p:blipFill>
        <p:spPr>
          <a:xfrm>
            <a:off x="3952877" y="3008690"/>
            <a:ext cx="5191125" cy="2136830"/>
          </a:xfrm>
          <a:prstGeom prst="rect">
            <a:avLst/>
          </a:prstGeom>
        </p:spPr>
      </p:pic>
      <p:pic>
        <p:nvPicPr>
          <p:cNvPr id="3" name="Picture 2" descr="A screenshot of a computer&#10;&#10;AI-generated content may be incorrect.">
            <a:extLst>
              <a:ext uri="{FF2B5EF4-FFF2-40B4-BE49-F238E27FC236}">
                <a16:creationId xmlns:a16="http://schemas.microsoft.com/office/drawing/2014/main" id="{7FF2D943-3CB8-730A-9645-7DB1E72627DB}"/>
              </a:ext>
            </a:extLst>
          </p:cNvPr>
          <p:cNvPicPr>
            <a:picLocks noChangeAspect="1"/>
          </p:cNvPicPr>
          <p:nvPr/>
        </p:nvPicPr>
        <p:blipFill>
          <a:blip r:embed="rId4"/>
          <a:srcRect l="115" r="66560" b="563"/>
          <a:stretch>
            <a:fillRect/>
          </a:stretch>
        </p:blipFill>
        <p:spPr>
          <a:xfrm>
            <a:off x="3952875" y="135990"/>
            <a:ext cx="2289566" cy="2746288"/>
          </a:xfrm>
          <a:prstGeom prst="rect">
            <a:avLst/>
          </a:prstGeom>
        </p:spPr>
      </p:pic>
      <p:pic>
        <p:nvPicPr>
          <p:cNvPr id="4" name="Picture 3" descr="A screenshot of a forum&#10;&#10;AI-generated content may be incorrect.">
            <a:extLst>
              <a:ext uri="{FF2B5EF4-FFF2-40B4-BE49-F238E27FC236}">
                <a16:creationId xmlns:a16="http://schemas.microsoft.com/office/drawing/2014/main" id="{21DEA40A-74E6-5CC3-6B80-03AC685D8BA5}"/>
              </a:ext>
            </a:extLst>
          </p:cNvPr>
          <p:cNvPicPr>
            <a:picLocks noChangeAspect="1"/>
          </p:cNvPicPr>
          <p:nvPr/>
        </p:nvPicPr>
        <p:blipFill>
          <a:blip r:embed="rId5"/>
          <a:stretch>
            <a:fillRect/>
          </a:stretch>
        </p:blipFill>
        <p:spPr>
          <a:xfrm>
            <a:off x="6318646" y="130969"/>
            <a:ext cx="2757488" cy="275034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20"/>
          <p:cNvSpPr txBox="1">
            <a:spLocks noGrp="1"/>
          </p:cNvSpPr>
          <p:nvPr>
            <p:ph type="title" idx="4294967295"/>
          </p:nvPr>
        </p:nvSpPr>
        <p:spPr>
          <a:xfrm>
            <a:off x="229106" y="159185"/>
            <a:ext cx="8572500" cy="7611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SzPts val="1400"/>
              <a:buNone/>
            </a:pPr>
            <a:r>
              <a:rPr lang="en"/>
              <a:t>Goals for the Semester</a:t>
            </a:r>
            <a:endParaRPr/>
          </a:p>
        </p:txBody>
      </p:sp>
      <p:sp>
        <p:nvSpPr>
          <p:cNvPr id="111" name="Google Shape;111;p20"/>
          <p:cNvSpPr txBox="1">
            <a:spLocks noGrp="1"/>
          </p:cNvSpPr>
          <p:nvPr>
            <p:ph type="body" idx="4294967295"/>
          </p:nvPr>
        </p:nvSpPr>
        <p:spPr>
          <a:xfrm>
            <a:off x="332450" y="1031925"/>
            <a:ext cx="5125200" cy="3828300"/>
          </a:xfrm>
          <a:prstGeom prst="rect">
            <a:avLst/>
          </a:prstGeom>
          <a:noFill/>
          <a:ln>
            <a:noFill/>
          </a:ln>
        </p:spPr>
        <p:txBody>
          <a:bodyPr spcFirstLastPara="1" wrap="square" lIns="68575" tIns="34275" rIns="68575" bIns="34275" anchor="t" anchorCtr="0">
            <a:noAutofit/>
          </a:bodyPr>
          <a:lstStyle/>
          <a:p>
            <a:pPr marL="457200" lvl="0" indent="-336550" algn="l" rtl="0">
              <a:spcBef>
                <a:spcPts val="0"/>
              </a:spcBef>
              <a:spcAft>
                <a:spcPts val="0"/>
              </a:spcAft>
              <a:buSzPts val="1700"/>
              <a:buChar char="●"/>
            </a:pPr>
            <a:r>
              <a:rPr lang="en" sz="1700"/>
              <a:t>Enhance analysis of online discussion forum data </a:t>
            </a:r>
            <a:endParaRPr sz="1700"/>
          </a:p>
          <a:p>
            <a:pPr marL="914400" lvl="1" indent="-336550" algn="l" rtl="0">
              <a:spcBef>
                <a:spcPts val="0"/>
              </a:spcBef>
              <a:spcAft>
                <a:spcPts val="0"/>
              </a:spcAft>
              <a:buSzPts val="1700"/>
              <a:buChar char="○"/>
            </a:pPr>
            <a:r>
              <a:rPr lang="en" sz="1700"/>
              <a:t>Data-driven insights, ML models, and more </a:t>
            </a:r>
            <a:endParaRPr sz="1700"/>
          </a:p>
          <a:p>
            <a:pPr marL="914400" lvl="1" indent="-336550" algn="l" rtl="0">
              <a:spcBef>
                <a:spcPts val="0"/>
              </a:spcBef>
              <a:spcAft>
                <a:spcPts val="0"/>
              </a:spcAft>
              <a:buSzPts val="1700"/>
              <a:buChar char="○"/>
            </a:pPr>
            <a:r>
              <a:rPr lang="en" sz="1700"/>
              <a:t>Develop a dashboard </a:t>
            </a:r>
            <a:endParaRPr sz="1700"/>
          </a:p>
          <a:p>
            <a:pPr lvl="1" indent="-336550">
              <a:lnSpc>
                <a:spcPct val="114999"/>
              </a:lnSpc>
              <a:buSzPts val="1700"/>
            </a:pPr>
            <a:endParaRPr lang="en" sz="1700"/>
          </a:p>
          <a:p>
            <a:pPr indent="-336550">
              <a:lnSpc>
                <a:spcPct val="114999"/>
              </a:lnSpc>
              <a:buSzPts val="1700"/>
            </a:pPr>
            <a:r>
              <a:rPr lang="en" sz="1700"/>
              <a:t>Explore sentiment analysis with cognitive presences in addition to topic modeling</a:t>
            </a:r>
            <a:endParaRPr sz="1700"/>
          </a:p>
          <a:p>
            <a:pPr lvl="1">
              <a:lnSpc>
                <a:spcPct val="114999"/>
              </a:lnSpc>
              <a:buSzPts val="1700"/>
            </a:pPr>
            <a:r>
              <a:rPr lang="en" sz="1300"/>
              <a:t>Utilizing BERT</a:t>
            </a:r>
          </a:p>
          <a:p>
            <a:pPr indent="-336550">
              <a:buSzPts val="1700"/>
            </a:pPr>
            <a:endParaRPr lang="en" sz="1700"/>
          </a:p>
          <a:p>
            <a:pPr indent="-336550">
              <a:lnSpc>
                <a:spcPct val="114999"/>
              </a:lnSpc>
              <a:buSzPts val="1700"/>
            </a:pPr>
            <a:r>
              <a:rPr lang="en" sz="1700"/>
              <a:t>Build a model to analyze students' grades relations to online engagement</a:t>
            </a:r>
          </a:p>
        </p:txBody>
      </p:sp>
      <p:pic>
        <p:nvPicPr>
          <p:cNvPr id="112" name="Google Shape;112;p20"/>
          <p:cNvPicPr preferRelativeResize="0"/>
          <p:nvPr/>
        </p:nvPicPr>
        <p:blipFill>
          <a:blip r:embed="rId3">
            <a:alphaModFix/>
          </a:blip>
          <a:stretch>
            <a:fillRect/>
          </a:stretch>
        </p:blipFill>
        <p:spPr>
          <a:xfrm>
            <a:off x="5457650" y="1578949"/>
            <a:ext cx="3578099" cy="1694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1"/>
          <p:cNvSpPr txBox="1">
            <a:spLocks noGrp="1"/>
          </p:cNvSpPr>
          <p:nvPr>
            <p:ph type="title" idx="4294967295"/>
          </p:nvPr>
        </p:nvSpPr>
        <p:spPr>
          <a:xfrm>
            <a:off x="229106" y="159185"/>
            <a:ext cx="8572500" cy="7611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SzPts val="1400"/>
              <a:buNone/>
            </a:pPr>
            <a:r>
              <a:rPr lang="en"/>
              <a:t>Project Timeline</a:t>
            </a:r>
            <a:endParaRPr/>
          </a:p>
        </p:txBody>
      </p:sp>
      <p:sp>
        <p:nvSpPr>
          <p:cNvPr id="119" name="Google Shape;119;p21"/>
          <p:cNvSpPr txBox="1"/>
          <p:nvPr/>
        </p:nvSpPr>
        <p:spPr>
          <a:xfrm>
            <a:off x="2339925" y="4223225"/>
            <a:ext cx="4595700" cy="56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latin typeface="Lato"/>
                <a:ea typeface="Lato"/>
                <a:cs typeface="Lato"/>
                <a:sym typeface="Lato"/>
              </a:rPr>
              <a:t>Jira - For task tracking and management</a:t>
            </a:r>
            <a:endParaRPr sz="1800">
              <a:solidFill>
                <a:schemeClr val="dk2"/>
              </a:solidFill>
              <a:latin typeface="Lato"/>
              <a:ea typeface="Lato"/>
              <a:cs typeface="Lato"/>
              <a:sym typeface="Lato"/>
            </a:endParaRPr>
          </a:p>
        </p:txBody>
      </p:sp>
      <p:pic>
        <p:nvPicPr>
          <p:cNvPr id="2" name="Picture 1" descr="A screenshot of a computer program&#10;&#10;AI-generated content may be incorrect.">
            <a:extLst>
              <a:ext uri="{FF2B5EF4-FFF2-40B4-BE49-F238E27FC236}">
                <a16:creationId xmlns:a16="http://schemas.microsoft.com/office/drawing/2014/main" id="{CC5B1B63-4A16-B898-D758-7A88E0BF7D83}"/>
              </a:ext>
            </a:extLst>
          </p:cNvPr>
          <p:cNvPicPr>
            <a:picLocks noChangeAspect="1"/>
          </p:cNvPicPr>
          <p:nvPr/>
        </p:nvPicPr>
        <p:blipFill>
          <a:blip r:embed="rId3"/>
          <a:stretch>
            <a:fillRect/>
          </a:stretch>
        </p:blipFill>
        <p:spPr>
          <a:xfrm>
            <a:off x="984925" y="922942"/>
            <a:ext cx="7064713" cy="328950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2"/>
          <p:cNvSpPr txBox="1">
            <a:spLocks noGrp="1"/>
          </p:cNvSpPr>
          <p:nvPr>
            <p:ph type="title" idx="4294967295"/>
          </p:nvPr>
        </p:nvSpPr>
        <p:spPr>
          <a:xfrm>
            <a:off x="285750" y="2191160"/>
            <a:ext cx="8572500" cy="761100"/>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SzPts val="1400"/>
              <a:buNone/>
            </a:pPr>
            <a:r>
              <a:rPr lang="en" sz="4500"/>
              <a:t>Data Science</a:t>
            </a:r>
            <a:endParaRPr sz="45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3"/>
          <p:cNvSpPr txBox="1">
            <a:spLocks noGrp="1"/>
          </p:cNvSpPr>
          <p:nvPr>
            <p:ph type="title" idx="4294967295"/>
          </p:nvPr>
        </p:nvSpPr>
        <p:spPr>
          <a:xfrm>
            <a:off x="229106" y="159185"/>
            <a:ext cx="8572500" cy="7611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SzPts val="1400"/>
              <a:buNone/>
            </a:pPr>
            <a:r>
              <a:rPr lang="en"/>
              <a:t>Goals &amp; Timeline for the Semester</a:t>
            </a:r>
            <a:endParaRPr/>
          </a:p>
        </p:txBody>
      </p:sp>
      <p:grpSp>
        <p:nvGrpSpPr>
          <p:cNvPr id="130" name="Google Shape;130;p23"/>
          <p:cNvGrpSpPr/>
          <p:nvPr/>
        </p:nvGrpSpPr>
        <p:grpSpPr>
          <a:xfrm>
            <a:off x="405998" y="6086487"/>
            <a:ext cx="8223904" cy="2863518"/>
            <a:chOff x="532417" y="1910924"/>
            <a:chExt cx="8223904" cy="2787150"/>
          </a:xfrm>
        </p:grpSpPr>
        <p:sp>
          <p:nvSpPr>
            <p:cNvPr id="131" name="Google Shape;131;p23"/>
            <p:cNvSpPr/>
            <p:nvPr/>
          </p:nvSpPr>
          <p:spPr>
            <a:xfrm>
              <a:off x="1847451" y="2194095"/>
              <a:ext cx="576900" cy="36000"/>
            </a:xfrm>
            <a:prstGeom prst="roundRect">
              <a:avLst>
                <a:gd name="adj" fmla="val 50000"/>
              </a:avLst>
            </a:prstGeom>
            <a:solidFill>
              <a:srgbClr val="AC11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2" name="Google Shape;132;p23"/>
            <p:cNvGrpSpPr/>
            <p:nvPr/>
          </p:nvGrpSpPr>
          <p:grpSpPr>
            <a:xfrm>
              <a:off x="532417" y="1910924"/>
              <a:ext cx="1694667" cy="2777296"/>
              <a:chOff x="369661" y="1960457"/>
              <a:chExt cx="1745100" cy="2853777"/>
            </a:xfrm>
          </p:grpSpPr>
          <p:sp>
            <p:nvSpPr>
              <p:cNvPr id="133" name="Google Shape;133;p23"/>
              <p:cNvSpPr/>
              <p:nvPr/>
            </p:nvSpPr>
            <p:spPr>
              <a:xfrm>
                <a:off x="786664" y="1960457"/>
                <a:ext cx="669300" cy="594300"/>
              </a:xfrm>
              <a:prstGeom prst="ellipse">
                <a:avLst/>
              </a:prstGeom>
              <a:noFill/>
              <a:ln w="38100" cap="flat" cmpd="sng">
                <a:solidFill>
                  <a:srgbClr val="AC114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23"/>
              <p:cNvSpPr txBox="1"/>
              <p:nvPr/>
            </p:nvSpPr>
            <p:spPr>
              <a:xfrm>
                <a:off x="786675" y="2025084"/>
                <a:ext cx="669300" cy="3210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1600"/>
                  </a:spcAft>
                  <a:buNone/>
                </a:pPr>
                <a:r>
                  <a:rPr lang="en" sz="1100" b="1">
                    <a:solidFill>
                      <a:srgbClr val="AC1146"/>
                    </a:solidFill>
                    <a:latin typeface="Roboto"/>
                    <a:ea typeface="Roboto"/>
                    <a:cs typeface="Roboto"/>
                    <a:sym typeface="Roboto"/>
                  </a:rPr>
                  <a:t>Weeks 1-2</a:t>
                </a:r>
                <a:endParaRPr sz="1100" b="1">
                  <a:solidFill>
                    <a:srgbClr val="AC1146"/>
                  </a:solidFill>
                  <a:latin typeface="Roboto"/>
                  <a:ea typeface="Roboto"/>
                  <a:cs typeface="Roboto"/>
                  <a:sym typeface="Roboto"/>
                </a:endParaRPr>
              </a:p>
            </p:txBody>
          </p:sp>
          <p:sp>
            <p:nvSpPr>
              <p:cNvPr id="135" name="Google Shape;135;p23"/>
              <p:cNvSpPr txBox="1"/>
              <p:nvPr/>
            </p:nvSpPr>
            <p:spPr>
              <a:xfrm>
                <a:off x="369675" y="2664225"/>
                <a:ext cx="1578300" cy="4464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 b="1">
                    <a:solidFill>
                      <a:srgbClr val="AC1146"/>
                    </a:solidFill>
                    <a:latin typeface="Roboto"/>
                    <a:ea typeface="Roboto"/>
                    <a:cs typeface="Roboto"/>
                    <a:sym typeface="Roboto"/>
                  </a:rPr>
                  <a:t>Feb 3-17</a:t>
                </a:r>
                <a:endParaRPr b="1">
                  <a:solidFill>
                    <a:srgbClr val="AC1146"/>
                  </a:solidFill>
                  <a:latin typeface="Roboto"/>
                  <a:ea typeface="Roboto"/>
                  <a:cs typeface="Roboto"/>
                  <a:sym typeface="Roboto"/>
                </a:endParaRPr>
              </a:p>
            </p:txBody>
          </p:sp>
          <p:sp>
            <p:nvSpPr>
              <p:cNvPr id="136" name="Google Shape;136;p23"/>
              <p:cNvSpPr txBox="1"/>
              <p:nvPr/>
            </p:nvSpPr>
            <p:spPr>
              <a:xfrm>
                <a:off x="369661" y="3121034"/>
                <a:ext cx="1745100" cy="1693200"/>
              </a:xfrm>
              <a:prstGeom prst="rect">
                <a:avLst/>
              </a:prstGeom>
              <a:noFill/>
              <a:ln>
                <a:noFill/>
              </a:ln>
            </p:spPr>
            <p:txBody>
              <a:bodyPr spcFirstLastPara="1" wrap="square" lIns="91425" tIns="91425" rIns="91425" bIns="91425" anchor="t" anchorCtr="0">
                <a:noAutofit/>
              </a:bodyPr>
              <a:lstStyle/>
              <a:p>
                <a:pPr marL="457200" lvl="0" indent="-304800" algn="l" rtl="0">
                  <a:lnSpc>
                    <a:spcPct val="115000"/>
                  </a:lnSpc>
                  <a:spcBef>
                    <a:spcPts val="0"/>
                  </a:spcBef>
                  <a:spcAft>
                    <a:spcPts val="0"/>
                  </a:spcAft>
                  <a:buClr>
                    <a:srgbClr val="AC1146"/>
                  </a:buClr>
                  <a:buSzPts val="1200"/>
                  <a:buFont typeface="Roboto"/>
                  <a:buChar char="●"/>
                </a:pPr>
                <a:r>
                  <a:rPr lang="en" sz="1200">
                    <a:solidFill>
                      <a:srgbClr val="AC1146"/>
                    </a:solidFill>
                    <a:latin typeface="Roboto"/>
                    <a:ea typeface="Roboto"/>
                    <a:cs typeface="Roboto"/>
                    <a:sym typeface="Roboto"/>
                  </a:rPr>
                  <a:t>Research text-analysis models</a:t>
                </a:r>
                <a:endParaRPr sz="1200">
                  <a:solidFill>
                    <a:srgbClr val="AC1146"/>
                  </a:solidFill>
                  <a:latin typeface="Roboto"/>
                  <a:ea typeface="Roboto"/>
                  <a:cs typeface="Roboto"/>
                  <a:sym typeface="Roboto"/>
                </a:endParaRPr>
              </a:p>
              <a:p>
                <a:pPr marL="457200" lvl="0" indent="-304800" algn="l" rtl="0">
                  <a:lnSpc>
                    <a:spcPct val="115000"/>
                  </a:lnSpc>
                  <a:spcBef>
                    <a:spcPts val="0"/>
                  </a:spcBef>
                  <a:spcAft>
                    <a:spcPts val="0"/>
                  </a:spcAft>
                  <a:buClr>
                    <a:srgbClr val="AC1146"/>
                  </a:buClr>
                  <a:buSzPts val="1200"/>
                  <a:buFont typeface="Roboto"/>
                  <a:buChar char="●"/>
                </a:pPr>
                <a:r>
                  <a:rPr lang="en" sz="1200">
                    <a:solidFill>
                      <a:srgbClr val="AC1146"/>
                    </a:solidFill>
                    <a:latin typeface="Roboto"/>
                    <a:ea typeface="Roboto"/>
                    <a:cs typeface="Roboto"/>
                    <a:sym typeface="Roboto"/>
                  </a:rPr>
                  <a:t>Clean &amp; pre-process data</a:t>
                </a:r>
                <a:endParaRPr sz="1200">
                  <a:solidFill>
                    <a:srgbClr val="AC1146"/>
                  </a:solidFill>
                  <a:latin typeface="Roboto"/>
                  <a:ea typeface="Roboto"/>
                  <a:cs typeface="Roboto"/>
                  <a:sym typeface="Roboto"/>
                </a:endParaRPr>
              </a:p>
            </p:txBody>
          </p:sp>
        </p:grpSp>
        <p:sp>
          <p:nvSpPr>
            <p:cNvPr id="137" name="Google Shape;137;p23"/>
            <p:cNvSpPr/>
            <p:nvPr/>
          </p:nvSpPr>
          <p:spPr>
            <a:xfrm>
              <a:off x="3512056" y="2194095"/>
              <a:ext cx="576900" cy="36000"/>
            </a:xfrm>
            <a:prstGeom prst="roundRect">
              <a:avLst>
                <a:gd name="adj" fmla="val 50000"/>
              </a:avLst>
            </a:pr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23"/>
            <p:cNvSpPr/>
            <p:nvPr/>
          </p:nvSpPr>
          <p:spPr>
            <a:xfrm>
              <a:off x="5207467" y="2194095"/>
              <a:ext cx="576900" cy="36000"/>
            </a:xfrm>
            <a:prstGeom prst="roundRect">
              <a:avLst>
                <a:gd name="adj" fmla="val 50000"/>
              </a:avLst>
            </a:pr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23"/>
            <p:cNvSpPr/>
            <p:nvPr/>
          </p:nvSpPr>
          <p:spPr>
            <a:xfrm>
              <a:off x="6829005" y="2194095"/>
              <a:ext cx="576900" cy="36000"/>
            </a:xfrm>
            <a:prstGeom prst="roundRect">
              <a:avLst>
                <a:gd name="adj" fmla="val 50000"/>
              </a:avLst>
            </a:pr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23"/>
            <p:cNvSpPr/>
            <p:nvPr/>
          </p:nvSpPr>
          <p:spPr>
            <a:xfrm>
              <a:off x="2680657" y="1934187"/>
              <a:ext cx="649500" cy="578400"/>
            </a:xfrm>
            <a:prstGeom prst="ellipse">
              <a:avLst/>
            </a:prstGeom>
            <a:noFill/>
            <a:ln w="38100" cap="flat" cmpd="sng">
              <a:solidFill>
                <a:srgbClr val="AC114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23"/>
            <p:cNvSpPr txBox="1"/>
            <p:nvPr/>
          </p:nvSpPr>
          <p:spPr>
            <a:xfrm>
              <a:off x="2680668" y="1988015"/>
              <a:ext cx="649500" cy="3123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1600"/>
                </a:spcAft>
                <a:buNone/>
              </a:pPr>
              <a:r>
                <a:rPr lang="en" sz="1100" b="1">
                  <a:solidFill>
                    <a:srgbClr val="AC1146"/>
                  </a:solidFill>
                  <a:latin typeface="Roboto"/>
                  <a:ea typeface="Roboto"/>
                  <a:cs typeface="Roboto"/>
                  <a:sym typeface="Roboto"/>
                </a:rPr>
                <a:t>Weeks 3-4</a:t>
              </a:r>
              <a:endParaRPr sz="1100" b="1">
                <a:solidFill>
                  <a:srgbClr val="AC1146"/>
                </a:solidFill>
                <a:latin typeface="Roboto"/>
                <a:ea typeface="Roboto"/>
                <a:cs typeface="Roboto"/>
                <a:sym typeface="Roboto"/>
              </a:endParaRPr>
            </a:p>
          </p:txBody>
        </p:sp>
        <p:sp>
          <p:nvSpPr>
            <p:cNvPr id="142" name="Google Shape;142;p23"/>
            <p:cNvSpPr txBox="1"/>
            <p:nvPr/>
          </p:nvSpPr>
          <p:spPr>
            <a:xfrm>
              <a:off x="2156551" y="2595900"/>
              <a:ext cx="1765800" cy="4344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 b="1">
                  <a:solidFill>
                    <a:srgbClr val="AC1146"/>
                  </a:solidFill>
                  <a:latin typeface="Roboto"/>
                  <a:ea typeface="Roboto"/>
                  <a:cs typeface="Roboto"/>
                  <a:sym typeface="Roboto"/>
                </a:rPr>
                <a:t>Feb 17 - March 3</a:t>
              </a:r>
              <a:endParaRPr b="1">
                <a:solidFill>
                  <a:srgbClr val="AC1146"/>
                </a:solidFill>
                <a:latin typeface="Roboto"/>
                <a:ea typeface="Roboto"/>
                <a:cs typeface="Roboto"/>
                <a:sym typeface="Roboto"/>
              </a:endParaRPr>
            </a:p>
          </p:txBody>
        </p:sp>
        <p:sp>
          <p:nvSpPr>
            <p:cNvPr id="143" name="Google Shape;143;p23"/>
            <p:cNvSpPr txBox="1"/>
            <p:nvPr/>
          </p:nvSpPr>
          <p:spPr>
            <a:xfrm>
              <a:off x="2096705" y="3040466"/>
              <a:ext cx="1694700" cy="1647900"/>
            </a:xfrm>
            <a:prstGeom prst="rect">
              <a:avLst/>
            </a:prstGeom>
            <a:noFill/>
            <a:ln>
              <a:noFill/>
            </a:ln>
          </p:spPr>
          <p:txBody>
            <a:bodyPr spcFirstLastPara="1" wrap="square" lIns="91425" tIns="91425" rIns="91425" bIns="91425" anchor="t" anchorCtr="0">
              <a:noAutofit/>
            </a:bodyPr>
            <a:lstStyle/>
            <a:p>
              <a:pPr marL="457200" lvl="0" indent="-304800" algn="l" rtl="0">
                <a:lnSpc>
                  <a:spcPct val="115000"/>
                </a:lnSpc>
                <a:spcBef>
                  <a:spcPts val="0"/>
                </a:spcBef>
                <a:spcAft>
                  <a:spcPts val="0"/>
                </a:spcAft>
                <a:buClr>
                  <a:srgbClr val="AC1146"/>
                </a:buClr>
                <a:buSzPts val="1200"/>
                <a:buFont typeface="Roboto"/>
                <a:buChar char="●"/>
              </a:pPr>
              <a:r>
                <a:rPr lang="en" sz="1200">
                  <a:solidFill>
                    <a:srgbClr val="AC1146"/>
                  </a:solidFill>
                  <a:latin typeface="Roboto"/>
                  <a:ea typeface="Roboto"/>
                  <a:cs typeface="Roboto"/>
                  <a:sym typeface="Roboto"/>
                </a:rPr>
                <a:t>Create LDA model</a:t>
              </a:r>
              <a:endParaRPr sz="1200">
                <a:solidFill>
                  <a:srgbClr val="AC1146"/>
                </a:solidFill>
                <a:latin typeface="Roboto"/>
                <a:ea typeface="Roboto"/>
                <a:cs typeface="Roboto"/>
                <a:sym typeface="Roboto"/>
              </a:endParaRPr>
            </a:p>
            <a:p>
              <a:pPr marL="457200" lvl="0" indent="-304800" algn="l" rtl="0">
                <a:lnSpc>
                  <a:spcPct val="115000"/>
                </a:lnSpc>
                <a:spcBef>
                  <a:spcPts val="0"/>
                </a:spcBef>
                <a:spcAft>
                  <a:spcPts val="0"/>
                </a:spcAft>
                <a:buClr>
                  <a:srgbClr val="AC1146"/>
                </a:buClr>
                <a:buSzPts val="1200"/>
                <a:buFont typeface="Roboto"/>
                <a:buChar char="●"/>
              </a:pPr>
              <a:r>
                <a:rPr lang="en" sz="1200">
                  <a:solidFill>
                    <a:srgbClr val="AC1146"/>
                  </a:solidFill>
                  <a:latin typeface="Roboto"/>
                  <a:ea typeface="Roboto"/>
                  <a:cs typeface="Roboto"/>
                  <a:sym typeface="Roboto"/>
                </a:rPr>
                <a:t>Process &amp; analyze results</a:t>
              </a:r>
              <a:endParaRPr sz="1200">
                <a:solidFill>
                  <a:srgbClr val="AC1146"/>
                </a:solidFill>
                <a:latin typeface="Roboto"/>
                <a:ea typeface="Roboto"/>
                <a:cs typeface="Roboto"/>
                <a:sym typeface="Roboto"/>
              </a:endParaRPr>
            </a:p>
          </p:txBody>
        </p:sp>
        <p:sp>
          <p:nvSpPr>
            <p:cNvPr id="144" name="Google Shape;144;p23"/>
            <p:cNvSpPr/>
            <p:nvPr/>
          </p:nvSpPr>
          <p:spPr>
            <a:xfrm>
              <a:off x="4312958" y="1934187"/>
              <a:ext cx="649500" cy="578400"/>
            </a:xfrm>
            <a:prstGeom prst="ellipse">
              <a:avLst/>
            </a:prstGeom>
            <a:noFill/>
            <a:ln w="38100" cap="flat" cmpd="sng">
              <a:solidFill>
                <a:srgbClr val="85858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45" name="Google Shape;145;p23"/>
            <p:cNvSpPr txBox="1"/>
            <p:nvPr/>
          </p:nvSpPr>
          <p:spPr>
            <a:xfrm>
              <a:off x="4312969" y="2006522"/>
              <a:ext cx="649500" cy="3123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1600"/>
                </a:spcAft>
                <a:buNone/>
              </a:pPr>
              <a:r>
                <a:rPr lang="en" sz="1100" b="1">
                  <a:solidFill>
                    <a:srgbClr val="858585"/>
                  </a:solidFill>
                  <a:latin typeface="Roboto"/>
                  <a:ea typeface="Roboto"/>
                  <a:cs typeface="Roboto"/>
                  <a:sym typeface="Roboto"/>
                </a:rPr>
                <a:t>Weeks 5-6</a:t>
              </a:r>
              <a:endParaRPr sz="1100" b="1">
                <a:solidFill>
                  <a:srgbClr val="858585"/>
                </a:solidFill>
                <a:latin typeface="Roboto"/>
                <a:ea typeface="Roboto"/>
                <a:cs typeface="Roboto"/>
                <a:sym typeface="Roboto"/>
              </a:endParaRPr>
            </a:p>
          </p:txBody>
        </p:sp>
        <p:sp>
          <p:nvSpPr>
            <p:cNvPr id="146" name="Google Shape;146;p23"/>
            <p:cNvSpPr txBox="1"/>
            <p:nvPr/>
          </p:nvSpPr>
          <p:spPr>
            <a:xfrm>
              <a:off x="3933058" y="2595889"/>
              <a:ext cx="1532700" cy="4344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 b="1">
                  <a:solidFill>
                    <a:srgbClr val="858585"/>
                  </a:solidFill>
                  <a:latin typeface="Roboto"/>
                  <a:ea typeface="Roboto"/>
                  <a:cs typeface="Roboto"/>
                  <a:sym typeface="Roboto"/>
                </a:rPr>
                <a:t>March 3-24</a:t>
              </a:r>
              <a:endParaRPr b="1">
                <a:solidFill>
                  <a:srgbClr val="858585"/>
                </a:solidFill>
                <a:latin typeface="Roboto"/>
                <a:ea typeface="Roboto"/>
                <a:cs typeface="Roboto"/>
                <a:sym typeface="Roboto"/>
              </a:endParaRPr>
            </a:p>
          </p:txBody>
        </p:sp>
        <p:sp>
          <p:nvSpPr>
            <p:cNvPr id="147" name="Google Shape;147;p23"/>
            <p:cNvSpPr txBox="1"/>
            <p:nvPr/>
          </p:nvSpPr>
          <p:spPr>
            <a:xfrm>
              <a:off x="3865031" y="3040466"/>
              <a:ext cx="1694700" cy="1647900"/>
            </a:xfrm>
            <a:prstGeom prst="rect">
              <a:avLst/>
            </a:prstGeom>
            <a:noFill/>
            <a:ln>
              <a:noFill/>
            </a:ln>
          </p:spPr>
          <p:txBody>
            <a:bodyPr spcFirstLastPara="1" wrap="square" lIns="91425" tIns="91425" rIns="91425" bIns="91425" anchor="t" anchorCtr="0">
              <a:noAutofit/>
            </a:bodyPr>
            <a:lstStyle/>
            <a:p>
              <a:pPr marL="457200" lvl="0" indent="-304800" algn="l" rtl="0">
                <a:lnSpc>
                  <a:spcPct val="115000"/>
                </a:lnSpc>
                <a:spcBef>
                  <a:spcPts val="0"/>
                </a:spcBef>
                <a:spcAft>
                  <a:spcPts val="0"/>
                </a:spcAft>
                <a:buClr>
                  <a:srgbClr val="858585"/>
                </a:buClr>
                <a:buSzPts val="1200"/>
                <a:buFont typeface="Roboto"/>
                <a:buChar char="●"/>
              </a:pPr>
              <a:r>
                <a:rPr lang="en" sz="1200">
                  <a:solidFill>
                    <a:srgbClr val="858585"/>
                  </a:solidFill>
                  <a:latin typeface="Roboto"/>
                  <a:ea typeface="Roboto"/>
                  <a:cs typeface="Roboto"/>
                  <a:sym typeface="Roboto"/>
                </a:rPr>
                <a:t>Fine-tune BERT or TF-IDF</a:t>
              </a:r>
              <a:endParaRPr sz="1200">
                <a:solidFill>
                  <a:srgbClr val="858585"/>
                </a:solidFill>
                <a:latin typeface="Roboto"/>
                <a:ea typeface="Roboto"/>
                <a:cs typeface="Roboto"/>
                <a:sym typeface="Roboto"/>
              </a:endParaRPr>
            </a:p>
            <a:p>
              <a:pPr marL="457200" lvl="0" indent="-304800" algn="l" rtl="0">
                <a:lnSpc>
                  <a:spcPct val="115000"/>
                </a:lnSpc>
                <a:spcBef>
                  <a:spcPts val="0"/>
                </a:spcBef>
                <a:spcAft>
                  <a:spcPts val="0"/>
                </a:spcAft>
                <a:buClr>
                  <a:srgbClr val="858585"/>
                </a:buClr>
                <a:buSzPts val="1200"/>
                <a:buFont typeface="Roboto"/>
                <a:buChar char="●"/>
              </a:pPr>
              <a:r>
                <a:rPr lang="en" sz="1200">
                  <a:solidFill>
                    <a:srgbClr val="858585"/>
                  </a:solidFill>
                  <a:latin typeface="Roboto"/>
                  <a:ea typeface="Roboto"/>
                  <a:cs typeface="Roboto"/>
                  <a:sym typeface="Roboto"/>
                </a:rPr>
                <a:t>Clean &amp; pre-process dataset</a:t>
              </a:r>
              <a:endParaRPr sz="1200">
                <a:solidFill>
                  <a:srgbClr val="858585"/>
                </a:solidFill>
                <a:latin typeface="Roboto"/>
                <a:ea typeface="Roboto"/>
                <a:cs typeface="Roboto"/>
                <a:sym typeface="Roboto"/>
              </a:endParaRPr>
            </a:p>
          </p:txBody>
        </p:sp>
        <p:sp>
          <p:nvSpPr>
            <p:cNvPr id="148" name="Google Shape;148;p23"/>
            <p:cNvSpPr/>
            <p:nvPr/>
          </p:nvSpPr>
          <p:spPr>
            <a:xfrm>
              <a:off x="6013272" y="1942436"/>
              <a:ext cx="649500" cy="578400"/>
            </a:xfrm>
            <a:prstGeom prst="ellipse">
              <a:avLst/>
            </a:prstGeom>
            <a:noFill/>
            <a:ln w="38100" cap="flat" cmpd="sng">
              <a:solidFill>
                <a:srgbClr val="85858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49" name="Google Shape;149;p23"/>
            <p:cNvSpPr txBox="1"/>
            <p:nvPr/>
          </p:nvSpPr>
          <p:spPr>
            <a:xfrm>
              <a:off x="6013283" y="2024026"/>
              <a:ext cx="649500" cy="3123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1600"/>
                </a:spcAft>
                <a:buNone/>
              </a:pPr>
              <a:r>
                <a:rPr lang="en" sz="1100" b="1">
                  <a:solidFill>
                    <a:srgbClr val="858585"/>
                  </a:solidFill>
                  <a:latin typeface="Roboto"/>
                  <a:ea typeface="Roboto"/>
                  <a:cs typeface="Roboto"/>
                  <a:sym typeface="Roboto"/>
                </a:rPr>
                <a:t>Weeks 7-8</a:t>
              </a:r>
              <a:endParaRPr sz="1100" b="1">
                <a:solidFill>
                  <a:srgbClr val="858585"/>
                </a:solidFill>
                <a:latin typeface="Roboto"/>
                <a:ea typeface="Roboto"/>
                <a:cs typeface="Roboto"/>
                <a:sym typeface="Roboto"/>
              </a:endParaRPr>
            </a:p>
          </p:txBody>
        </p:sp>
        <p:sp>
          <p:nvSpPr>
            <p:cNvPr id="150" name="Google Shape;150;p23"/>
            <p:cNvSpPr txBox="1"/>
            <p:nvPr/>
          </p:nvSpPr>
          <p:spPr>
            <a:xfrm>
              <a:off x="5633376" y="2604150"/>
              <a:ext cx="1765800" cy="4344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 b="1">
                  <a:solidFill>
                    <a:srgbClr val="858585"/>
                  </a:solidFill>
                  <a:latin typeface="Roboto"/>
                  <a:ea typeface="Roboto"/>
                  <a:cs typeface="Roboto"/>
                  <a:sym typeface="Roboto"/>
                </a:rPr>
                <a:t>March 24 - April 7</a:t>
              </a:r>
              <a:endParaRPr b="1">
                <a:solidFill>
                  <a:srgbClr val="858585"/>
                </a:solidFill>
                <a:latin typeface="Roboto"/>
                <a:ea typeface="Roboto"/>
                <a:cs typeface="Roboto"/>
                <a:sym typeface="Roboto"/>
              </a:endParaRPr>
            </a:p>
          </p:txBody>
        </p:sp>
        <p:sp>
          <p:nvSpPr>
            <p:cNvPr id="151" name="Google Shape;151;p23"/>
            <p:cNvSpPr txBox="1"/>
            <p:nvPr/>
          </p:nvSpPr>
          <p:spPr>
            <a:xfrm>
              <a:off x="5497332" y="3048716"/>
              <a:ext cx="1694700" cy="1647900"/>
            </a:xfrm>
            <a:prstGeom prst="rect">
              <a:avLst/>
            </a:prstGeom>
            <a:noFill/>
            <a:ln>
              <a:noFill/>
            </a:ln>
          </p:spPr>
          <p:txBody>
            <a:bodyPr spcFirstLastPara="1" wrap="square" lIns="91425" tIns="91425" rIns="91425" bIns="91425" anchor="t" anchorCtr="0">
              <a:noAutofit/>
            </a:bodyPr>
            <a:lstStyle/>
            <a:p>
              <a:pPr marL="457200" lvl="0" indent="-304800" algn="l" rtl="0">
                <a:lnSpc>
                  <a:spcPct val="115000"/>
                </a:lnSpc>
                <a:spcBef>
                  <a:spcPts val="0"/>
                </a:spcBef>
                <a:spcAft>
                  <a:spcPts val="0"/>
                </a:spcAft>
                <a:buClr>
                  <a:srgbClr val="858585"/>
                </a:buClr>
                <a:buSzPts val="1200"/>
                <a:buFont typeface="Roboto"/>
                <a:buChar char="●"/>
              </a:pPr>
              <a:r>
                <a:rPr lang="en" sz="1200">
                  <a:solidFill>
                    <a:srgbClr val="858585"/>
                  </a:solidFill>
                  <a:latin typeface="Roboto"/>
                  <a:ea typeface="Roboto"/>
                  <a:cs typeface="Roboto"/>
                  <a:sym typeface="Roboto"/>
                </a:rPr>
                <a:t>Analyze &amp; compare results from both models</a:t>
              </a:r>
              <a:endParaRPr sz="1200">
                <a:solidFill>
                  <a:srgbClr val="858585"/>
                </a:solidFill>
                <a:latin typeface="Roboto"/>
                <a:ea typeface="Roboto"/>
                <a:cs typeface="Roboto"/>
                <a:sym typeface="Roboto"/>
              </a:endParaRPr>
            </a:p>
          </p:txBody>
        </p:sp>
        <p:sp>
          <p:nvSpPr>
            <p:cNvPr id="152" name="Google Shape;152;p23"/>
            <p:cNvSpPr/>
            <p:nvPr/>
          </p:nvSpPr>
          <p:spPr>
            <a:xfrm>
              <a:off x="7577560" y="1943895"/>
              <a:ext cx="649500" cy="578400"/>
            </a:xfrm>
            <a:prstGeom prst="ellipse">
              <a:avLst/>
            </a:prstGeom>
            <a:noFill/>
            <a:ln w="38100" cap="flat" cmpd="sng">
              <a:solidFill>
                <a:srgbClr val="85858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53" name="Google Shape;153;p23"/>
            <p:cNvSpPr txBox="1"/>
            <p:nvPr/>
          </p:nvSpPr>
          <p:spPr>
            <a:xfrm>
              <a:off x="7577571" y="2016231"/>
              <a:ext cx="649500" cy="3123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1600"/>
                </a:spcAft>
                <a:buNone/>
              </a:pPr>
              <a:r>
                <a:rPr lang="en" sz="1100" b="1">
                  <a:solidFill>
                    <a:srgbClr val="858585"/>
                  </a:solidFill>
                  <a:latin typeface="Roboto"/>
                  <a:ea typeface="Roboto"/>
                  <a:cs typeface="Roboto"/>
                  <a:sym typeface="Roboto"/>
                </a:rPr>
                <a:t>Weeks 9-10</a:t>
              </a:r>
              <a:endParaRPr sz="1100" b="1">
                <a:solidFill>
                  <a:srgbClr val="858585"/>
                </a:solidFill>
                <a:latin typeface="Roboto"/>
                <a:ea typeface="Roboto"/>
                <a:cs typeface="Roboto"/>
                <a:sym typeface="Roboto"/>
              </a:endParaRPr>
            </a:p>
          </p:txBody>
        </p:sp>
        <p:sp>
          <p:nvSpPr>
            <p:cNvPr id="154" name="Google Shape;154;p23"/>
            <p:cNvSpPr txBox="1"/>
            <p:nvPr/>
          </p:nvSpPr>
          <p:spPr>
            <a:xfrm>
              <a:off x="7197660" y="2605598"/>
              <a:ext cx="1532700" cy="4344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 b="1">
                  <a:solidFill>
                    <a:srgbClr val="858585"/>
                  </a:solidFill>
                  <a:latin typeface="Roboto"/>
                  <a:ea typeface="Roboto"/>
                  <a:cs typeface="Roboto"/>
                  <a:sym typeface="Roboto"/>
                </a:rPr>
                <a:t>April 7-19</a:t>
              </a:r>
              <a:endParaRPr b="1">
                <a:solidFill>
                  <a:srgbClr val="858585"/>
                </a:solidFill>
                <a:latin typeface="Roboto"/>
                <a:ea typeface="Roboto"/>
                <a:cs typeface="Roboto"/>
                <a:sym typeface="Roboto"/>
              </a:endParaRPr>
            </a:p>
          </p:txBody>
        </p:sp>
        <p:sp>
          <p:nvSpPr>
            <p:cNvPr id="155" name="Google Shape;155;p23"/>
            <p:cNvSpPr txBox="1"/>
            <p:nvPr/>
          </p:nvSpPr>
          <p:spPr>
            <a:xfrm>
              <a:off x="7061621" y="3050174"/>
              <a:ext cx="1694700" cy="1647900"/>
            </a:xfrm>
            <a:prstGeom prst="rect">
              <a:avLst/>
            </a:prstGeom>
            <a:noFill/>
            <a:ln>
              <a:noFill/>
            </a:ln>
          </p:spPr>
          <p:txBody>
            <a:bodyPr spcFirstLastPara="1" wrap="square" lIns="91425" tIns="91425" rIns="91425" bIns="91425" anchor="t" anchorCtr="0">
              <a:noAutofit/>
            </a:bodyPr>
            <a:lstStyle/>
            <a:p>
              <a:pPr marL="457200" lvl="0" indent="-304800" algn="l" rtl="0">
                <a:lnSpc>
                  <a:spcPct val="115000"/>
                </a:lnSpc>
                <a:spcBef>
                  <a:spcPts val="0"/>
                </a:spcBef>
                <a:spcAft>
                  <a:spcPts val="0"/>
                </a:spcAft>
                <a:buClr>
                  <a:srgbClr val="858585"/>
                </a:buClr>
                <a:buSzPts val="1200"/>
                <a:buFont typeface="Roboto"/>
                <a:buChar char="●"/>
              </a:pPr>
              <a:r>
                <a:rPr lang="en" sz="1200">
                  <a:solidFill>
                    <a:srgbClr val="858585"/>
                  </a:solidFill>
                  <a:latin typeface="Roboto"/>
                  <a:ea typeface="Roboto"/>
                  <a:cs typeface="Roboto"/>
                  <a:sym typeface="Roboto"/>
                </a:rPr>
                <a:t>Design &amp; create dashboard</a:t>
              </a:r>
              <a:endParaRPr sz="1200">
                <a:solidFill>
                  <a:srgbClr val="858585"/>
                </a:solidFill>
                <a:latin typeface="Roboto"/>
                <a:ea typeface="Roboto"/>
                <a:cs typeface="Roboto"/>
                <a:sym typeface="Roboto"/>
              </a:endParaRPr>
            </a:p>
          </p:txBody>
        </p:sp>
      </p:grpSp>
      <p:sp>
        <p:nvSpPr>
          <p:cNvPr id="156" name="Google Shape;156;p23"/>
          <p:cNvSpPr txBox="1"/>
          <p:nvPr/>
        </p:nvSpPr>
        <p:spPr>
          <a:xfrm>
            <a:off x="326214" y="1132051"/>
            <a:ext cx="3469042" cy="3777407"/>
          </a:xfrm>
          <a:prstGeom prst="roundRect">
            <a:avLst/>
          </a:prstGeom>
          <a:solidFill>
            <a:schemeClr val="accent5">
              <a:lumMod val="20000"/>
              <a:lumOff val="80000"/>
            </a:schemeClr>
          </a:solidFill>
          <a:ln>
            <a:solidFill>
              <a:schemeClr val="accent1"/>
            </a:solidFill>
          </a:ln>
        </p:spPr>
        <p:style>
          <a:lnRef idx="1">
            <a:schemeClr val="accent6"/>
          </a:lnRef>
          <a:fillRef idx="2">
            <a:schemeClr val="accent6"/>
          </a:fillRef>
          <a:effectRef idx="1">
            <a:schemeClr val="accent6"/>
          </a:effectRef>
          <a:fontRef idx="minor">
            <a:schemeClr val="dk1"/>
          </a:fontRef>
        </p:style>
        <p:txBody>
          <a:bodyPr spcFirstLastPara="1" wrap="square" lIns="91425" tIns="91425" rIns="91425" bIns="91425" anchor="t" anchorCtr="0">
            <a:noAutofit/>
          </a:bodyPr>
          <a:lstStyle/>
          <a:p>
            <a:pPr marL="139700" algn="ctr">
              <a:lnSpc>
                <a:spcPct val="115000"/>
              </a:lnSpc>
              <a:buClr>
                <a:schemeClr val="dk2"/>
              </a:buClr>
              <a:buSzPts val="1400"/>
            </a:pPr>
            <a:r>
              <a:rPr lang="en" sz="1600" b="1">
                <a:solidFill>
                  <a:schemeClr val="dk2"/>
                </a:solidFill>
                <a:latin typeface="Lato"/>
                <a:ea typeface="Lato"/>
                <a:cs typeface="Lato"/>
              </a:rPr>
              <a:t>Spring 2025</a:t>
            </a:r>
            <a:endParaRPr lang="en-US" sz="1600">
              <a:solidFill>
                <a:schemeClr val="dk2"/>
              </a:solidFill>
              <a:cs typeface="Arial"/>
            </a:endParaRPr>
          </a:p>
          <a:p>
            <a:pPr marL="139700">
              <a:lnSpc>
                <a:spcPct val="114999"/>
              </a:lnSpc>
              <a:buSzPts val="1400"/>
            </a:pPr>
            <a:endParaRPr lang="en">
              <a:solidFill>
                <a:schemeClr val="dk2"/>
              </a:solidFill>
              <a:latin typeface="Lato"/>
              <a:ea typeface="Lato"/>
              <a:cs typeface="Lato"/>
            </a:endParaRPr>
          </a:p>
          <a:p>
            <a:pPr marL="425450" indent="-285750">
              <a:lnSpc>
                <a:spcPct val="114999"/>
              </a:lnSpc>
              <a:buSzPts val="1400"/>
              <a:buChar char="•"/>
            </a:pPr>
            <a:r>
              <a:rPr lang="en" b="1" u="sng">
                <a:solidFill>
                  <a:schemeClr val="dk2"/>
                </a:solidFill>
                <a:latin typeface="Lato"/>
                <a:ea typeface="Lato"/>
                <a:cs typeface="Lato"/>
              </a:rPr>
              <a:t>January – February:</a:t>
            </a:r>
          </a:p>
          <a:p>
            <a:pPr marL="882650" lvl="1" indent="-285750">
              <a:lnSpc>
                <a:spcPct val="114999"/>
              </a:lnSpc>
              <a:buSzPts val="1400"/>
              <a:buFont typeface="Courier New"/>
              <a:buChar char="o"/>
            </a:pPr>
            <a:r>
              <a:rPr lang="en">
                <a:solidFill>
                  <a:schemeClr val="dk2"/>
                </a:solidFill>
                <a:latin typeface="Lato"/>
                <a:ea typeface="Lato"/>
                <a:cs typeface="Lato"/>
              </a:rPr>
              <a:t>Learn </a:t>
            </a:r>
            <a:r>
              <a:rPr lang="en" b="1">
                <a:solidFill>
                  <a:schemeClr val="dk2"/>
                </a:solidFill>
                <a:latin typeface="Lato"/>
                <a:ea typeface="Lato"/>
                <a:cs typeface="Lato"/>
              </a:rPr>
              <a:t>data cleaning &amp; processing</a:t>
            </a:r>
            <a:r>
              <a:rPr lang="en">
                <a:solidFill>
                  <a:schemeClr val="dk2"/>
                </a:solidFill>
                <a:latin typeface="Lato"/>
                <a:ea typeface="Lato"/>
                <a:cs typeface="Lato"/>
              </a:rPr>
              <a:t> techniques</a:t>
            </a:r>
            <a:endParaRPr lang="en-US">
              <a:solidFill>
                <a:schemeClr val="dk2"/>
              </a:solidFill>
              <a:latin typeface="Lato"/>
              <a:ea typeface="Lato"/>
              <a:cs typeface="Lato"/>
            </a:endParaRPr>
          </a:p>
          <a:p>
            <a:pPr marL="425450" indent="-285750">
              <a:lnSpc>
                <a:spcPct val="114999"/>
              </a:lnSpc>
              <a:buSzPts val="1400"/>
              <a:buChar char="•"/>
            </a:pPr>
            <a:r>
              <a:rPr lang="en" b="1" u="sng">
                <a:solidFill>
                  <a:schemeClr val="dk2"/>
                </a:solidFill>
                <a:latin typeface="Lato"/>
                <a:ea typeface="Lato"/>
                <a:cs typeface="Lato"/>
              </a:rPr>
              <a:t>February – April:</a:t>
            </a:r>
          </a:p>
          <a:p>
            <a:pPr marL="882650" lvl="1" indent="-285750">
              <a:lnSpc>
                <a:spcPct val="114999"/>
              </a:lnSpc>
              <a:buSzPts val="1400"/>
              <a:buFont typeface="Courier New"/>
              <a:buChar char="o"/>
            </a:pPr>
            <a:r>
              <a:rPr lang="en">
                <a:solidFill>
                  <a:schemeClr val="dk2"/>
                </a:solidFill>
                <a:latin typeface="Lato"/>
                <a:ea typeface="Lato"/>
                <a:cs typeface="Lato"/>
              </a:rPr>
              <a:t>Create text-analysis models for </a:t>
            </a:r>
            <a:r>
              <a:rPr lang="en" b="1">
                <a:solidFill>
                  <a:schemeClr val="dk2"/>
                </a:solidFill>
                <a:latin typeface="Lato"/>
                <a:ea typeface="Lato"/>
                <a:cs typeface="Lato"/>
              </a:rPr>
              <a:t>sentiment analysis </a:t>
            </a:r>
            <a:r>
              <a:rPr lang="en">
                <a:solidFill>
                  <a:schemeClr val="dk2"/>
                </a:solidFill>
                <a:latin typeface="Lato"/>
                <a:ea typeface="Lato"/>
                <a:cs typeface="Lato"/>
              </a:rPr>
              <a:t>via LDA &amp; TF-IDF</a:t>
            </a:r>
            <a:endParaRPr lang="en">
              <a:solidFill>
                <a:schemeClr val="dk2"/>
              </a:solidFill>
            </a:endParaRPr>
          </a:p>
          <a:p>
            <a:pPr marL="425450" indent="-285750">
              <a:lnSpc>
                <a:spcPct val="114999"/>
              </a:lnSpc>
              <a:buSzPts val="1400"/>
              <a:buChar char="•"/>
            </a:pPr>
            <a:r>
              <a:rPr lang="en" b="1" u="sng">
                <a:solidFill>
                  <a:schemeClr val="dk2"/>
                </a:solidFill>
                <a:latin typeface="Lato"/>
                <a:ea typeface="Lato"/>
                <a:cs typeface="Lato"/>
              </a:rPr>
              <a:t>April – May:</a:t>
            </a:r>
          </a:p>
          <a:p>
            <a:pPr marL="882650" lvl="1" indent="-285750">
              <a:lnSpc>
                <a:spcPct val="114999"/>
              </a:lnSpc>
              <a:buSzPts val="1400"/>
              <a:buFont typeface="Courier New"/>
              <a:buChar char="o"/>
            </a:pPr>
            <a:r>
              <a:rPr lang="en">
                <a:solidFill>
                  <a:schemeClr val="dk2"/>
                </a:solidFill>
                <a:latin typeface="Lato"/>
                <a:ea typeface="Lato"/>
                <a:cs typeface="Lato"/>
              </a:rPr>
              <a:t>Revamp dashboard from last semesters</a:t>
            </a:r>
            <a:endParaRPr lang="en">
              <a:solidFill>
                <a:schemeClr val="dk2"/>
              </a:solidFill>
              <a:cs typeface="Arial"/>
            </a:endParaRPr>
          </a:p>
        </p:txBody>
      </p:sp>
      <p:sp>
        <p:nvSpPr>
          <p:cNvPr id="3" name="Google Shape;156;p23">
            <a:extLst>
              <a:ext uri="{FF2B5EF4-FFF2-40B4-BE49-F238E27FC236}">
                <a16:creationId xmlns:a16="http://schemas.microsoft.com/office/drawing/2014/main" id="{D5B73E1E-1755-5728-F644-31DA0C4000A9}"/>
              </a:ext>
            </a:extLst>
          </p:cNvPr>
          <p:cNvSpPr txBox="1"/>
          <p:nvPr/>
        </p:nvSpPr>
        <p:spPr>
          <a:xfrm>
            <a:off x="4573498" y="1132051"/>
            <a:ext cx="4257019" cy="3781736"/>
          </a:xfrm>
          <a:prstGeom prst="roundRect">
            <a:avLst/>
          </a:prstGeom>
          <a:solidFill>
            <a:schemeClr val="accent5">
              <a:lumMod val="20000"/>
              <a:lumOff val="80000"/>
            </a:schemeClr>
          </a:solidFill>
          <a:ln>
            <a:solidFill>
              <a:schemeClr val="accent1"/>
            </a:solidFill>
          </a:ln>
        </p:spPr>
        <p:style>
          <a:lnRef idx="1">
            <a:schemeClr val="accent6"/>
          </a:lnRef>
          <a:fillRef idx="2">
            <a:schemeClr val="accent6"/>
          </a:fillRef>
          <a:effectRef idx="1">
            <a:schemeClr val="accent6"/>
          </a:effectRef>
          <a:fontRef idx="minor">
            <a:schemeClr val="dk1"/>
          </a:fontRef>
        </p:style>
        <p:txBody>
          <a:bodyPr spcFirstLastPara="1" wrap="square" lIns="91425" tIns="91425" rIns="91425" bIns="91425" anchor="t" anchorCtr="0">
            <a:noAutofit/>
          </a:bodyPr>
          <a:lstStyle/>
          <a:p>
            <a:pPr marL="139700" algn="ctr">
              <a:lnSpc>
                <a:spcPct val="115000"/>
              </a:lnSpc>
              <a:buClr>
                <a:schemeClr val="dk2"/>
              </a:buClr>
              <a:buSzPts val="1400"/>
            </a:pPr>
            <a:r>
              <a:rPr lang="en" sz="1600" b="1">
                <a:solidFill>
                  <a:schemeClr val="dk2"/>
                </a:solidFill>
                <a:latin typeface="Lato"/>
                <a:ea typeface="Lato"/>
                <a:cs typeface="Lato"/>
              </a:rPr>
              <a:t>Fall 2025</a:t>
            </a:r>
            <a:endParaRPr lang="en-US" sz="1600">
              <a:solidFill>
                <a:schemeClr val="dk2"/>
              </a:solidFill>
              <a:cs typeface="Arial"/>
            </a:endParaRPr>
          </a:p>
          <a:p>
            <a:pPr marL="139700">
              <a:lnSpc>
                <a:spcPct val="114999"/>
              </a:lnSpc>
              <a:buSzPts val="1400"/>
            </a:pPr>
            <a:endParaRPr lang="en" sz="1050">
              <a:solidFill>
                <a:schemeClr val="dk2"/>
              </a:solidFill>
              <a:latin typeface="Lato"/>
              <a:ea typeface="Lato"/>
              <a:cs typeface="Lato"/>
            </a:endParaRPr>
          </a:p>
          <a:p>
            <a:pPr marL="425450" indent="-285750">
              <a:lnSpc>
                <a:spcPct val="114999"/>
              </a:lnSpc>
              <a:buSzPts val="1400"/>
              <a:buChar char="•"/>
            </a:pPr>
            <a:r>
              <a:rPr lang="en" b="1" u="sng">
                <a:solidFill>
                  <a:schemeClr val="dk2"/>
                </a:solidFill>
                <a:latin typeface="Lato"/>
                <a:ea typeface="Lato"/>
                <a:cs typeface="Lato"/>
              </a:rPr>
              <a:t>August – mid-October:</a:t>
            </a:r>
          </a:p>
          <a:p>
            <a:pPr marL="882650" lvl="1" indent="-285750">
              <a:lnSpc>
                <a:spcPct val="114999"/>
              </a:lnSpc>
              <a:buSzPts val="1400"/>
              <a:buFont typeface="Courier New"/>
              <a:buChar char="o"/>
            </a:pPr>
            <a:r>
              <a:rPr lang="en">
                <a:solidFill>
                  <a:schemeClr val="dk2"/>
                </a:solidFill>
                <a:latin typeface="Lato"/>
                <a:ea typeface="Lato"/>
                <a:cs typeface="Lato"/>
              </a:rPr>
              <a:t>Continue exploring text-analysis models for </a:t>
            </a:r>
            <a:r>
              <a:rPr lang="en" b="1">
                <a:solidFill>
                  <a:schemeClr val="dk2"/>
                </a:solidFill>
                <a:latin typeface="Lato"/>
                <a:ea typeface="Lato"/>
                <a:cs typeface="Lato"/>
              </a:rPr>
              <a:t>sentiment analysis</a:t>
            </a:r>
            <a:endParaRPr lang="en" b="1">
              <a:solidFill>
                <a:schemeClr val="dk2"/>
              </a:solidFill>
              <a:cs typeface="Arial"/>
            </a:endParaRPr>
          </a:p>
          <a:p>
            <a:pPr marL="914400" lvl="1" indent="-317500">
              <a:lnSpc>
                <a:spcPct val="114999"/>
              </a:lnSpc>
              <a:buSzPts val="1400"/>
              <a:buFont typeface="Lato,Sans-Serif"/>
              <a:buChar char="○"/>
            </a:pPr>
            <a:r>
              <a:rPr lang="en" b="1">
                <a:solidFill>
                  <a:schemeClr val="dk2"/>
                </a:solidFill>
                <a:latin typeface="Lato"/>
                <a:ea typeface="Lato"/>
                <a:cs typeface="Lato"/>
              </a:rPr>
              <a:t>BERT</a:t>
            </a:r>
            <a:r>
              <a:rPr lang="en">
                <a:solidFill>
                  <a:schemeClr val="dk2"/>
                </a:solidFill>
                <a:latin typeface="Lato"/>
                <a:ea typeface="Lato"/>
                <a:cs typeface="Lato"/>
              </a:rPr>
              <a:t> - Google’s NLP model that can learn a wide breadth of tasks relating to language</a:t>
            </a:r>
            <a:endParaRPr lang="en-US">
              <a:solidFill>
                <a:schemeClr val="dk2"/>
              </a:solidFill>
              <a:latin typeface="Lato"/>
              <a:ea typeface="Lato"/>
              <a:cs typeface="Lato"/>
            </a:endParaRPr>
          </a:p>
          <a:p>
            <a:pPr marL="425450" indent="-285750">
              <a:lnSpc>
                <a:spcPct val="114999"/>
              </a:lnSpc>
              <a:buSzPts val="1400"/>
              <a:buChar char="•"/>
            </a:pPr>
            <a:r>
              <a:rPr lang="en" b="1" u="sng">
                <a:solidFill>
                  <a:schemeClr val="dk2"/>
                </a:solidFill>
                <a:latin typeface="Lato"/>
                <a:ea typeface="Lato"/>
                <a:cs typeface="Lato"/>
              </a:rPr>
              <a:t>Mid-October – December:</a:t>
            </a:r>
          </a:p>
          <a:p>
            <a:pPr marL="882650" lvl="1" indent="-285750">
              <a:lnSpc>
                <a:spcPct val="114999"/>
              </a:lnSpc>
              <a:buSzPts val="1400"/>
              <a:buFont typeface="Lato,Sans-Serif"/>
              <a:buChar char="○"/>
            </a:pPr>
            <a:r>
              <a:rPr lang="en">
                <a:solidFill>
                  <a:schemeClr val="dk2"/>
                </a:solidFill>
                <a:latin typeface="Lato"/>
                <a:ea typeface="Lato"/>
                <a:cs typeface="Lato"/>
              </a:rPr>
              <a:t>Analyze dataset to understand student levels of </a:t>
            </a:r>
            <a:r>
              <a:rPr lang="en" b="1">
                <a:solidFill>
                  <a:schemeClr val="dk2"/>
                </a:solidFill>
                <a:latin typeface="Lato"/>
                <a:ea typeface="Lato"/>
                <a:cs typeface="Lato"/>
              </a:rPr>
              <a:t>cognitive presence</a:t>
            </a:r>
            <a:endParaRPr lang="en" b="1">
              <a:solidFill>
                <a:schemeClr val="dk2"/>
              </a:solidFill>
              <a:cs typeface="Arial"/>
            </a:endParaRPr>
          </a:p>
          <a:p>
            <a:pPr marL="425450" indent="-285750">
              <a:lnSpc>
                <a:spcPct val="114999"/>
              </a:lnSpc>
              <a:buSzPts val="1400"/>
              <a:buChar char="•"/>
            </a:pPr>
            <a:r>
              <a:rPr lang="en" b="1" u="sng">
                <a:solidFill>
                  <a:schemeClr val="dk2"/>
                </a:solidFill>
                <a:latin typeface="Lato"/>
                <a:ea typeface="Lato"/>
                <a:cs typeface="Lato"/>
              </a:rPr>
              <a:t>December:</a:t>
            </a:r>
          </a:p>
          <a:p>
            <a:pPr marL="882650" lvl="1" indent="-285750">
              <a:lnSpc>
                <a:spcPct val="114999"/>
              </a:lnSpc>
              <a:buSzPts val="1400"/>
              <a:buFont typeface="Lato,Sans-Serif"/>
              <a:buChar char="○"/>
            </a:pPr>
            <a:r>
              <a:rPr lang="en">
                <a:solidFill>
                  <a:schemeClr val="dk2"/>
                </a:solidFill>
                <a:latin typeface="Lato"/>
                <a:ea typeface="Lato"/>
                <a:cs typeface="Lato"/>
              </a:rPr>
              <a:t>Using insights, revamp dashboard from last semesters </a:t>
            </a:r>
            <a:endParaRPr lang="en">
              <a:solidFill>
                <a:schemeClr val="dk2"/>
              </a:solidFill>
              <a:cs typeface="Arial"/>
            </a:endParaRPr>
          </a:p>
        </p:txBody>
      </p:sp>
      <p:sp>
        <p:nvSpPr>
          <p:cNvPr id="4" name="Arrow: Right 3">
            <a:extLst>
              <a:ext uri="{FF2B5EF4-FFF2-40B4-BE49-F238E27FC236}">
                <a16:creationId xmlns:a16="http://schemas.microsoft.com/office/drawing/2014/main" id="{8CC6679A-3A71-748F-F15D-943D8BE28CAF}"/>
              </a:ext>
            </a:extLst>
          </p:cNvPr>
          <p:cNvSpPr/>
          <p:nvPr/>
        </p:nvSpPr>
        <p:spPr>
          <a:xfrm>
            <a:off x="3794242" y="2604540"/>
            <a:ext cx="965771" cy="590237"/>
          </a:xfrm>
          <a:prstGeom prst="right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24"/>
          <p:cNvSpPr txBox="1">
            <a:spLocks noGrp="1"/>
          </p:cNvSpPr>
          <p:nvPr>
            <p:ph type="title" idx="4294967295"/>
          </p:nvPr>
        </p:nvSpPr>
        <p:spPr>
          <a:xfrm>
            <a:off x="229106" y="159185"/>
            <a:ext cx="8572500" cy="761100"/>
          </a:xfrm>
          <a:prstGeom prst="rect">
            <a:avLst/>
          </a:prstGeom>
          <a:noFill/>
          <a:ln>
            <a:noFill/>
          </a:ln>
        </p:spPr>
        <p:txBody>
          <a:bodyPr spcFirstLastPara="1" wrap="square" lIns="68575" tIns="34275" rIns="68575" bIns="34275" anchor="ctr" anchorCtr="0">
            <a:normAutofit fontScale="90000"/>
          </a:bodyPr>
          <a:lstStyle/>
          <a:p>
            <a:pPr marL="0" lvl="0" indent="0" algn="l" rtl="0">
              <a:lnSpc>
                <a:spcPct val="90000"/>
              </a:lnSpc>
              <a:spcBef>
                <a:spcPts val="0"/>
              </a:spcBef>
              <a:spcAft>
                <a:spcPts val="0"/>
              </a:spcAft>
              <a:buSzPct val="43750"/>
              <a:buNone/>
            </a:pPr>
            <a:r>
              <a:rPr lang="en"/>
              <a:t>Metrics/Data We’re Using/ Why this Data is Relevant</a:t>
            </a:r>
            <a:endParaRPr/>
          </a:p>
        </p:txBody>
      </p:sp>
      <p:sp>
        <p:nvSpPr>
          <p:cNvPr id="162" name="Google Shape;162;p24"/>
          <p:cNvSpPr txBox="1"/>
          <p:nvPr/>
        </p:nvSpPr>
        <p:spPr>
          <a:xfrm>
            <a:off x="0" y="0"/>
            <a:ext cx="8362500" cy="369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endParaRPr sz="1200">
              <a:latin typeface="Times New Roman"/>
              <a:ea typeface="Times New Roman"/>
              <a:cs typeface="Times New Roman"/>
              <a:sym typeface="Times New Roman"/>
            </a:endParaRPr>
          </a:p>
        </p:txBody>
      </p:sp>
      <p:sp>
        <p:nvSpPr>
          <p:cNvPr id="163" name="Google Shape;163;p24"/>
          <p:cNvSpPr txBox="1"/>
          <p:nvPr/>
        </p:nvSpPr>
        <p:spPr>
          <a:xfrm>
            <a:off x="255125" y="1114475"/>
            <a:ext cx="8572500" cy="3857100"/>
          </a:xfrm>
          <a:prstGeom prst="rect">
            <a:avLst/>
          </a:prstGeom>
          <a:noFill/>
          <a:ln>
            <a:noFill/>
          </a:ln>
        </p:spPr>
        <p:txBody>
          <a:bodyPr spcFirstLastPara="1" wrap="square" lIns="91425" tIns="91425" rIns="91425" bIns="91425" anchor="t" anchorCtr="0">
            <a:noAutofit/>
          </a:bodyPr>
          <a:lstStyle/>
          <a:p>
            <a:pPr marL="114300">
              <a:buClr>
                <a:schemeClr val="dk2"/>
              </a:buClr>
              <a:buSzPts val="1800"/>
            </a:pPr>
            <a:r>
              <a:rPr lang="en" sz="1600">
                <a:solidFill>
                  <a:schemeClr val="dk2"/>
                </a:solidFill>
                <a:latin typeface="Lato"/>
                <a:ea typeface="Lato"/>
                <a:cs typeface="Lato"/>
              </a:rPr>
              <a:t>Hybrid approach using preprocessed and processed edX data</a:t>
            </a:r>
            <a:endParaRPr lang="en" sz="1600">
              <a:solidFill>
                <a:schemeClr val="dk2"/>
              </a:solidFill>
              <a:latin typeface="Lato"/>
              <a:ea typeface="Lato"/>
              <a:cs typeface="Lato"/>
              <a:sym typeface="Lato"/>
            </a:endParaRPr>
          </a:p>
          <a:p>
            <a:pPr marL="400050" indent="-285750">
              <a:buSzPts val="1800"/>
              <a:buFont typeface="Calibri"/>
              <a:buChar char="-"/>
            </a:pPr>
            <a:r>
              <a:rPr lang="en" sz="1600">
                <a:solidFill>
                  <a:schemeClr val="dk2"/>
                </a:solidFill>
                <a:latin typeface="Lato"/>
                <a:ea typeface="Lato"/>
                <a:cs typeface="Lato"/>
              </a:rPr>
              <a:t>~18.5k data entries</a:t>
            </a:r>
          </a:p>
          <a:p>
            <a:pPr marL="400050" indent="-285750">
              <a:buSzPts val="1800"/>
              <a:buFont typeface="Calibri"/>
              <a:buChar char="-"/>
            </a:pPr>
            <a:r>
              <a:rPr lang="en" sz="1600">
                <a:solidFill>
                  <a:schemeClr val="dk2"/>
                </a:solidFill>
                <a:latin typeface="Lato"/>
                <a:ea typeface="Lato"/>
                <a:cs typeface="Lato"/>
              </a:rPr>
              <a:t>Tradeoff assessment</a:t>
            </a:r>
          </a:p>
          <a:p>
            <a:pPr marL="400050" indent="-285750">
              <a:buSzPts val="1800"/>
              <a:buFont typeface="Calibri"/>
              <a:buChar char="-"/>
            </a:pPr>
            <a:r>
              <a:rPr lang="en" sz="1600">
                <a:solidFill>
                  <a:schemeClr val="dk2"/>
                </a:solidFill>
                <a:latin typeface="Lato"/>
                <a:ea typeface="Lato"/>
                <a:cs typeface="Lato"/>
              </a:rPr>
              <a:t>Determine from results the more useful data</a:t>
            </a:r>
          </a:p>
          <a:p>
            <a:pPr marL="400050" indent="-285750">
              <a:buSzPts val="1800"/>
              <a:buFont typeface="Calibri"/>
              <a:buChar char="-"/>
            </a:pPr>
            <a:endParaRPr lang="en" sz="1600">
              <a:solidFill>
                <a:schemeClr val="dk2"/>
              </a:solidFill>
              <a:latin typeface="Lato"/>
              <a:ea typeface="Lato"/>
              <a:cs typeface="Lato"/>
              <a:sym typeface="Lato"/>
            </a:endParaRPr>
          </a:p>
          <a:p>
            <a:pPr marL="114300">
              <a:buSzPts val="1800"/>
            </a:pPr>
            <a:r>
              <a:rPr lang="en" sz="1600">
                <a:solidFill>
                  <a:schemeClr val="dk2"/>
                </a:solidFill>
                <a:latin typeface="Lato"/>
                <a:ea typeface="Lato"/>
                <a:cs typeface="Lato"/>
                <a:sym typeface="Lato"/>
              </a:rPr>
              <a:t>BERT - Deep learning model</a:t>
            </a:r>
            <a:endParaRPr lang="en-US" sz="1600">
              <a:solidFill>
                <a:schemeClr val="dk2"/>
              </a:solidFill>
              <a:latin typeface="Lato"/>
              <a:ea typeface="Lato"/>
              <a:cs typeface="Lato"/>
            </a:endParaRPr>
          </a:p>
          <a:p>
            <a:pPr marL="114300">
              <a:buSzPts val="1800"/>
            </a:pPr>
            <a:endParaRPr lang="en" sz="1600">
              <a:solidFill>
                <a:schemeClr val="dk2"/>
              </a:solidFill>
              <a:latin typeface="Lato"/>
              <a:ea typeface="Lato"/>
              <a:cs typeface="Lato"/>
              <a:sym typeface="Lato"/>
            </a:endParaRPr>
          </a:p>
          <a:p>
            <a:pPr marL="114300">
              <a:buSzPts val="1800"/>
            </a:pPr>
            <a:r>
              <a:rPr lang="en" sz="1600">
                <a:solidFill>
                  <a:schemeClr val="dk2"/>
                </a:solidFill>
                <a:latin typeface="Lato"/>
                <a:ea typeface="Lato"/>
                <a:cs typeface="Lato"/>
                <a:sym typeface="Lato"/>
              </a:rPr>
              <a:t>Sprint 1: Benchmark</a:t>
            </a:r>
            <a:endParaRPr lang="en" sz="1600">
              <a:solidFill>
                <a:schemeClr val="dk2"/>
              </a:solidFill>
              <a:latin typeface="Lato"/>
              <a:ea typeface="Lato"/>
              <a:cs typeface="Lato"/>
            </a:endParaRPr>
          </a:p>
          <a:p>
            <a:pPr marL="400050" indent="-285750">
              <a:buSzPts val="1800"/>
              <a:buFont typeface="Calibri"/>
              <a:buChar char="-"/>
            </a:pPr>
            <a:r>
              <a:rPr lang="en" sz="1600">
                <a:solidFill>
                  <a:schemeClr val="dk2"/>
                </a:solidFill>
                <a:latin typeface="Lato"/>
                <a:ea typeface="Lato"/>
                <a:cs typeface="Lato"/>
              </a:rPr>
              <a:t>Label the first thousand data points based on five declared, sentiment categories</a:t>
            </a:r>
          </a:p>
          <a:p>
            <a:pPr marL="114300">
              <a:buSzPts val="1800"/>
            </a:pPr>
            <a:r>
              <a:rPr lang="en" sz="1600">
                <a:solidFill>
                  <a:schemeClr val="dk2"/>
                </a:solidFill>
                <a:latin typeface="Lato"/>
                <a:ea typeface="Lato"/>
                <a:cs typeface="Lato"/>
                <a:sym typeface="Lato"/>
              </a:rPr>
              <a:t>Sprint 2: Scaling</a:t>
            </a:r>
            <a:endParaRPr lang="en" sz="1600">
              <a:solidFill>
                <a:schemeClr val="dk2"/>
              </a:solidFill>
              <a:latin typeface="Lato"/>
              <a:ea typeface="Lato"/>
              <a:cs typeface="Lato"/>
            </a:endParaRPr>
          </a:p>
          <a:p>
            <a:pPr marL="400050" indent="-285750">
              <a:buSzPts val="1800"/>
              <a:buFont typeface="Calibri"/>
              <a:buChar char="-"/>
            </a:pPr>
            <a:r>
              <a:rPr lang="en" sz="1600">
                <a:solidFill>
                  <a:schemeClr val="dk2"/>
                </a:solidFill>
                <a:latin typeface="Lato"/>
                <a:ea typeface="Lato"/>
                <a:cs typeface="Lato"/>
              </a:rPr>
              <a:t>Create </a:t>
            </a:r>
            <a:r>
              <a:rPr lang="en" sz="1600" b="1">
                <a:solidFill>
                  <a:schemeClr val="dk2"/>
                </a:solidFill>
                <a:latin typeface="Lato"/>
                <a:ea typeface="Lato"/>
                <a:cs typeface="Lato"/>
              </a:rPr>
              <a:t>data pipeline </a:t>
            </a:r>
            <a:r>
              <a:rPr lang="en" sz="1600">
                <a:solidFill>
                  <a:schemeClr val="dk2"/>
                </a:solidFill>
                <a:latin typeface="Lato"/>
                <a:ea typeface="Lato"/>
                <a:cs typeface="Lato"/>
              </a:rPr>
              <a:t>optimized for BERT to produce sentiment analysis results at scale</a:t>
            </a:r>
          </a:p>
          <a:p>
            <a:pPr marL="400050" indent="-285750">
              <a:buSzPts val="1800"/>
              <a:buFont typeface="Calibri"/>
              <a:buChar char="-"/>
            </a:pPr>
            <a:r>
              <a:rPr lang="en" sz="1600">
                <a:solidFill>
                  <a:schemeClr val="dk2"/>
                </a:solidFill>
                <a:latin typeface="Lato"/>
                <a:ea typeface="Lato"/>
                <a:cs typeface="Lato"/>
              </a:rPr>
              <a:t>Fine-tune model for </a:t>
            </a:r>
            <a:r>
              <a:rPr lang="en" sz="1600" b="1">
                <a:solidFill>
                  <a:schemeClr val="dk2"/>
                </a:solidFill>
                <a:latin typeface="Lato"/>
                <a:ea typeface="Lato"/>
                <a:cs typeface="Lato"/>
              </a:rPr>
              <a:t>predictive </a:t>
            </a:r>
            <a:r>
              <a:rPr lang="en" sz="1600">
                <a:solidFill>
                  <a:schemeClr val="dk2"/>
                </a:solidFill>
                <a:latin typeface="Lato"/>
                <a:ea typeface="Lato"/>
                <a:cs typeface="Lato"/>
              </a:rPr>
              <a:t>analysis</a:t>
            </a:r>
          </a:p>
          <a:p>
            <a:pPr marL="114300">
              <a:buSzPts val="1800"/>
            </a:pPr>
            <a:r>
              <a:rPr lang="en" sz="1600">
                <a:solidFill>
                  <a:schemeClr val="dk2"/>
                </a:solidFill>
                <a:latin typeface="Lato"/>
                <a:ea typeface="Lato"/>
                <a:cs typeface="Lato"/>
              </a:rPr>
              <a:t>Sprint 3: Interpret</a:t>
            </a:r>
          </a:p>
          <a:p>
            <a:pPr marL="400050" indent="-285750">
              <a:buSzPts val="1800"/>
              <a:buFont typeface="Calibri"/>
              <a:buChar char="-"/>
            </a:pPr>
            <a:r>
              <a:rPr lang="en" sz="1600">
                <a:solidFill>
                  <a:schemeClr val="dk2"/>
                </a:solidFill>
                <a:ea typeface="Lato"/>
              </a:rPr>
              <a:t>Integrate data viz tools into user-friendly </a:t>
            </a:r>
            <a:r>
              <a:rPr lang="en" sz="1600" b="1">
                <a:solidFill>
                  <a:schemeClr val="dk2"/>
                </a:solidFill>
                <a:ea typeface="Lato"/>
              </a:rPr>
              <a:t>dashboard </a:t>
            </a:r>
            <a:r>
              <a:rPr lang="en" sz="1600">
                <a:solidFill>
                  <a:schemeClr val="dk2"/>
                </a:solidFill>
                <a:ea typeface="Lato"/>
              </a:rPr>
              <a:t>+ deployment?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5"/>
          <p:cNvSpPr txBox="1">
            <a:spLocks noGrp="1"/>
          </p:cNvSpPr>
          <p:nvPr>
            <p:ph type="title" idx="4294967295"/>
          </p:nvPr>
        </p:nvSpPr>
        <p:spPr>
          <a:xfrm>
            <a:off x="285750" y="2191160"/>
            <a:ext cx="8572500" cy="761100"/>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SzPts val="1400"/>
              <a:buNone/>
            </a:pPr>
            <a:r>
              <a:rPr lang="en" sz="4500"/>
              <a:t>Machine Learning</a:t>
            </a:r>
            <a:endParaRPr sz="4500"/>
          </a:p>
        </p:txBody>
      </p:sp>
      <p:sp>
        <p:nvSpPr>
          <p:cNvPr id="3" name="TextBox 2">
            <a:extLst>
              <a:ext uri="{FF2B5EF4-FFF2-40B4-BE49-F238E27FC236}">
                <a16:creationId xmlns:a16="http://schemas.microsoft.com/office/drawing/2014/main" id="{3AB43892-5B12-0915-8BFA-BE77260741C4}"/>
              </a:ext>
            </a:extLst>
          </p:cNvPr>
          <p:cNvSpPr txBox="1"/>
          <p:nvPr/>
        </p:nvSpPr>
        <p:spPr>
          <a:xfrm>
            <a:off x="2286000" y="2418326"/>
            <a:ext cx="4572000" cy="307777"/>
          </a:xfrm>
          <a:prstGeom prst="rect">
            <a:avLst/>
          </a:prstGeom>
          <a:noFill/>
        </p:spPr>
        <p:txBody>
          <a:bodyPr wrap="square">
            <a:spAutoFit/>
          </a:bodyPr>
          <a:lstStyle/>
          <a:p>
            <a:r>
              <a:rPr lang="en-US" b="0">
                <a:effectLst/>
              </a:rPr>
              <a:t> </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0">
          <a:extLst>
            <a:ext uri="{FF2B5EF4-FFF2-40B4-BE49-F238E27FC236}">
              <a16:creationId xmlns:a16="http://schemas.microsoft.com/office/drawing/2014/main" id="{1A176AF0-1656-B382-9066-FC6D5126068E}"/>
            </a:ext>
          </a:extLst>
        </p:cNvPr>
        <p:cNvGrpSpPr/>
        <p:nvPr/>
      </p:nvGrpSpPr>
      <p:grpSpPr>
        <a:xfrm>
          <a:off x="0" y="0"/>
          <a:ext cx="0" cy="0"/>
          <a:chOff x="0" y="0"/>
          <a:chExt cx="0" cy="0"/>
        </a:xfrm>
      </p:grpSpPr>
      <p:sp>
        <p:nvSpPr>
          <p:cNvPr id="101" name="Google Shape;101;p19">
            <a:extLst>
              <a:ext uri="{FF2B5EF4-FFF2-40B4-BE49-F238E27FC236}">
                <a16:creationId xmlns:a16="http://schemas.microsoft.com/office/drawing/2014/main" id="{E5BE6638-31FF-516A-B855-212C8DD15D82}"/>
              </a:ext>
            </a:extLst>
          </p:cNvPr>
          <p:cNvSpPr txBox="1">
            <a:spLocks noGrp="1"/>
          </p:cNvSpPr>
          <p:nvPr>
            <p:ph type="body" idx="1"/>
          </p:nvPr>
        </p:nvSpPr>
        <p:spPr>
          <a:xfrm>
            <a:off x="285750" y="911625"/>
            <a:ext cx="3803785" cy="3893784"/>
          </a:xfrm>
          <a:prstGeom prst="rect">
            <a:avLst/>
          </a:prstGeom>
        </p:spPr>
        <p:txBody>
          <a:bodyPr spcFirstLastPara="1" wrap="square" lIns="68575" tIns="34275" rIns="68575" bIns="34275" anchor="t" anchorCtr="0">
            <a:normAutofit/>
          </a:bodyPr>
          <a:lstStyle/>
          <a:p>
            <a:pPr marL="0" lvl="0" indent="0" algn="l" rtl="0">
              <a:spcBef>
                <a:spcPts val="800"/>
              </a:spcBef>
              <a:spcAft>
                <a:spcPts val="0"/>
              </a:spcAft>
              <a:buNone/>
            </a:pPr>
            <a:r>
              <a:rPr lang="en-US"/>
              <a:t>KNN Model: </a:t>
            </a:r>
          </a:p>
          <a:p>
            <a:r>
              <a:rPr lang="en-US"/>
              <a:t>K-Nearest Neighbor Model uses k-nearest points to find to predict the response variable with n factors</a:t>
            </a:r>
          </a:p>
          <a:p>
            <a:r>
              <a:rPr lang="en-US"/>
              <a:t>We tuned this model and found the lowest error when using k=5</a:t>
            </a:r>
          </a:p>
          <a:p>
            <a:r>
              <a:rPr lang="en-US"/>
              <a:t>Replying to posts reflects more positively on grades than creating new posts</a:t>
            </a:r>
          </a:p>
          <a:p>
            <a:pPr lvl="1">
              <a:buFont typeface="Courier New"/>
              <a:buChar char="o"/>
            </a:pPr>
            <a:endParaRPr lang="en-US"/>
          </a:p>
        </p:txBody>
      </p:sp>
      <p:sp>
        <p:nvSpPr>
          <p:cNvPr id="102" name="Google Shape;102;p19">
            <a:extLst>
              <a:ext uri="{FF2B5EF4-FFF2-40B4-BE49-F238E27FC236}">
                <a16:creationId xmlns:a16="http://schemas.microsoft.com/office/drawing/2014/main" id="{CD2F7DCE-5424-BB3D-3DA6-29CAC1F349A4}"/>
              </a:ext>
            </a:extLst>
          </p:cNvPr>
          <p:cNvSpPr txBox="1">
            <a:spLocks noGrp="1"/>
          </p:cNvSpPr>
          <p:nvPr>
            <p:ph type="title"/>
          </p:nvPr>
        </p:nvSpPr>
        <p:spPr>
          <a:xfrm>
            <a:off x="285750" y="150541"/>
            <a:ext cx="8572500" cy="761100"/>
          </a:xfrm>
          <a:prstGeom prst="rect">
            <a:avLst/>
          </a:prstGeom>
        </p:spPr>
        <p:txBody>
          <a:bodyPr spcFirstLastPara="1" wrap="square" lIns="68575" tIns="34275" rIns="68575" bIns="34275" anchor="ctr" anchorCtr="0">
            <a:normAutofit/>
          </a:bodyPr>
          <a:lstStyle/>
          <a:p>
            <a:r>
              <a:rPr lang="en" sz="3100"/>
              <a:t>Spring Recap: </a:t>
            </a:r>
            <a:endParaRPr lang="en-US" sz="3100"/>
          </a:p>
        </p:txBody>
      </p:sp>
      <p:pic>
        <p:nvPicPr>
          <p:cNvPr id="10" name="Picture 9">
            <a:extLst>
              <a:ext uri="{FF2B5EF4-FFF2-40B4-BE49-F238E27FC236}">
                <a16:creationId xmlns:a16="http://schemas.microsoft.com/office/drawing/2014/main" id="{86D0426A-D05C-5944-8F66-C89C781EEB23}"/>
              </a:ext>
            </a:extLst>
          </p:cNvPr>
          <p:cNvPicPr>
            <a:picLocks noChangeAspect="1"/>
          </p:cNvPicPr>
          <p:nvPr/>
        </p:nvPicPr>
        <p:blipFill>
          <a:blip r:embed="rId3"/>
          <a:stretch>
            <a:fillRect/>
          </a:stretch>
        </p:blipFill>
        <p:spPr>
          <a:xfrm>
            <a:off x="4229100" y="482125"/>
            <a:ext cx="4768176" cy="4179250"/>
          </a:xfrm>
          <a:prstGeom prst="rect">
            <a:avLst/>
          </a:prstGeom>
        </p:spPr>
      </p:pic>
    </p:spTree>
    <p:extLst>
      <p:ext uri="{BB962C8B-B14F-4D97-AF65-F5344CB8AC3E}">
        <p14:creationId xmlns:p14="http://schemas.microsoft.com/office/powerpoint/2010/main" val="25237441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6"/>
          <p:cNvSpPr txBox="1">
            <a:spLocks noGrp="1"/>
          </p:cNvSpPr>
          <p:nvPr>
            <p:ph type="title" idx="4294967295"/>
          </p:nvPr>
        </p:nvSpPr>
        <p:spPr>
          <a:xfrm>
            <a:off x="229106" y="159185"/>
            <a:ext cx="8572500" cy="7611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SzPts val="1400"/>
              <a:buNone/>
            </a:pPr>
            <a:r>
              <a:rPr lang="en"/>
              <a:t>Goals for the Semester </a:t>
            </a:r>
            <a:endParaRPr/>
          </a:p>
        </p:txBody>
      </p:sp>
      <p:sp>
        <p:nvSpPr>
          <p:cNvPr id="4" name="Google Shape;111;p20">
            <a:extLst>
              <a:ext uri="{FF2B5EF4-FFF2-40B4-BE49-F238E27FC236}">
                <a16:creationId xmlns:a16="http://schemas.microsoft.com/office/drawing/2014/main" id="{D03C87F4-B12F-1EBB-5158-8EDB0E368823}"/>
              </a:ext>
            </a:extLst>
          </p:cNvPr>
          <p:cNvSpPr txBox="1">
            <a:spLocks/>
          </p:cNvSpPr>
          <p:nvPr/>
        </p:nvSpPr>
        <p:spPr>
          <a:xfrm>
            <a:off x="287478" y="844551"/>
            <a:ext cx="8354351" cy="3828300"/>
          </a:xfrm>
          <a:prstGeom prst="rect">
            <a:avLst/>
          </a:prstGeom>
          <a:noFill/>
          <a:ln>
            <a:noFill/>
          </a:ln>
        </p:spPr>
        <p:txBody>
          <a:bodyPr spcFirstLastPara="1" wrap="square" lIns="68575" tIns="34275" rIns="68575" bIns="3427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Lato"/>
              <a:buChar char="●"/>
              <a:defRPr sz="1800" b="0" i="0" u="none" strike="noStrike" cap="none">
                <a:solidFill>
                  <a:schemeClr val="dk2"/>
                </a:solidFill>
                <a:latin typeface="Lato"/>
                <a:ea typeface="Lato"/>
                <a:cs typeface="Lato"/>
                <a:sym typeface="Lato"/>
              </a:defRPr>
            </a:lvl1pPr>
            <a:lvl2pPr marL="914400" marR="0" lvl="1" indent="-317500" algn="l" rtl="0">
              <a:lnSpc>
                <a:spcPct val="115000"/>
              </a:lnSpc>
              <a:spcBef>
                <a:spcPts val="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2pPr>
            <a:lvl3pPr marL="1371600" marR="0" lvl="2" indent="-317500" algn="l" rtl="0">
              <a:lnSpc>
                <a:spcPct val="115000"/>
              </a:lnSpc>
              <a:spcBef>
                <a:spcPts val="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3pPr>
            <a:lvl4pPr marL="1828800" marR="0" lvl="3" indent="-317500" algn="l" rtl="0">
              <a:lnSpc>
                <a:spcPct val="115000"/>
              </a:lnSpc>
              <a:spcBef>
                <a:spcPts val="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4pPr>
            <a:lvl5pPr marL="2286000" marR="0" lvl="4" indent="-317500" algn="l" rtl="0">
              <a:lnSpc>
                <a:spcPct val="115000"/>
              </a:lnSpc>
              <a:spcBef>
                <a:spcPts val="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5pPr>
            <a:lvl6pPr marL="2743200" marR="0" lvl="5" indent="-317500" algn="l" rtl="0">
              <a:lnSpc>
                <a:spcPct val="115000"/>
              </a:lnSpc>
              <a:spcBef>
                <a:spcPts val="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6pPr>
            <a:lvl7pPr marL="3200400" marR="0" lvl="6" indent="-317500" algn="l" rtl="0">
              <a:lnSpc>
                <a:spcPct val="115000"/>
              </a:lnSpc>
              <a:spcBef>
                <a:spcPts val="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7pPr>
            <a:lvl8pPr marL="3657600" marR="0" lvl="7" indent="-317500" algn="l" rtl="0">
              <a:lnSpc>
                <a:spcPct val="115000"/>
              </a:lnSpc>
              <a:spcBef>
                <a:spcPts val="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8pPr>
            <a:lvl9pPr marL="4114800" marR="0" lvl="8" indent="-317500" algn="l" rtl="0">
              <a:lnSpc>
                <a:spcPct val="115000"/>
              </a:lnSpc>
              <a:spcBef>
                <a:spcPts val="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9pPr>
          </a:lstStyle>
          <a:p>
            <a:pPr indent="-336550">
              <a:buSzPts val="1700"/>
            </a:pPr>
            <a:r>
              <a:rPr lang="en-US" sz="1700"/>
              <a:t>Using data from CS1301 2017 &amp; 2018</a:t>
            </a:r>
          </a:p>
          <a:p>
            <a:pPr lvl="1" indent="-336550">
              <a:buSzPts val="1700"/>
            </a:pPr>
            <a:r>
              <a:rPr lang="en-US" sz="1700"/>
              <a:t>Join grades, forum post, and forum thread datasets with queries</a:t>
            </a:r>
          </a:p>
          <a:p>
            <a:pPr lvl="1" indent="-336550">
              <a:buSzPts val="1700"/>
            </a:pPr>
            <a:r>
              <a:rPr lang="en-US" sz="1700"/>
              <a:t>Clean null/blank information</a:t>
            </a:r>
          </a:p>
          <a:p>
            <a:pPr indent="-336550">
              <a:buSzPts val="1700"/>
            </a:pPr>
            <a:r>
              <a:rPr lang="en-US" sz="1700"/>
              <a:t>Process data to create a bi-modal student behaviors model</a:t>
            </a:r>
          </a:p>
          <a:p>
            <a:pPr lvl="1" indent="-336550">
              <a:buSzPts val="1700"/>
            </a:pPr>
            <a:r>
              <a:rPr lang="en-US" sz="1700"/>
              <a:t>Our target variable is student grades and we want to identify which forum behaviors predict academic success</a:t>
            </a:r>
          </a:p>
          <a:p>
            <a:pPr lvl="1" indent="-336550">
              <a:buSzPts val="1700"/>
            </a:pPr>
            <a:r>
              <a:rPr lang="en-US" sz="1700"/>
              <a:t>We want to study 2 topics:</a:t>
            </a:r>
          </a:p>
          <a:p>
            <a:pPr lvl="2" indent="-336550">
              <a:buSzPts val="1700"/>
            </a:pPr>
            <a:r>
              <a:rPr lang="en-US" sz="1700"/>
              <a:t>Text embeddings (semantics, etc.)</a:t>
            </a:r>
          </a:p>
          <a:p>
            <a:pPr lvl="2" indent="-336550">
              <a:buSzPts val="1700"/>
            </a:pPr>
            <a:r>
              <a:rPr lang="en-US" sz="1700"/>
              <a:t>Time-series (frequency, timing in </a:t>
            </a:r>
            <a:r>
              <a:rPr lang="en-US" sz="1700" err="1"/>
              <a:t>sem</a:t>
            </a:r>
            <a:r>
              <a:rPr lang="en-US" sz="1700"/>
              <a:t>, etc.)</a:t>
            </a:r>
          </a:p>
          <a:p>
            <a:pPr indent="-336550">
              <a:buSzPts val="1700"/>
            </a:pPr>
            <a:r>
              <a:rPr lang="en-US" sz="1700"/>
              <a:t>Once identifying which behaviors are key after fusing our bi-modal model, we can create visualizations of those traits and their correlation to grades</a:t>
            </a:r>
          </a:p>
        </p:txBody>
      </p:sp>
      <p:pic>
        <p:nvPicPr>
          <p:cNvPr id="5" name="Picture 4" descr="A row of squares with text">
            <a:extLst>
              <a:ext uri="{FF2B5EF4-FFF2-40B4-BE49-F238E27FC236}">
                <a16:creationId xmlns:a16="http://schemas.microsoft.com/office/drawing/2014/main" id="{E8C89508-50DD-92DC-8D9E-C5216C2EEC19}"/>
              </a:ext>
            </a:extLst>
          </p:cNvPr>
          <p:cNvPicPr>
            <a:picLocks noChangeAspect="1"/>
          </p:cNvPicPr>
          <p:nvPr/>
        </p:nvPicPr>
        <p:blipFill>
          <a:blip r:embed="rId3">
            <a:extLst>
              <a:ext uri="{837473B0-CC2E-450A-ABE3-18F120FF3D39}">
                <a1611:picAttrSrcUrl xmlns:a1611="http://schemas.microsoft.com/office/drawing/2016/11/main" r:id="rId4"/>
              </a:ext>
            </a:extLst>
          </a:blip>
          <a:srcRect t="27519" b="14568"/>
          <a:stretch>
            <a:fillRect/>
          </a:stretch>
        </p:blipFill>
        <p:spPr>
          <a:xfrm>
            <a:off x="2463324" y="4129863"/>
            <a:ext cx="4104063" cy="85445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7"/>
          <p:cNvSpPr txBox="1">
            <a:spLocks noGrp="1"/>
          </p:cNvSpPr>
          <p:nvPr>
            <p:ph type="title" idx="4294967295"/>
          </p:nvPr>
        </p:nvSpPr>
        <p:spPr>
          <a:xfrm>
            <a:off x="229106" y="159185"/>
            <a:ext cx="8572500" cy="7611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SzPts val="1400"/>
              <a:buNone/>
            </a:pPr>
            <a:r>
              <a:rPr lang="en"/>
              <a:t>Progress So Far: </a:t>
            </a:r>
            <a:endParaRPr/>
          </a:p>
        </p:txBody>
      </p:sp>
      <p:sp>
        <p:nvSpPr>
          <p:cNvPr id="183" name="Google Shape;183;p27"/>
          <p:cNvSpPr txBox="1"/>
          <p:nvPr/>
        </p:nvSpPr>
        <p:spPr>
          <a:xfrm>
            <a:off x="362000" y="830925"/>
            <a:ext cx="8439600" cy="4002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endParaRPr>
              <a:solidFill>
                <a:schemeClr val="dk2"/>
              </a:solidFill>
            </a:endParaRPr>
          </a:p>
        </p:txBody>
      </p:sp>
      <p:sp>
        <p:nvSpPr>
          <p:cNvPr id="184" name="Google Shape;184;p27"/>
          <p:cNvSpPr txBox="1"/>
          <p:nvPr/>
        </p:nvSpPr>
        <p:spPr>
          <a:xfrm>
            <a:off x="229100" y="1177175"/>
            <a:ext cx="4755130" cy="3857100"/>
          </a:xfrm>
          <a:prstGeom prst="rect">
            <a:avLst/>
          </a:prstGeom>
          <a:noFill/>
          <a:ln>
            <a:noFill/>
          </a:ln>
        </p:spPr>
        <p:txBody>
          <a:bodyPr spcFirstLastPara="1" wrap="square" lIns="91425" tIns="91425" rIns="91425" bIns="91425" anchor="t" anchorCtr="0">
            <a:noAutofit/>
          </a:bodyPr>
          <a:lstStyle/>
          <a:p>
            <a:pPr marL="457200" lvl="0" indent="-355600" algn="l" rtl="0">
              <a:spcBef>
                <a:spcPts val="0"/>
              </a:spcBef>
              <a:spcAft>
                <a:spcPts val="0"/>
              </a:spcAft>
              <a:buClr>
                <a:schemeClr val="dk2"/>
              </a:buClr>
              <a:buSzPts val="2000"/>
              <a:buFont typeface="Lato"/>
              <a:buChar char="●"/>
            </a:pPr>
            <a:r>
              <a:rPr lang="en-US" sz="2000">
                <a:solidFill>
                  <a:schemeClr val="dk2"/>
                </a:solidFill>
                <a:latin typeface="Lato"/>
                <a:ea typeface="Lato"/>
                <a:cs typeface="Lato"/>
                <a:sym typeface="Lato"/>
              </a:rPr>
              <a:t>Identified usable data for this model</a:t>
            </a:r>
          </a:p>
          <a:p>
            <a:pPr marL="457200" lvl="0" indent="-355600" algn="l" rtl="0">
              <a:spcBef>
                <a:spcPts val="0"/>
              </a:spcBef>
              <a:spcAft>
                <a:spcPts val="0"/>
              </a:spcAft>
              <a:buClr>
                <a:schemeClr val="dk2"/>
              </a:buClr>
              <a:buSzPts val="2000"/>
              <a:buFont typeface="Lato"/>
              <a:buChar char="●"/>
            </a:pPr>
            <a:r>
              <a:rPr lang="en-US" sz="2000">
                <a:solidFill>
                  <a:schemeClr val="dk2"/>
                </a:solidFill>
                <a:latin typeface="Lato"/>
                <a:ea typeface="Lato"/>
                <a:cs typeface="Lato"/>
                <a:sym typeface="Lato"/>
              </a:rPr>
              <a:t>Concluded the two best modalities to consider when assessing student behaviors with our dataset</a:t>
            </a:r>
          </a:p>
          <a:p>
            <a:pPr marL="457200" lvl="0" indent="-355600" algn="l" rtl="0">
              <a:spcBef>
                <a:spcPts val="0"/>
              </a:spcBef>
              <a:spcAft>
                <a:spcPts val="0"/>
              </a:spcAft>
              <a:buClr>
                <a:schemeClr val="dk2"/>
              </a:buClr>
              <a:buSzPts val="2000"/>
              <a:buFont typeface="Lato"/>
              <a:buChar char="●"/>
            </a:pPr>
            <a:r>
              <a:rPr lang="en-US" sz="2000">
                <a:solidFill>
                  <a:schemeClr val="dk2"/>
                </a:solidFill>
                <a:latin typeface="Lato"/>
                <a:ea typeface="Lato"/>
                <a:cs typeface="Lato"/>
                <a:sym typeface="Lato"/>
              </a:rPr>
              <a:t>Decided to use LSTM ML function for time-series modality and Transformer ML function for semantic modality</a:t>
            </a:r>
          </a:p>
          <a:p>
            <a:pPr marL="457200" lvl="0" indent="-355600" algn="l" rtl="0">
              <a:spcBef>
                <a:spcPts val="0"/>
              </a:spcBef>
              <a:spcAft>
                <a:spcPts val="0"/>
              </a:spcAft>
              <a:buClr>
                <a:schemeClr val="dk2"/>
              </a:buClr>
              <a:buSzPts val="2000"/>
              <a:buFont typeface="Lato"/>
              <a:buChar char="●"/>
            </a:pPr>
            <a:r>
              <a:rPr lang="en-US" sz="2000">
                <a:solidFill>
                  <a:schemeClr val="dk2"/>
                </a:solidFill>
                <a:latin typeface="Lato"/>
                <a:ea typeface="Lato"/>
                <a:cs typeface="Lato"/>
                <a:sym typeface="Lato"/>
              </a:rPr>
              <a:t>Started writing queries to join 3 tables where necessary for end model to process</a:t>
            </a:r>
            <a:endParaRPr sz="2000">
              <a:solidFill>
                <a:schemeClr val="dk2"/>
              </a:solidFill>
              <a:latin typeface="Lato"/>
              <a:ea typeface="Lato"/>
              <a:cs typeface="Lato"/>
              <a:sym typeface="Lato"/>
            </a:endParaRPr>
          </a:p>
          <a:p>
            <a:pPr marL="0" lvl="0" indent="0" algn="l" rtl="0">
              <a:spcBef>
                <a:spcPts val="0"/>
              </a:spcBef>
              <a:spcAft>
                <a:spcPts val="0"/>
              </a:spcAft>
              <a:buNone/>
            </a:pPr>
            <a:endParaRPr sz="2000">
              <a:solidFill>
                <a:schemeClr val="dk2"/>
              </a:solidFill>
              <a:latin typeface="Lato"/>
              <a:ea typeface="Lato"/>
              <a:cs typeface="Lato"/>
              <a:sym typeface="Lato"/>
            </a:endParaRPr>
          </a:p>
        </p:txBody>
      </p:sp>
      <p:pic>
        <p:nvPicPr>
          <p:cNvPr id="9" name="Picture 8" descr="A diagram of a machine learning process&#10;&#10;AI-generated content may be incorrect.">
            <a:extLst>
              <a:ext uri="{FF2B5EF4-FFF2-40B4-BE49-F238E27FC236}">
                <a16:creationId xmlns:a16="http://schemas.microsoft.com/office/drawing/2014/main" id="{F8C19B05-A3F4-8932-A8BD-608AC02A69C9}"/>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5035056" y="1902865"/>
            <a:ext cx="3879844" cy="213630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29"/>
          <p:cNvSpPr txBox="1">
            <a:spLocks noGrp="1"/>
          </p:cNvSpPr>
          <p:nvPr>
            <p:ph type="title" idx="4294967295"/>
          </p:nvPr>
        </p:nvSpPr>
        <p:spPr>
          <a:xfrm>
            <a:off x="285750" y="2191160"/>
            <a:ext cx="8572500" cy="761100"/>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SzPts val="1400"/>
              <a:buNone/>
            </a:pPr>
            <a:r>
              <a:rPr lang="en" sz="4500"/>
              <a:t>Literature Review</a:t>
            </a:r>
            <a:endParaRPr sz="45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30"/>
          <p:cNvSpPr txBox="1">
            <a:spLocks noGrp="1"/>
          </p:cNvSpPr>
          <p:nvPr>
            <p:ph type="title" idx="4294967295"/>
          </p:nvPr>
        </p:nvSpPr>
        <p:spPr>
          <a:xfrm>
            <a:off x="285756" y="235585"/>
            <a:ext cx="8572500" cy="7611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SzPts val="1400"/>
              <a:buNone/>
            </a:pPr>
            <a:r>
              <a:rPr lang="en"/>
              <a:t>Literature Review:</a:t>
            </a:r>
            <a:endParaRPr/>
          </a:p>
        </p:txBody>
      </p:sp>
      <p:sp>
        <p:nvSpPr>
          <p:cNvPr id="4" name="TextBox 3">
            <a:extLst>
              <a:ext uri="{FF2B5EF4-FFF2-40B4-BE49-F238E27FC236}">
                <a16:creationId xmlns:a16="http://schemas.microsoft.com/office/drawing/2014/main" id="{9DF7BBAE-AAE9-906E-0C7B-BE4F9F5E1824}"/>
              </a:ext>
            </a:extLst>
          </p:cNvPr>
          <p:cNvSpPr txBox="1"/>
          <p:nvPr/>
        </p:nvSpPr>
        <p:spPr>
          <a:xfrm>
            <a:off x="284545" y="965199"/>
            <a:ext cx="8565926" cy="45067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spcAft>
                <a:spcPts val="100"/>
              </a:spcAft>
            </a:pPr>
            <a:r>
              <a:rPr lang="en-US" sz="1800" b="1">
                <a:solidFill>
                  <a:schemeClr val="bg1">
                    <a:lumMod val="49000"/>
                  </a:schemeClr>
                </a:solidFill>
                <a:latin typeface="Lato"/>
              </a:rPr>
              <a:t>Goals:</a:t>
            </a:r>
          </a:p>
          <a:p>
            <a:pPr marL="285750">
              <a:spcAft>
                <a:spcPts val="100"/>
              </a:spcAft>
              <a:buChar char="•"/>
            </a:pPr>
            <a:r>
              <a:rPr lang="en-US" sz="1600">
                <a:solidFill>
                  <a:schemeClr val="bg1">
                    <a:lumMod val="49000"/>
                  </a:schemeClr>
                </a:solidFill>
                <a:latin typeface="Lato"/>
              </a:rPr>
              <a:t> Understand how sentiment analysis and cognitive presence overlap to provide insights on student engagement and attitudes towards the course</a:t>
            </a:r>
          </a:p>
          <a:p>
            <a:pPr marL="285750">
              <a:spcAft>
                <a:spcPts val="100"/>
              </a:spcAft>
              <a:buChar char="•"/>
            </a:pPr>
            <a:r>
              <a:rPr lang="en-US" sz="1600">
                <a:solidFill>
                  <a:schemeClr val="bg1">
                    <a:lumMod val="49000"/>
                  </a:schemeClr>
                </a:solidFill>
                <a:latin typeface="Lato"/>
              </a:rPr>
              <a:t> Explore prior applications of learning analytics dashboards to identify best practices for integrating data visualization into actionable tools for instructors.</a:t>
            </a:r>
          </a:p>
          <a:p>
            <a:pPr marL="285750">
              <a:spcAft>
                <a:spcPts val="100"/>
              </a:spcAft>
              <a:buChar char="•"/>
            </a:pPr>
            <a:r>
              <a:rPr lang="en-US" sz="1600">
                <a:solidFill>
                  <a:schemeClr val="bg1">
                    <a:lumMod val="49000"/>
                  </a:schemeClr>
                </a:solidFill>
                <a:latin typeface="Lato"/>
              </a:rPr>
              <a:t> Examine engagement metrics and labeling strategies from past studies to guide how we categorize sentiment and measure student participation in our project.</a:t>
            </a:r>
          </a:p>
          <a:p>
            <a:pPr>
              <a:spcAft>
                <a:spcPts val="100"/>
              </a:spcAft>
            </a:pPr>
            <a:r>
              <a:rPr lang="en-US" sz="1800" b="1">
                <a:solidFill>
                  <a:schemeClr val="bg1">
                    <a:lumMod val="49000"/>
                  </a:schemeClr>
                </a:solidFill>
                <a:latin typeface="Lato"/>
              </a:rPr>
              <a:t>Body of Knowledge:</a:t>
            </a:r>
          </a:p>
          <a:p>
            <a:pPr marL="285750">
              <a:spcAft>
                <a:spcPts val="100"/>
              </a:spcAft>
              <a:buChar char="•"/>
            </a:pPr>
            <a:r>
              <a:rPr lang="en-US" sz="1600">
                <a:solidFill>
                  <a:schemeClr val="bg1">
                    <a:lumMod val="49000"/>
                  </a:schemeClr>
                </a:solidFill>
                <a:latin typeface="Lato"/>
              </a:rPr>
              <a:t> “Analyzing Learning Sentiments on a MOOC Discussion Forum Through Epistemic Network Analysis.” (Jianhui Yu, 2025)</a:t>
            </a:r>
          </a:p>
          <a:p>
            <a:pPr marL="742950" lvl="1">
              <a:spcAft>
                <a:spcPts val="100"/>
              </a:spcAft>
              <a:buFont typeface="Courier New"/>
              <a:buChar char="o"/>
            </a:pPr>
            <a:r>
              <a:rPr lang="en-US" sz="1600">
                <a:solidFill>
                  <a:schemeClr val="bg1">
                    <a:lumMod val="49000"/>
                  </a:schemeClr>
                </a:solidFill>
              </a:rPr>
              <a:t> Examines how sentiments evolve over time in MOOCs, and their relationships with performance and topic.</a:t>
            </a:r>
            <a:endParaRPr lang="en-US" sz="1600">
              <a:solidFill>
                <a:schemeClr val="bg1">
                  <a:lumMod val="49000"/>
                </a:schemeClr>
              </a:solidFill>
              <a:latin typeface="Lato"/>
            </a:endParaRPr>
          </a:p>
          <a:p>
            <a:pPr marL="285750">
              <a:spcAft>
                <a:spcPts val="100"/>
              </a:spcAft>
              <a:buChar char="•"/>
            </a:pPr>
            <a:r>
              <a:rPr lang="en-US" sz="1600">
                <a:solidFill>
                  <a:schemeClr val="bg1">
                    <a:lumMod val="49000"/>
                  </a:schemeClr>
                </a:solidFill>
                <a:latin typeface="Lato"/>
              </a:rPr>
              <a:t> “From Concept to Classroom: Developing Instructor Dashboards through Human-Centered Design.” (Alzoubi, Dana, et al., 2024)</a:t>
            </a:r>
          </a:p>
          <a:p>
            <a:pPr marL="742950" lvl="1">
              <a:spcAft>
                <a:spcPts val="100"/>
              </a:spcAft>
              <a:buFont typeface="Courier New"/>
              <a:buChar char="o"/>
            </a:pPr>
            <a:r>
              <a:rPr lang="en-US" sz="1600">
                <a:solidFill>
                  <a:schemeClr val="bg1">
                    <a:lumMod val="49000"/>
                  </a:schemeClr>
                </a:solidFill>
              </a:rPr>
              <a:t> Describes a human-centered design approach for instructor dashboards.</a:t>
            </a:r>
            <a:endParaRPr lang="en-US" sz="1600">
              <a:solidFill>
                <a:schemeClr val="bg1">
                  <a:lumMod val="49000"/>
                </a:schemeClr>
              </a:solidFill>
              <a:latin typeface="Lato"/>
            </a:endParaRPr>
          </a:p>
          <a:p>
            <a:pPr marL="285750" indent="-285750">
              <a:spcAft>
                <a:spcPts val="100"/>
              </a:spcAft>
              <a:buChar char="•"/>
            </a:pPr>
            <a:endParaRPr lang="en-US" sz="1800">
              <a:solidFill>
                <a:schemeClr val="bg1">
                  <a:lumMod val="49000"/>
                </a:schemeClr>
              </a:solidFill>
            </a:endParaRPr>
          </a:p>
          <a:p>
            <a:pPr marL="285750">
              <a:spcAft>
                <a:spcPts val="100"/>
              </a:spcAft>
              <a:buChar char="•"/>
            </a:pPr>
            <a:endParaRPr lang="en-US" sz="1600">
              <a:solidFill>
                <a:schemeClr val="bg1">
                  <a:lumMod val="49000"/>
                </a:schemeClr>
              </a:solidFill>
              <a:latin typeface="Lato"/>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1">
          <a:extLst>
            <a:ext uri="{FF2B5EF4-FFF2-40B4-BE49-F238E27FC236}">
              <a16:creationId xmlns:a16="http://schemas.microsoft.com/office/drawing/2014/main" id="{8C497988-35EF-B4D1-594A-EB7CA31E8F26}"/>
            </a:ext>
          </a:extLst>
        </p:cNvPr>
        <p:cNvGrpSpPr/>
        <p:nvPr/>
      </p:nvGrpSpPr>
      <p:grpSpPr>
        <a:xfrm>
          <a:off x="0" y="0"/>
          <a:ext cx="0" cy="0"/>
          <a:chOff x="0" y="0"/>
          <a:chExt cx="0" cy="0"/>
        </a:xfrm>
      </p:grpSpPr>
      <p:sp>
        <p:nvSpPr>
          <p:cNvPr id="202" name="Google Shape;202;p30">
            <a:extLst>
              <a:ext uri="{FF2B5EF4-FFF2-40B4-BE49-F238E27FC236}">
                <a16:creationId xmlns:a16="http://schemas.microsoft.com/office/drawing/2014/main" id="{A7B4A1B0-CFD1-23E8-CFFB-749718351866}"/>
              </a:ext>
            </a:extLst>
          </p:cNvPr>
          <p:cNvSpPr txBox="1">
            <a:spLocks noGrp="1"/>
          </p:cNvSpPr>
          <p:nvPr>
            <p:ph type="title" idx="4294967295"/>
          </p:nvPr>
        </p:nvSpPr>
        <p:spPr>
          <a:xfrm>
            <a:off x="285756" y="235585"/>
            <a:ext cx="8572500" cy="7611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SzPts val="1400"/>
              <a:buNone/>
            </a:pPr>
            <a:r>
              <a:rPr lang="en"/>
              <a:t>Literature Takeaways:</a:t>
            </a:r>
            <a:endParaRPr/>
          </a:p>
        </p:txBody>
      </p:sp>
      <p:sp>
        <p:nvSpPr>
          <p:cNvPr id="4" name="TextBox 3">
            <a:extLst>
              <a:ext uri="{FF2B5EF4-FFF2-40B4-BE49-F238E27FC236}">
                <a16:creationId xmlns:a16="http://schemas.microsoft.com/office/drawing/2014/main" id="{1503022B-D31C-ECF6-754F-A4A6C2819154}"/>
              </a:ext>
            </a:extLst>
          </p:cNvPr>
          <p:cNvSpPr txBox="1"/>
          <p:nvPr/>
        </p:nvSpPr>
        <p:spPr>
          <a:xfrm>
            <a:off x="284545" y="1005445"/>
            <a:ext cx="8565926"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Aft>
                <a:spcPts val="100"/>
              </a:spcAft>
            </a:pPr>
            <a:r>
              <a:rPr lang="en-US" sz="1600" b="1">
                <a:solidFill>
                  <a:schemeClr val="bg1">
                    <a:lumMod val="49000"/>
                  </a:schemeClr>
                </a:solidFill>
                <a:latin typeface="Lato"/>
              </a:rPr>
              <a:t>“Analyzing Learning Sentiments on a MOOC Discussion Forum Through Epistemic Network Analysis.” (Jianhui Yu, 2025)</a:t>
            </a:r>
            <a:endParaRPr lang="en-US">
              <a:solidFill>
                <a:schemeClr val="bg1">
                  <a:lumMod val="49000"/>
                </a:schemeClr>
              </a:solidFill>
            </a:endParaRPr>
          </a:p>
          <a:p>
            <a:pPr marL="285750">
              <a:spcAft>
                <a:spcPts val="100"/>
              </a:spcAft>
              <a:buFont typeface="Arial"/>
              <a:buChar char="•"/>
            </a:pPr>
            <a:r>
              <a:rPr lang="en-US" sz="1600">
                <a:solidFill>
                  <a:schemeClr val="bg1">
                    <a:lumMod val="49000"/>
                  </a:schemeClr>
                </a:solidFill>
                <a:latin typeface="Lato"/>
              </a:rPr>
              <a:t> Epistemic network analysis (ENA) can map co-occurrence of different sentiment states</a:t>
            </a:r>
          </a:p>
          <a:p>
            <a:pPr marL="285750">
              <a:spcAft>
                <a:spcPts val="100"/>
              </a:spcAft>
              <a:buFont typeface="Arial"/>
              <a:buChar char="•"/>
            </a:pPr>
            <a:r>
              <a:rPr lang="en-US" sz="1600">
                <a:solidFill>
                  <a:schemeClr val="bg1">
                    <a:lumMod val="49000"/>
                  </a:schemeClr>
                </a:solidFill>
                <a:latin typeface="Lato"/>
              </a:rPr>
              <a:t> Identify variation in sentiment patterns by performance group</a:t>
            </a:r>
          </a:p>
          <a:p>
            <a:pPr marL="285750">
              <a:spcAft>
                <a:spcPts val="100"/>
              </a:spcAft>
              <a:buFont typeface="Arial"/>
              <a:buChar char="•"/>
            </a:pPr>
            <a:r>
              <a:rPr lang="en-US" sz="1600">
                <a:solidFill>
                  <a:schemeClr val="bg1">
                    <a:lumMod val="49000"/>
                  </a:schemeClr>
                </a:solidFill>
                <a:latin typeface="Lato"/>
              </a:rPr>
              <a:t> Take into account sentiment frequency and changes in those over time.</a:t>
            </a:r>
          </a:p>
          <a:p>
            <a:pPr marL="285750">
              <a:spcAft>
                <a:spcPts val="100"/>
              </a:spcAft>
            </a:pPr>
            <a:endParaRPr lang="en-US" sz="1600">
              <a:solidFill>
                <a:schemeClr val="bg1">
                  <a:lumMod val="49000"/>
                </a:schemeClr>
              </a:solidFill>
              <a:latin typeface="Lato"/>
            </a:endParaRPr>
          </a:p>
          <a:p>
            <a:pPr>
              <a:spcAft>
                <a:spcPts val="100"/>
              </a:spcAft>
            </a:pPr>
            <a:r>
              <a:rPr lang="en-US" sz="1600" b="1">
                <a:solidFill>
                  <a:schemeClr val="bg1">
                    <a:lumMod val="49000"/>
                  </a:schemeClr>
                </a:solidFill>
                <a:latin typeface="Lato"/>
              </a:rPr>
              <a:t>"From Concept to Classroom: Developing Instructor Dashboards through Human-Centered Design.” (Alzoubi, Dana, et al., 2024)</a:t>
            </a:r>
            <a:endParaRPr lang="en-US">
              <a:solidFill>
                <a:schemeClr val="bg1">
                  <a:lumMod val="49000"/>
                </a:schemeClr>
              </a:solidFill>
            </a:endParaRPr>
          </a:p>
          <a:p>
            <a:pPr marL="285750">
              <a:spcAft>
                <a:spcPts val="100"/>
              </a:spcAft>
              <a:buFont typeface="Arial"/>
              <a:buChar char="•"/>
            </a:pPr>
            <a:r>
              <a:rPr lang="en-US" sz="1600">
                <a:solidFill>
                  <a:schemeClr val="bg1">
                    <a:lumMod val="49000"/>
                  </a:schemeClr>
                </a:solidFill>
              </a:rPr>
              <a:t> Human-centered design should be a priority</a:t>
            </a:r>
          </a:p>
          <a:p>
            <a:pPr marL="285750">
              <a:spcAft>
                <a:spcPts val="100"/>
              </a:spcAft>
              <a:buFont typeface="Arial"/>
              <a:buChar char="•"/>
            </a:pPr>
            <a:r>
              <a:rPr lang="en-US" sz="1600">
                <a:solidFill>
                  <a:schemeClr val="bg1">
                    <a:lumMod val="49000"/>
                  </a:schemeClr>
                </a:solidFill>
              </a:rPr>
              <a:t> Focus on providing actionable insights over raw data</a:t>
            </a:r>
          </a:p>
          <a:p>
            <a:pPr marL="285750">
              <a:spcAft>
                <a:spcPts val="100"/>
              </a:spcAft>
              <a:buFont typeface="Arial"/>
              <a:buChar char="•"/>
            </a:pPr>
            <a:r>
              <a:rPr lang="en-US" sz="1600">
                <a:solidFill>
                  <a:schemeClr val="bg1">
                    <a:lumMod val="49000"/>
                  </a:schemeClr>
                </a:solidFill>
              </a:rPr>
              <a:t> Refine the dashboard with instructor input over multiple iterations</a:t>
            </a:r>
          </a:p>
          <a:p>
            <a:pPr marL="285750">
              <a:spcAft>
                <a:spcPts val="100"/>
              </a:spcAft>
              <a:buFont typeface="Arial"/>
              <a:buChar char="•"/>
            </a:pPr>
            <a:r>
              <a:rPr lang="en-US" sz="1600">
                <a:solidFill>
                  <a:schemeClr val="bg1">
                    <a:lumMod val="49000"/>
                  </a:schemeClr>
                </a:solidFill>
              </a:rPr>
              <a:t> Ensure usability: complex results should be translated into simple engagement metrics</a:t>
            </a:r>
          </a:p>
          <a:p>
            <a:pPr>
              <a:spcAft>
                <a:spcPts val="100"/>
              </a:spcAft>
            </a:pPr>
            <a:endParaRPr lang="en-US" sz="1600">
              <a:solidFill>
                <a:schemeClr val="bg1">
                  <a:lumMod val="49000"/>
                </a:schemeClr>
              </a:solidFill>
            </a:endParaRPr>
          </a:p>
          <a:p>
            <a:pPr marL="285750" indent="-285750">
              <a:spcAft>
                <a:spcPts val="100"/>
              </a:spcAft>
              <a:buChar char="•"/>
            </a:pPr>
            <a:endParaRPr lang="en-US" sz="1800">
              <a:solidFill>
                <a:schemeClr val="bg1">
                  <a:lumMod val="49000"/>
                </a:schemeClr>
              </a:solidFill>
            </a:endParaRPr>
          </a:p>
          <a:p>
            <a:pPr marL="285750">
              <a:spcAft>
                <a:spcPts val="100"/>
              </a:spcAft>
              <a:buChar char="•"/>
            </a:pPr>
            <a:endParaRPr lang="en-US" sz="1600">
              <a:solidFill>
                <a:schemeClr val="bg1">
                  <a:lumMod val="49000"/>
                </a:schemeClr>
              </a:solidFill>
              <a:latin typeface="Lato"/>
            </a:endParaRPr>
          </a:p>
        </p:txBody>
      </p:sp>
    </p:spTree>
    <p:extLst>
      <p:ext uri="{BB962C8B-B14F-4D97-AF65-F5344CB8AC3E}">
        <p14:creationId xmlns:p14="http://schemas.microsoft.com/office/powerpoint/2010/main" val="2802940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31"/>
          <p:cNvSpPr txBox="1">
            <a:spLocks noGrp="1"/>
          </p:cNvSpPr>
          <p:nvPr>
            <p:ph type="title"/>
          </p:nvPr>
        </p:nvSpPr>
        <p:spPr>
          <a:xfrm>
            <a:off x="285750" y="150541"/>
            <a:ext cx="8572500" cy="7611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SzPts val="1400"/>
              <a:buNone/>
            </a:pPr>
            <a:r>
              <a:rPr lang="en"/>
              <a:t>Conclusion</a:t>
            </a:r>
            <a:endParaRPr/>
          </a:p>
        </p:txBody>
      </p:sp>
      <p:sp>
        <p:nvSpPr>
          <p:cNvPr id="209" name="Google Shape;209;p31"/>
          <p:cNvSpPr txBox="1">
            <a:spLocks noGrp="1"/>
          </p:cNvSpPr>
          <p:nvPr>
            <p:ph type="body" idx="1"/>
          </p:nvPr>
        </p:nvSpPr>
        <p:spPr>
          <a:xfrm>
            <a:off x="285750" y="1259401"/>
            <a:ext cx="8572500" cy="3759900"/>
          </a:xfrm>
          <a:prstGeom prst="rect">
            <a:avLst/>
          </a:prstGeom>
          <a:noFill/>
          <a:ln>
            <a:noFill/>
          </a:ln>
        </p:spPr>
        <p:txBody>
          <a:bodyPr spcFirstLastPara="1" wrap="square" lIns="68575" tIns="34275" rIns="68575" bIns="34275" anchor="t" anchorCtr="0">
            <a:noAutofit/>
          </a:bodyPr>
          <a:lstStyle/>
          <a:p>
            <a:pPr indent="-381000" algn="just">
              <a:lnSpc>
                <a:spcPct val="150000"/>
              </a:lnSpc>
              <a:buSzPts val="2400"/>
            </a:pPr>
            <a:r>
              <a:rPr lang="en" sz="2400"/>
              <a:t>Improve course design and refine teaching strategies</a:t>
            </a:r>
            <a:endParaRPr lang="en-US" sz="2400"/>
          </a:p>
          <a:p>
            <a:pPr indent="-381000" algn="just">
              <a:lnSpc>
                <a:spcPct val="150000"/>
              </a:lnSpc>
              <a:spcBef>
                <a:spcPts val="0"/>
              </a:spcBef>
              <a:buSzPts val="2400"/>
            </a:pPr>
            <a:r>
              <a:rPr lang="en" sz="2400"/>
              <a:t>Provide inclusive learning environments</a:t>
            </a:r>
            <a:endParaRPr lang="en-US" sz="2400"/>
          </a:p>
          <a:p>
            <a:pPr indent="-381000" algn="just">
              <a:lnSpc>
                <a:spcPct val="150000"/>
              </a:lnSpc>
              <a:spcBef>
                <a:spcPts val="0"/>
              </a:spcBef>
              <a:buSzPts val="2400"/>
            </a:pPr>
            <a:r>
              <a:rPr lang="en" sz="2400"/>
              <a:t>Personalize learning for foreseeable weakness</a:t>
            </a:r>
          </a:p>
          <a:p>
            <a:pPr indent="-381000" algn="just">
              <a:lnSpc>
                <a:spcPct val="150000"/>
              </a:lnSpc>
              <a:spcBef>
                <a:spcPts val="0"/>
              </a:spcBef>
              <a:buSzPts val="2400"/>
            </a:pPr>
            <a:r>
              <a:rPr lang="en" sz="2400"/>
              <a:t>Promote student’s engagements and grades</a:t>
            </a:r>
            <a:endParaRPr sz="2400"/>
          </a:p>
          <a:p>
            <a:pPr marL="457200" lvl="0" indent="-381000" algn="just" rtl="0">
              <a:lnSpc>
                <a:spcPct val="150000"/>
              </a:lnSpc>
              <a:spcBef>
                <a:spcPts val="0"/>
              </a:spcBef>
              <a:spcAft>
                <a:spcPts val="0"/>
              </a:spcAft>
              <a:buSzPts val="2400"/>
              <a:buChar char="•"/>
            </a:pPr>
            <a:r>
              <a:rPr lang="en" sz="2400"/>
              <a:t>Ensure a more responsive and adaptive online learning experience.</a:t>
            </a:r>
            <a:endParaRPr sz="24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32"/>
          <p:cNvSpPr txBox="1">
            <a:spLocks noGrp="1"/>
          </p:cNvSpPr>
          <p:nvPr>
            <p:ph type="title"/>
          </p:nvPr>
        </p:nvSpPr>
        <p:spPr>
          <a:xfrm>
            <a:off x="285750" y="150541"/>
            <a:ext cx="8572500" cy="7611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SzPts val="1400"/>
              <a:buNone/>
            </a:pPr>
            <a:r>
              <a:rPr lang="en"/>
              <a:t>Citations</a:t>
            </a:r>
            <a:endParaRPr/>
          </a:p>
        </p:txBody>
      </p:sp>
      <p:sp>
        <p:nvSpPr>
          <p:cNvPr id="215" name="Google Shape;215;p32"/>
          <p:cNvSpPr txBox="1">
            <a:spLocks noGrp="1"/>
          </p:cNvSpPr>
          <p:nvPr>
            <p:ph type="body" idx="1"/>
          </p:nvPr>
        </p:nvSpPr>
        <p:spPr>
          <a:xfrm>
            <a:off x="285738" y="828781"/>
            <a:ext cx="8572500" cy="4112700"/>
          </a:xfrm>
          <a:prstGeom prst="rect">
            <a:avLst/>
          </a:prstGeom>
          <a:noFill/>
          <a:ln>
            <a:noFill/>
          </a:ln>
        </p:spPr>
        <p:txBody>
          <a:bodyPr spcFirstLastPara="1" wrap="square" lIns="68575" tIns="34275" rIns="68575" bIns="34275" anchor="t" anchorCtr="0">
            <a:noAutofit/>
          </a:bodyPr>
          <a:lstStyle/>
          <a:p>
            <a:pPr indent="-457200">
              <a:lnSpc>
                <a:spcPct val="115000"/>
              </a:lnSpc>
              <a:spcBef>
                <a:spcPts val="0"/>
              </a:spcBef>
              <a:buAutoNum type="arabicPeriod"/>
            </a:pPr>
            <a:r>
              <a:rPr lang="en" sz="1400">
                <a:solidFill>
                  <a:schemeClr val="bg1">
                    <a:lumMod val="49000"/>
                  </a:schemeClr>
                </a:solidFill>
              </a:rPr>
              <a:t>Alzoubi, Dana, et al. “From Concept to Classroom: Developing Instructor Dashboards through Human-Centered Design.” </a:t>
            </a:r>
            <a:r>
              <a:rPr lang="en" sz="1400" i="1">
                <a:solidFill>
                  <a:schemeClr val="bg1">
                    <a:lumMod val="49000"/>
                  </a:schemeClr>
                </a:solidFill>
              </a:rPr>
              <a:t>Computers and Education Open</a:t>
            </a:r>
            <a:r>
              <a:rPr lang="en" sz="1400">
                <a:solidFill>
                  <a:schemeClr val="bg1">
                    <a:lumMod val="49000"/>
                  </a:schemeClr>
                </a:solidFill>
              </a:rPr>
              <a:t>, vol. 7, Dec. 2024, Article 100234, doi:10.1016/j.caeo.2024.100234. </a:t>
            </a:r>
          </a:p>
          <a:p>
            <a:pPr indent="-457200">
              <a:lnSpc>
                <a:spcPct val="114999"/>
              </a:lnSpc>
              <a:spcBef>
                <a:spcPts val="0"/>
              </a:spcBef>
              <a:buAutoNum type="arabicPeriod"/>
            </a:pPr>
            <a:r>
              <a:rPr lang="en" sz="1400">
                <a:solidFill>
                  <a:schemeClr val="bg1">
                    <a:lumMod val="49000"/>
                  </a:schemeClr>
                </a:solidFill>
              </a:rPr>
              <a:t>Yu, Jianhui. “Analyzing Learning Sentiments on a MOOC Discussion Forum Through Epistemic Network Analysis.” </a:t>
            </a:r>
            <a:r>
              <a:rPr lang="en" sz="1400" i="1">
                <a:solidFill>
                  <a:schemeClr val="bg1">
                    <a:lumMod val="49000"/>
                  </a:schemeClr>
                </a:solidFill>
              </a:rPr>
              <a:t>The International Review of Research in Open and Distributed Learning</a:t>
            </a:r>
            <a:r>
              <a:rPr lang="en" sz="1400">
                <a:solidFill>
                  <a:schemeClr val="bg1">
                    <a:lumMod val="49000"/>
                  </a:schemeClr>
                </a:solidFill>
              </a:rPr>
              <a:t>, vol. 26, no. 1, Mar. 2025, pp. 197-215, doi:10.19173/irrodl.v26i1.7965.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33"/>
          <p:cNvSpPr txBox="1">
            <a:spLocks noGrp="1"/>
          </p:cNvSpPr>
          <p:nvPr>
            <p:ph type="title"/>
          </p:nvPr>
        </p:nvSpPr>
        <p:spPr>
          <a:xfrm>
            <a:off x="285750" y="2668889"/>
            <a:ext cx="8572500" cy="761100"/>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SzPts val="1400"/>
              <a:buNone/>
            </a:pPr>
            <a:br>
              <a:rPr lang="en"/>
            </a:br>
            <a:r>
              <a:rPr lang="en" sz="4500"/>
              <a:t>Q&amp;A</a:t>
            </a:r>
            <a:endParaRPr sz="4500"/>
          </a:p>
        </p:txBody>
      </p:sp>
      <p:sp>
        <p:nvSpPr>
          <p:cNvPr id="221" name="Google Shape;221;p33"/>
          <p:cNvSpPr txBox="1"/>
          <p:nvPr/>
        </p:nvSpPr>
        <p:spPr>
          <a:xfrm>
            <a:off x="366322" y="680819"/>
            <a:ext cx="8572500" cy="761100"/>
          </a:xfrm>
          <a:prstGeom prst="rect">
            <a:avLst/>
          </a:prstGeom>
          <a:no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A7934B"/>
              </a:buClr>
              <a:buSzPts val="1400"/>
              <a:buFont typeface="Roboto"/>
              <a:buNone/>
            </a:pPr>
            <a:br>
              <a:rPr lang="en" sz="2700" b="1" i="0" u="none" strike="noStrike" cap="none">
                <a:solidFill>
                  <a:srgbClr val="A7934B"/>
                </a:solidFill>
                <a:latin typeface="Roboto"/>
                <a:ea typeface="Roboto"/>
                <a:cs typeface="Roboto"/>
                <a:sym typeface="Roboto"/>
              </a:rPr>
            </a:br>
            <a:r>
              <a:rPr lang="en" sz="4500" b="1" i="0" u="none" strike="noStrike" cap="none">
                <a:solidFill>
                  <a:srgbClr val="A7934B"/>
                </a:solidFill>
                <a:latin typeface="Roboto"/>
                <a:ea typeface="Roboto"/>
                <a:cs typeface="Roboto"/>
                <a:sym typeface="Roboto"/>
              </a:rPr>
              <a:t>Thanks for </a:t>
            </a:r>
            <a:r>
              <a:rPr lang="en" sz="4500" b="1">
                <a:solidFill>
                  <a:srgbClr val="A7934B"/>
                </a:solidFill>
                <a:latin typeface="Roboto"/>
                <a:ea typeface="Roboto"/>
                <a:cs typeface="Roboto"/>
                <a:sym typeface="Roboto"/>
              </a:rPr>
              <a:t>listening</a:t>
            </a:r>
            <a:r>
              <a:rPr lang="en" sz="4500" b="1" i="0" u="none" strike="noStrike" cap="none">
                <a:solidFill>
                  <a:srgbClr val="A7934B"/>
                </a:solidFill>
                <a:latin typeface="Roboto"/>
                <a:ea typeface="Roboto"/>
                <a:cs typeface="Roboto"/>
                <a:sym typeface="Roboto"/>
              </a:rPr>
              <a:t>!</a:t>
            </a:r>
            <a:endParaRPr sz="1100"/>
          </a:p>
        </p:txBody>
      </p:sp>
    </p:spTree>
  </p:cSld>
  <p:clrMapOvr>
    <a:masterClrMapping/>
  </p:clrMapOvr>
</p:sld>
</file>

<file path=ppt/theme/theme1.xml><?xml version="1.0" encoding="utf-8"?>
<a:theme xmlns:a="http://schemas.openxmlformats.org/drawingml/2006/main" name="Coral">
  <a:themeElements>
    <a:clrScheme name="Coral">
      <a:dk1>
        <a:srgbClr val="F55E61"/>
      </a:dk1>
      <a:lt1>
        <a:srgbClr val="FFFFFF"/>
      </a:lt1>
      <a:dk2>
        <a:srgbClr val="5E696C"/>
      </a:dk2>
      <a:lt2>
        <a:srgbClr val="BFC7CA"/>
      </a:lt2>
      <a:accent1>
        <a:srgbClr val="1E2D31"/>
      </a:accent1>
      <a:accent2>
        <a:srgbClr val="273C42"/>
      </a:accent2>
      <a:accent3>
        <a:srgbClr val="83D061"/>
      </a:accent3>
      <a:accent4>
        <a:srgbClr val="F6CD4C"/>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4AC5DF1B6B0CF448499D913C342E7E2" ma:contentTypeVersion="4" ma:contentTypeDescription="Create a new document." ma:contentTypeScope="" ma:versionID="634754d48fe2545064e094d99b458d24">
  <xsd:schema xmlns:xsd="http://www.w3.org/2001/XMLSchema" xmlns:xs="http://www.w3.org/2001/XMLSchema" xmlns:p="http://schemas.microsoft.com/office/2006/metadata/properties" xmlns:ns2="04e06933-7e72-4064-af38-b5d1df0f07f2" targetNamespace="http://schemas.microsoft.com/office/2006/metadata/properties" ma:root="true" ma:fieldsID="fa515ad8373ab84ae8973b4872b8b6bc" ns2:_="">
    <xsd:import namespace="04e06933-7e72-4064-af38-b5d1df0f07f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4e06933-7e72-4064-af38-b5d1df0f07f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9DD7183-C85B-47A3-BCDB-48B4AB0543AB}">
  <ds:schemaRefs>
    <ds:schemaRef ds:uri="04e06933-7e72-4064-af38-b5d1df0f07f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ADDAB23F-DF27-4A68-BB78-25F3CFC594F1}">
  <ds:schemaRefs>
    <ds:schemaRef ds:uri="04e06933-7e72-4064-af38-b5d1df0f07f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519ACF7C-5E54-4AE9-92B9-652EF63247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20</Slides>
  <Notes>20</Notes>
  <HiddenSlides>0</HiddenSlide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Coral</vt:lpstr>
      <vt:lpstr>Data Driven Education</vt:lpstr>
      <vt:lpstr>Meet the Team</vt:lpstr>
      <vt:lpstr>Introduction</vt:lpstr>
      <vt:lpstr>Research Questions</vt:lpstr>
      <vt:lpstr>Spring 2025 Recap: </vt:lpstr>
      <vt:lpstr>Goals for the Semester</vt:lpstr>
      <vt:lpstr>Project Timeline</vt:lpstr>
      <vt:lpstr>Data Science</vt:lpstr>
      <vt:lpstr>Goals &amp; Timeline for the Semester</vt:lpstr>
      <vt:lpstr>Metrics/Data We’re Using/ Why this Data is Relevant</vt:lpstr>
      <vt:lpstr>Machine Learning</vt:lpstr>
      <vt:lpstr>Spring Recap: </vt:lpstr>
      <vt:lpstr>Goals for the Semester </vt:lpstr>
      <vt:lpstr>Progress So Far: </vt:lpstr>
      <vt:lpstr>Literature Review</vt:lpstr>
      <vt:lpstr>Literature Review:</vt:lpstr>
      <vt:lpstr>Literature Takeaways:</vt:lpstr>
      <vt:lpstr>Conclusion</vt:lpstr>
      <vt:lpstr>Citations</vt:lpstr>
      <vt:lpstr> Q&amp;A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2</cp:revision>
  <dcterms:modified xsi:type="dcterms:W3CDTF">2025-09-25T14:58:58Z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0x01010014AC5DF1B6B0CF448499D913C342E7E2</vt:lpwstr>
  </property>
</Properties>
</file>