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6858000" cx="12192000"/>
  <p:notesSz cx="6858000" cy="9144000"/>
  <p:embeddedFontLst>
    <p:embeddedFont>
      <p:font typeface="Roboto"/>
      <p:regular r:id="rId28"/>
      <p:bold r:id="rId29"/>
      <p:italic r:id="rId30"/>
      <p:boldItalic r:id="rId31"/>
    </p:embeddedFont>
    <p:embeddedFont>
      <p:font typeface="Roboto Condensed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36" roundtripDataSignature="AMtx7mhG8+5PfcsvKt16P4sbyxOltXlV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690B25-2E9B-48D1-A614-2BF3C98EB0AE}">
  <a:tblStyle styleId="{88690B25-2E9B-48D1-A614-2BF3C98EB0A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4.xml"/><Relationship Id="rId33" Type="http://schemas.openxmlformats.org/officeDocument/2006/relationships/font" Target="fonts/RobotoCondensedLight-bold.fntdata"/><Relationship Id="rId10" Type="http://schemas.openxmlformats.org/officeDocument/2006/relationships/slide" Target="slides/slide3.xml"/><Relationship Id="rId32" Type="http://schemas.openxmlformats.org/officeDocument/2006/relationships/font" Target="fonts/RobotoCondensedLight-regular.fntdata"/><Relationship Id="rId13" Type="http://schemas.openxmlformats.org/officeDocument/2006/relationships/slide" Target="slides/slide6.xml"/><Relationship Id="rId35" Type="http://schemas.openxmlformats.org/officeDocument/2006/relationships/font" Target="fonts/RobotoCondensedLight-boldItalic.fntdata"/><Relationship Id="rId12" Type="http://schemas.openxmlformats.org/officeDocument/2006/relationships/slide" Target="slides/slide5.xml"/><Relationship Id="rId34" Type="http://schemas.openxmlformats.org/officeDocument/2006/relationships/font" Target="fonts/RobotoCondensedLight-italic.fntdata"/><Relationship Id="rId15" Type="http://schemas.openxmlformats.org/officeDocument/2006/relationships/slide" Target="slides/slide8.xml"/><Relationship Id="rId14" Type="http://schemas.openxmlformats.org/officeDocument/2006/relationships/slide" Target="slides/slide7.xml"/><Relationship Id="rId36" Type="http://customschemas.google.com/relationships/presentationmetadata" Target="meta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9d48565b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9d48565b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cbbd75ea9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cbbd75ea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cbbd75ea9c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cbbd75ea9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cce50758e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cce50758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We started with Visualizations,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Baseline Performance - It's important to have a baseline performance to set the standard for future models.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Identifying sources of error will help us make adjustments, whether this is selected features, selecting data size, or adjusting models and parameters.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We also want to create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With simple models, the number of parameters is low, and will require less data.</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With complex models, the number of parameters is high, and is more likely to overfit. Also, harder to optimize!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US">
                <a:solidFill>
                  <a:schemeClr val="dk1"/>
                </a:solidFill>
              </a:rPr>
              <a:t>This is due to the curse of dimensionality, as the amount of data required grows exponentially with respect to the number of features.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Optimization Error: Finding the best set of weights or parameters for a NN or specific model type.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Estimation Error: A model that performs well during training may not generalize well to the test set.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Modeling Error: Error due to model. The model may be incapable of representing reality.</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ccf0f877bd_3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ccf0f877bd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bd8048c7b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bd8048c7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Some points of progress that we've made in the 2016 Kovanovic paper replication is that we've looked into past referenced papers that go into his implementation in more detail. Specifically, we've </a:t>
            </a:r>
            <a:r>
              <a:rPr lang="en-US"/>
              <a:t>focused</a:t>
            </a:r>
            <a:r>
              <a:rPr lang="en-US"/>
              <a:t> on the "Structure Matters" paper, where he talks about the </a:t>
            </a:r>
            <a:r>
              <a:rPr lang="en-US"/>
              <a:t>extraction</a:t>
            </a:r>
            <a:r>
              <a:rPr lang="en-US"/>
              <a:t> of Discussion Context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order to extract these features, we've been setting up the environment so that we can connect to Postgres database using the psycopg2 library and import tables into pandas dataframes as well as excel files. From here, we use the nltk library and Java to run Stanford's Named Entity Recognizer.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 challenges in replicating discussion context features are technical. Ensuring that everything works in a unified python codebase requires that we find python interfaces to help run the code for java libraries such as StanfordNER and LIWC 2015.</a:t>
            </a:r>
            <a:endParaRPr/>
          </a:p>
          <a:p>
            <a:pPr indent="0" lvl="0" marL="0" rtl="0" algn="l">
              <a:spcBef>
                <a:spcPts val="0"/>
              </a:spcBef>
              <a:spcAft>
                <a:spcPts val="0"/>
              </a:spcAft>
              <a:buNone/>
            </a:pPr>
            <a:r>
              <a:rPr lang="en-US"/>
              <a:t>We also face challenges with the data. For example, code in text examples change the meaning in undesirable ways. There also are repeated examples in the data due to records of every update. Even slight changes: such as fixing of a typo in some text, a clarification of a question, or using the same reply to further a discussion can lead to similar examples, which could create models likely to overfit and </a:t>
            </a:r>
            <a:r>
              <a:rPr lang="en-US"/>
              <a:t>artificially</a:t>
            </a:r>
            <a:r>
              <a:rPr lang="en-US"/>
              <a:t> boost accuracy. Finally, the data is separated by posts. This is problematic because a post can have several discussions, which mean that we can no longer use timestamps to find important features such as the </a:t>
            </a:r>
            <a:r>
              <a:rPr lang="en-US"/>
              <a:t>first</a:t>
            </a:r>
            <a:r>
              <a:rPr lang="en-US"/>
              <a:t>, last, previous text similarity, or next text similarity of each discussion as they are only connected by post numbers. One future consideration is to represent the follow-up as a unit of discussi</a:t>
            </a:r>
            <a:r>
              <a:rPr lang="en-US"/>
              <a:t>on</a:t>
            </a:r>
            <a:r>
              <a:rPr lang="en-US"/>
              <a:t>, but this is not currently supported by the data.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ccf0dee7d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ccf0dee7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cce50758e0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cce50758e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ccf0f877bd_3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ccf0f877bd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cbd804687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cbd80468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2 = exploration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cbd804687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cbd804687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a9ee63040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a9ee6304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cce19eedb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cce19eed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ba764dde3e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ba764dde3e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9d48565bb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ca9ee6304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ca9ee630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25" name="Shape 25"/>
        <p:cNvGrpSpPr/>
        <p:nvPr/>
      </p:nvGrpSpPr>
      <p:grpSpPr>
        <a:xfrm>
          <a:off x="0" y="0"/>
          <a:ext cx="0" cy="0"/>
          <a:chOff x="0" y="0"/>
          <a:chExt cx="0" cy="0"/>
        </a:xfrm>
      </p:grpSpPr>
      <p:sp>
        <p:nvSpPr>
          <p:cNvPr id="26" name="Google Shape;26;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2" name="Shape 32"/>
        <p:cNvGrpSpPr/>
        <p:nvPr/>
      </p:nvGrpSpPr>
      <p:grpSpPr>
        <a:xfrm>
          <a:off x="0" y="0"/>
          <a:ext cx="0" cy="0"/>
          <a:chOff x="0" y="0"/>
          <a:chExt cx="0" cy="0"/>
        </a:xfrm>
      </p:grpSpPr>
      <p:sp>
        <p:nvSpPr>
          <p:cNvPr id="33" name="Google Shape;33;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 name="Google Shape;36;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41" name="Shape 41"/>
        <p:cNvGrpSpPr/>
        <p:nvPr/>
      </p:nvGrpSpPr>
      <p:grpSpPr>
        <a:xfrm>
          <a:off x="0" y="0"/>
          <a:ext cx="0" cy="0"/>
          <a:chOff x="0" y="0"/>
          <a:chExt cx="0" cy="0"/>
        </a:xfrm>
      </p:grpSpPr>
      <p:sp>
        <p:nvSpPr>
          <p:cNvPr id="42" name="Google Shape;4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Roboto"/>
                <a:ea typeface="Roboto"/>
                <a:cs typeface="Roboto"/>
                <a:sym typeface="Roboto"/>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Roboto"/>
                <a:ea typeface="Roboto"/>
                <a:cs typeface="Roboto"/>
                <a:sym typeface="Roboto"/>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Roboto"/>
                <a:ea typeface="Roboto"/>
                <a:cs typeface="Roboto"/>
                <a:sym typeface="Roboto"/>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6.jpg"/><Relationship Id="rId5" Type="http://schemas.openxmlformats.org/officeDocument/2006/relationships/image" Target="../media/image21.png"/><Relationship Id="rId6" Type="http://schemas.openxmlformats.org/officeDocument/2006/relationships/image" Target="../media/image3.png"/><Relationship Id="rId7" Type="http://schemas.openxmlformats.org/officeDocument/2006/relationships/image" Target="../media/image18.jp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7.png"/><Relationship Id="rId5" Type="http://schemas.openxmlformats.org/officeDocument/2006/relationships/image" Target="../media/image23.png"/><Relationship Id="rId6" Type="http://schemas.openxmlformats.org/officeDocument/2006/relationships/image" Target="../media/image17.png"/><Relationship Id="rId7" Type="http://schemas.openxmlformats.org/officeDocument/2006/relationships/image" Target="../media/image9.png"/><Relationship Id="rId8"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8.png"/><Relationship Id="rId7"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2 - 3/31/2021</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p2"/>
          <p:cNvSpPr txBox="1"/>
          <p:nvPr/>
        </p:nvSpPr>
        <p:spPr>
          <a:xfrm>
            <a:off x="23559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Aanya Khandelwal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p2"/>
          <p:cNvSpPr txBox="1"/>
          <p:nvPr/>
        </p:nvSpPr>
        <p:spPr>
          <a:xfrm>
            <a:off x="41463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David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Machine Learning Engineer</a:t>
            </a:r>
            <a:endParaRPr b="0" i="0" sz="1400" u="none" cap="none" strike="noStrike">
              <a:solidFill>
                <a:srgbClr val="000000"/>
              </a:solidFill>
              <a:latin typeface="Roboto"/>
              <a:ea typeface="Roboto"/>
              <a:cs typeface="Roboto"/>
              <a:sym typeface="Roboto"/>
            </a:endParaRPr>
          </a:p>
        </p:txBody>
      </p:sp>
      <p:sp>
        <p:nvSpPr>
          <p:cNvPr id="85" name="Google Shape;85;p2"/>
          <p:cNvSpPr txBox="1"/>
          <p:nvPr/>
        </p:nvSpPr>
        <p:spPr>
          <a:xfrm>
            <a:off x="59367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Sambhav Jaideep</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6" name="Google Shape;86;p2"/>
          <p:cNvSpPr txBox="1"/>
          <p:nvPr/>
        </p:nvSpPr>
        <p:spPr>
          <a:xfrm>
            <a:off x="77271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Nidhi Pai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7" name="Google Shape;87;p2"/>
          <p:cNvSpPr/>
          <p:nvPr/>
        </p:nvSpPr>
        <p:spPr>
          <a:xfrm>
            <a:off x="98361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txBox="1"/>
          <p:nvPr/>
        </p:nvSpPr>
        <p:spPr>
          <a:xfrm>
            <a:off x="95175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Morgan Powers</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9" name="Google Shape;89;p2"/>
          <p:cNvSpPr/>
          <p:nvPr/>
        </p:nvSpPr>
        <p:spPr>
          <a:xfrm>
            <a:off x="62553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txBox="1"/>
          <p:nvPr/>
        </p:nvSpPr>
        <p:spPr>
          <a:xfrm>
            <a:off x="5655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Pratik Agrawal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Machine Learning Engineer</a:t>
            </a:r>
            <a:endParaRPr b="0" i="0" sz="1400" u="none" cap="none" strike="noStrike">
              <a:solidFill>
                <a:srgbClr val="000000"/>
              </a:solidFill>
              <a:latin typeface="Roboto"/>
              <a:ea typeface="Roboto"/>
              <a:cs typeface="Roboto"/>
              <a:sym typeface="Roboto"/>
            </a:endParaRPr>
          </a:p>
        </p:txBody>
      </p:sp>
      <p:pic>
        <p:nvPicPr>
          <p:cNvPr id="91" name="Google Shape;91;p2"/>
          <p:cNvPicPr preferRelativeResize="0"/>
          <p:nvPr/>
        </p:nvPicPr>
        <p:blipFill rotWithShape="1">
          <a:blip r:embed="rId3">
            <a:alphaModFix/>
          </a:blip>
          <a:srcRect b="0" l="0" r="0" t="0"/>
          <a:stretch/>
        </p:blipFill>
        <p:spPr>
          <a:xfrm>
            <a:off x="6207150" y="2018400"/>
            <a:ext cx="1249500" cy="1249500"/>
          </a:xfrm>
          <a:prstGeom prst="ellipse">
            <a:avLst/>
          </a:prstGeom>
          <a:noFill/>
          <a:ln>
            <a:noFill/>
          </a:ln>
        </p:spPr>
      </p:pic>
      <p:pic>
        <p:nvPicPr>
          <p:cNvPr id="92" name="Google Shape;92;p2"/>
          <p:cNvPicPr preferRelativeResize="0"/>
          <p:nvPr/>
        </p:nvPicPr>
        <p:blipFill rotWithShape="1">
          <a:blip r:embed="rId4">
            <a:alphaModFix/>
          </a:blip>
          <a:srcRect b="17645" l="0" r="5526" t="8012"/>
          <a:stretch/>
        </p:blipFill>
        <p:spPr>
          <a:xfrm>
            <a:off x="9778550" y="1962725"/>
            <a:ext cx="1252800" cy="1320300"/>
          </a:xfrm>
          <a:prstGeom prst="ellipse">
            <a:avLst/>
          </a:prstGeom>
          <a:noFill/>
          <a:ln>
            <a:noFill/>
          </a:ln>
        </p:spPr>
      </p:pic>
      <p:sp>
        <p:nvSpPr>
          <p:cNvPr id="93" name="Google Shape;93;p2"/>
          <p:cNvSpPr/>
          <p:nvPr/>
        </p:nvSpPr>
        <p:spPr>
          <a:xfrm>
            <a:off x="4440825" y="2105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4" name="Google Shape;94;p2"/>
          <p:cNvPicPr preferRelativeResize="0"/>
          <p:nvPr/>
        </p:nvPicPr>
        <p:blipFill rotWithShape="1">
          <a:blip r:embed="rId5">
            <a:alphaModFix/>
          </a:blip>
          <a:srcRect b="0" l="2552" r="2561" t="0"/>
          <a:stretch/>
        </p:blipFill>
        <p:spPr>
          <a:xfrm>
            <a:off x="7967125" y="1983000"/>
            <a:ext cx="1252800" cy="1320300"/>
          </a:xfrm>
          <a:prstGeom prst="ellipse">
            <a:avLst/>
          </a:prstGeom>
          <a:noFill/>
          <a:ln>
            <a:noFill/>
          </a:ln>
        </p:spPr>
      </p:pic>
      <p:pic>
        <p:nvPicPr>
          <p:cNvPr id="95" name="Google Shape;95;p2"/>
          <p:cNvPicPr preferRelativeResize="0"/>
          <p:nvPr/>
        </p:nvPicPr>
        <p:blipFill rotWithShape="1">
          <a:blip r:embed="rId6">
            <a:alphaModFix/>
          </a:blip>
          <a:srcRect b="0" l="0" r="0" t="0"/>
          <a:stretch/>
        </p:blipFill>
        <p:spPr>
          <a:xfrm>
            <a:off x="4391024" y="2070738"/>
            <a:ext cx="1252801" cy="1252827"/>
          </a:xfrm>
          <a:prstGeom prst="rect">
            <a:avLst/>
          </a:prstGeom>
          <a:noFill/>
          <a:ln>
            <a:noFill/>
          </a:ln>
        </p:spPr>
      </p:pic>
      <p:pic>
        <p:nvPicPr>
          <p:cNvPr id="96" name="Google Shape;96;p2"/>
          <p:cNvPicPr preferRelativeResize="0"/>
          <p:nvPr/>
        </p:nvPicPr>
        <p:blipFill rotWithShape="1">
          <a:blip r:embed="rId7">
            <a:alphaModFix/>
          </a:blip>
          <a:srcRect b="0" l="0" r="0" t="0"/>
          <a:stretch/>
        </p:blipFill>
        <p:spPr>
          <a:xfrm>
            <a:off x="2684450" y="2091424"/>
            <a:ext cx="1252800" cy="1269000"/>
          </a:xfrm>
          <a:prstGeom prst="ellipse">
            <a:avLst/>
          </a:prstGeom>
          <a:noFill/>
          <a:ln>
            <a:noFill/>
          </a:ln>
          <a:effectLst>
            <a:outerShdw blurRad="57150" rotWithShape="0" algn="bl" dir="5400000" dist="19050">
              <a:srgbClr val="000000">
                <a:alpha val="49803"/>
              </a:srgbClr>
            </a:outerShdw>
          </a:effectLst>
        </p:spPr>
      </p:pic>
      <p:pic>
        <p:nvPicPr>
          <p:cNvPr id="97" name="Google Shape;97;p2"/>
          <p:cNvPicPr preferRelativeResize="0"/>
          <p:nvPr/>
        </p:nvPicPr>
        <p:blipFill rotWithShape="1">
          <a:blip r:embed="rId8">
            <a:alphaModFix/>
          </a:blip>
          <a:srcRect b="0" l="0" r="0" t="0"/>
          <a:stretch/>
        </p:blipFill>
        <p:spPr>
          <a:xfrm>
            <a:off x="816900" y="2019050"/>
            <a:ext cx="1413775" cy="1413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9d48565bb2_0_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500"/>
              </a:spcBef>
              <a:spcAft>
                <a:spcPts val="0"/>
              </a:spcAft>
              <a:buSzPts val="1800"/>
              <a:buChar char="●"/>
            </a:pPr>
            <a:r>
              <a:rPr lang="en-US"/>
              <a:t>Discussion forums are used a lot in college</a:t>
            </a:r>
            <a:endParaRPr/>
          </a:p>
          <a:p>
            <a:pPr indent="-342900" lvl="1" marL="914400" rtl="0" algn="l">
              <a:lnSpc>
                <a:spcPct val="100000"/>
              </a:lnSpc>
              <a:spcBef>
                <a:spcPts val="1500"/>
              </a:spcBef>
              <a:spcAft>
                <a:spcPts val="0"/>
              </a:spcAft>
              <a:buSzPts val="1800"/>
              <a:buChar char="•"/>
            </a:pPr>
            <a:r>
              <a:rPr lang="en-US"/>
              <a:t>Online formats</a:t>
            </a:r>
            <a:endParaRPr/>
          </a:p>
          <a:p>
            <a:pPr indent="-342900" lvl="0" marL="457200" rtl="0" algn="l">
              <a:lnSpc>
                <a:spcPct val="100000"/>
              </a:lnSpc>
              <a:spcBef>
                <a:spcPts val="1500"/>
              </a:spcBef>
              <a:spcAft>
                <a:spcPts val="0"/>
              </a:spcAft>
              <a:buSzPts val="1800"/>
              <a:buChar char="●"/>
            </a:pPr>
            <a:r>
              <a:rPr lang="en-US"/>
              <a:t>Student interaction </a:t>
            </a:r>
            <a:endParaRPr/>
          </a:p>
          <a:p>
            <a:pPr indent="-342900" lvl="1" marL="914400" rtl="0" algn="l">
              <a:lnSpc>
                <a:spcPct val="100000"/>
              </a:lnSpc>
              <a:spcBef>
                <a:spcPts val="1500"/>
              </a:spcBef>
              <a:spcAft>
                <a:spcPts val="0"/>
              </a:spcAft>
              <a:buSzPts val="1800"/>
              <a:buChar char="•"/>
            </a:pPr>
            <a:r>
              <a:rPr lang="en-US"/>
              <a:t>Participation</a:t>
            </a:r>
            <a:endParaRPr/>
          </a:p>
          <a:p>
            <a:pPr indent="-342900" lvl="1" marL="914400" rtl="0" algn="l">
              <a:lnSpc>
                <a:spcPct val="100000"/>
              </a:lnSpc>
              <a:spcBef>
                <a:spcPts val="1500"/>
              </a:spcBef>
              <a:spcAft>
                <a:spcPts val="0"/>
              </a:spcAft>
              <a:buSzPts val="1800"/>
              <a:buChar char="•"/>
            </a:pPr>
            <a:r>
              <a:rPr lang="en-US"/>
              <a:t>Cognitive presence</a:t>
            </a:r>
            <a:endParaRPr/>
          </a:p>
          <a:p>
            <a:pPr indent="-342900" lvl="0" marL="457200" rtl="0" algn="l">
              <a:lnSpc>
                <a:spcPct val="100000"/>
              </a:lnSpc>
              <a:spcBef>
                <a:spcPts val="1500"/>
              </a:spcBef>
              <a:spcAft>
                <a:spcPts val="1500"/>
              </a:spcAft>
              <a:buSzPts val="1800"/>
              <a:buChar char="●"/>
            </a:pPr>
            <a:r>
              <a:rPr lang="en-US"/>
              <a:t>Goal: Creating a web application to be used by professors will allow the instructors to improve their courses</a:t>
            </a:r>
            <a:endParaRPr/>
          </a:p>
        </p:txBody>
      </p:sp>
      <p:sp>
        <p:nvSpPr>
          <p:cNvPr id="103" name="Google Shape;103;g9d48565bb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Introduction</a:t>
            </a:r>
            <a:endParaRPr/>
          </a:p>
        </p:txBody>
      </p:sp>
      <p:pic>
        <p:nvPicPr>
          <p:cNvPr id="104" name="Google Shape;104;g9d48565bb2_0_0"/>
          <p:cNvPicPr preferRelativeResize="0"/>
          <p:nvPr/>
        </p:nvPicPr>
        <p:blipFill rotWithShape="1">
          <a:blip r:embed="rId3">
            <a:alphaModFix/>
          </a:blip>
          <a:srcRect b="0" l="0" r="0" t="0"/>
          <a:stretch/>
        </p:blipFill>
        <p:spPr>
          <a:xfrm>
            <a:off x="6664999" y="2345525"/>
            <a:ext cx="4561649" cy="117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cbbd75ea9c_0_0"/>
          <p:cNvSpPr txBox="1"/>
          <p:nvPr>
            <p:ph idx="1" type="body"/>
          </p:nvPr>
        </p:nvSpPr>
        <p:spPr>
          <a:xfrm>
            <a:off x="381000" y="1168399"/>
            <a:ext cx="11430000" cy="5268600"/>
          </a:xfrm>
          <a:prstGeom prst="rect">
            <a:avLst/>
          </a:prstGeom>
        </p:spPr>
        <p:txBody>
          <a:bodyPr anchorCtr="0" anchor="t" bIns="45700" lIns="91425" spcFirstLastPara="1" rIns="91425" wrap="square" tIns="45700">
            <a:normAutofit/>
          </a:bodyPr>
          <a:lstStyle/>
          <a:p>
            <a:pPr indent="-342900" lvl="0" marL="457200" rtl="0" algn="l">
              <a:lnSpc>
                <a:spcPct val="115000"/>
              </a:lnSpc>
              <a:spcBef>
                <a:spcPts val="1000"/>
              </a:spcBef>
              <a:spcAft>
                <a:spcPts val="0"/>
              </a:spcAft>
              <a:buSzPts val="1800"/>
              <a:buChar char="•"/>
            </a:pPr>
            <a:r>
              <a:rPr lang="en-US"/>
              <a:t>What metrics are important to professors and TAs?</a:t>
            </a:r>
            <a:endParaRPr/>
          </a:p>
          <a:p>
            <a:pPr indent="-342900" lvl="0" marL="457200" rtl="0" algn="l">
              <a:lnSpc>
                <a:spcPct val="115000"/>
              </a:lnSpc>
              <a:spcBef>
                <a:spcPts val="0"/>
              </a:spcBef>
              <a:spcAft>
                <a:spcPts val="0"/>
              </a:spcAft>
              <a:buSzPts val="1800"/>
              <a:buChar char="•"/>
            </a:pPr>
            <a:r>
              <a:rPr lang="en-US"/>
              <a:t>3 TAs, 2 professors, 1 other</a:t>
            </a:r>
            <a:endParaRPr/>
          </a:p>
          <a:p>
            <a:pPr indent="-342900" lvl="0" marL="457200" rtl="0" algn="l">
              <a:lnSpc>
                <a:spcPct val="115000"/>
              </a:lnSpc>
              <a:spcBef>
                <a:spcPts val="0"/>
              </a:spcBef>
              <a:spcAft>
                <a:spcPts val="0"/>
              </a:spcAft>
              <a:buSzPts val="1800"/>
              <a:buChar char="•"/>
            </a:pPr>
            <a:r>
              <a:rPr lang="en-US"/>
              <a:t>Scale: 1-7, 1 being not helpful and 7 being extremely helpful</a:t>
            </a:r>
            <a:endParaRPr sz="1400">
              <a:latin typeface="Arial"/>
              <a:ea typeface="Arial"/>
              <a:cs typeface="Arial"/>
              <a:sym typeface="Arial"/>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
        <p:nvSpPr>
          <p:cNvPr id="110" name="Google Shape;110;gcbbd75ea9c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Professor/TAs Feedback</a:t>
            </a:r>
            <a:endParaRPr/>
          </a:p>
        </p:txBody>
      </p:sp>
      <p:graphicFrame>
        <p:nvGraphicFramePr>
          <p:cNvPr id="111" name="Google Shape;111;gcbbd75ea9c_0_0"/>
          <p:cNvGraphicFramePr/>
          <p:nvPr/>
        </p:nvGraphicFramePr>
        <p:xfrm>
          <a:off x="952500" y="2829805"/>
          <a:ext cx="3000000" cy="3000000"/>
        </p:xfrm>
        <a:graphic>
          <a:graphicData uri="http://schemas.openxmlformats.org/drawingml/2006/table">
            <a:tbl>
              <a:tblPr>
                <a:noFill/>
                <a:tableStyleId>{88690B25-2E9B-48D1-A614-2BF3C98EB0AE}</a:tableStyleId>
              </a:tblPr>
              <a:tblGrid>
                <a:gridCol w="7937875"/>
                <a:gridCol w="2349125"/>
              </a:tblGrid>
              <a:tr h="394975">
                <a:tc>
                  <a:txBody>
                    <a:bodyPr/>
                    <a:lstStyle/>
                    <a:p>
                      <a:pPr indent="0" lvl="0" marL="0" rtl="0" algn="l">
                        <a:spcBef>
                          <a:spcPts val="0"/>
                        </a:spcBef>
                        <a:spcAft>
                          <a:spcPts val="0"/>
                        </a:spcAft>
                        <a:buNone/>
                      </a:pPr>
                      <a:r>
                        <a:rPr lang="en-US">
                          <a:solidFill>
                            <a:schemeClr val="dk1"/>
                          </a:solidFill>
                        </a:rPr>
                        <a:t>Do certain users tend to have a higher cognitive presence score?</a:t>
                      </a:r>
                      <a:endParaRPr/>
                    </a:p>
                  </a:txBody>
                  <a:tcPr marT="91425" marB="91425" marR="91425" marL="91425">
                    <a:solidFill>
                      <a:srgbClr val="B6D7A8"/>
                    </a:solidFill>
                  </a:tcPr>
                </a:tc>
                <a:tc>
                  <a:txBody>
                    <a:bodyPr/>
                    <a:lstStyle/>
                    <a:p>
                      <a:pPr indent="0" lvl="0" marL="0" rtl="0" algn="l">
                        <a:spcBef>
                          <a:spcPts val="0"/>
                        </a:spcBef>
                        <a:spcAft>
                          <a:spcPts val="0"/>
                        </a:spcAft>
                        <a:buNone/>
                      </a:pPr>
                      <a:r>
                        <a:rPr lang="en-US"/>
                        <a:t>6.00</a:t>
                      </a:r>
                      <a:endParaRPr/>
                    </a:p>
                  </a:txBody>
                  <a:tcPr marT="91425" marB="91425" marR="91425" marL="91425">
                    <a:solidFill>
                      <a:srgbClr val="B6D7A8"/>
                    </a:solidFill>
                  </a:tcPr>
                </a:tc>
              </a:tr>
              <a:tr h="394975">
                <a:tc>
                  <a:txBody>
                    <a:bodyPr/>
                    <a:lstStyle/>
                    <a:p>
                      <a:pPr indent="0" lvl="0" marL="0" rtl="0" algn="l">
                        <a:spcBef>
                          <a:spcPts val="0"/>
                        </a:spcBef>
                        <a:spcAft>
                          <a:spcPts val="0"/>
                        </a:spcAft>
                        <a:buClr>
                          <a:schemeClr val="dk1"/>
                        </a:buClr>
                        <a:buSzPts val="1100"/>
                        <a:buFont typeface="Arial"/>
                        <a:buNone/>
                      </a:pPr>
                      <a:r>
                        <a:rPr lang="en-US">
                          <a:solidFill>
                            <a:schemeClr val="dk1"/>
                          </a:solidFill>
                        </a:rPr>
                        <a:t>Most relevant terms by topic</a:t>
                      </a:r>
                      <a:endParaRPr/>
                    </a:p>
                  </a:txBody>
                  <a:tcPr marT="91425" marB="91425" marR="91425" marL="91425">
                    <a:solidFill>
                      <a:srgbClr val="D9EAD3"/>
                    </a:solidFill>
                  </a:tcPr>
                </a:tc>
                <a:tc>
                  <a:txBody>
                    <a:bodyPr/>
                    <a:lstStyle/>
                    <a:p>
                      <a:pPr indent="0" lvl="0" marL="0" rtl="0" algn="l">
                        <a:spcBef>
                          <a:spcPts val="0"/>
                        </a:spcBef>
                        <a:spcAft>
                          <a:spcPts val="0"/>
                        </a:spcAft>
                        <a:buNone/>
                      </a:pPr>
                      <a:r>
                        <a:rPr lang="en-US"/>
                        <a:t>5.83</a:t>
                      </a:r>
                      <a:endParaRPr/>
                    </a:p>
                  </a:txBody>
                  <a:tcPr marT="91425" marB="91425" marR="91425" marL="91425">
                    <a:solidFill>
                      <a:srgbClr val="D9EAD3"/>
                    </a:solidFill>
                  </a:tcPr>
                </a:tc>
              </a:tr>
              <a:tr h="394975">
                <a:tc>
                  <a:txBody>
                    <a:bodyPr/>
                    <a:lstStyle/>
                    <a:p>
                      <a:pPr indent="0" lvl="0" marL="0" rtl="0" algn="l">
                        <a:spcBef>
                          <a:spcPts val="0"/>
                        </a:spcBef>
                        <a:spcAft>
                          <a:spcPts val="0"/>
                        </a:spcAft>
                        <a:buClr>
                          <a:schemeClr val="dk1"/>
                        </a:buClr>
                        <a:buSzPts val="1100"/>
                        <a:buFont typeface="Arial"/>
                        <a:buNone/>
                      </a:pPr>
                      <a:r>
                        <a:rPr lang="en-US">
                          <a:solidFill>
                            <a:schemeClr val="dk1"/>
                          </a:solidFill>
                        </a:rPr>
                        <a:t>Cognitive presence: how meaningful a post is</a:t>
                      </a:r>
                      <a:endParaRPr/>
                    </a:p>
                  </a:txBody>
                  <a:tcPr marT="91425" marB="91425" marR="91425" marL="91425">
                    <a:solidFill>
                      <a:srgbClr val="D9EAD3"/>
                    </a:solidFill>
                  </a:tcPr>
                </a:tc>
                <a:tc>
                  <a:txBody>
                    <a:bodyPr/>
                    <a:lstStyle/>
                    <a:p>
                      <a:pPr indent="0" lvl="0" marL="0" rtl="0" algn="l">
                        <a:spcBef>
                          <a:spcPts val="0"/>
                        </a:spcBef>
                        <a:spcAft>
                          <a:spcPts val="0"/>
                        </a:spcAft>
                        <a:buNone/>
                      </a:pPr>
                      <a:r>
                        <a:rPr lang="en-US"/>
                        <a:t>5.83</a:t>
                      </a:r>
                      <a:endParaRPr/>
                    </a:p>
                  </a:txBody>
                  <a:tcPr marT="91425" marB="91425" marR="91425" marL="91425">
                    <a:solidFill>
                      <a:srgbClr val="D9EAD3"/>
                    </a:solidFill>
                  </a:tcPr>
                </a:tc>
              </a:tr>
              <a:tr h="394975">
                <a:tc>
                  <a:txBody>
                    <a:bodyPr/>
                    <a:lstStyle/>
                    <a:p>
                      <a:pPr indent="0" lvl="0" marL="0" rtl="0" algn="l">
                        <a:spcBef>
                          <a:spcPts val="0"/>
                        </a:spcBef>
                        <a:spcAft>
                          <a:spcPts val="0"/>
                        </a:spcAft>
                        <a:buNone/>
                      </a:pPr>
                      <a:r>
                        <a:rPr lang="en-US">
                          <a:solidFill>
                            <a:schemeClr val="dk1"/>
                          </a:solidFill>
                        </a:rPr>
                        <a:t>Number of posts by a specific user</a:t>
                      </a:r>
                      <a:endParaRPr/>
                    </a:p>
                  </a:txBody>
                  <a:tcPr marT="91425" marB="91425" marR="91425" marL="91425">
                    <a:solidFill>
                      <a:srgbClr val="FFF2CC"/>
                    </a:solidFill>
                  </a:tcPr>
                </a:tc>
                <a:tc>
                  <a:txBody>
                    <a:bodyPr/>
                    <a:lstStyle/>
                    <a:p>
                      <a:pPr indent="0" lvl="0" marL="0" rtl="0" algn="l">
                        <a:spcBef>
                          <a:spcPts val="0"/>
                        </a:spcBef>
                        <a:spcAft>
                          <a:spcPts val="0"/>
                        </a:spcAft>
                        <a:buNone/>
                      </a:pPr>
                      <a:r>
                        <a:rPr lang="en-US"/>
                        <a:t>4.83</a:t>
                      </a:r>
                      <a:endParaRPr/>
                    </a:p>
                  </a:txBody>
                  <a:tcPr marT="91425" marB="91425" marR="91425" marL="91425">
                    <a:solidFill>
                      <a:srgbClr val="FFF2CC"/>
                    </a:solidFill>
                  </a:tcPr>
                </a:tc>
              </a:tr>
              <a:tr h="394975">
                <a:tc>
                  <a:txBody>
                    <a:bodyPr/>
                    <a:lstStyle/>
                    <a:p>
                      <a:pPr indent="0" lvl="0" marL="0" rtl="0" algn="l">
                        <a:spcBef>
                          <a:spcPts val="0"/>
                        </a:spcBef>
                        <a:spcAft>
                          <a:spcPts val="0"/>
                        </a:spcAft>
                        <a:buClr>
                          <a:schemeClr val="dk1"/>
                        </a:buClr>
                        <a:buSzPts val="1100"/>
                        <a:buFont typeface="Arial"/>
                        <a:buNone/>
                      </a:pPr>
                      <a:r>
                        <a:rPr lang="en-US">
                          <a:solidFill>
                            <a:schemeClr val="dk1"/>
                          </a:solidFill>
                        </a:rPr>
                        <a:t>Number of posts in a given thread</a:t>
                      </a:r>
                      <a:endParaRPr/>
                    </a:p>
                  </a:txBody>
                  <a:tcPr marT="91425" marB="91425" marR="91425" marL="91425">
                    <a:solidFill>
                      <a:srgbClr val="FFF2CC"/>
                    </a:solidFill>
                  </a:tcPr>
                </a:tc>
                <a:tc>
                  <a:txBody>
                    <a:bodyPr/>
                    <a:lstStyle/>
                    <a:p>
                      <a:pPr indent="0" lvl="0" marL="0" rtl="0" algn="l">
                        <a:spcBef>
                          <a:spcPts val="0"/>
                        </a:spcBef>
                        <a:spcAft>
                          <a:spcPts val="0"/>
                        </a:spcAft>
                        <a:buNone/>
                      </a:pPr>
                      <a:r>
                        <a:rPr lang="en-US"/>
                        <a:t>4.67</a:t>
                      </a:r>
                      <a:endParaRPr/>
                    </a:p>
                  </a:txBody>
                  <a:tcPr marT="91425" marB="91425" marR="91425" marL="91425">
                    <a:solidFill>
                      <a:srgbClr val="FFF2CC"/>
                    </a:solidFill>
                  </a:tcPr>
                </a:tc>
              </a:tr>
              <a:tr h="394975">
                <a:tc>
                  <a:txBody>
                    <a:bodyPr/>
                    <a:lstStyle/>
                    <a:p>
                      <a:pPr indent="0" lvl="0" marL="0" rtl="0" algn="l">
                        <a:spcBef>
                          <a:spcPts val="0"/>
                        </a:spcBef>
                        <a:spcAft>
                          <a:spcPts val="0"/>
                        </a:spcAft>
                        <a:buNone/>
                      </a:pPr>
                      <a:r>
                        <a:rPr lang="en-US">
                          <a:solidFill>
                            <a:schemeClr val="dk1"/>
                          </a:solidFill>
                        </a:rPr>
                        <a:t>Sentiment score: does the post have a positive or negative tone?</a:t>
                      </a:r>
                      <a:endParaRPr/>
                    </a:p>
                  </a:txBody>
                  <a:tcPr marT="91425" marB="91425" marR="91425" marL="91425">
                    <a:solidFill>
                      <a:srgbClr val="F4CCCC"/>
                    </a:solidFill>
                  </a:tcPr>
                </a:tc>
                <a:tc>
                  <a:txBody>
                    <a:bodyPr/>
                    <a:lstStyle/>
                    <a:p>
                      <a:pPr indent="0" lvl="0" marL="0" rtl="0" algn="l">
                        <a:spcBef>
                          <a:spcPts val="0"/>
                        </a:spcBef>
                        <a:spcAft>
                          <a:spcPts val="0"/>
                        </a:spcAft>
                        <a:buNone/>
                      </a:pPr>
                      <a:r>
                        <a:rPr lang="en-US"/>
                        <a:t>3.83</a:t>
                      </a:r>
                      <a:endParaRPr/>
                    </a:p>
                  </a:txBody>
                  <a:tcPr marT="91425" marB="91425" marR="91425" marL="91425">
                    <a:solidFill>
                      <a:srgbClr val="F4CCCC"/>
                    </a:solidFill>
                  </a:tcPr>
                </a:tc>
              </a:tr>
              <a:tr h="394975">
                <a:tc>
                  <a:txBody>
                    <a:bodyPr/>
                    <a:lstStyle/>
                    <a:p>
                      <a:pPr indent="0" lvl="0" marL="0" rtl="0" algn="l">
                        <a:spcBef>
                          <a:spcPts val="0"/>
                        </a:spcBef>
                        <a:spcAft>
                          <a:spcPts val="0"/>
                        </a:spcAft>
                        <a:buNone/>
                      </a:pPr>
                      <a:r>
                        <a:rPr lang="en-US">
                          <a:solidFill>
                            <a:schemeClr val="dk1"/>
                          </a:solidFill>
                        </a:rPr>
                        <a:t>Post frequency: amount of posts by week</a:t>
                      </a:r>
                      <a:endParaRPr/>
                    </a:p>
                  </a:txBody>
                  <a:tcPr marT="91425" marB="91425" marR="91425" marL="91425">
                    <a:solidFill>
                      <a:srgbClr val="F4CCCC"/>
                    </a:solidFill>
                  </a:tcPr>
                </a:tc>
                <a:tc>
                  <a:txBody>
                    <a:bodyPr/>
                    <a:lstStyle/>
                    <a:p>
                      <a:pPr indent="0" lvl="0" marL="0" rtl="0" algn="l">
                        <a:spcBef>
                          <a:spcPts val="0"/>
                        </a:spcBef>
                        <a:spcAft>
                          <a:spcPts val="0"/>
                        </a:spcAft>
                        <a:buNone/>
                      </a:pPr>
                      <a:r>
                        <a:rPr lang="en-US"/>
                        <a:t>3.50</a:t>
                      </a:r>
                      <a:endParaRPr/>
                    </a:p>
                  </a:txBody>
                  <a:tcPr marT="91425" marB="91425" marR="91425" marL="91425">
                    <a:solidFill>
                      <a:srgbClr val="F4CCC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cbbd75ea9c_0_6"/>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42900" lvl="0" marL="457200" rtl="0" algn="l">
              <a:lnSpc>
                <a:spcPct val="115000"/>
              </a:lnSpc>
              <a:spcBef>
                <a:spcPts val="1000"/>
              </a:spcBef>
              <a:spcAft>
                <a:spcPts val="0"/>
              </a:spcAft>
              <a:buSzPts val="1800"/>
              <a:buChar char="•"/>
            </a:pPr>
            <a:r>
              <a:rPr lang="en-US"/>
              <a:t>Metrics currently looked at</a:t>
            </a:r>
            <a:endParaRPr/>
          </a:p>
          <a:p>
            <a:pPr indent="-342900" lvl="1" marL="914400" rtl="0" algn="l">
              <a:lnSpc>
                <a:spcPct val="115000"/>
              </a:lnSpc>
              <a:spcBef>
                <a:spcPts val="0"/>
              </a:spcBef>
              <a:spcAft>
                <a:spcPts val="0"/>
              </a:spcAft>
              <a:buSzPts val="1800"/>
              <a:buChar char="•"/>
            </a:pPr>
            <a:r>
              <a:rPr lang="en-US"/>
              <a:t>Amount of questions on a specific topic</a:t>
            </a:r>
            <a:endParaRPr/>
          </a:p>
          <a:p>
            <a:pPr indent="-342900" lvl="1" marL="914400" rtl="0" algn="l">
              <a:lnSpc>
                <a:spcPct val="115000"/>
              </a:lnSpc>
              <a:spcBef>
                <a:spcPts val="0"/>
              </a:spcBef>
              <a:spcAft>
                <a:spcPts val="0"/>
              </a:spcAft>
              <a:buSzPts val="1800"/>
              <a:buChar char="•"/>
            </a:pPr>
            <a:r>
              <a:rPr lang="en-US"/>
              <a:t>Number of posts by a specific user (participation grade)</a:t>
            </a:r>
            <a:endParaRPr/>
          </a:p>
          <a:p>
            <a:pPr indent="-342900" lvl="1" marL="914400" rtl="0" algn="l">
              <a:lnSpc>
                <a:spcPct val="115000"/>
              </a:lnSpc>
              <a:spcBef>
                <a:spcPts val="0"/>
              </a:spcBef>
              <a:spcAft>
                <a:spcPts val="0"/>
              </a:spcAft>
              <a:buSzPts val="1800"/>
              <a:buChar char="•"/>
            </a:pPr>
            <a:r>
              <a:rPr lang="en-US"/>
              <a:t>Engagement</a:t>
            </a:r>
            <a:endParaRPr/>
          </a:p>
          <a:p>
            <a:pPr indent="-342900" lvl="1" marL="914400" rtl="0" algn="l">
              <a:lnSpc>
                <a:spcPct val="115000"/>
              </a:lnSpc>
              <a:spcBef>
                <a:spcPts val="0"/>
              </a:spcBef>
              <a:spcAft>
                <a:spcPts val="0"/>
              </a:spcAft>
              <a:buSzPts val="1800"/>
              <a:buChar char="•"/>
            </a:pPr>
            <a:r>
              <a:rPr lang="en-US"/>
              <a:t>Abstract thinking</a:t>
            </a:r>
            <a:endParaRPr/>
          </a:p>
          <a:p>
            <a:pPr indent="-342900" lvl="0" marL="457200" rtl="0" algn="l">
              <a:lnSpc>
                <a:spcPct val="115000"/>
              </a:lnSpc>
              <a:spcBef>
                <a:spcPts val="0"/>
              </a:spcBef>
              <a:spcAft>
                <a:spcPts val="0"/>
              </a:spcAft>
              <a:buSzPts val="1800"/>
              <a:buChar char="•"/>
            </a:pPr>
            <a:r>
              <a:rPr lang="en-US"/>
              <a:t>Metrics considered important</a:t>
            </a:r>
            <a:endParaRPr/>
          </a:p>
          <a:p>
            <a:pPr indent="-342900" lvl="1" marL="914400" rtl="0" algn="l">
              <a:lnSpc>
                <a:spcPct val="115000"/>
              </a:lnSpc>
              <a:spcBef>
                <a:spcPts val="0"/>
              </a:spcBef>
              <a:spcAft>
                <a:spcPts val="0"/>
              </a:spcAft>
              <a:buSzPts val="1800"/>
              <a:buChar char="•"/>
            </a:pPr>
            <a:r>
              <a:rPr lang="en-US"/>
              <a:t>How active a class is overall</a:t>
            </a:r>
            <a:endParaRPr/>
          </a:p>
          <a:p>
            <a:pPr indent="-342900" lvl="1" marL="914400" rtl="0" algn="l">
              <a:lnSpc>
                <a:spcPct val="115000"/>
              </a:lnSpc>
              <a:spcBef>
                <a:spcPts val="0"/>
              </a:spcBef>
              <a:spcAft>
                <a:spcPts val="0"/>
              </a:spcAft>
              <a:buSzPts val="1800"/>
              <a:buChar char="•"/>
            </a:pPr>
            <a:r>
              <a:rPr lang="en-US"/>
              <a:t>Are there students that are never active?</a:t>
            </a:r>
            <a:endParaRPr/>
          </a:p>
          <a:p>
            <a:pPr indent="-342900" lvl="1" marL="914400" rtl="0" algn="l">
              <a:lnSpc>
                <a:spcPct val="115000"/>
              </a:lnSpc>
              <a:spcBef>
                <a:spcPts val="0"/>
              </a:spcBef>
              <a:spcAft>
                <a:spcPts val="0"/>
              </a:spcAft>
              <a:buSzPts val="1800"/>
              <a:buChar char="•"/>
            </a:pPr>
            <a:r>
              <a:rPr lang="en-US"/>
              <a:t>What type of topics get people to participate?</a:t>
            </a:r>
            <a:endParaRPr/>
          </a:p>
          <a:p>
            <a:pPr indent="-342900" lvl="1" marL="914400" rtl="0" algn="l">
              <a:lnSpc>
                <a:spcPct val="115000"/>
              </a:lnSpc>
              <a:spcBef>
                <a:spcPts val="0"/>
              </a:spcBef>
              <a:spcAft>
                <a:spcPts val="0"/>
              </a:spcAft>
              <a:buSzPts val="1800"/>
              <a:buChar char="•"/>
            </a:pPr>
            <a:r>
              <a:rPr lang="en-US"/>
              <a:t>Common questions/topics </a:t>
            </a:r>
            <a:r>
              <a:rPr lang="en-US"/>
              <a:t>mentioned</a:t>
            </a:r>
            <a:endParaRPr/>
          </a:p>
        </p:txBody>
      </p:sp>
      <p:sp>
        <p:nvSpPr>
          <p:cNvPr id="117" name="Google Shape;117;gcbbd75ea9c_0_6"/>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Professor/TAs Feedback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 name="Shape 121"/>
        <p:cNvGrpSpPr/>
        <p:nvPr/>
      </p:nvGrpSpPr>
      <p:grpSpPr>
        <a:xfrm>
          <a:off x="0" y="0"/>
          <a:ext cx="0" cy="0"/>
          <a:chOff x="0" y="0"/>
          <a:chExt cx="0" cy="0"/>
        </a:xfrm>
      </p:grpSpPr>
      <p:sp>
        <p:nvSpPr>
          <p:cNvPr id="122" name="Google Shape;122;gcce50758e0_0_0"/>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lnSpcReduction="10000"/>
          </a:bodyPr>
          <a:lstStyle/>
          <a:p>
            <a:pPr indent="-317500" lvl="0" marL="457200" rtl="0" algn="l">
              <a:spcBef>
                <a:spcPts val="1000"/>
              </a:spcBef>
              <a:spcAft>
                <a:spcPts val="0"/>
              </a:spcAft>
              <a:buSzPts val="1400"/>
              <a:buChar char="•"/>
            </a:pPr>
            <a:r>
              <a:rPr b="1" lang="en-US" sz="2400"/>
              <a:t>Visualizing Metrics</a:t>
            </a:r>
            <a:endParaRPr sz="2000"/>
          </a:p>
          <a:p>
            <a:pPr indent="-311150" lvl="1" marL="914400" rtl="0" algn="l">
              <a:spcBef>
                <a:spcPts val="500"/>
              </a:spcBef>
              <a:spcAft>
                <a:spcPts val="0"/>
              </a:spcAft>
              <a:buSzPts val="1300"/>
              <a:buChar char="•"/>
            </a:pPr>
            <a:r>
              <a:rPr lang="en-US" sz="2000"/>
              <a:t>Create visualizations and statistics relevant to professors &amp; course designers</a:t>
            </a:r>
            <a:endParaRPr sz="2000"/>
          </a:p>
          <a:p>
            <a:pPr indent="-311150" lvl="1" marL="914400" rtl="0" algn="l">
              <a:spcBef>
                <a:spcPts val="500"/>
              </a:spcBef>
              <a:spcAft>
                <a:spcPts val="0"/>
              </a:spcAft>
              <a:buSzPts val="1300"/>
              <a:buChar char="•"/>
            </a:pPr>
            <a:r>
              <a:rPr lang="en-US" sz="2000"/>
              <a:t>Find features for cognitive presence models</a:t>
            </a:r>
            <a:endParaRPr sz="2000"/>
          </a:p>
          <a:p>
            <a:pPr indent="-317500" lvl="0" marL="457200" rtl="0" algn="l">
              <a:spcBef>
                <a:spcPts val="1000"/>
              </a:spcBef>
              <a:spcAft>
                <a:spcPts val="0"/>
              </a:spcAft>
              <a:buSzPts val="1400"/>
              <a:buChar char="•"/>
            </a:pPr>
            <a:r>
              <a:rPr b="1" lang="en-US" sz="2400"/>
              <a:t>Cognitive Presence Modeling</a:t>
            </a:r>
            <a:endParaRPr b="1" sz="2400"/>
          </a:p>
          <a:p>
            <a:pPr indent="-317500" lvl="1" marL="914400" rtl="0" algn="l">
              <a:spcBef>
                <a:spcPts val="1000"/>
              </a:spcBef>
              <a:spcAft>
                <a:spcPts val="0"/>
              </a:spcAft>
              <a:buSzPts val="1400"/>
              <a:buChar char="•"/>
            </a:pPr>
            <a:r>
              <a:rPr lang="en-US" sz="2000"/>
              <a:t>Establish Baseline Performance</a:t>
            </a:r>
            <a:endParaRPr sz="2000"/>
          </a:p>
          <a:p>
            <a:pPr indent="-330200" lvl="2" marL="1371600" rtl="0" algn="l">
              <a:spcBef>
                <a:spcPts val="1000"/>
              </a:spcBef>
              <a:spcAft>
                <a:spcPts val="0"/>
              </a:spcAft>
              <a:buSzPts val="1600"/>
              <a:buChar char="•"/>
            </a:pPr>
            <a:r>
              <a:rPr lang="en-US" sz="1800"/>
              <a:t>Accuracy: ~70%</a:t>
            </a:r>
            <a:endParaRPr sz="1800"/>
          </a:p>
          <a:p>
            <a:pPr indent="-330200" lvl="2" marL="1371600" rtl="0" algn="l">
              <a:spcBef>
                <a:spcPts val="0"/>
              </a:spcBef>
              <a:spcAft>
                <a:spcPts val="0"/>
              </a:spcAft>
              <a:buSzPts val="1600"/>
              <a:buChar char="•"/>
            </a:pPr>
            <a:r>
              <a:rPr lang="en-US" sz="1800"/>
              <a:t>Cohen's Kappa: ~.63</a:t>
            </a:r>
            <a:endParaRPr sz="1800"/>
          </a:p>
          <a:p>
            <a:pPr indent="-317500" lvl="1" marL="914400" rtl="0" algn="l">
              <a:spcBef>
                <a:spcPts val="1000"/>
              </a:spcBef>
              <a:spcAft>
                <a:spcPts val="0"/>
              </a:spcAft>
              <a:buSzPts val="1400"/>
              <a:buChar char="•"/>
            </a:pPr>
            <a:r>
              <a:rPr lang="en-US" sz="2000"/>
              <a:t>Identify sources of Error</a:t>
            </a:r>
            <a:endParaRPr sz="2000"/>
          </a:p>
          <a:p>
            <a:pPr indent="-330200" lvl="2" marL="1371600" rtl="0" algn="l">
              <a:spcBef>
                <a:spcPts val="1000"/>
              </a:spcBef>
              <a:spcAft>
                <a:spcPts val="0"/>
              </a:spcAft>
              <a:buSzPts val="1600"/>
              <a:buChar char="•"/>
            </a:pPr>
            <a:r>
              <a:rPr lang="en-US" sz="1800"/>
              <a:t>Optimization</a:t>
            </a:r>
            <a:endParaRPr sz="1800"/>
          </a:p>
          <a:p>
            <a:pPr indent="-330200" lvl="2" marL="1371600" rtl="0" algn="l">
              <a:spcBef>
                <a:spcPts val="0"/>
              </a:spcBef>
              <a:spcAft>
                <a:spcPts val="0"/>
              </a:spcAft>
              <a:buSzPts val="1600"/>
              <a:buChar char="•"/>
            </a:pPr>
            <a:r>
              <a:rPr lang="en-US" sz="1800"/>
              <a:t>Estimation</a:t>
            </a:r>
            <a:endParaRPr sz="1800"/>
          </a:p>
          <a:p>
            <a:pPr indent="-330200" lvl="2" marL="1371600" rtl="0" algn="l">
              <a:spcBef>
                <a:spcPts val="0"/>
              </a:spcBef>
              <a:spcAft>
                <a:spcPts val="0"/>
              </a:spcAft>
              <a:buSzPts val="1600"/>
              <a:buChar char="•"/>
            </a:pPr>
            <a:r>
              <a:rPr lang="en-US" sz="1800"/>
              <a:t>Modeling</a:t>
            </a:r>
            <a:endParaRPr sz="1800"/>
          </a:p>
          <a:p>
            <a:pPr indent="-317500" lvl="1" marL="914400" rtl="0" algn="l">
              <a:spcBef>
                <a:spcPts val="1000"/>
              </a:spcBef>
              <a:spcAft>
                <a:spcPts val="0"/>
              </a:spcAft>
              <a:buSzPts val="1400"/>
              <a:buChar char="•"/>
            </a:pPr>
            <a:r>
              <a:rPr lang="en-US" sz="2000"/>
              <a:t>Accuracy vs Interpretability</a:t>
            </a:r>
            <a:endParaRPr sz="2000"/>
          </a:p>
          <a:p>
            <a:pPr indent="-342900" lvl="2" marL="1371600" rtl="0" algn="l">
              <a:spcBef>
                <a:spcPts val="1000"/>
              </a:spcBef>
              <a:spcAft>
                <a:spcPts val="0"/>
              </a:spcAft>
              <a:buSzPts val="1800"/>
              <a:buChar char="•"/>
            </a:pPr>
            <a:r>
              <a:rPr lang="en-US" sz="1800"/>
              <a:t>Explore more on cognitive presence with interpretable models but sacrificing accuracy OR</a:t>
            </a:r>
            <a:endParaRPr sz="1800"/>
          </a:p>
          <a:p>
            <a:pPr indent="-342900" lvl="2" marL="1371600" rtl="0" algn="l">
              <a:spcBef>
                <a:spcPts val="0"/>
              </a:spcBef>
              <a:spcAft>
                <a:spcPts val="0"/>
              </a:spcAft>
              <a:buSzPts val="1800"/>
              <a:buChar char="•"/>
            </a:pPr>
            <a:r>
              <a:rPr lang="en-US" sz="1800"/>
              <a:t>Use complex model like BERT to get better performance at the cost of interpretability</a:t>
            </a:r>
            <a:endParaRPr/>
          </a:p>
        </p:txBody>
      </p:sp>
      <p:sp>
        <p:nvSpPr>
          <p:cNvPr id="123" name="Google Shape;123;gcce50758e0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 Science Goals Recap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 name="Shape 127"/>
        <p:cNvGrpSpPr/>
        <p:nvPr/>
      </p:nvGrpSpPr>
      <p:grpSpPr>
        <a:xfrm>
          <a:off x="0" y="0"/>
          <a:ext cx="0" cy="0"/>
          <a:chOff x="0" y="0"/>
          <a:chExt cx="0" cy="0"/>
        </a:xfrm>
      </p:grpSpPr>
      <p:sp>
        <p:nvSpPr>
          <p:cNvPr id="128" name="Google Shape;128;gccf0f877bd_3_19"/>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17500" lvl="0" marL="457200" rtl="0" algn="l">
              <a:spcBef>
                <a:spcPts val="1000"/>
              </a:spcBef>
              <a:spcAft>
                <a:spcPts val="0"/>
              </a:spcAft>
              <a:buSzPts val="1400"/>
              <a:buChar char="•"/>
            </a:pPr>
            <a:r>
              <a:rPr b="1" lang="en-US" sz="2400"/>
              <a:t>First presentation stuff</a:t>
            </a:r>
            <a:endParaRPr b="1" sz="2400"/>
          </a:p>
          <a:p>
            <a:pPr indent="-317500" lvl="0" marL="457200" rtl="0" algn="l">
              <a:spcBef>
                <a:spcPts val="1000"/>
              </a:spcBef>
              <a:spcAft>
                <a:spcPts val="0"/>
              </a:spcAft>
              <a:buSzPts val="1400"/>
              <a:buChar char="•"/>
            </a:pPr>
            <a:r>
              <a:rPr b="1" lang="en-US" sz="2400"/>
              <a:t>Cognitive Presence Modeling</a:t>
            </a:r>
            <a:endParaRPr b="1" sz="2400"/>
          </a:p>
          <a:p>
            <a:pPr indent="-317500" lvl="1" marL="914400" rtl="0" algn="l">
              <a:spcBef>
                <a:spcPts val="1000"/>
              </a:spcBef>
              <a:spcAft>
                <a:spcPts val="0"/>
              </a:spcAft>
              <a:buSzPts val="1400"/>
              <a:buChar char="•"/>
            </a:pPr>
            <a:r>
              <a:rPr lang="en-US" sz="2000"/>
              <a:t>Establish Baseline Performance</a:t>
            </a:r>
            <a:endParaRPr sz="2000"/>
          </a:p>
          <a:p>
            <a:pPr indent="-330200" lvl="2" marL="1371600" rtl="0" algn="l">
              <a:spcBef>
                <a:spcPts val="1000"/>
              </a:spcBef>
              <a:spcAft>
                <a:spcPts val="0"/>
              </a:spcAft>
              <a:buSzPts val="1600"/>
              <a:buChar char="•"/>
            </a:pPr>
            <a:r>
              <a:rPr lang="en-US" sz="1800"/>
              <a:t>Accuracy: ~70%</a:t>
            </a:r>
            <a:endParaRPr sz="1800"/>
          </a:p>
          <a:p>
            <a:pPr indent="-330200" lvl="2" marL="1371600" rtl="0" algn="l">
              <a:spcBef>
                <a:spcPts val="0"/>
              </a:spcBef>
              <a:spcAft>
                <a:spcPts val="0"/>
              </a:spcAft>
              <a:buSzPts val="1600"/>
              <a:buChar char="•"/>
            </a:pPr>
            <a:r>
              <a:rPr lang="en-US" sz="1800"/>
              <a:t>Cohen's Kappa: ~.63</a:t>
            </a:r>
            <a:endParaRPr sz="1800"/>
          </a:p>
          <a:p>
            <a:pPr indent="-317500" lvl="1" marL="914400" rtl="0" algn="l">
              <a:spcBef>
                <a:spcPts val="1000"/>
              </a:spcBef>
              <a:spcAft>
                <a:spcPts val="0"/>
              </a:spcAft>
              <a:buSzPts val="1400"/>
              <a:buChar char="•"/>
            </a:pPr>
            <a:r>
              <a:rPr lang="en-US" sz="2000"/>
              <a:t>Identify sources of Error</a:t>
            </a:r>
            <a:endParaRPr sz="2000"/>
          </a:p>
          <a:p>
            <a:pPr indent="-330200" lvl="2" marL="1371600" rtl="0" algn="l">
              <a:spcBef>
                <a:spcPts val="1000"/>
              </a:spcBef>
              <a:spcAft>
                <a:spcPts val="0"/>
              </a:spcAft>
              <a:buSzPts val="1600"/>
              <a:buChar char="•"/>
            </a:pPr>
            <a:r>
              <a:rPr lang="en-US" sz="1800"/>
              <a:t>Optimization</a:t>
            </a:r>
            <a:endParaRPr sz="1800"/>
          </a:p>
          <a:p>
            <a:pPr indent="-330200" lvl="2" marL="1371600" rtl="0" algn="l">
              <a:spcBef>
                <a:spcPts val="0"/>
              </a:spcBef>
              <a:spcAft>
                <a:spcPts val="0"/>
              </a:spcAft>
              <a:buSzPts val="1600"/>
              <a:buChar char="•"/>
            </a:pPr>
            <a:r>
              <a:rPr lang="en-US" sz="1800"/>
              <a:t>Estimation</a:t>
            </a:r>
            <a:endParaRPr sz="1800"/>
          </a:p>
          <a:p>
            <a:pPr indent="-330200" lvl="2" marL="1371600" rtl="0" algn="l">
              <a:spcBef>
                <a:spcPts val="0"/>
              </a:spcBef>
              <a:spcAft>
                <a:spcPts val="0"/>
              </a:spcAft>
              <a:buSzPts val="1600"/>
              <a:buChar char="•"/>
            </a:pPr>
            <a:r>
              <a:rPr lang="en-US" sz="1800"/>
              <a:t>Modeling</a:t>
            </a:r>
            <a:endParaRPr sz="1800"/>
          </a:p>
          <a:p>
            <a:pPr indent="-317500" lvl="1" marL="914400" rtl="0" algn="l">
              <a:spcBef>
                <a:spcPts val="1000"/>
              </a:spcBef>
              <a:spcAft>
                <a:spcPts val="0"/>
              </a:spcAft>
              <a:buSzPts val="1400"/>
              <a:buChar char="•"/>
            </a:pPr>
            <a:r>
              <a:rPr lang="en-US" sz="2000"/>
              <a:t>Accuracy vs Interpretability</a:t>
            </a:r>
            <a:endParaRPr sz="2000"/>
          </a:p>
          <a:p>
            <a:pPr indent="-342900" lvl="2" marL="1371600" rtl="0" algn="l">
              <a:spcBef>
                <a:spcPts val="1000"/>
              </a:spcBef>
              <a:spcAft>
                <a:spcPts val="0"/>
              </a:spcAft>
              <a:buSzPts val="1800"/>
              <a:buChar char="•"/>
            </a:pPr>
            <a:r>
              <a:rPr lang="en-US" sz="1800"/>
              <a:t>Explore more on cognitive presence with interpretable models but sacrificing accuracy OR</a:t>
            </a:r>
            <a:endParaRPr sz="1800"/>
          </a:p>
          <a:p>
            <a:pPr indent="-342900" lvl="2" marL="1371600" rtl="0" algn="l">
              <a:spcBef>
                <a:spcPts val="0"/>
              </a:spcBef>
              <a:spcAft>
                <a:spcPts val="0"/>
              </a:spcAft>
              <a:buSzPts val="1800"/>
              <a:buChar char="•"/>
            </a:pPr>
            <a:r>
              <a:rPr lang="en-US" sz="1800"/>
              <a:t>Use complex model like BERT to get better performance at the cost of interpretability</a:t>
            </a:r>
            <a:endParaRPr/>
          </a:p>
        </p:txBody>
      </p:sp>
      <p:sp>
        <p:nvSpPr>
          <p:cNvPr id="129" name="Google Shape;129;gccf0f877bd_3_19"/>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Quick Recap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cbd8048c7b_1_0"/>
          <p:cNvSpPr/>
          <p:nvPr/>
        </p:nvSpPr>
        <p:spPr>
          <a:xfrm>
            <a:off x="398475" y="2044825"/>
            <a:ext cx="11304300" cy="3827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cbd8048c7b_1_0"/>
          <p:cNvSpPr/>
          <p:nvPr/>
        </p:nvSpPr>
        <p:spPr>
          <a:xfrm>
            <a:off x="7990525" y="2927813"/>
            <a:ext cx="2527200" cy="1835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cbd8048c7b_1_0"/>
          <p:cNvSpPr txBox="1"/>
          <p:nvPr>
            <p:ph idx="1" type="body"/>
          </p:nvPr>
        </p:nvSpPr>
        <p:spPr>
          <a:xfrm>
            <a:off x="381000" y="1215483"/>
            <a:ext cx="11430000" cy="619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sz="1900"/>
              <a:t>Structure matters: Adoption of structured classification approach in the context of cognitive presence classification. Lecture Notes in Computer Science (Kovanovic et al, 2015)</a:t>
            </a:r>
            <a:endParaRPr/>
          </a:p>
        </p:txBody>
      </p:sp>
      <p:sp>
        <p:nvSpPr>
          <p:cNvPr id="137" name="Google Shape;137;gcbd8048c7b_1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Update 1: 2016 Kovanovic Replication</a:t>
            </a:r>
            <a:endParaRPr/>
          </a:p>
        </p:txBody>
      </p:sp>
      <p:pic>
        <p:nvPicPr>
          <p:cNvPr id="138" name="Google Shape;138;gcbd8048c7b_1_0"/>
          <p:cNvPicPr preferRelativeResize="0"/>
          <p:nvPr/>
        </p:nvPicPr>
        <p:blipFill rotWithShape="1">
          <a:blip r:embed="rId3">
            <a:alphaModFix/>
          </a:blip>
          <a:srcRect b="3540" l="0" r="0" t="0"/>
          <a:stretch/>
        </p:blipFill>
        <p:spPr>
          <a:xfrm>
            <a:off x="2069325" y="2658825"/>
            <a:ext cx="982175" cy="947425"/>
          </a:xfrm>
          <a:prstGeom prst="rect">
            <a:avLst/>
          </a:prstGeom>
          <a:noFill/>
          <a:ln>
            <a:noFill/>
          </a:ln>
        </p:spPr>
      </p:pic>
      <p:pic>
        <p:nvPicPr>
          <p:cNvPr id="139" name="Google Shape;139;gcbd8048c7b_1_0"/>
          <p:cNvPicPr preferRelativeResize="0"/>
          <p:nvPr/>
        </p:nvPicPr>
        <p:blipFill>
          <a:blip r:embed="rId4">
            <a:alphaModFix/>
          </a:blip>
          <a:stretch>
            <a:fillRect/>
          </a:stretch>
        </p:blipFill>
        <p:spPr>
          <a:xfrm>
            <a:off x="620000" y="2658825"/>
            <a:ext cx="918206" cy="947425"/>
          </a:xfrm>
          <a:prstGeom prst="rect">
            <a:avLst/>
          </a:prstGeom>
          <a:noFill/>
          <a:ln>
            <a:noFill/>
          </a:ln>
        </p:spPr>
      </p:pic>
      <p:pic>
        <p:nvPicPr>
          <p:cNvPr id="140" name="Google Shape;140;gcbd8048c7b_1_0"/>
          <p:cNvPicPr preferRelativeResize="0"/>
          <p:nvPr/>
        </p:nvPicPr>
        <p:blipFill>
          <a:blip r:embed="rId5">
            <a:alphaModFix/>
          </a:blip>
          <a:stretch>
            <a:fillRect/>
          </a:stretch>
        </p:blipFill>
        <p:spPr>
          <a:xfrm>
            <a:off x="3656025" y="3269088"/>
            <a:ext cx="2857500" cy="1152525"/>
          </a:xfrm>
          <a:prstGeom prst="rect">
            <a:avLst/>
          </a:prstGeom>
          <a:noFill/>
          <a:ln>
            <a:noFill/>
          </a:ln>
        </p:spPr>
      </p:pic>
      <p:pic>
        <p:nvPicPr>
          <p:cNvPr id="141" name="Google Shape;141;gcbd8048c7b_1_0"/>
          <p:cNvPicPr preferRelativeResize="0"/>
          <p:nvPr/>
        </p:nvPicPr>
        <p:blipFill>
          <a:blip r:embed="rId6">
            <a:alphaModFix/>
          </a:blip>
          <a:stretch>
            <a:fillRect/>
          </a:stretch>
        </p:blipFill>
        <p:spPr>
          <a:xfrm>
            <a:off x="1385473" y="4291400"/>
            <a:ext cx="1089708" cy="1014900"/>
          </a:xfrm>
          <a:prstGeom prst="rect">
            <a:avLst/>
          </a:prstGeom>
          <a:noFill/>
          <a:ln>
            <a:noFill/>
          </a:ln>
        </p:spPr>
      </p:pic>
      <p:pic>
        <p:nvPicPr>
          <p:cNvPr id="142" name="Google Shape;142;gcbd8048c7b_1_0"/>
          <p:cNvPicPr preferRelativeResize="0"/>
          <p:nvPr/>
        </p:nvPicPr>
        <p:blipFill>
          <a:blip r:embed="rId7">
            <a:alphaModFix/>
          </a:blip>
          <a:stretch>
            <a:fillRect/>
          </a:stretch>
        </p:blipFill>
        <p:spPr>
          <a:xfrm>
            <a:off x="9227925" y="3337901"/>
            <a:ext cx="1014900" cy="1014900"/>
          </a:xfrm>
          <a:prstGeom prst="rect">
            <a:avLst/>
          </a:prstGeom>
          <a:noFill/>
          <a:ln>
            <a:noFill/>
          </a:ln>
        </p:spPr>
      </p:pic>
      <p:pic>
        <p:nvPicPr>
          <p:cNvPr id="143" name="Google Shape;143;gcbd8048c7b_1_0"/>
          <p:cNvPicPr preferRelativeResize="0"/>
          <p:nvPr/>
        </p:nvPicPr>
        <p:blipFill>
          <a:blip r:embed="rId8">
            <a:alphaModFix/>
          </a:blip>
          <a:stretch>
            <a:fillRect/>
          </a:stretch>
        </p:blipFill>
        <p:spPr>
          <a:xfrm>
            <a:off x="8357800" y="3291825"/>
            <a:ext cx="604500" cy="1107055"/>
          </a:xfrm>
          <a:prstGeom prst="rect">
            <a:avLst/>
          </a:prstGeom>
          <a:noFill/>
          <a:ln>
            <a:noFill/>
          </a:ln>
        </p:spPr>
      </p:pic>
      <p:sp>
        <p:nvSpPr>
          <p:cNvPr id="144" name="Google Shape;144;gcbd8048c7b_1_0"/>
          <p:cNvSpPr txBox="1"/>
          <p:nvPr/>
        </p:nvSpPr>
        <p:spPr>
          <a:xfrm>
            <a:off x="8633900" y="2408150"/>
            <a:ext cx="869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latin typeface="Roboto"/>
                <a:ea typeface="Roboto"/>
                <a:cs typeface="Roboto"/>
                <a:sym typeface="Roboto"/>
              </a:rPr>
              <a:t>NLTK</a:t>
            </a:r>
            <a:endParaRPr sz="1900">
              <a:latin typeface="Roboto"/>
              <a:ea typeface="Roboto"/>
              <a:cs typeface="Roboto"/>
              <a:sym typeface="Roboto"/>
            </a:endParaRPr>
          </a:p>
        </p:txBody>
      </p:sp>
      <p:sp>
        <p:nvSpPr>
          <p:cNvPr id="145" name="Google Shape;145;gcbd8048c7b_1_0"/>
          <p:cNvSpPr txBox="1"/>
          <p:nvPr/>
        </p:nvSpPr>
        <p:spPr>
          <a:xfrm>
            <a:off x="661950" y="2258625"/>
            <a:ext cx="101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Postgres</a:t>
            </a:r>
            <a:endParaRPr>
              <a:latin typeface="Roboto"/>
              <a:ea typeface="Roboto"/>
              <a:cs typeface="Roboto"/>
              <a:sym typeface="Roboto"/>
            </a:endParaRPr>
          </a:p>
        </p:txBody>
      </p:sp>
      <p:sp>
        <p:nvSpPr>
          <p:cNvPr id="146" name="Google Shape;146;gcbd8048c7b_1_0"/>
          <p:cNvSpPr txBox="1"/>
          <p:nvPr/>
        </p:nvSpPr>
        <p:spPr>
          <a:xfrm>
            <a:off x="2177550" y="2258625"/>
            <a:ext cx="101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psycopg2</a:t>
            </a:r>
            <a:endParaRPr>
              <a:latin typeface="Roboto"/>
              <a:ea typeface="Roboto"/>
              <a:cs typeface="Roboto"/>
              <a:sym typeface="Roboto"/>
            </a:endParaRPr>
          </a:p>
        </p:txBody>
      </p:sp>
      <p:cxnSp>
        <p:nvCxnSpPr>
          <p:cNvPr id="147" name="Google Shape;147;gcbd8048c7b_1_0"/>
          <p:cNvCxnSpPr>
            <a:stCxn id="139" idx="3"/>
            <a:endCxn id="138" idx="1"/>
          </p:cNvCxnSpPr>
          <p:nvPr/>
        </p:nvCxnSpPr>
        <p:spPr>
          <a:xfrm>
            <a:off x="1538206" y="3132537"/>
            <a:ext cx="531000" cy="0"/>
          </a:xfrm>
          <a:prstGeom prst="straightConnector1">
            <a:avLst/>
          </a:prstGeom>
          <a:noFill/>
          <a:ln cap="flat" cmpd="sng" w="28575">
            <a:solidFill>
              <a:schemeClr val="dk2"/>
            </a:solidFill>
            <a:prstDash val="solid"/>
            <a:round/>
            <a:headEnd len="med" w="med" type="none"/>
            <a:tailEnd len="med" w="med" type="diamond"/>
          </a:ln>
        </p:spPr>
      </p:cxnSp>
      <p:cxnSp>
        <p:nvCxnSpPr>
          <p:cNvPr id="148" name="Google Shape;148;gcbd8048c7b_1_0"/>
          <p:cNvCxnSpPr>
            <a:stCxn id="141" idx="3"/>
            <a:endCxn id="140" idx="1"/>
          </p:cNvCxnSpPr>
          <p:nvPr/>
        </p:nvCxnSpPr>
        <p:spPr>
          <a:xfrm flipH="1" rot="10800000">
            <a:off x="2475182" y="3845450"/>
            <a:ext cx="1180800" cy="95340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gcbd8048c7b_1_0"/>
          <p:cNvCxnSpPr>
            <a:stCxn id="138" idx="3"/>
            <a:endCxn id="140" idx="1"/>
          </p:cNvCxnSpPr>
          <p:nvPr/>
        </p:nvCxnSpPr>
        <p:spPr>
          <a:xfrm>
            <a:off x="3051500" y="3132537"/>
            <a:ext cx="604500" cy="712800"/>
          </a:xfrm>
          <a:prstGeom prst="straightConnector1">
            <a:avLst/>
          </a:prstGeom>
          <a:noFill/>
          <a:ln cap="flat" cmpd="sng" w="9525">
            <a:solidFill>
              <a:schemeClr val="dk2"/>
            </a:solidFill>
            <a:prstDash val="solid"/>
            <a:round/>
            <a:headEnd len="med" w="med" type="none"/>
            <a:tailEnd len="med" w="med" type="triangle"/>
          </a:ln>
        </p:spPr>
      </p:cxnSp>
      <p:cxnSp>
        <p:nvCxnSpPr>
          <p:cNvPr id="150" name="Google Shape;150;gcbd8048c7b_1_0"/>
          <p:cNvCxnSpPr>
            <a:stCxn id="140" idx="3"/>
            <a:endCxn id="135" idx="1"/>
          </p:cNvCxnSpPr>
          <p:nvPr/>
        </p:nvCxnSpPr>
        <p:spPr>
          <a:xfrm>
            <a:off x="6513525" y="3845350"/>
            <a:ext cx="1476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ccf0dee7db_0_0"/>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lnSpcReduction="10000"/>
          </a:bodyPr>
          <a:lstStyle/>
          <a:p>
            <a:pPr indent="-387350" lvl="0" marL="457200" rtl="0" algn="l">
              <a:spcBef>
                <a:spcPts val="1000"/>
              </a:spcBef>
              <a:spcAft>
                <a:spcPts val="0"/>
              </a:spcAft>
              <a:buSzPts val="2500"/>
              <a:buChar char="•"/>
            </a:pPr>
            <a:r>
              <a:rPr b="1" lang="en-US" sz="2500"/>
              <a:t>Word-Mover’s distance</a:t>
            </a:r>
            <a:endParaRPr b="1" sz="2500"/>
          </a:p>
          <a:p>
            <a:pPr indent="-323850" lvl="1" marL="914400" rtl="0" algn="l">
              <a:spcBef>
                <a:spcPts val="1000"/>
              </a:spcBef>
              <a:spcAft>
                <a:spcPts val="0"/>
              </a:spcAft>
              <a:buSzPts val="1500"/>
              <a:buChar char="•"/>
            </a:pPr>
            <a:r>
              <a:rPr lang="en-US" sz="2100"/>
              <a:t>Ran the model with Word-mover’s distance using different embedding model</a:t>
            </a:r>
            <a:endParaRPr sz="2100"/>
          </a:p>
          <a:p>
            <a:pPr indent="-361950" lvl="1" marL="914400" rtl="0" algn="l">
              <a:spcBef>
                <a:spcPts val="1000"/>
              </a:spcBef>
              <a:spcAft>
                <a:spcPts val="0"/>
              </a:spcAft>
              <a:buSzPts val="2100"/>
              <a:buChar char="•"/>
            </a:pPr>
            <a:r>
              <a:rPr lang="en-US" sz="2100" u="sng"/>
              <a:t>Outcome:</a:t>
            </a:r>
            <a:r>
              <a:rPr lang="en-US" sz="2100"/>
              <a:t> No major change in overall performance, however, distribution of precision recall across classes is different</a:t>
            </a:r>
            <a:endParaRPr sz="2100"/>
          </a:p>
          <a:p>
            <a:pPr indent="-361950" lvl="1" marL="914400" rtl="0" algn="l">
              <a:spcBef>
                <a:spcPts val="1000"/>
              </a:spcBef>
              <a:spcAft>
                <a:spcPts val="0"/>
              </a:spcAft>
              <a:buSzPts val="2100"/>
              <a:buChar char="•"/>
            </a:pPr>
            <a:r>
              <a:rPr lang="en-US" sz="2100" u="sng"/>
              <a:t>Challenges:</a:t>
            </a:r>
            <a:r>
              <a:rPr lang="en-US" sz="2100"/>
              <a:t> Word context missing, slow inference</a:t>
            </a:r>
            <a:endParaRPr sz="2100"/>
          </a:p>
          <a:p>
            <a:pPr indent="0" lvl="0" marL="457200" rtl="0" algn="l">
              <a:spcBef>
                <a:spcPts val="1000"/>
              </a:spcBef>
              <a:spcAft>
                <a:spcPts val="0"/>
              </a:spcAft>
              <a:buNone/>
            </a:pPr>
            <a:r>
              <a:t/>
            </a:r>
            <a:endParaRPr sz="1900"/>
          </a:p>
          <a:p>
            <a:pPr indent="-387350" lvl="0" marL="457200" rtl="0" algn="l">
              <a:spcBef>
                <a:spcPts val="1000"/>
              </a:spcBef>
              <a:spcAft>
                <a:spcPts val="0"/>
              </a:spcAft>
              <a:buSzPts val="2500"/>
              <a:buChar char="•"/>
            </a:pPr>
            <a:r>
              <a:rPr b="1" lang="en-US" sz="2500"/>
              <a:t>BERT fine-tuning</a:t>
            </a:r>
            <a:endParaRPr b="1" sz="2500"/>
          </a:p>
          <a:p>
            <a:pPr indent="-361950" lvl="1" marL="914400" rtl="0" algn="l">
              <a:spcBef>
                <a:spcPts val="1000"/>
              </a:spcBef>
              <a:spcAft>
                <a:spcPts val="0"/>
              </a:spcAft>
              <a:buSzPts val="2100"/>
              <a:buChar char="•"/>
            </a:pPr>
            <a:r>
              <a:rPr lang="en-US" sz="2100"/>
              <a:t>Transfer learning by fine-tuning BERT network using PyTorch Lightning (PL)</a:t>
            </a:r>
            <a:endParaRPr sz="2100"/>
          </a:p>
          <a:p>
            <a:pPr indent="-361950" lvl="1" marL="914400" rtl="0" algn="l">
              <a:spcBef>
                <a:spcPts val="1000"/>
              </a:spcBef>
              <a:spcAft>
                <a:spcPts val="0"/>
              </a:spcAft>
              <a:buSzPts val="2100"/>
              <a:buChar char="•"/>
            </a:pPr>
            <a:r>
              <a:rPr lang="en-US" sz="2100" u="sng"/>
              <a:t>Outcome: </a:t>
            </a:r>
            <a:r>
              <a:rPr lang="en-US" sz="2100"/>
              <a:t>Need to investigate further, but if modeled as multi-label classification, </a:t>
            </a:r>
            <a:r>
              <a:rPr i="1" lang="en-US" sz="2100"/>
              <a:t>ROC-AUC ~ 0.8</a:t>
            </a:r>
            <a:endParaRPr i="1" sz="2100"/>
          </a:p>
          <a:p>
            <a:pPr indent="-361950" lvl="1" marL="914400" rtl="0" algn="l">
              <a:spcBef>
                <a:spcPts val="1000"/>
              </a:spcBef>
              <a:spcAft>
                <a:spcPts val="0"/>
              </a:spcAft>
              <a:buSzPts val="2100"/>
              <a:buChar char="•"/>
            </a:pPr>
            <a:r>
              <a:rPr lang="en-US" sz="2100" u="sng"/>
              <a:t>Challenges: </a:t>
            </a:r>
            <a:r>
              <a:rPr lang="en-US" sz="2100"/>
              <a:t>New experience with PL, Interpretability vs Performance tradeoff</a:t>
            </a:r>
            <a:endParaRPr sz="2100"/>
          </a:p>
          <a:p>
            <a:pPr indent="-349250" lvl="2" marL="1371600" rtl="0" algn="l">
              <a:spcBef>
                <a:spcPts val="1000"/>
              </a:spcBef>
              <a:spcAft>
                <a:spcPts val="0"/>
              </a:spcAft>
              <a:buSzPts val="1900"/>
              <a:buChar char="•"/>
            </a:pPr>
            <a:r>
              <a:rPr i="1" lang="en-US" sz="1900"/>
              <a:t>Potential resolution: </a:t>
            </a:r>
            <a:r>
              <a:rPr lang="en-US" sz="1900"/>
              <a:t>Use model agnostic frameworks like LIME to add interpretability</a:t>
            </a:r>
            <a:endParaRPr sz="2100"/>
          </a:p>
        </p:txBody>
      </p:sp>
      <p:sp>
        <p:nvSpPr>
          <p:cNvPr id="156" name="Google Shape;156;gccf0dee7db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Update 2: Cognitive </a:t>
            </a:r>
            <a:r>
              <a:rPr lang="en-US"/>
              <a:t>Presence</a:t>
            </a:r>
            <a:r>
              <a:rPr lang="en-US"/>
              <a:t> Modeling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cce50758e0_0_5"/>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74650" lvl="1" marL="457200" rtl="0" algn="l">
              <a:spcBef>
                <a:spcPts val="1000"/>
              </a:spcBef>
              <a:spcAft>
                <a:spcPts val="0"/>
              </a:spcAft>
              <a:buSzPts val="2300"/>
              <a:buChar char="•"/>
            </a:pPr>
            <a:r>
              <a:rPr lang="en-US" sz="2300"/>
              <a:t>Created a network graph of comments and threads with users as nodes and comments as edges</a:t>
            </a:r>
            <a:endParaRPr sz="2300"/>
          </a:p>
          <a:p>
            <a:pPr indent="-374650" lvl="1" marL="457200" rtl="0" algn="l">
              <a:spcBef>
                <a:spcPts val="1000"/>
              </a:spcBef>
              <a:spcAft>
                <a:spcPts val="0"/>
              </a:spcAft>
              <a:buSzPts val="2300"/>
              <a:buChar char="•"/>
            </a:pPr>
            <a:r>
              <a:rPr lang="en-US" sz="2300" u="sng"/>
              <a:t>Outcome: </a:t>
            </a:r>
            <a:r>
              <a:rPr lang="en-US" sz="2300"/>
              <a:t>The edges are highly concentrated around certain nodes (See figure on next page)</a:t>
            </a:r>
            <a:endParaRPr sz="2300"/>
          </a:p>
          <a:p>
            <a:pPr indent="-374650" lvl="1" marL="457200" rtl="0" algn="l">
              <a:lnSpc>
                <a:spcPct val="100000"/>
              </a:lnSpc>
              <a:spcBef>
                <a:spcPts val="1000"/>
              </a:spcBef>
              <a:spcAft>
                <a:spcPts val="1000"/>
              </a:spcAft>
              <a:buSzPts val="2300"/>
              <a:buChar char="•"/>
            </a:pPr>
            <a:r>
              <a:rPr lang="en-US" sz="2300" u="sng"/>
              <a:t>Challenges: </a:t>
            </a:r>
            <a:r>
              <a:rPr lang="en-US" sz="2300"/>
              <a:t>First-time experience in Social Network Analysis, multiple dimensions to explore (time-dependency, topology of these networks, generative models, etc.)</a:t>
            </a:r>
            <a:endParaRPr sz="3100"/>
          </a:p>
        </p:txBody>
      </p:sp>
      <p:sp>
        <p:nvSpPr>
          <p:cNvPr id="162" name="Google Shape;162;gcce50758e0_0_5"/>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Update 3: Social Network Analysis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ccf0f877bd_3_1"/>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Social Network Analysis </a:t>
            </a:r>
            <a:r>
              <a:rPr lang="en-US"/>
              <a:t>(Contd.)</a:t>
            </a:r>
            <a:endParaRPr/>
          </a:p>
        </p:txBody>
      </p:sp>
      <p:pic>
        <p:nvPicPr>
          <p:cNvPr id="168" name="Google Shape;168;gccf0f877bd_3_1"/>
          <p:cNvPicPr preferRelativeResize="0"/>
          <p:nvPr/>
        </p:nvPicPr>
        <p:blipFill>
          <a:blip r:embed="rId3">
            <a:alphaModFix/>
          </a:blip>
          <a:stretch>
            <a:fillRect/>
          </a:stretch>
        </p:blipFill>
        <p:spPr>
          <a:xfrm>
            <a:off x="2237950" y="1455875"/>
            <a:ext cx="2524825" cy="818425"/>
          </a:xfrm>
          <a:prstGeom prst="rect">
            <a:avLst/>
          </a:prstGeom>
          <a:noFill/>
          <a:ln>
            <a:noFill/>
          </a:ln>
        </p:spPr>
      </p:pic>
      <p:pic>
        <p:nvPicPr>
          <p:cNvPr id="169" name="Google Shape;169;gccf0f877bd_3_1"/>
          <p:cNvPicPr preferRelativeResize="0"/>
          <p:nvPr/>
        </p:nvPicPr>
        <p:blipFill>
          <a:blip r:embed="rId4">
            <a:alphaModFix/>
          </a:blip>
          <a:stretch>
            <a:fillRect/>
          </a:stretch>
        </p:blipFill>
        <p:spPr>
          <a:xfrm>
            <a:off x="453125" y="1455875"/>
            <a:ext cx="1560483" cy="818425"/>
          </a:xfrm>
          <a:prstGeom prst="rect">
            <a:avLst/>
          </a:prstGeom>
          <a:noFill/>
          <a:ln>
            <a:noFill/>
          </a:ln>
        </p:spPr>
      </p:pic>
      <p:sp>
        <p:nvSpPr>
          <p:cNvPr id="170" name="Google Shape;170;gccf0f877bd_3_1"/>
          <p:cNvSpPr txBox="1"/>
          <p:nvPr/>
        </p:nvSpPr>
        <p:spPr>
          <a:xfrm>
            <a:off x="453125" y="1055675"/>
            <a:ext cx="119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Roboto"/>
                <a:ea typeface="Roboto"/>
                <a:cs typeface="Roboto"/>
                <a:sym typeface="Roboto"/>
              </a:rPr>
              <a:t>Original</a:t>
            </a:r>
            <a:endParaRPr b="1">
              <a:latin typeface="Roboto"/>
              <a:ea typeface="Roboto"/>
              <a:cs typeface="Roboto"/>
              <a:sym typeface="Roboto"/>
            </a:endParaRPr>
          </a:p>
        </p:txBody>
      </p:sp>
      <p:sp>
        <p:nvSpPr>
          <p:cNvPr id="171" name="Google Shape;171;gccf0f877bd_3_1"/>
          <p:cNvSpPr txBox="1"/>
          <p:nvPr/>
        </p:nvSpPr>
        <p:spPr>
          <a:xfrm>
            <a:off x="2170050" y="1108625"/>
            <a:ext cx="224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Roboto"/>
                <a:ea typeface="Roboto"/>
                <a:cs typeface="Roboto"/>
                <a:sym typeface="Roboto"/>
              </a:rPr>
              <a:t>After filter: Degree &gt; 5</a:t>
            </a:r>
            <a:endParaRPr b="1">
              <a:latin typeface="Roboto"/>
              <a:ea typeface="Roboto"/>
              <a:cs typeface="Roboto"/>
              <a:sym typeface="Roboto"/>
            </a:endParaRPr>
          </a:p>
        </p:txBody>
      </p:sp>
      <p:pic>
        <p:nvPicPr>
          <p:cNvPr id="172" name="Google Shape;172;gccf0f877bd_3_1"/>
          <p:cNvPicPr preferRelativeResize="0"/>
          <p:nvPr/>
        </p:nvPicPr>
        <p:blipFill>
          <a:blip r:embed="rId5">
            <a:alphaModFix/>
          </a:blip>
          <a:stretch>
            <a:fillRect/>
          </a:stretch>
        </p:blipFill>
        <p:spPr>
          <a:xfrm>
            <a:off x="4124487" y="1712049"/>
            <a:ext cx="3455182" cy="3130874"/>
          </a:xfrm>
          <a:prstGeom prst="rect">
            <a:avLst/>
          </a:prstGeom>
          <a:noFill/>
          <a:ln>
            <a:noFill/>
          </a:ln>
        </p:spPr>
      </p:pic>
      <p:pic>
        <p:nvPicPr>
          <p:cNvPr id="173" name="Google Shape;173;gccf0f877bd_3_1"/>
          <p:cNvPicPr preferRelativeResize="0"/>
          <p:nvPr/>
        </p:nvPicPr>
        <p:blipFill>
          <a:blip r:embed="rId6">
            <a:alphaModFix/>
          </a:blip>
          <a:stretch>
            <a:fillRect/>
          </a:stretch>
        </p:blipFill>
        <p:spPr>
          <a:xfrm>
            <a:off x="7579675" y="1712050"/>
            <a:ext cx="3640085" cy="3130875"/>
          </a:xfrm>
          <a:prstGeom prst="rect">
            <a:avLst/>
          </a:prstGeom>
          <a:noFill/>
          <a:ln>
            <a:noFill/>
          </a:ln>
        </p:spPr>
      </p:pic>
      <p:sp>
        <p:nvSpPr>
          <p:cNvPr id="174" name="Google Shape;174;gccf0f877bd_3_1"/>
          <p:cNvSpPr txBox="1"/>
          <p:nvPr/>
        </p:nvSpPr>
        <p:spPr>
          <a:xfrm>
            <a:off x="4762775" y="4937000"/>
            <a:ext cx="232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a:latin typeface="Roboto"/>
                <a:ea typeface="Roboto"/>
                <a:cs typeface="Roboto"/>
                <a:sym typeface="Roboto"/>
              </a:rPr>
              <a:t>Nodes sized by Out-degree</a:t>
            </a:r>
            <a:endParaRPr b="1" i="1">
              <a:latin typeface="Roboto"/>
              <a:ea typeface="Roboto"/>
              <a:cs typeface="Roboto"/>
              <a:sym typeface="Roboto"/>
            </a:endParaRPr>
          </a:p>
        </p:txBody>
      </p:sp>
      <p:sp>
        <p:nvSpPr>
          <p:cNvPr id="175" name="Google Shape;175;gccf0f877bd_3_1"/>
          <p:cNvSpPr txBox="1"/>
          <p:nvPr/>
        </p:nvSpPr>
        <p:spPr>
          <a:xfrm>
            <a:off x="8361475" y="4937000"/>
            <a:ext cx="232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a:latin typeface="Roboto"/>
                <a:ea typeface="Roboto"/>
                <a:cs typeface="Roboto"/>
                <a:sym typeface="Roboto"/>
              </a:rPr>
              <a:t>Nodes sized by In-degree</a:t>
            </a:r>
            <a:endParaRPr b="1" i="1">
              <a:latin typeface="Roboto"/>
              <a:ea typeface="Roboto"/>
              <a:cs typeface="Roboto"/>
              <a:sym typeface="Roboto"/>
            </a:endParaRPr>
          </a:p>
        </p:txBody>
      </p:sp>
      <p:pic>
        <p:nvPicPr>
          <p:cNvPr id="176" name="Google Shape;176;gccf0f877bd_3_1"/>
          <p:cNvPicPr preferRelativeResize="0"/>
          <p:nvPr/>
        </p:nvPicPr>
        <p:blipFill>
          <a:blip r:embed="rId7">
            <a:alphaModFix/>
          </a:blip>
          <a:stretch>
            <a:fillRect/>
          </a:stretch>
        </p:blipFill>
        <p:spPr>
          <a:xfrm>
            <a:off x="453125" y="2704550"/>
            <a:ext cx="3503125" cy="2320125"/>
          </a:xfrm>
          <a:prstGeom prst="rect">
            <a:avLst/>
          </a:prstGeom>
          <a:noFill/>
          <a:ln>
            <a:noFill/>
          </a:ln>
        </p:spPr>
      </p:pic>
      <p:sp>
        <p:nvSpPr>
          <p:cNvPr id="177" name="Google Shape;177;gccf0f877bd_3_1"/>
          <p:cNvSpPr txBox="1"/>
          <p:nvPr/>
        </p:nvSpPr>
        <p:spPr>
          <a:xfrm>
            <a:off x="776000" y="2492925"/>
            <a:ext cx="3055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200">
                <a:latin typeface="Roboto"/>
                <a:ea typeface="Roboto"/>
                <a:cs typeface="Roboto"/>
                <a:sym typeface="Roboto"/>
              </a:rPr>
              <a:t>Number of posts by a student (sorted)</a:t>
            </a:r>
            <a:endParaRPr b="1" sz="1200">
              <a:latin typeface="Roboto"/>
              <a:ea typeface="Roboto"/>
              <a:cs typeface="Roboto"/>
              <a:sym typeface="Roboto"/>
            </a:endParaRPr>
          </a:p>
        </p:txBody>
      </p:sp>
      <p:sp>
        <p:nvSpPr>
          <p:cNvPr id="178" name="Google Shape;178;gccf0f877bd_3_1"/>
          <p:cNvSpPr txBox="1"/>
          <p:nvPr/>
        </p:nvSpPr>
        <p:spPr>
          <a:xfrm rot="-5400000">
            <a:off x="-259950" y="3679963"/>
            <a:ext cx="140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Roboto"/>
                <a:ea typeface="Roboto"/>
                <a:cs typeface="Roboto"/>
                <a:sym typeface="Roboto"/>
              </a:rPr>
              <a:t>Number of posts</a:t>
            </a:r>
            <a:endParaRPr sz="1200">
              <a:latin typeface="Roboto"/>
              <a:ea typeface="Roboto"/>
              <a:cs typeface="Roboto"/>
              <a:sym typeface="Roboto"/>
            </a:endParaRPr>
          </a:p>
        </p:txBody>
      </p:sp>
      <p:sp>
        <p:nvSpPr>
          <p:cNvPr id="179" name="Google Shape;179;gccf0f877bd_3_1"/>
          <p:cNvSpPr txBox="1"/>
          <p:nvPr/>
        </p:nvSpPr>
        <p:spPr>
          <a:xfrm>
            <a:off x="1503575" y="4952438"/>
            <a:ext cx="140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Roboto"/>
                <a:ea typeface="Roboto"/>
                <a:cs typeface="Roboto"/>
                <a:sym typeface="Roboto"/>
              </a:rPr>
              <a:t>Students index</a:t>
            </a:r>
            <a:endParaRPr sz="1200">
              <a:latin typeface="Roboto"/>
              <a:ea typeface="Roboto"/>
              <a:cs typeface="Roboto"/>
              <a:sym typeface="Roboto"/>
            </a:endParaRPr>
          </a:p>
        </p:txBody>
      </p:sp>
      <p:sp>
        <p:nvSpPr>
          <p:cNvPr id="180" name="Google Shape;180;gccf0f877bd_3_1"/>
          <p:cNvSpPr txBox="1"/>
          <p:nvPr/>
        </p:nvSpPr>
        <p:spPr>
          <a:xfrm>
            <a:off x="4206000" y="5431275"/>
            <a:ext cx="760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The engagement is highly concentrated around certain nodes acting as sources or sinks</a:t>
            </a:r>
            <a:endParaRPr>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cbd8046874_0_0"/>
          <p:cNvSpPr txBox="1"/>
          <p:nvPr>
            <p:ph idx="1" type="body"/>
          </p:nvPr>
        </p:nvSpPr>
        <p:spPr>
          <a:xfrm>
            <a:off x="381000" y="1215475"/>
            <a:ext cx="11430000" cy="4857600"/>
          </a:xfrm>
          <a:prstGeom prst="rect">
            <a:avLst/>
          </a:prstGeom>
        </p:spPr>
        <p:txBody>
          <a:bodyPr anchorCtr="0" anchor="t" bIns="45700" lIns="91425" spcFirstLastPara="1" rIns="91425" wrap="square" tIns="45700">
            <a:normAutofit/>
          </a:bodyPr>
          <a:lstStyle/>
          <a:p>
            <a:pPr indent="-336550" lvl="0" marL="457200" rtl="0" algn="l">
              <a:lnSpc>
                <a:spcPct val="100000"/>
              </a:lnSpc>
              <a:spcBef>
                <a:spcPts val="500"/>
              </a:spcBef>
              <a:spcAft>
                <a:spcPts val="0"/>
              </a:spcAft>
              <a:buSzPts val="1700"/>
              <a:buChar char="•"/>
            </a:pPr>
            <a:r>
              <a:rPr lang="en-US" sz="2300"/>
              <a:t>Create visualizations and statistics relevant to professors &amp; course designers</a:t>
            </a:r>
            <a:endParaRPr sz="2300"/>
          </a:p>
          <a:p>
            <a:pPr indent="-336550" lvl="0" marL="457200" rtl="0" algn="l">
              <a:lnSpc>
                <a:spcPct val="100000"/>
              </a:lnSpc>
              <a:spcBef>
                <a:spcPts val="500"/>
              </a:spcBef>
              <a:spcAft>
                <a:spcPts val="0"/>
              </a:spcAft>
              <a:buSzPts val="1700"/>
              <a:buChar char="•"/>
            </a:pPr>
            <a:r>
              <a:rPr lang="en-US" sz="2300"/>
              <a:t>Find features for cognitive presence models</a:t>
            </a:r>
            <a:endParaRPr sz="2300"/>
          </a:p>
          <a:p>
            <a:pPr indent="-336550" lvl="0" marL="457200" rtl="0" algn="l">
              <a:lnSpc>
                <a:spcPct val="100000"/>
              </a:lnSpc>
              <a:spcBef>
                <a:spcPts val="0"/>
              </a:spcBef>
              <a:spcAft>
                <a:spcPts val="0"/>
              </a:spcAft>
              <a:buSzPts val="1700"/>
              <a:buChar char="•"/>
            </a:pPr>
            <a:r>
              <a:rPr lang="en-US" sz="2300"/>
              <a:t>Started with Kabir &amp; Madria (2020) - COVID-19 tweets</a:t>
            </a:r>
            <a:endParaRPr sz="2300"/>
          </a:p>
          <a:p>
            <a:pPr indent="-336550" lvl="0" marL="457200" rtl="0" algn="l">
              <a:spcBef>
                <a:spcPts val="1000"/>
              </a:spcBef>
              <a:spcAft>
                <a:spcPts val="0"/>
              </a:spcAft>
              <a:buSzPts val="1700"/>
              <a:buChar char="•"/>
            </a:pPr>
            <a:r>
              <a:rPr b="1" lang="en-US" sz="2700"/>
              <a:t>Statistics</a:t>
            </a:r>
            <a:endParaRPr b="1" sz="2700"/>
          </a:p>
          <a:p>
            <a:pPr indent="-336550" lvl="1" marL="914400" rtl="0" algn="l">
              <a:spcBef>
                <a:spcPts val="0"/>
              </a:spcBef>
              <a:spcAft>
                <a:spcPts val="0"/>
              </a:spcAft>
              <a:buSzPts val="1700"/>
              <a:buChar char="•"/>
            </a:pPr>
            <a:r>
              <a:rPr lang="en-US" sz="2300"/>
              <a:t>Agreement between two coders: Cohen’s kappa, κ = .9179</a:t>
            </a:r>
            <a:endParaRPr sz="2300"/>
          </a:p>
          <a:p>
            <a:pPr indent="-336550" lvl="1" marL="914400" rtl="0" algn="l">
              <a:spcBef>
                <a:spcPts val="0"/>
              </a:spcBef>
              <a:spcAft>
                <a:spcPts val="0"/>
              </a:spcAft>
              <a:buSzPts val="1700"/>
              <a:buChar char="•"/>
            </a:pPr>
            <a:r>
              <a:rPr lang="en-US" sz="2300"/>
              <a:t>Median/mean word count by CP score: much higher for exploration and resolution</a:t>
            </a:r>
            <a:endParaRPr sz="2300"/>
          </a:p>
          <a:p>
            <a:pPr indent="-336550" lvl="0" marL="457200" rtl="0" algn="l">
              <a:spcBef>
                <a:spcPts val="1000"/>
              </a:spcBef>
              <a:spcAft>
                <a:spcPts val="0"/>
              </a:spcAft>
              <a:buSzPts val="1700"/>
              <a:buChar char="•"/>
            </a:pPr>
            <a:r>
              <a:rPr b="1" lang="en-US" sz="2700"/>
              <a:t>Challenges</a:t>
            </a:r>
            <a:endParaRPr b="1" sz="2700"/>
          </a:p>
          <a:p>
            <a:pPr indent="-336550" lvl="1" marL="914400" rtl="0" algn="l">
              <a:spcBef>
                <a:spcPts val="0"/>
              </a:spcBef>
              <a:spcAft>
                <a:spcPts val="0"/>
              </a:spcAft>
              <a:buSzPts val="1700"/>
              <a:buChar char="•"/>
            </a:pPr>
            <a:r>
              <a:rPr lang="en-US" sz="2300"/>
              <a:t>Figuring out what visualization &amp; statistics are relevant</a:t>
            </a:r>
            <a:endParaRPr sz="2300"/>
          </a:p>
          <a:p>
            <a:pPr indent="-336550" lvl="1" marL="914400" rtl="0" algn="l">
              <a:spcBef>
                <a:spcPts val="0"/>
              </a:spcBef>
              <a:spcAft>
                <a:spcPts val="0"/>
              </a:spcAft>
              <a:buSzPts val="1700"/>
              <a:buChar char="•"/>
            </a:pPr>
            <a:r>
              <a:rPr lang="en-US" sz="2300"/>
              <a:t>Cleaning data - s</a:t>
            </a:r>
            <a:r>
              <a:rPr lang="en-US" sz="2300"/>
              <a:t>ome posts still have Python code</a:t>
            </a:r>
            <a:endParaRPr sz="2300"/>
          </a:p>
        </p:txBody>
      </p:sp>
      <p:sp>
        <p:nvSpPr>
          <p:cNvPr id="186" name="Google Shape;186;gcbd8046874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Update 4: Data Visualizations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gcbd8046874_0_5"/>
          <p:cNvPicPr preferRelativeResize="0"/>
          <p:nvPr/>
        </p:nvPicPr>
        <p:blipFill>
          <a:blip r:embed="rId3">
            <a:alphaModFix/>
          </a:blip>
          <a:stretch>
            <a:fillRect/>
          </a:stretch>
        </p:blipFill>
        <p:spPr>
          <a:xfrm>
            <a:off x="5085650" y="216225"/>
            <a:ext cx="4519525" cy="3289098"/>
          </a:xfrm>
          <a:prstGeom prst="rect">
            <a:avLst/>
          </a:prstGeom>
          <a:noFill/>
          <a:ln>
            <a:noFill/>
          </a:ln>
        </p:spPr>
      </p:pic>
      <p:pic>
        <p:nvPicPr>
          <p:cNvPr id="192" name="Google Shape;192;gcbd8046874_0_5"/>
          <p:cNvPicPr preferRelativeResize="0"/>
          <p:nvPr/>
        </p:nvPicPr>
        <p:blipFill>
          <a:blip r:embed="rId4">
            <a:alphaModFix/>
          </a:blip>
          <a:stretch>
            <a:fillRect/>
          </a:stretch>
        </p:blipFill>
        <p:spPr>
          <a:xfrm>
            <a:off x="189750" y="3475726"/>
            <a:ext cx="4519525" cy="3289081"/>
          </a:xfrm>
          <a:prstGeom prst="rect">
            <a:avLst/>
          </a:prstGeom>
          <a:noFill/>
          <a:ln>
            <a:noFill/>
          </a:ln>
        </p:spPr>
      </p:pic>
      <p:pic>
        <p:nvPicPr>
          <p:cNvPr id="193" name="Google Shape;193;gcbd8046874_0_5"/>
          <p:cNvPicPr preferRelativeResize="0"/>
          <p:nvPr/>
        </p:nvPicPr>
        <p:blipFill>
          <a:blip r:embed="rId5">
            <a:alphaModFix/>
          </a:blip>
          <a:stretch>
            <a:fillRect/>
          </a:stretch>
        </p:blipFill>
        <p:spPr>
          <a:xfrm>
            <a:off x="189750" y="245825"/>
            <a:ext cx="4519525" cy="3229900"/>
          </a:xfrm>
          <a:prstGeom prst="rect">
            <a:avLst/>
          </a:prstGeom>
          <a:noFill/>
          <a:ln>
            <a:noFill/>
          </a:ln>
        </p:spPr>
      </p:pic>
      <p:pic>
        <p:nvPicPr>
          <p:cNvPr id="194" name="Google Shape;194;gcbd8046874_0_5"/>
          <p:cNvPicPr preferRelativeResize="0"/>
          <p:nvPr/>
        </p:nvPicPr>
        <p:blipFill>
          <a:blip r:embed="rId6">
            <a:alphaModFix/>
          </a:blip>
          <a:stretch>
            <a:fillRect/>
          </a:stretch>
        </p:blipFill>
        <p:spPr>
          <a:xfrm>
            <a:off x="4882600" y="3432606"/>
            <a:ext cx="4722575" cy="333219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ca9ee63040_0_5"/>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17500" lvl="0" marL="457200" rtl="0" algn="l">
              <a:spcBef>
                <a:spcPts val="1000"/>
              </a:spcBef>
              <a:spcAft>
                <a:spcPts val="0"/>
              </a:spcAft>
              <a:buSzPts val="1400"/>
              <a:buChar char="•"/>
            </a:pPr>
            <a:r>
              <a:rPr b="1" lang="en-US" sz="2400"/>
              <a:t>Data Visualizations</a:t>
            </a:r>
            <a:endParaRPr b="1" sz="2400"/>
          </a:p>
          <a:p>
            <a:pPr indent="-317500" lvl="1" marL="914400" rtl="0" algn="l">
              <a:spcBef>
                <a:spcPts val="1000"/>
              </a:spcBef>
              <a:spcAft>
                <a:spcPts val="0"/>
              </a:spcAft>
              <a:buSzPts val="1400"/>
              <a:buChar char="•"/>
            </a:pPr>
            <a:r>
              <a:rPr lang="en-US" sz="2000"/>
              <a:t>Create visualizations/statistics based off of the survey</a:t>
            </a:r>
            <a:endParaRPr sz="2000"/>
          </a:p>
          <a:p>
            <a:pPr indent="-330200" lvl="2" marL="1371600" rtl="0" algn="l">
              <a:spcBef>
                <a:spcPts val="1000"/>
              </a:spcBef>
              <a:spcAft>
                <a:spcPts val="0"/>
              </a:spcAft>
              <a:buSzPts val="1600"/>
              <a:buChar char="•"/>
            </a:pPr>
            <a:r>
              <a:rPr lang="en-US" sz="1800"/>
              <a:t>Overall activity of class and individual activity of students</a:t>
            </a:r>
            <a:endParaRPr sz="1800"/>
          </a:p>
          <a:p>
            <a:pPr indent="-330200" lvl="2" marL="1371600" rtl="0" algn="l">
              <a:spcBef>
                <a:spcPts val="0"/>
              </a:spcBef>
              <a:spcAft>
                <a:spcPts val="0"/>
              </a:spcAft>
              <a:buSzPts val="1600"/>
              <a:buChar char="•"/>
            </a:pPr>
            <a:r>
              <a:rPr lang="en-US" sz="1800"/>
              <a:t>Common questions, terms, and topics</a:t>
            </a:r>
            <a:endParaRPr sz="1800"/>
          </a:p>
          <a:p>
            <a:pPr indent="-317500" lvl="1" marL="914400" rtl="0" algn="l">
              <a:spcBef>
                <a:spcPts val="1000"/>
              </a:spcBef>
              <a:spcAft>
                <a:spcPts val="0"/>
              </a:spcAft>
              <a:buSzPts val="1400"/>
              <a:buChar char="•"/>
            </a:pPr>
            <a:r>
              <a:rPr lang="en-US" sz="2000"/>
              <a:t>Use more Piazza data</a:t>
            </a:r>
            <a:endParaRPr sz="2000"/>
          </a:p>
          <a:p>
            <a:pPr indent="-317500" lvl="0" marL="457200" rtl="0" algn="l">
              <a:spcBef>
                <a:spcPts val="1000"/>
              </a:spcBef>
              <a:spcAft>
                <a:spcPts val="0"/>
              </a:spcAft>
              <a:buSzPts val="1400"/>
              <a:buChar char="•"/>
            </a:pPr>
            <a:r>
              <a:rPr b="1" lang="en-US" sz="2400"/>
              <a:t>Modelling goals</a:t>
            </a:r>
            <a:endParaRPr b="1" sz="2400"/>
          </a:p>
          <a:p>
            <a:pPr indent="-317500" lvl="1" marL="914400" rtl="0" algn="l">
              <a:spcBef>
                <a:spcPts val="1000"/>
              </a:spcBef>
              <a:spcAft>
                <a:spcPts val="0"/>
              </a:spcAft>
              <a:buSzPts val="1400"/>
              <a:buChar char="•"/>
            </a:pPr>
            <a:r>
              <a:rPr lang="en-US" sz="2000"/>
              <a:t>Test multiple ML models using features suggested in Kovanovic’s work</a:t>
            </a:r>
            <a:endParaRPr sz="1800"/>
          </a:p>
          <a:p>
            <a:pPr indent="-317500" lvl="1" marL="914400" rtl="0" algn="l">
              <a:spcBef>
                <a:spcPts val="1000"/>
              </a:spcBef>
              <a:spcAft>
                <a:spcPts val="0"/>
              </a:spcAft>
              <a:buSzPts val="1400"/>
              <a:buChar char="•"/>
            </a:pPr>
            <a:r>
              <a:rPr lang="en-US" sz="2000"/>
              <a:t>Perform experiments with the BERT model and observe generalizability on Piazza data</a:t>
            </a:r>
            <a:endParaRPr sz="2000"/>
          </a:p>
          <a:p>
            <a:pPr indent="-336550" lvl="1" marL="914400" rtl="0" algn="l">
              <a:spcBef>
                <a:spcPts val="500"/>
              </a:spcBef>
              <a:spcAft>
                <a:spcPts val="0"/>
              </a:spcAft>
              <a:buSzPts val="1700"/>
              <a:buChar char="•"/>
            </a:pPr>
            <a:r>
              <a:rPr lang="en-US" sz="2000"/>
              <a:t>Create the pipeline for fetching data directly from server DB, run model and output results to a file that can be used by Web-dev to display on the dashboard</a:t>
            </a:r>
            <a:endParaRPr sz="2000"/>
          </a:p>
          <a:p>
            <a:pPr indent="-336550" lvl="1" marL="914400" rtl="0" algn="l">
              <a:spcBef>
                <a:spcPts val="500"/>
              </a:spcBef>
              <a:spcAft>
                <a:spcPts val="0"/>
              </a:spcAft>
              <a:buSzPts val="1700"/>
              <a:buChar char="•"/>
            </a:pPr>
            <a:r>
              <a:rPr lang="en-US" sz="2000"/>
              <a:t>Define a clear problem statement for social network analysis to be explored in the next semester</a:t>
            </a:r>
            <a:endParaRPr sz="2000"/>
          </a:p>
        </p:txBody>
      </p:sp>
      <p:sp>
        <p:nvSpPr>
          <p:cNvPr id="200" name="Google Shape;200;gca9ee63040_0_5"/>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 Science Goals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cce19eedb8_0_0"/>
          <p:cNvSpPr txBox="1"/>
          <p:nvPr>
            <p:ph idx="1" type="body"/>
          </p:nvPr>
        </p:nvSpPr>
        <p:spPr>
          <a:xfrm>
            <a:off x="381000" y="1215474"/>
            <a:ext cx="11430000" cy="5272200"/>
          </a:xfrm>
          <a:prstGeom prst="rect">
            <a:avLst/>
          </a:prstGeom>
        </p:spPr>
        <p:txBody>
          <a:bodyPr anchorCtr="0" anchor="t" bIns="45700" lIns="91425" spcFirstLastPara="1" rIns="91425" wrap="square" tIns="45700">
            <a:normAutofit fontScale="77500" lnSpcReduction="20000"/>
          </a:bodyPr>
          <a:lstStyle/>
          <a:p>
            <a:pPr indent="-369097" lvl="0" marL="457200" rtl="0" algn="l">
              <a:lnSpc>
                <a:spcPct val="115000"/>
              </a:lnSpc>
              <a:spcBef>
                <a:spcPts val="1000"/>
              </a:spcBef>
              <a:spcAft>
                <a:spcPts val="0"/>
              </a:spcAft>
              <a:buSzPct val="100000"/>
              <a:buChar char="•"/>
            </a:pPr>
            <a:r>
              <a:rPr b="1" lang="en-US" sz="2854"/>
              <a:t>Frontend:</a:t>
            </a:r>
            <a:endParaRPr b="1" sz="2854"/>
          </a:p>
          <a:p>
            <a:pPr indent="-369097" lvl="1" marL="914400" rtl="0" algn="l">
              <a:lnSpc>
                <a:spcPct val="115000"/>
              </a:lnSpc>
              <a:spcBef>
                <a:spcPts val="0"/>
              </a:spcBef>
              <a:spcAft>
                <a:spcPts val="0"/>
              </a:spcAft>
              <a:buSzPct val="100000"/>
              <a:buChar char="•"/>
            </a:pPr>
            <a:r>
              <a:rPr lang="en-US" sz="2854"/>
              <a:t>Initial wireframes</a:t>
            </a:r>
            <a:endParaRPr sz="2854"/>
          </a:p>
          <a:p>
            <a:pPr indent="-345919" lvl="2" marL="1371600" rtl="0" algn="l">
              <a:lnSpc>
                <a:spcPct val="115000"/>
              </a:lnSpc>
              <a:spcBef>
                <a:spcPts val="0"/>
              </a:spcBef>
              <a:spcAft>
                <a:spcPts val="0"/>
              </a:spcAft>
              <a:buSzPct val="100000"/>
              <a:buChar char="•"/>
            </a:pPr>
            <a:r>
              <a:rPr lang="en-US" sz="2383"/>
              <a:t>Pencil</a:t>
            </a:r>
            <a:endParaRPr sz="2383"/>
          </a:p>
          <a:p>
            <a:pPr indent="-345919" lvl="2" marL="1371600" rtl="0" algn="l">
              <a:lnSpc>
                <a:spcPct val="115000"/>
              </a:lnSpc>
              <a:spcBef>
                <a:spcPts val="0"/>
              </a:spcBef>
              <a:spcAft>
                <a:spcPts val="0"/>
              </a:spcAft>
              <a:buSzPct val="100000"/>
              <a:buChar char="•"/>
            </a:pPr>
            <a:r>
              <a:rPr lang="en-US" sz="2383"/>
              <a:t>feedback, reworking</a:t>
            </a:r>
            <a:endParaRPr sz="2383"/>
          </a:p>
          <a:p>
            <a:pPr indent="-369097" lvl="1" marL="914400" rtl="0" algn="l">
              <a:lnSpc>
                <a:spcPct val="115000"/>
              </a:lnSpc>
              <a:spcBef>
                <a:spcPts val="0"/>
              </a:spcBef>
              <a:spcAft>
                <a:spcPts val="0"/>
              </a:spcAft>
              <a:buSzPct val="100000"/>
              <a:buChar char="•"/>
            </a:pPr>
            <a:r>
              <a:rPr lang="en-US" sz="2854"/>
              <a:t>More UI/UX research</a:t>
            </a:r>
            <a:endParaRPr sz="2854"/>
          </a:p>
          <a:p>
            <a:pPr indent="-345919" lvl="2" marL="1371600" rtl="0" algn="l">
              <a:lnSpc>
                <a:spcPct val="115000"/>
              </a:lnSpc>
              <a:spcBef>
                <a:spcPts val="0"/>
              </a:spcBef>
              <a:spcAft>
                <a:spcPts val="0"/>
              </a:spcAft>
              <a:buSzPct val="100000"/>
              <a:buChar char="•"/>
            </a:pPr>
            <a:r>
              <a:rPr lang="en-US" sz="2383"/>
              <a:t>d</a:t>
            </a:r>
            <a:r>
              <a:rPr lang="en-US" sz="2383"/>
              <a:t>esign principles</a:t>
            </a:r>
            <a:endParaRPr sz="2383"/>
          </a:p>
          <a:p>
            <a:pPr indent="-369097" lvl="1" marL="914400" rtl="0" algn="l">
              <a:lnSpc>
                <a:spcPct val="115000"/>
              </a:lnSpc>
              <a:spcBef>
                <a:spcPts val="0"/>
              </a:spcBef>
              <a:spcAft>
                <a:spcPts val="0"/>
              </a:spcAft>
              <a:buSzPct val="100000"/>
              <a:buChar char="•"/>
            </a:pPr>
            <a:r>
              <a:rPr lang="en-US" sz="2854"/>
              <a:t>React frontend for web-app</a:t>
            </a:r>
            <a:endParaRPr sz="2854"/>
          </a:p>
          <a:p>
            <a:pPr indent="-345919" lvl="2" marL="1371600" rtl="0" algn="l">
              <a:lnSpc>
                <a:spcPct val="115000"/>
              </a:lnSpc>
              <a:spcBef>
                <a:spcPts val="0"/>
              </a:spcBef>
              <a:spcAft>
                <a:spcPts val="0"/>
              </a:spcAft>
              <a:buSzPct val="100000"/>
              <a:buChar char="•"/>
            </a:pPr>
            <a:r>
              <a:rPr lang="en-US" sz="2383"/>
              <a:t>React-Bootstrap</a:t>
            </a:r>
            <a:endParaRPr sz="2383"/>
          </a:p>
          <a:p>
            <a:pPr indent="-345919" lvl="2" marL="1371600" rtl="0" algn="l">
              <a:lnSpc>
                <a:spcPct val="115000"/>
              </a:lnSpc>
              <a:spcBef>
                <a:spcPts val="0"/>
              </a:spcBef>
              <a:spcAft>
                <a:spcPts val="0"/>
              </a:spcAft>
              <a:buSzPct val="100000"/>
              <a:buChar char="•"/>
            </a:pPr>
            <a:r>
              <a:rPr lang="en-US" sz="2383"/>
              <a:t>Material UI</a:t>
            </a:r>
            <a:endParaRPr sz="2383"/>
          </a:p>
          <a:p>
            <a:pPr indent="-345919" lvl="2" marL="1371600" rtl="0" algn="l">
              <a:lnSpc>
                <a:spcPct val="115000"/>
              </a:lnSpc>
              <a:spcBef>
                <a:spcPts val="0"/>
              </a:spcBef>
              <a:spcAft>
                <a:spcPts val="0"/>
              </a:spcAft>
              <a:buSzPct val="100000"/>
              <a:buChar char="•"/>
            </a:pPr>
            <a:r>
              <a:rPr lang="en-US" sz="2383"/>
              <a:t>react-vi</a:t>
            </a:r>
            <a:r>
              <a:rPr lang="en-US" sz="2383"/>
              <a:t>s</a:t>
            </a:r>
            <a:endParaRPr sz="2383"/>
          </a:p>
          <a:p>
            <a:pPr indent="0" lvl="0" marL="0" rtl="0" algn="l">
              <a:lnSpc>
                <a:spcPct val="115000"/>
              </a:lnSpc>
              <a:spcBef>
                <a:spcPts val="1000"/>
              </a:spcBef>
              <a:spcAft>
                <a:spcPts val="0"/>
              </a:spcAft>
              <a:buNone/>
            </a:pPr>
            <a:r>
              <a:t/>
            </a:r>
            <a:endParaRPr sz="2654"/>
          </a:p>
          <a:p>
            <a:pPr indent="-359254" lvl="0" marL="457200" rtl="0" algn="l">
              <a:lnSpc>
                <a:spcPct val="115000"/>
              </a:lnSpc>
              <a:spcBef>
                <a:spcPts val="1000"/>
              </a:spcBef>
              <a:spcAft>
                <a:spcPts val="0"/>
              </a:spcAft>
              <a:buSzPct val="100000"/>
              <a:buChar char="•"/>
            </a:pPr>
            <a:r>
              <a:rPr b="1" lang="en-US"/>
              <a:t>Backend</a:t>
            </a:r>
            <a:r>
              <a:rPr b="1" lang="en-US" sz="2654"/>
              <a:t>:</a:t>
            </a:r>
            <a:endParaRPr b="1" sz="2654"/>
          </a:p>
          <a:p>
            <a:pPr indent="-345919" lvl="1" marL="914400" marR="0" rtl="0" algn="l">
              <a:lnSpc>
                <a:spcPct val="115000"/>
              </a:lnSpc>
              <a:spcBef>
                <a:spcPts val="0"/>
              </a:spcBef>
              <a:spcAft>
                <a:spcPts val="0"/>
              </a:spcAft>
              <a:buSzPct val="100000"/>
              <a:buChar char="•"/>
            </a:pPr>
            <a:r>
              <a:rPr lang="en-US" sz="2383"/>
              <a:t>Pipeline established</a:t>
            </a:r>
            <a:endParaRPr sz="2383"/>
          </a:p>
          <a:p>
            <a:pPr indent="-345919" lvl="1" marL="914400" marR="0" rtl="0" algn="l">
              <a:lnSpc>
                <a:spcPct val="115000"/>
              </a:lnSpc>
              <a:spcBef>
                <a:spcPts val="0"/>
              </a:spcBef>
              <a:spcAft>
                <a:spcPts val="0"/>
              </a:spcAft>
              <a:buSzPct val="100000"/>
              <a:buChar char="•"/>
            </a:pPr>
            <a:r>
              <a:rPr lang="en-US" sz="2383"/>
              <a:t>Flask and SQLAlchemy</a:t>
            </a:r>
            <a:endParaRPr sz="2383"/>
          </a:p>
          <a:p>
            <a:pPr indent="-345919" lvl="1" marL="914400" marR="0" rtl="0" algn="l">
              <a:lnSpc>
                <a:spcPct val="115000"/>
              </a:lnSpc>
              <a:spcBef>
                <a:spcPts val="0"/>
              </a:spcBef>
              <a:spcAft>
                <a:spcPts val="0"/>
              </a:spcAft>
              <a:buSzPct val="100000"/>
              <a:buChar char="•"/>
            </a:pPr>
            <a:r>
              <a:rPr lang="en-US" sz="2383"/>
              <a:t>Exploring dataset features to structure base</a:t>
            </a:r>
            <a:endParaRPr sz="1983"/>
          </a:p>
          <a:p>
            <a:pPr indent="0" lvl="0" marL="914400" rtl="0" algn="l">
              <a:lnSpc>
                <a:spcPct val="115000"/>
              </a:lnSpc>
              <a:spcBef>
                <a:spcPts val="1000"/>
              </a:spcBef>
              <a:spcAft>
                <a:spcPts val="0"/>
              </a:spcAft>
              <a:buNone/>
            </a:pPr>
            <a:r>
              <a:t/>
            </a:r>
            <a:endParaRPr sz="2800"/>
          </a:p>
        </p:txBody>
      </p:sp>
      <p:sp>
        <p:nvSpPr>
          <p:cNvPr id="206" name="Google Shape;206;gcce19eedb8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Web Development</a:t>
            </a:r>
            <a:endParaRPr/>
          </a:p>
        </p:txBody>
      </p:sp>
      <p:pic>
        <p:nvPicPr>
          <p:cNvPr id="207" name="Google Shape;207;gcce19eedb8_0_0"/>
          <p:cNvPicPr preferRelativeResize="0"/>
          <p:nvPr/>
        </p:nvPicPr>
        <p:blipFill>
          <a:blip r:embed="rId3">
            <a:alphaModFix/>
          </a:blip>
          <a:stretch>
            <a:fillRect/>
          </a:stretch>
        </p:blipFill>
        <p:spPr>
          <a:xfrm>
            <a:off x="4930900" y="244525"/>
            <a:ext cx="3326601" cy="3162224"/>
          </a:xfrm>
          <a:prstGeom prst="rect">
            <a:avLst/>
          </a:prstGeom>
          <a:noFill/>
          <a:ln cap="flat" cmpd="sng" w="9525">
            <a:solidFill>
              <a:schemeClr val="dk2"/>
            </a:solidFill>
            <a:prstDash val="solid"/>
            <a:round/>
            <a:headEnd len="sm" w="sm" type="none"/>
            <a:tailEnd len="sm" w="sm" type="none"/>
          </a:ln>
        </p:spPr>
      </p:pic>
      <p:pic>
        <p:nvPicPr>
          <p:cNvPr id="208" name="Google Shape;208;gcce19eedb8_0_0"/>
          <p:cNvPicPr preferRelativeResize="0"/>
          <p:nvPr/>
        </p:nvPicPr>
        <p:blipFill>
          <a:blip r:embed="rId4">
            <a:alphaModFix/>
          </a:blip>
          <a:stretch>
            <a:fillRect/>
          </a:stretch>
        </p:blipFill>
        <p:spPr>
          <a:xfrm>
            <a:off x="8344813" y="443187"/>
            <a:ext cx="3747675" cy="2764900"/>
          </a:xfrm>
          <a:prstGeom prst="rect">
            <a:avLst/>
          </a:prstGeom>
          <a:noFill/>
          <a:ln cap="flat" cmpd="sng" w="9525">
            <a:solidFill>
              <a:schemeClr val="dk2"/>
            </a:solidFill>
            <a:prstDash val="solid"/>
            <a:round/>
            <a:headEnd len="sm" w="sm" type="none"/>
            <a:tailEnd len="sm" w="sm" type="none"/>
          </a:ln>
        </p:spPr>
      </p:pic>
      <p:pic>
        <p:nvPicPr>
          <p:cNvPr id="209" name="Google Shape;209;gcce19eedb8_0_0"/>
          <p:cNvPicPr preferRelativeResize="0"/>
          <p:nvPr/>
        </p:nvPicPr>
        <p:blipFill>
          <a:blip r:embed="rId5">
            <a:alphaModFix/>
          </a:blip>
          <a:stretch>
            <a:fillRect/>
          </a:stretch>
        </p:blipFill>
        <p:spPr>
          <a:xfrm>
            <a:off x="6965331" y="4183834"/>
            <a:ext cx="3747675" cy="2360892"/>
          </a:xfrm>
          <a:prstGeom prst="rect">
            <a:avLst/>
          </a:prstGeom>
          <a:noFill/>
          <a:ln cap="flat" cmpd="sng" w="9525">
            <a:solidFill>
              <a:schemeClr val="dk2"/>
            </a:solidFill>
            <a:prstDash val="solid"/>
            <a:round/>
            <a:headEnd len="sm" w="sm" type="none"/>
            <a:tailEnd len="sm" w="sm" type="none"/>
          </a:ln>
        </p:spPr>
      </p:pic>
      <p:cxnSp>
        <p:nvCxnSpPr>
          <p:cNvPr id="210" name="Google Shape;210;gcce19eedb8_0_0"/>
          <p:cNvCxnSpPr/>
          <p:nvPr/>
        </p:nvCxnSpPr>
        <p:spPr>
          <a:xfrm flipH="1">
            <a:off x="8900126" y="3285100"/>
            <a:ext cx="1309500" cy="821700"/>
          </a:xfrm>
          <a:prstGeom prst="straightConnector1">
            <a:avLst/>
          </a:prstGeom>
          <a:noFill/>
          <a:ln cap="flat" cmpd="sng" w="9525">
            <a:solidFill>
              <a:schemeClr val="dk2"/>
            </a:solidFill>
            <a:prstDash val="solid"/>
            <a:round/>
            <a:headEnd len="med" w="med" type="none"/>
            <a:tailEnd len="med" w="med" type="triangle"/>
          </a:ln>
        </p:spPr>
      </p:cxnSp>
      <p:sp>
        <p:nvSpPr>
          <p:cNvPr id="211" name="Google Shape;211;gcce19eedb8_0_0"/>
          <p:cNvSpPr txBox="1"/>
          <p:nvPr/>
        </p:nvSpPr>
        <p:spPr>
          <a:xfrm>
            <a:off x="8344825" y="3285100"/>
            <a:ext cx="112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Wireframes</a:t>
            </a:r>
            <a:endParaRPr>
              <a:latin typeface="Roboto"/>
              <a:ea typeface="Roboto"/>
              <a:cs typeface="Roboto"/>
              <a:sym typeface="Roboto"/>
            </a:endParaRPr>
          </a:p>
        </p:txBody>
      </p:sp>
      <p:sp>
        <p:nvSpPr>
          <p:cNvPr id="212" name="Google Shape;212;gcce19eedb8_0_0"/>
          <p:cNvSpPr txBox="1"/>
          <p:nvPr/>
        </p:nvSpPr>
        <p:spPr>
          <a:xfrm>
            <a:off x="8507425" y="6487675"/>
            <a:ext cx="80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React</a:t>
            </a:r>
            <a:endParaRPr>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ba764dde3e_0_10"/>
          <p:cNvSpPr txBox="1"/>
          <p:nvPr>
            <p:ph idx="1" type="body"/>
          </p:nvPr>
        </p:nvSpPr>
        <p:spPr>
          <a:xfrm>
            <a:off x="381000" y="1423309"/>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Frontend:</a:t>
            </a:r>
            <a:endParaRPr/>
          </a:p>
          <a:p>
            <a:pPr indent="-342900" lvl="1" marL="914400" rtl="0" algn="l">
              <a:lnSpc>
                <a:spcPct val="100000"/>
              </a:lnSpc>
              <a:spcBef>
                <a:spcPts val="0"/>
              </a:spcBef>
              <a:spcAft>
                <a:spcPts val="0"/>
              </a:spcAft>
              <a:buSzPts val="1800"/>
              <a:buChar char="•"/>
            </a:pPr>
            <a:r>
              <a:rPr lang="en-US"/>
              <a:t>finalize design, translate directly to React</a:t>
            </a:r>
            <a:endParaRPr/>
          </a:p>
          <a:p>
            <a:pPr indent="-342900" lvl="2" marL="1371600" rtl="0" algn="l">
              <a:lnSpc>
                <a:spcPct val="100000"/>
              </a:lnSpc>
              <a:spcBef>
                <a:spcPts val="0"/>
              </a:spcBef>
              <a:spcAft>
                <a:spcPts val="0"/>
              </a:spcAft>
              <a:buSzPts val="1800"/>
              <a:buChar char="•"/>
            </a:pPr>
            <a:r>
              <a:rPr lang="en-US"/>
              <a:t>Get feedback from others (team, professors, peers)</a:t>
            </a:r>
            <a:endParaRPr/>
          </a:p>
          <a:p>
            <a:pPr indent="-342900" lvl="1" marL="914400" rtl="0" algn="l">
              <a:lnSpc>
                <a:spcPct val="100000"/>
              </a:lnSpc>
              <a:spcBef>
                <a:spcPts val="0"/>
              </a:spcBef>
              <a:spcAft>
                <a:spcPts val="0"/>
              </a:spcAft>
              <a:buSzPts val="1800"/>
              <a:buChar char="•"/>
            </a:pPr>
            <a:r>
              <a:rPr lang="en-US"/>
              <a:t>Get basic data visualizations into dashboard</a:t>
            </a:r>
            <a:endParaRPr/>
          </a:p>
          <a:p>
            <a:pPr indent="-342900" lvl="2" marL="1371600" rtl="0" algn="l">
              <a:lnSpc>
                <a:spcPct val="100000"/>
              </a:lnSpc>
              <a:spcBef>
                <a:spcPts val="0"/>
              </a:spcBef>
              <a:spcAft>
                <a:spcPts val="0"/>
              </a:spcAft>
              <a:buSzPts val="1800"/>
              <a:buChar char="•"/>
            </a:pPr>
            <a:r>
              <a:rPr lang="en-US"/>
              <a:t>Experiment with different data visualization libraries</a:t>
            </a:r>
            <a:endParaRPr/>
          </a:p>
          <a:p>
            <a:pPr indent="0" lvl="0" marL="0" rtl="0" algn="l">
              <a:lnSpc>
                <a:spcPct val="100000"/>
              </a:lnSpc>
              <a:spcBef>
                <a:spcPts val="1000"/>
              </a:spcBef>
              <a:spcAft>
                <a:spcPts val="0"/>
              </a:spcAft>
              <a:buNone/>
            </a:pPr>
            <a:r>
              <a:t/>
            </a:r>
            <a:endParaRPr/>
          </a:p>
          <a:p>
            <a:pPr indent="-342900" lvl="0" marL="457200" rtl="0" algn="l">
              <a:lnSpc>
                <a:spcPct val="100000"/>
              </a:lnSpc>
              <a:spcBef>
                <a:spcPts val="1000"/>
              </a:spcBef>
              <a:spcAft>
                <a:spcPts val="0"/>
              </a:spcAft>
              <a:buSzPts val="1800"/>
              <a:buChar char="•"/>
            </a:pPr>
            <a:r>
              <a:rPr lang="en-US"/>
              <a:t>Backend:</a:t>
            </a:r>
            <a:endParaRPr/>
          </a:p>
          <a:p>
            <a:pPr indent="-342900" lvl="1" marL="914400" rtl="0" algn="l">
              <a:lnSpc>
                <a:spcPct val="100000"/>
              </a:lnSpc>
              <a:spcBef>
                <a:spcPts val="0"/>
              </a:spcBef>
              <a:spcAft>
                <a:spcPts val="0"/>
              </a:spcAft>
              <a:buSzPts val="1800"/>
              <a:buChar char="•"/>
            </a:pPr>
            <a:r>
              <a:rPr lang="en-US"/>
              <a:t>explore the dataset more thoroughly to find a suitable structure for the data</a:t>
            </a:r>
            <a:endParaRPr/>
          </a:p>
          <a:p>
            <a:pPr indent="-342900" lvl="1" marL="914400" rtl="0" algn="l">
              <a:lnSpc>
                <a:spcPct val="100000"/>
              </a:lnSpc>
              <a:spcBef>
                <a:spcPts val="0"/>
              </a:spcBef>
              <a:spcAft>
                <a:spcPts val="0"/>
              </a:spcAft>
              <a:buSzPts val="1800"/>
              <a:buChar char="•"/>
            </a:pPr>
            <a:r>
              <a:rPr lang="en-US"/>
              <a:t>experiment</a:t>
            </a:r>
            <a:r>
              <a:rPr lang="en-US"/>
              <a:t> with </a:t>
            </a:r>
            <a:r>
              <a:rPr lang="en-US"/>
              <a:t>sending</a:t>
            </a:r>
            <a:r>
              <a:rPr lang="en-US"/>
              <a:t> actual data through the pipeline</a:t>
            </a:r>
            <a:endParaRPr/>
          </a:p>
          <a:p>
            <a:pPr indent="0" lvl="0" marL="0" rtl="0" algn="l">
              <a:lnSpc>
                <a:spcPct val="100000"/>
              </a:lnSpc>
              <a:spcBef>
                <a:spcPts val="1000"/>
              </a:spcBef>
              <a:spcAft>
                <a:spcPts val="0"/>
              </a:spcAft>
              <a:buNone/>
            </a:pPr>
            <a:r>
              <a:t/>
            </a:r>
            <a:endParaRPr/>
          </a:p>
        </p:txBody>
      </p:sp>
      <p:sp>
        <p:nvSpPr>
          <p:cNvPr id="218" name="Google Shape;218;gba764dde3e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Web Development Goals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txBox="1"/>
          <p:nvPr>
            <p:ph idx="1" type="body"/>
          </p:nvPr>
        </p:nvSpPr>
        <p:spPr>
          <a:xfrm>
            <a:off x="381000" y="1072475"/>
            <a:ext cx="11430000" cy="5231400"/>
          </a:xfrm>
          <a:prstGeom prst="rect">
            <a:avLst/>
          </a:prstGeom>
          <a:noFill/>
          <a:ln>
            <a:noFill/>
          </a:ln>
        </p:spPr>
        <p:txBody>
          <a:bodyPr anchorCtr="0" anchor="t" bIns="45700" lIns="91425" spcFirstLastPara="1" rIns="91425" wrap="square" tIns="45700">
            <a:noAutofit/>
          </a:bodyPr>
          <a:lstStyle/>
          <a:p>
            <a:pPr indent="-336550" lvl="0" marL="457200" rtl="0" algn="l">
              <a:lnSpc>
                <a:spcPct val="115000"/>
              </a:lnSpc>
              <a:spcBef>
                <a:spcPts val="1000"/>
              </a:spcBef>
              <a:spcAft>
                <a:spcPts val="0"/>
              </a:spcAft>
              <a:buClr>
                <a:srgbClr val="000000"/>
              </a:buClr>
              <a:buSzPts val="1700"/>
              <a:buChar char="●"/>
            </a:pPr>
            <a:r>
              <a:rPr lang="en-US" sz="2700">
                <a:solidFill>
                  <a:srgbClr val="000000"/>
                </a:solidFill>
              </a:rPr>
              <a:t>Feedback</a:t>
            </a:r>
            <a:endParaRPr sz="2700">
              <a:solidFill>
                <a:srgbClr val="000000"/>
              </a:solidFill>
            </a:endParaRPr>
          </a:p>
          <a:p>
            <a:pPr indent="-336550" lvl="1" marL="914400" rtl="0" algn="l">
              <a:lnSpc>
                <a:spcPct val="115000"/>
              </a:lnSpc>
              <a:spcBef>
                <a:spcPts val="1000"/>
              </a:spcBef>
              <a:spcAft>
                <a:spcPts val="0"/>
              </a:spcAft>
              <a:buClr>
                <a:srgbClr val="000000"/>
              </a:buClr>
              <a:buSzPts val="1700"/>
              <a:buChar char="•"/>
            </a:pPr>
            <a:r>
              <a:rPr lang="en-US" sz="2300">
                <a:solidFill>
                  <a:srgbClr val="000000"/>
                </a:solidFill>
              </a:rPr>
              <a:t>Gave us a better idea of what metrics are important</a:t>
            </a:r>
            <a:endParaRPr sz="2300">
              <a:solidFill>
                <a:srgbClr val="000000"/>
              </a:solidFill>
            </a:endParaRPr>
          </a:p>
          <a:p>
            <a:pPr indent="-336550" lvl="0" marL="457200" rtl="0" algn="l">
              <a:lnSpc>
                <a:spcPct val="115000"/>
              </a:lnSpc>
              <a:spcBef>
                <a:spcPts val="1000"/>
              </a:spcBef>
              <a:spcAft>
                <a:spcPts val="0"/>
              </a:spcAft>
              <a:buSzPts val="1700"/>
              <a:buChar char="●"/>
            </a:pPr>
            <a:r>
              <a:rPr lang="en-US" sz="2700"/>
              <a:t>Data Science</a:t>
            </a:r>
            <a:endParaRPr sz="2700"/>
          </a:p>
          <a:p>
            <a:pPr indent="-336550" lvl="1" marL="914400" rtl="0" algn="l">
              <a:lnSpc>
                <a:spcPct val="115000"/>
              </a:lnSpc>
              <a:spcBef>
                <a:spcPts val="1000"/>
              </a:spcBef>
              <a:spcAft>
                <a:spcPts val="0"/>
              </a:spcAft>
              <a:buSzPts val="1700"/>
              <a:buChar char="•"/>
            </a:pPr>
            <a:r>
              <a:rPr lang="en-US" sz="2300"/>
              <a:t>Created visualizations for professors to measure engagement</a:t>
            </a:r>
            <a:endParaRPr sz="2300"/>
          </a:p>
          <a:p>
            <a:pPr indent="-336550" lvl="1" marL="914400" rtl="0" algn="l">
              <a:lnSpc>
                <a:spcPct val="115000"/>
              </a:lnSpc>
              <a:spcBef>
                <a:spcPts val="1000"/>
              </a:spcBef>
              <a:spcAft>
                <a:spcPts val="0"/>
              </a:spcAft>
              <a:buSzPts val="1700"/>
              <a:buChar char="•"/>
            </a:pPr>
            <a:r>
              <a:rPr lang="en-US" sz="2300"/>
              <a:t>Set up the environment for setting baseline results</a:t>
            </a:r>
            <a:endParaRPr sz="2300"/>
          </a:p>
          <a:p>
            <a:pPr indent="-336550" lvl="1" marL="914400" rtl="0" algn="l">
              <a:lnSpc>
                <a:spcPct val="115000"/>
              </a:lnSpc>
              <a:spcBef>
                <a:spcPts val="1000"/>
              </a:spcBef>
              <a:spcAft>
                <a:spcPts val="0"/>
              </a:spcAft>
              <a:buSzPts val="1700"/>
              <a:buChar char="•"/>
            </a:pPr>
            <a:r>
              <a:rPr lang="en-US" sz="2300"/>
              <a:t>Found promising preliminary results using transfer learning</a:t>
            </a:r>
            <a:endParaRPr sz="2300">
              <a:solidFill>
                <a:srgbClr val="000000"/>
              </a:solidFill>
            </a:endParaRPr>
          </a:p>
          <a:p>
            <a:pPr indent="-336550" lvl="0" marL="457200" rtl="0" algn="l">
              <a:lnSpc>
                <a:spcPct val="115000"/>
              </a:lnSpc>
              <a:spcBef>
                <a:spcPts val="1000"/>
              </a:spcBef>
              <a:spcAft>
                <a:spcPts val="0"/>
              </a:spcAft>
              <a:buClr>
                <a:srgbClr val="000000"/>
              </a:buClr>
              <a:buSzPts val="1700"/>
              <a:buChar char="●"/>
            </a:pPr>
            <a:r>
              <a:rPr lang="en-US" sz="2700">
                <a:solidFill>
                  <a:srgbClr val="000000"/>
                </a:solidFill>
              </a:rPr>
              <a:t>Web-Dev</a:t>
            </a:r>
            <a:endParaRPr sz="2700">
              <a:solidFill>
                <a:srgbClr val="000000"/>
              </a:solidFill>
            </a:endParaRPr>
          </a:p>
          <a:p>
            <a:pPr indent="-336550" lvl="1" marL="914400" rtl="0" algn="l">
              <a:lnSpc>
                <a:spcPct val="115000"/>
              </a:lnSpc>
              <a:spcBef>
                <a:spcPts val="1000"/>
              </a:spcBef>
              <a:spcAft>
                <a:spcPts val="0"/>
              </a:spcAft>
              <a:buClr>
                <a:srgbClr val="000000"/>
              </a:buClr>
              <a:buSzPts val="1700"/>
              <a:buChar char="•"/>
            </a:pPr>
            <a:r>
              <a:rPr lang="en-US" sz="2300">
                <a:solidFill>
                  <a:srgbClr val="000000"/>
                </a:solidFill>
              </a:rPr>
              <a:t>Steadily moving towards working product</a:t>
            </a:r>
            <a:endParaRPr sz="2300">
              <a:solidFill>
                <a:srgbClr val="000000"/>
              </a:solidFill>
            </a:endParaRPr>
          </a:p>
          <a:p>
            <a:pPr indent="-336550" lvl="2" marL="1371600" rtl="0" algn="l">
              <a:lnSpc>
                <a:spcPct val="115000"/>
              </a:lnSpc>
              <a:spcBef>
                <a:spcPts val="1000"/>
              </a:spcBef>
              <a:spcAft>
                <a:spcPts val="0"/>
              </a:spcAft>
              <a:buClr>
                <a:srgbClr val="000000"/>
              </a:buClr>
              <a:buSzPts val="1700"/>
              <a:buChar char="•"/>
            </a:pPr>
            <a:r>
              <a:rPr lang="en-US" sz="1900">
                <a:solidFill>
                  <a:srgbClr val="000000"/>
                </a:solidFill>
              </a:rPr>
              <a:t>Frontend design nearly finalized, Backend/database getting there</a:t>
            </a:r>
            <a:endParaRPr sz="1900">
              <a:solidFill>
                <a:srgbClr val="000000"/>
              </a:solidFill>
            </a:endParaRPr>
          </a:p>
          <a:p>
            <a:pPr indent="-336550" lvl="1" marL="914400" rtl="0" algn="l">
              <a:lnSpc>
                <a:spcPct val="115000"/>
              </a:lnSpc>
              <a:spcBef>
                <a:spcPts val="1000"/>
              </a:spcBef>
              <a:spcAft>
                <a:spcPts val="0"/>
              </a:spcAft>
              <a:buClr>
                <a:srgbClr val="000000"/>
              </a:buClr>
              <a:buSzPts val="1700"/>
              <a:buChar char="•"/>
            </a:pPr>
            <a:r>
              <a:rPr lang="en-US" sz="2300">
                <a:solidFill>
                  <a:srgbClr val="000000"/>
                </a:solidFill>
              </a:rPr>
              <a:t>Will need to work a bit faster to reach semester goals</a:t>
            </a:r>
            <a:endParaRPr sz="2300">
              <a:solidFill>
                <a:srgbClr val="000000"/>
              </a:solidFill>
            </a:endParaRPr>
          </a:p>
        </p:txBody>
      </p:sp>
      <p:sp>
        <p:nvSpPr>
          <p:cNvPr id="224" name="Google Shape;224;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9d48565bb2_0_10"/>
          <p:cNvSpPr txBox="1"/>
          <p:nvPr>
            <p:ph idx="1" type="body"/>
          </p:nvPr>
        </p:nvSpPr>
        <p:spPr>
          <a:xfrm>
            <a:off x="381000" y="1215473"/>
            <a:ext cx="11430000" cy="5818500"/>
          </a:xfrm>
          <a:prstGeom prst="rect">
            <a:avLst/>
          </a:prstGeom>
          <a:noFill/>
          <a:ln>
            <a:noFill/>
          </a:ln>
        </p:spPr>
        <p:txBody>
          <a:bodyPr anchorCtr="0" anchor="t" bIns="45700" lIns="91425" spcFirstLastPara="1" rIns="91425" wrap="square" tIns="45700">
            <a:noAutofit/>
          </a:bodyPr>
          <a:lstStyle/>
          <a:p>
            <a:pPr indent="-349250" lvl="0" marL="457200" rtl="0" algn="l">
              <a:lnSpc>
                <a:spcPct val="90000"/>
              </a:lnSpc>
              <a:spcBef>
                <a:spcPts val="0"/>
              </a:spcBef>
              <a:spcAft>
                <a:spcPts val="0"/>
              </a:spcAft>
              <a:buSzPts val="1900"/>
              <a:buAutoNum type="arabicPeriod"/>
            </a:pPr>
            <a:r>
              <a:rPr lang="en-US" sz="1900"/>
              <a:t>Kabir, M. Y., &amp; Madria, S. (2020). CoronaVis: A real-time COVID-19 tweets data analyzer and data repository.</a:t>
            </a:r>
            <a:endParaRPr sz="1900"/>
          </a:p>
          <a:p>
            <a:pPr indent="-349250" lvl="0" marL="457200" rtl="0" algn="l">
              <a:lnSpc>
                <a:spcPct val="90000"/>
              </a:lnSpc>
              <a:spcBef>
                <a:spcPts val="0"/>
              </a:spcBef>
              <a:spcAft>
                <a:spcPts val="0"/>
              </a:spcAft>
              <a:buSzPts val="1900"/>
              <a:buAutoNum type="arabicPeriod"/>
            </a:pPr>
            <a:r>
              <a:rPr lang="en-US" sz="1900"/>
              <a:t>Waters, Z., Kovanović, V., Kitto, K., &amp; Gašević, D. (2015). Structure matters: Adoption of structured classification approach in the context of cognitive presence classification. Lecture Notes in Computer Science (Including Subseries Lecture Notes in Artificial Intelligence and Lecture Notes in Bioinformatics). https://doi.org/10.1007/978-3-319-28940-3_18</a:t>
            </a:r>
            <a:endParaRPr sz="1900"/>
          </a:p>
        </p:txBody>
      </p:sp>
      <p:sp>
        <p:nvSpPr>
          <p:cNvPr id="230" name="Google Shape;230;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Questions?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 name="Shape 239"/>
        <p:cNvGrpSpPr/>
        <p:nvPr/>
      </p:nvGrpSpPr>
      <p:grpSpPr>
        <a:xfrm>
          <a:off x="0" y="0"/>
          <a:ext cx="0" cy="0"/>
          <a:chOff x="0" y="0"/>
          <a:chExt cx="0" cy="0"/>
        </a:xfrm>
      </p:grpSpPr>
      <p:sp>
        <p:nvSpPr>
          <p:cNvPr id="240" name="Google Shape;240;gca9ee63040_0_0"/>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 spiffy graphic to illustrate why you (David &amp; Pratik) need to balance/resample the posts for CP codes in your ML stuff</a:t>
            </a:r>
            <a:endParaRPr/>
          </a:p>
        </p:txBody>
      </p:sp>
      <p:sp>
        <p:nvSpPr>
          <p:cNvPr id="241" name="Google Shape;241;gca9ee63040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 Science</a:t>
            </a:r>
            <a:endParaRPr/>
          </a:p>
        </p:txBody>
      </p:sp>
      <p:pic>
        <p:nvPicPr>
          <p:cNvPr id="242" name="Google Shape;242;gca9ee63040_0_0"/>
          <p:cNvPicPr preferRelativeResize="0"/>
          <p:nvPr/>
        </p:nvPicPr>
        <p:blipFill>
          <a:blip r:embed="rId3">
            <a:alphaModFix/>
          </a:blip>
          <a:stretch>
            <a:fillRect/>
          </a:stretch>
        </p:blipFill>
        <p:spPr>
          <a:xfrm>
            <a:off x="1401506" y="2441375"/>
            <a:ext cx="5388550" cy="3850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