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6858000" cy="9144000"/>
  <p:embeddedFontLst>
    <p:embeddedFont>
      <p:font typeface="Roboto"/>
      <p:regular r:id="rId26"/>
      <p:bold r:id="rId27"/>
      <p:italic r:id="rId28"/>
      <p:boldItalic r:id="rId29"/>
    </p:embeddedFont>
    <p:embeddedFont>
      <p:font typeface="Roboto Condensed Light"/>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73">
          <p15:clr>
            <a:srgbClr val="000000"/>
          </p15:clr>
        </p15:guide>
        <p15:guide id="2" pos="244">
          <p15:clr>
            <a:srgbClr val="000000"/>
          </p15:clr>
        </p15:guide>
      </p15:sldGuideLst>
    </p:ext>
    <p:ext uri="http://customooxmlschemas.google.com/">
      <go:slidesCustomData xmlns:go="http://customooxmlschemas.google.com/" r:id="rId34" roundtripDataSignature="AMtx7miBxgvtMeUOdaYS1RKwQarYsFOh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73" orient="horz"/>
        <p:guide pos="24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oboto-regular.fntdata"/><Relationship Id="rId25" Type="http://schemas.openxmlformats.org/officeDocument/2006/relationships/slide" Target="slides/slide19.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oboto-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CondensedLight-bold.fntdata"/><Relationship Id="rId30" Type="http://schemas.openxmlformats.org/officeDocument/2006/relationships/font" Target="fonts/RobotoCondensedLight-regular.fntdata"/><Relationship Id="rId11" Type="http://schemas.openxmlformats.org/officeDocument/2006/relationships/slide" Target="slides/slide5.xml"/><Relationship Id="rId33" Type="http://schemas.openxmlformats.org/officeDocument/2006/relationships/font" Target="fonts/RobotoCondensedLight-boldItalic.fntdata"/><Relationship Id="rId10" Type="http://schemas.openxmlformats.org/officeDocument/2006/relationships/slide" Target="slides/slide4.xml"/><Relationship Id="rId32" Type="http://schemas.openxmlformats.org/officeDocument/2006/relationships/font" Target="fonts/RobotoCondensedLight-italic.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 name="Google Shape;7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All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d37e389671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d37e389671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Our project focuses on data from online discussion forums. We want to use this data to look at student interaction. Our goal is to create a web application that will be used by professors </a:t>
            </a:r>
            <a:r>
              <a:rPr lang="en-US"/>
              <a:t>that</a:t>
            </a:r>
            <a:r>
              <a:rPr lang="en-US"/>
              <a:t> shows them different metrics on student interaction in their discussion forums. With this data, we hope professors can improve their courses.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d37e389671_1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d37e389671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Last week, we were able to meet with Dr. Joyner who is an expert in the online education field. We specifically discussed discussion forums with him. He said students tend to use discussion forums for either Q&amp;A or discussion. The discussion portion is what presents a lot of challenges. </a:t>
            </a:r>
            <a:endParaRPr/>
          </a:p>
          <a:p>
            <a:pPr indent="0" lvl="0" marL="0" rtl="0" algn="l">
              <a:spcBef>
                <a:spcPts val="0"/>
              </a:spcBef>
              <a:spcAft>
                <a:spcPts val="0"/>
              </a:spcAft>
              <a:buNone/>
            </a:pPr>
            <a:r>
              <a:rPr lang="en-US"/>
              <a:t>The</a:t>
            </a:r>
            <a:r>
              <a:rPr lang="en-US"/>
              <a:t> main challenge with discussion in discussion forums is threading. Dr. Joyner said threads provide structure to something that is inherently unstructured. Also, the interface of discussion forums can be confusing: it is not clear when a response is expected, who is responding to who, and whether it’s a 1-on-1 conversation or group discussion. Dr. Joyner believes a lot of the threading issues can be solved with fixing the interface. </a:t>
            </a:r>
            <a:br>
              <a:rPr lang="en-US"/>
            </a:br>
            <a:r>
              <a:rPr lang="en-US"/>
              <a:t>Dr. Joyner also mentioned there tends to be a sampling bias with discussion forums because certain types of students use discussion forums while </a:t>
            </a:r>
            <a:r>
              <a:rPr lang="en-US"/>
              <a:t>other</a:t>
            </a:r>
            <a:r>
              <a:rPr lang="en-US"/>
              <a:t> students never use a discussion forum. This is also related to the responses a post get depending on whether it’s positive or negative: negative posts tend to have a larger number of responses than positive posts.</a:t>
            </a:r>
            <a:endParaRPr/>
          </a:p>
          <a:p>
            <a:pPr indent="0" lvl="0" marL="0" rtl="0" algn="l">
              <a:spcBef>
                <a:spcPts val="0"/>
              </a:spcBef>
              <a:spcAft>
                <a:spcPts val="0"/>
              </a:spcAft>
              <a:buNone/>
            </a:pPr>
            <a:r>
              <a:rPr lang="en-US"/>
              <a:t>Dr. Joyner also said the most counterintuitive </a:t>
            </a:r>
            <a:r>
              <a:rPr lang="en-US"/>
              <a:t>thing</a:t>
            </a:r>
            <a:r>
              <a:rPr lang="en-US"/>
              <a:t> about discussion forums is that when they are done right, there tends to more interaction with students online than in person. He also said his favorite thing about </a:t>
            </a:r>
            <a:r>
              <a:rPr lang="en-US"/>
              <a:t>the</a:t>
            </a:r>
            <a:r>
              <a:rPr lang="en-US"/>
              <a:t> use of discussion forums is </a:t>
            </a:r>
            <a:r>
              <a:rPr lang="en-US"/>
              <a:t>how</a:t>
            </a:r>
            <a:r>
              <a:rPr lang="en-US"/>
              <a:t> casual and organic they can be.</a:t>
            </a:r>
            <a:endParaRPr/>
          </a:p>
          <a:p>
            <a:pPr indent="0" lvl="0" marL="0" rtl="0" algn="l">
              <a:spcBef>
                <a:spcPts val="0"/>
              </a:spcBef>
              <a:spcAft>
                <a:spcPts val="0"/>
              </a:spcAft>
              <a:buNone/>
            </a:pPr>
            <a:r>
              <a:rPr lang="en-US"/>
              <a:t>So, how does this apply to our project? After speaking with Dr. Joyner, our team has a better idea of what professors like and dislike about discussion forums. We want to incorporate this information into our project in future semesters.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ca9ee6304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ca9ee6304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For the Kovanovic 2016 replication, we feed in a curated excel file of approximately 1600 examples through two feature extraction applications: 1) Linguistic Inquiry and Word Count 2015 application and 2) Tool for Automatic Analysis of Cohesion. We prune and concatenate the outputs across two sheets and four tables into pandas dataframes that are then fed through the sci-kit learn library: specifically the Random Forest Classifier. While we do not extract named entities of computer science, discussion context features, or use smote to address class imbalance, the initial results are promising at establishing baseline performance for future experiments. In addition, the Coh-Metrix API is not conducive for local experimentation on csv files, so we use Scott Crossley's application TAACO as a substitute.</a:t>
            </a:r>
            <a:endParaRPr/>
          </a:p>
          <a:p>
            <a:pPr indent="0" lvl="0" marL="0" rtl="0" algn="l">
              <a:lnSpc>
                <a:spcPct val="100000"/>
              </a:lnSpc>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rPr lang="en-US">
                <a:solidFill>
                  <a:schemeClr val="dk1"/>
                </a:solidFill>
              </a:rPr>
              <a:t>-David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cdec8889be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cdec8889be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Here we see that with a 80/20 train and test split, we achieving 99.8% training accuracy, and 90.2% test accuracy.</a:t>
            </a:r>
            <a:endParaRPr/>
          </a:p>
          <a:p>
            <a:pPr indent="0" lvl="0" marL="0" rtl="0" algn="l">
              <a:lnSpc>
                <a:spcPct val="100000"/>
              </a:lnSpc>
              <a:spcBef>
                <a:spcPts val="0"/>
              </a:spcBef>
              <a:spcAft>
                <a:spcPts val="0"/>
              </a:spcAft>
              <a:buSzPts val="1100"/>
              <a:buNone/>
            </a:pPr>
            <a:r>
              <a:rPr lang="en-US"/>
              <a:t>We note non-cognitive presence comments labeled as 0 tend to have the most false positives, but otherwise labeling across all classes is very accurate, with low overlap.</a:t>
            </a:r>
            <a:endParaRPr/>
          </a:p>
          <a:p>
            <a:pPr indent="0" lvl="0" marL="0" rtl="0" algn="l">
              <a:lnSpc>
                <a:spcPct val="100000"/>
              </a:lnSpc>
              <a:spcBef>
                <a:spcPts val="0"/>
              </a:spcBef>
              <a:spcAft>
                <a:spcPts val="0"/>
              </a:spcAft>
              <a:buSzPts val="1100"/>
              <a:buNone/>
            </a:pPr>
            <a:r>
              <a:rPr lang="en-US"/>
              <a:t>By leveraging parallel computations on modern processors, we find we can train a model with in 1/10 of a second.</a:t>
            </a:r>
            <a:endParaRPr/>
          </a:p>
          <a:p>
            <a:pPr indent="0" lvl="0" marL="0" rtl="0" algn="l">
              <a:lnSpc>
                <a:spcPct val="100000"/>
              </a:lnSpc>
              <a:spcBef>
                <a:spcPts val="0"/>
              </a:spcBef>
              <a:spcAft>
                <a:spcPts val="0"/>
              </a:spcAft>
              <a:buSzPts val="1100"/>
              <a:buNone/>
            </a:pPr>
            <a:r>
              <a:rPr lang="en-US"/>
              <a:t>With some hyperparameter tuning, we see that having n_estimators of 500 or 5000 get similar performance, but find that 50 estimators with a max depth of 50 gets the best </a:t>
            </a:r>
            <a:r>
              <a:rPr lang="en-US"/>
              <a:t>performance</a:t>
            </a:r>
            <a:r>
              <a:rPr lang="en-US"/>
              <a:t> with the least amount of training time.</a:t>
            </a:r>
            <a:endParaRPr/>
          </a:p>
          <a:p>
            <a:pPr indent="0" lvl="0" marL="0" rtl="0" algn="l">
              <a:lnSpc>
                <a:spcPct val="100000"/>
              </a:lnSpc>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rPr lang="en-US">
                <a:solidFill>
                  <a:schemeClr val="dk1"/>
                </a:solidFill>
              </a:rPr>
              <a:t>-David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cdec8889be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cdec8889b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Here we see the top 30 features of 259 features that are ranked by impurity. LIWC 2015 features dominate the top 30 features. This differs from Kovanovic's top 20 features, which list coh-metrix features as </a:t>
            </a:r>
            <a:r>
              <a:rPr lang="en-US"/>
              <a:t>dominant</a:t>
            </a:r>
            <a:r>
              <a:rPr lang="en-US"/>
              <a:t> over liwc. One possible explanation is that the structure of data is different, as piazza posts are too small to properly measure cohesion. An alternative explanation is that TAACO is a poor substitute for coh-metrix.</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solidFill>
                  <a:schemeClr val="dk1"/>
                </a:solidFill>
              </a:rPr>
              <a:t>-David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d37e389671_1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d37e389671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We also tried automating cognitive </a:t>
            </a:r>
            <a:r>
              <a:rPr lang="en-US"/>
              <a:t>presence</a:t>
            </a:r>
            <a:r>
              <a:rPr lang="en-US"/>
              <a:t> labelling with BERT language model and we were able to get a reasonably good performance on the training and test sets. The data was a combination of both EdX and Piazza. In the test set particularly, the model was struggling between adjacent classes though, which makes sense given that the classes have an inherent order to them. A possible workaround is to model it as a regression problem instead, which would be the immediate next step. Meanwhile, to add some interpretability to the model, we used the LIME framework, which helps identify features (in this case, words) that are most influential for the model in making the classification decision. So, for instance, if you see the sentence “you could assume these are integers”, words like “assume”, “integers” are leaning the model towards Class 3 which is a high cognitive presence category, and on the other hand, standard words like “could”, “these” etc. are not. Having this kind of model agnostic framework can be very helpful in confirming or rejecting the validity of these black box models.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d37e389671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d37e38967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So why do we care?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benefits of automated cognitive presence will enable teachers to develop more detailed summaries of their students understanding of topics as they progress through the curriculum. The hope is that with this granular view, teaching staff can quickly identify struggling students and address their specific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-David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d48acb111b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d48acb111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Another interesting thing where we can use cognitive presence labels is to understand the quality of social interactions happening in the class. The quantity is also something concerning from our data though. If you see the plot on the top left, which shows how many posts were made by each user in sorted order, you can clearly see the skew. Most of the users are not </a:t>
            </a:r>
            <a:r>
              <a:rPr lang="en-US"/>
              <a:t>engaging with the discussion forums, and only a select few are responsible for most of the volume, which clearly shows there are gaps to be filled. If we talk about quality, and how much does the cognitive requirement of getting involved in a discussion impacts the extent of discussion, which we have tried to model using cognitive presence scores of the original post and the mean of the comments, from the plots on the right, one can observe 2 things atleast. 1. Most threads do not go beyond 10 comments, and 2. the ones that do, are typically triggers or posts with no cognitive presence like the intro threads and greetings. Additionally if we look at the plot on bottom left, which is an attempt at comparing the cognitive engagement levels in the comments as a function of the original post, we can notice that while threads with low cognitive presence can see the entire spectrum of cognitive engagement, the ones which started high tend to get comments also more focused and in the high cognitive range. An ideal scenario would be having high volumes in these high cognitive presence areas.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d48acb111b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d48acb111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All this analysis so far highlights 2 important points, as well as research questions worth exploring further. Most of these are inspired from the discussion we had with Dr. Joyner. The first concern/challenge is the high sampling bias. We’re totally missing out on the students who are present in the course but not interacting on the forums, which seems to be quite a sizeable chunk from our current study. A way to possibly include them as well would be to study discussion forums not in isolation, but with other data streams including the assessments and platform interactions. At the same time, for our analysis to have anything actionable, we need to first fix the data collection at the source itself. Currently, irrelevant parts like code segments, missing thread ids and tags, make the </a:t>
            </a:r>
            <a:r>
              <a:rPr lang="en-US"/>
              <a:t>analysis</a:t>
            </a:r>
            <a:r>
              <a:rPr lang="en-US"/>
              <a:t> and the predictions difficult and lead to unnecessary replication of steps. To mitigate this, we’re thinking that taking ideas and suggestions from the PARQR team could be helpful. In terms of the questions to be explored, there are 4 listed here for now, ranging from Sentiment analysis of threads and their impact on social presence, to identifying ways to make discussion forums more inclusive for the people who’re being left out, and at the same time, find meaningful triggers that can help initiate these discussions. For this we need to more actively engage with instructors and course designers. For a start, we conducted a survey with some instructors which Nidhi will be talking about next.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d05ebe389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d05ebe38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US"/>
              <a:t>we got more responses from the survey</a:t>
            </a:r>
            <a:endParaRPr/>
          </a:p>
          <a:p>
            <a:pPr indent="-298450" lvl="0" marL="457200" rtl="0" algn="l">
              <a:spcBef>
                <a:spcPts val="0"/>
              </a:spcBef>
              <a:spcAft>
                <a:spcPts val="0"/>
              </a:spcAft>
              <a:buSzPts val="1100"/>
              <a:buChar char="-"/>
            </a:pPr>
            <a:r>
              <a:rPr lang="en-US"/>
              <a:t>these are categories of metrics and the use cases of Piazza -&gt; goals of our dashboard</a:t>
            </a:r>
            <a:endParaRPr/>
          </a:p>
          <a:p>
            <a:pPr indent="-298450" lvl="0" marL="457200" rtl="0" algn="l">
              <a:spcBef>
                <a:spcPts val="0"/>
              </a:spcBef>
              <a:spcAft>
                <a:spcPts val="0"/>
              </a:spcAft>
              <a:buSzPts val="1100"/>
              <a:buChar char="-"/>
            </a:pPr>
            <a:r>
              <a:rPr lang="en-US"/>
              <a:t>explain metrics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Nidhi</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d05ebe3893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d05ebe389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-Nidhi</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d05ebe3893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d05ebe389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-Nidhi</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d05ebe3893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d05ebe389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-Nidhi</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d5ade9d3eb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d5ade9d3e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d5ade9d3eb_1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d5ade9d3eb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d48acb111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d48acb11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To conclude, this sprint we were able to meet with Dr. Joyner. The data science team replicated Kovanic 2016 which resulted in a model with high accuracy for labeling cognitive presence, demonstrated that it’s possible to automate the process of labelling cognitive presence to a high degree of ML models, identified future research questions to be explored to understand the social dimension of interactions in a class, and assessed the survey results. The web development team created a working demo and established a pipeline for data transmission.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d37e389671_1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d37e389671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 name="Shape 6"/>
        <p:cNvGrpSpPr/>
        <p:nvPr/>
      </p:nvGrpSpPr>
      <p:grpSpPr>
        <a:xfrm>
          <a:off x="0" y="0"/>
          <a:ext cx="0" cy="0"/>
          <a:chOff x="0" y="0"/>
          <a:chExt cx="0" cy="0"/>
        </a:xfrm>
      </p:grpSpPr>
      <p:sp>
        <p:nvSpPr>
          <p:cNvPr id="7" name="Google Shape;7;p14"/>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600"/>
              </a:spcBef>
              <a:spcAft>
                <a:spcPts val="0"/>
              </a:spcAft>
              <a:buClr>
                <a:srgbClr val="7F7F7F"/>
              </a:buClr>
              <a:buSzPts val="3000"/>
              <a:buFont typeface="Arial"/>
              <a:buNone/>
              <a:defRPr b="0" i="0" sz="3000" u="none" cap="none" strike="noStrike">
                <a:solidFill>
                  <a:srgbClr val="7F7F7F"/>
                </a:solidFill>
                <a:latin typeface="Roboto Condensed Light"/>
                <a:ea typeface="Roboto Condensed Light"/>
                <a:cs typeface="Roboto Condensed Light"/>
                <a:sym typeface="Roboto Condensed Light"/>
              </a:defRPr>
            </a:lvl1pPr>
            <a:lvl2pPr lvl="1" marR="0" rtl="0" algn="ctr">
              <a:lnSpc>
                <a:spcPct val="100000"/>
              </a:lnSpc>
              <a:spcBef>
                <a:spcPts val="420"/>
              </a:spcBef>
              <a:spcAft>
                <a:spcPts val="0"/>
              </a:spcAft>
              <a:buClr>
                <a:srgbClr val="888888"/>
              </a:buClr>
              <a:buSzPts val="2100"/>
              <a:buFont typeface="Arial"/>
              <a:buNone/>
              <a:defRPr b="0" i="0" sz="2100" u="none" cap="none" strike="noStrike">
                <a:solidFill>
                  <a:srgbClr val="888888"/>
                </a:solidFill>
                <a:latin typeface="Arial"/>
                <a:ea typeface="Arial"/>
                <a:cs typeface="Arial"/>
                <a:sym typeface="Arial"/>
              </a:defRPr>
            </a:lvl2pPr>
            <a:lvl3pPr lvl="2" marR="0" rtl="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3pPr>
            <a:lvl4pPr lvl="3"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4pPr>
            <a:lvl5pPr lvl="4"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5pPr>
            <a:lvl6pPr lvl="5"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6pPr>
            <a:lvl7pPr lvl="6"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7pPr>
            <a:lvl8pPr lvl="7"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8pPr>
            <a:lvl9pPr lvl="8"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9pPr>
          </a:lstStyle>
          <a:p/>
        </p:txBody>
      </p:sp>
      <p:sp>
        <p:nvSpPr>
          <p:cNvPr id="8" name="Google Shape;8;p14"/>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lvl1pPr lvl="0" marR="0" rtl="0" algn="l">
              <a:lnSpc>
                <a:spcPct val="114285"/>
              </a:lnSpc>
              <a:spcBef>
                <a:spcPts val="0"/>
              </a:spcBef>
              <a:spcAft>
                <a:spcPts val="0"/>
              </a:spcAft>
              <a:buClr>
                <a:srgbClr val="A7934B"/>
              </a:buClr>
              <a:buSzPts val="4200"/>
              <a:buFont typeface="Roboto"/>
              <a:buNone/>
              <a:defRPr b="1" i="0" sz="42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16"/>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16"/>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16"/>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17"/>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25" name="Shape 25"/>
        <p:cNvGrpSpPr/>
        <p:nvPr/>
      </p:nvGrpSpPr>
      <p:grpSpPr>
        <a:xfrm>
          <a:off x="0" y="0"/>
          <a:ext cx="0" cy="0"/>
          <a:chOff x="0" y="0"/>
          <a:chExt cx="0" cy="0"/>
        </a:xfrm>
      </p:grpSpPr>
      <p:sp>
        <p:nvSpPr>
          <p:cNvPr id="26" name="Google Shape;26;p18"/>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8"/>
          <p:cNvSpPr txBox="1"/>
          <p:nvPr>
            <p:ph idx="1" type="body"/>
          </p:nvPr>
        </p:nvSpPr>
        <p:spPr>
          <a:xfrm>
            <a:off x="379048" y="1215483"/>
            <a:ext cx="5615353"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8"/>
          <p:cNvSpPr txBox="1"/>
          <p:nvPr>
            <p:ph idx="2" type="body"/>
          </p:nvPr>
        </p:nvSpPr>
        <p:spPr>
          <a:xfrm>
            <a:off x="6197600" y="1215483"/>
            <a:ext cx="5613400"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8"/>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8"/>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2" name="Shape 32"/>
        <p:cNvGrpSpPr/>
        <p:nvPr/>
      </p:nvGrpSpPr>
      <p:grpSpPr>
        <a:xfrm>
          <a:off x="0" y="0"/>
          <a:ext cx="0" cy="0"/>
          <a:chOff x="0" y="0"/>
          <a:chExt cx="0" cy="0"/>
        </a:xfrm>
      </p:grpSpPr>
      <p:sp>
        <p:nvSpPr>
          <p:cNvPr id="33" name="Google Shape;33;p19"/>
          <p:cNvSpPr txBox="1"/>
          <p:nvPr>
            <p:ph idx="1" type="body"/>
          </p:nvPr>
        </p:nvSpPr>
        <p:spPr>
          <a:xfrm>
            <a:off x="381001" y="1235113"/>
            <a:ext cx="5617633"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4" name="Google Shape;34;p19"/>
          <p:cNvSpPr txBox="1"/>
          <p:nvPr>
            <p:ph idx="2" type="body"/>
          </p:nvPr>
        </p:nvSpPr>
        <p:spPr>
          <a:xfrm>
            <a:off x="381001" y="2078657"/>
            <a:ext cx="5617633"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9"/>
          <p:cNvSpPr txBox="1"/>
          <p:nvPr>
            <p:ph idx="3" type="body"/>
          </p:nvPr>
        </p:nvSpPr>
        <p:spPr>
          <a:xfrm>
            <a:off x="6172200" y="1235113"/>
            <a:ext cx="56388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6" name="Google Shape;36;p19"/>
          <p:cNvSpPr txBox="1"/>
          <p:nvPr>
            <p:ph idx="4" type="body"/>
          </p:nvPr>
        </p:nvSpPr>
        <p:spPr>
          <a:xfrm>
            <a:off x="6172200" y="2078657"/>
            <a:ext cx="5638800"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9"/>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9"/>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19"/>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41" name="Shape 41"/>
        <p:cNvGrpSpPr/>
        <p:nvPr/>
      </p:nvGrpSpPr>
      <p:grpSpPr>
        <a:xfrm>
          <a:off x="0" y="0"/>
          <a:ext cx="0" cy="0"/>
          <a:chOff x="0" y="0"/>
          <a:chExt cx="0" cy="0"/>
        </a:xfrm>
      </p:grpSpPr>
      <p:sp>
        <p:nvSpPr>
          <p:cNvPr id="42" name="Google Shape;42;p20"/>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0"/>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0"/>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0"/>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46" name="Shape 46"/>
        <p:cNvGrpSpPr/>
        <p:nvPr/>
      </p:nvGrpSpPr>
      <p:grpSpPr>
        <a:xfrm>
          <a:off x="0" y="0"/>
          <a:ext cx="0" cy="0"/>
          <a:chOff x="0" y="0"/>
          <a:chExt cx="0" cy="0"/>
        </a:xfrm>
      </p:grpSpPr>
      <p:sp>
        <p:nvSpPr>
          <p:cNvPr id="47" name="Google Shape;47;p21"/>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1"/>
          <p:cNvSpPr txBox="1"/>
          <p:nvPr>
            <p:ph idx="1" type="body"/>
          </p:nvPr>
        </p:nvSpPr>
        <p:spPr>
          <a:xfrm>
            <a:off x="4313768" y="457201"/>
            <a:ext cx="7497233" cy="540385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9" name="Google Shape;49;p21"/>
          <p:cNvSpPr txBox="1"/>
          <p:nvPr>
            <p:ph idx="2"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21"/>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53" name="Shape 53"/>
        <p:cNvGrpSpPr/>
        <p:nvPr/>
      </p:nvGrpSpPr>
      <p:grpSpPr>
        <a:xfrm>
          <a:off x="0" y="0"/>
          <a:ext cx="0" cy="0"/>
          <a:chOff x="0" y="0"/>
          <a:chExt cx="0" cy="0"/>
        </a:xfrm>
      </p:grpSpPr>
      <p:sp>
        <p:nvSpPr>
          <p:cNvPr id="54" name="Google Shape;54;p22"/>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p:nvPr>
            <p:ph idx="2" type="pic"/>
          </p:nvPr>
        </p:nvSpPr>
        <p:spPr>
          <a:xfrm>
            <a:off x="4313768" y="457201"/>
            <a:ext cx="7497233" cy="540385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Roboto"/>
                <a:ea typeface="Roboto"/>
                <a:cs typeface="Roboto"/>
                <a:sym typeface="Roboto"/>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Roboto"/>
                <a:ea typeface="Roboto"/>
                <a:cs typeface="Roboto"/>
                <a:sym typeface="Roboto"/>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Roboto"/>
                <a:ea typeface="Roboto"/>
                <a:cs typeface="Roboto"/>
                <a:sym typeface="Roboto"/>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Roboto"/>
                <a:ea typeface="Roboto"/>
                <a:cs typeface="Roboto"/>
                <a:sym typeface="Roboto"/>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Roboto"/>
                <a:ea typeface="Roboto"/>
                <a:cs typeface="Roboto"/>
                <a:sym typeface="Roboto"/>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6" name="Google Shape;56;p22"/>
          <p:cNvSpPr txBox="1"/>
          <p:nvPr>
            <p:ph idx="1"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 name="Google Shape;57;p22"/>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60" name="Shape 60"/>
        <p:cNvGrpSpPr/>
        <p:nvPr/>
      </p:nvGrpSpPr>
      <p:grpSpPr>
        <a:xfrm>
          <a:off x="0" y="0"/>
          <a:ext cx="0" cy="0"/>
          <a:chOff x="0" y="0"/>
          <a:chExt cx="0" cy="0"/>
        </a:xfrm>
      </p:grpSpPr>
      <p:sp>
        <p:nvSpPr>
          <p:cNvPr id="61" name="Google Shape;61;p23"/>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 type="body"/>
          </p:nvPr>
        </p:nvSpPr>
        <p:spPr>
          <a:xfrm rot="5400000">
            <a:off x="3797823" y="-2201338"/>
            <a:ext cx="4596355" cy="11430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3"/>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66" name="Shape 66"/>
        <p:cNvGrpSpPr/>
        <p:nvPr/>
      </p:nvGrpSpPr>
      <p:grpSpPr>
        <a:xfrm>
          <a:off x="0" y="0"/>
          <a:ext cx="0" cy="0"/>
          <a:chOff x="0" y="0"/>
          <a:chExt cx="0" cy="0"/>
        </a:xfrm>
      </p:grpSpPr>
      <p:sp>
        <p:nvSpPr>
          <p:cNvPr id="67" name="Google Shape;67;p24"/>
          <p:cNvSpPr txBox="1"/>
          <p:nvPr>
            <p:ph type="title"/>
          </p:nvPr>
        </p:nvSpPr>
        <p:spPr>
          <a:xfrm rot="5400000">
            <a:off x="7590632"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txBox="1"/>
          <p:nvPr>
            <p:ph idx="1" type="body"/>
          </p:nvPr>
        </p:nvSpPr>
        <p:spPr>
          <a:xfrm rot="5400000">
            <a:off x="1875632" y="-1129506"/>
            <a:ext cx="5811838" cy="88011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4"/>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7934B"/>
              </a:buClr>
              <a:buSzPts val="3600"/>
              <a:buFont typeface="Roboto"/>
              <a:buNone/>
              <a:defRPr b="1" i="0" sz="36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Roboto"/>
                <a:ea typeface="Roboto"/>
                <a:cs typeface="Roboto"/>
                <a:sym typeface="Robo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Roboto"/>
                <a:ea typeface="Roboto"/>
                <a:cs typeface="Roboto"/>
                <a:sym typeface="Robo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5"/>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5"/>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5"/>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4.jp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8.jp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3.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21.png"/><Relationship Id="rId6"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1"/>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7F7F7F"/>
              </a:buClr>
              <a:buSzPts val="3000"/>
              <a:buNone/>
            </a:pPr>
            <a:r>
              <a:rPr lang="en-US"/>
              <a:t>Discussion Forum Subteam</a:t>
            </a:r>
            <a:endParaRPr/>
          </a:p>
          <a:p>
            <a:pPr indent="0" lvl="0" marL="0" rtl="0" algn="l">
              <a:lnSpc>
                <a:spcPct val="120000"/>
              </a:lnSpc>
              <a:spcBef>
                <a:spcPts val="600"/>
              </a:spcBef>
              <a:spcAft>
                <a:spcPts val="0"/>
              </a:spcAft>
              <a:buClr>
                <a:srgbClr val="7F7F7F"/>
              </a:buClr>
              <a:buSzPts val="3000"/>
              <a:buNone/>
            </a:pPr>
            <a:r>
              <a:rPr lang="en-US"/>
              <a:t>Presentation 3 - 4/28/2021</a:t>
            </a:r>
            <a:endParaRPr/>
          </a:p>
        </p:txBody>
      </p:sp>
      <p:sp>
        <p:nvSpPr>
          <p:cNvPr id="77" name="Google Shape;77;p1"/>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p>
            <a:pPr indent="0" lvl="0" marL="0" rtl="0" algn="l">
              <a:lnSpc>
                <a:spcPct val="114285"/>
              </a:lnSpc>
              <a:spcBef>
                <a:spcPts val="0"/>
              </a:spcBef>
              <a:spcAft>
                <a:spcPts val="0"/>
              </a:spcAft>
              <a:buClr>
                <a:srgbClr val="A7934B"/>
              </a:buClr>
              <a:buSzPts val="4200"/>
              <a:buFont typeface="Roboto"/>
              <a:buNone/>
            </a:pPr>
            <a:r>
              <a:rPr lang="en-US"/>
              <a:t>Data Driven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r>
              <a:rPr lang="en-US"/>
              <a:t>Team Members</a:t>
            </a:r>
            <a:endParaRPr/>
          </a:p>
        </p:txBody>
      </p:sp>
      <p:sp>
        <p:nvSpPr>
          <p:cNvPr id="83" name="Google Shape;83;p2"/>
          <p:cNvSpPr txBox="1"/>
          <p:nvPr/>
        </p:nvSpPr>
        <p:spPr>
          <a:xfrm>
            <a:off x="23559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Aanya Khandelwal</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Back-end</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Developer</a:t>
            </a:r>
            <a:endParaRPr b="0" i="0" sz="1400" u="none" cap="none" strike="noStrike">
              <a:solidFill>
                <a:srgbClr val="000000"/>
              </a:solidFill>
              <a:latin typeface="Roboto"/>
              <a:ea typeface="Roboto"/>
              <a:cs typeface="Roboto"/>
              <a:sym typeface="Roboto"/>
            </a:endParaRPr>
          </a:p>
        </p:txBody>
      </p:sp>
      <p:sp>
        <p:nvSpPr>
          <p:cNvPr id="84" name="Google Shape;84;p2"/>
          <p:cNvSpPr txBox="1"/>
          <p:nvPr/>
        </p:nvSpPr>
        <p:spPr>
          <a:xfrm>
            <a:off x="41463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David Kim</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Machine Learning Engineer</a:t>
            </a:r>
            <a:endParaRPr b="0" i="0" sz="1400" u="none" cap="none" strike="noStrike">
              <a:solidFill>
                <a:srgbClr val="000000"/>
              </a:solidFill>
              <a:latin typeface="Roboto"/>
              <a:ea typeface="Roboto"/>
              <a:cs typeface="Roboto"/>
              <a:sym typeface="Roboto"/>
            </a:endParaRPr>
          </a:p>
        </p:txBody>
      </p:sp>
      <p:sp>
        <p:nvSpPr>
          <p:cNvPr id="85" name="Google Shape;85;p2"/>
          <p:cNvSpPr txBox="1"/>
          <p:nvPr/>
        </p:nvSpPr>
        <p:spPr>
          <a:xfrm>
            <a:off x="59367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Sambhav Jaideep</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Front-end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sp>
        <p:nvSpPr>
          <p:cNvPr id="86" name="Google Shape;86;p2"/>
          <p:cNvSpPr txBox="1"/>
          <p:nvPr/>
        </p:nvSpPr>
        <p:spPr>
          <a:xfrm>
            <a:off x="77271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Nidhi Pai</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87" name="Google Shape;87;p2"/>
          <p:cNvSpPr/>
          <p:nvPr/>
        </p:nvSpPr>
        <p:spPr>
          <a:xfrm>
            <a:off x="9836100" y="20514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txBox="1"/>
          <p:nvPr/>
        </p:nvSpPr>
        <p:spPr>
          <a:xfrm>
            <a:off x="95175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Morgan Powers</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Project Manager</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9" name="Google Shape;89;p2"/>
          <p:cNvSpPr/>
          <p:nvPr/>
        </p:nvSpPr>
        <p:spPr>
          <a:xfrm>
            <a:off x="6255300" y="20514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
          <p:cNvSpPr txBox="1"/>
          <p:nvPr/>
        </p:nvSpPr>
        <p:spPr>
          <a:xfrm>
            <a:off x="565500" y="33765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Pratik Agrawal</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Machine Learning Engineer</a:t>
            </a:r>
            <a:endParaRPr b="0" i="0" sz="1400" u="none" cap="none" strike="noStrike">
              <a:solidFill>
                <a:srgbClr val="000000"/>
              </a:solidFill>
              <a:latin typeface="Roboto"/>
              <a:ea typeface="Roboto"/>
              <a:cs typeface="Roboto"/>
              <a:sym typeface="Roboto"/>
            </a:endParaRPr>
          </a:p>
        </p:txBody>
      </p:sp>
      <p:pic>
        <p:nvPicPr>
          <p:cNvPr id="91" name="Google Shape;91;p2"/>
          <p:cNvPicPr preferRelativeResize="0"/>
          <p:nvPr/>
        </p:nvPicPr>
        <p:blipFill rotWithShape="1">
          <a:blip r:embed="rId3">
            <a:alphaModFix/>
          </a:blip>
          <a:srcRect b="0" l="0" r="0" t="0"/>
          <a:stretch/>
        </p:blipFill>
        <p:spPr>
          <a:xfrm>
            <a:off x="6207150" y="2018400"/>
            <a:ext cx="1249500" cy="1249500"/>
          </a:xfrm>
          <a:prstGeom prst="ellipse">
            <a:avLst/>
          </a:prstGeom>
          <a:noFill/>
          <a:ln>
            <a:noFill/>
          </a:ln>
        </p:spPr>
      </p:pic>
      <p:pic>
        <p:nvPicPr>
          <p:cNvPr id="92" name="Google Shape;92;p2"/>
          <p:cNvPicPr preferRelativeResize="0"/>
          <p:nvPr/>
        </p:nvPicPr>
        <p:blipFill rotWithShape="1">
          <a:blip r:embed="rId4">
            <a:alphaModFix/>
          </a:blip>
          <a:srcRect b="17645" l="0" r="5526" t="8012"/>
          <a:stretch/>
        </p:blipFill>
        <p:spPr>
          <a:xfrm>
            <a:off x="9778550" y="1962725"/>
            <a:ext cx="1252800" cy="1320300"/>
          </a:xfrm>
          <a:prstGeom prst="ellipse">
            <a:avLst/>
          </a:prstGeom>
          <a:noFill/>
          <a:ln>
            <a:noFill/>
          </a:ln>
        </p:spPr>
      </p:pic>
      <p:sp>
        <p:nvSpPr>
          <p:cNvPr id="93" name="Google Shape;93;p2"/>
          <p:cNvSpPr/>
          <p:nvPr/>
        </p:nvSpPr>
        <p:spPr>
          <a:xfrm>
            <a:off x="4440825" y="21054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4" name="Google Shape;94;p2"/>
          <p:cNvPicPr preferRelativeResize="0"/>
          <p:nvPr/>
        </p:nvPicPr>
        <p:blipFill rotWithShape="1">
          <a:blip r:embed="rId5">
            <a:alphaModFix/>
          </a:blip>
          <a:srcRect b="0" l="2552" r="2561" t="0"/>
          <a:stretch/>
        </p:blipFill>
        <p:spPr>
          <a:xfrm>
            <a:off x="7967125" y="1983000"/>
            <a:ext cx="1252800" cy="1320300"/>
          </a:xfrm>
          <a:prstGeom prst="ellipse">
            <a:avLst/>
          </a:prstGeom>
          <a:noFill/>
          <a:ln>
            <a:noFill/>
          </a:ln>
        </p:spPr>
      </p:pic>
      <p:pic>
        <p:nvPicPr>
          <p:cNvPr id="95" name="Google Shape;95;p2"/>
          <p:cNvPicPr preferRelativeResize="0"/>
          <p:nvPr/>
        </p:nvPicPr>
        <p:blipFill rotWithShape="1">
          <a:blip r:embed="rId6">
            <a:alphaModFix/>
          </a:blip>
          <a:srcRect b="0" l="0" r="0" t="0"/>
          <a:stretch/>
        </p:blipFill>
        <p:spPr>
          <a:xfrm>
            <a:off x="4391024" y="2070738"/>
            <a:ext cx="1252801" cy="1252827"/>
          </a:xfrm>
          <a:prstGeom prst="rect">
            <a:avLst/>
          </a:prstGeom>
          <a:noFill/>
          <a:ln>
            <a:noFill/>
          </a:ln>
        </p:spPr>
      </p:pic>
      <p:pic>
        <p:nvPicPr>
          <p:cNvPr id="96" name="Google Shape;96;p2"/>
          <p:cNvPicPr preferRelativeResize="0"/>
          <p:nvPr/>
        </p:nvPicPr>
        <p:blipFill rotWithShape="1">
          <a:blip r:embed="rId7">
            <a:alphaModFix/>
          </a:blip>
          <a:srcRect b="0" l="0" r="0" t="0"/>
          <a:stretch/>
        </p:blipFill>
        <p:spPr>
          <a:xfrm>
            <a:off x="2684450" y="2091424"/>
            <a:ext cx="1252800" cy="1269000"/>
          </a:xfrm>
          <a:prstGeom prst="ellipse">
            <a:avLst/>
          </a:prstGeom>
          <a:noFill/>
          <a:ln>
            <a:noFill/>
          </a:ln>
          <a:effectLst>
            <a:outerShdw blurRad="57150" rotWithShape="0" algn="bl" dir="5400000" dist="19050">
              <a:srgbClr val="000000">
                <a:alpha val="49411"/>
              </a:srgbClr>
            </a:outerShdw>
          </a:effectLst>
        </p:spPr>
      </p:pic>
      <p:pic>
        <p:nvPicPr>
          <p:cNvPr id="97" name="Google Shape;97;p2"/>
          <p:cNvPicPr preferRelativeResize="0"/>
          <p:nvPr/>
        </p:nvPicPr>
        <p:blipFill rotWithShape="1">
          <a:blip r:embed="rId8">
            <a:alphaModFix/>
          </a:blip>
          <a:srcRect b="0" l="0" r="0" t="0"/>
          <a:stretch/>
        </p:blipFill>
        <p:spPr>
          <a:xfrm>
            <a:off x="816900" y="2019050"/>
            <a:ext cx="1413775" cy="1413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d37e389671_1_0"/>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500"/>
              </a:spcBef>
              <a:spcAft>
                <a:spcPts val="0"/>
              </a:spcAft>
              <a:buSzPts val="1800"/>
              <a:buChar char="●"/>
            </a:pPr>
            <a:r>
              <a:rPr lang="en-US"/>
              <a:t>Discussion forums</a:t>
            </a:r>
            <a:endParaRPr/>
          </a:p>
          <a:p>
            <a:pPr indent="-342900" lvl="0" marL="457200" rtl="0" algn="l">
              <a:lnSpc>
                <a:spcPct val="100000"/>
              </a:lnSpc>
              <a:spcBef>
                <a:spcPts val="1500"/>
              </a:spcBef>
              <a:spcAft>
                <a:spcPts val="0"/>
              </a:spcAft>
              <a:buSzPts val="1800"/>
              <a:buChar char="●"/>
            </a:pPr>
            <a:r>
              <a:rPr lang="en-US"/>
              <a:t>Student interaction </a:t>
            </a:r>
            <a:endParaRPr/>
          </a:p>
          <a:p>
            <a:pPr indent="-342900" lvl="0" marL="457200" rtl="0" algn="l">
              <a:lnSpc>
                <a:spcPct val="100000"/>
              </a:lnSpc>
              <a:spcBef>
                <a:spcPts val="1500"/>
              </a:spcBef>
              <a:spcAft>
                <a:spcPts val="1500"/>
              </a:spcAft>
              <a:buSzPts val="1800"/>
              <a:buChar char="●"/>
            </a:pPr>
            <a:r>
              <a:rPr lang="en-US"/>
              <a:t>Goal: Creating a web application to be used by professors will allow the instructors to improve their courses</a:t>
            </a:r>
            <a:endParaRPr/>
          </a:p>
        </p:txBody>
      </p:sp>
      <p:sp>
        <p:nvSpPr>
          <p:cNvPr id="103" name="Google Shape;103;gd37e389671_1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Introduction</a:t>
            </a:r>
            <a:endParaRPr/>
          </a:p>
        </p:txBody>
      </p:sp>
      <p:pic>
        <p:nvPicPr>
          <p:cNvPr id="104" name="Google Shape;104;gd37e389671_1_0"/>
          <p:cNvPicPr preferRelativeResize="0"/>
          <p:nvPr/>
        </p:nvPicPr>
        <p:blipFill rotWithShape="1">
          <a:blip r:embed="rId3">
            <a:alphaModFix/>
          </a:blip>
          <a:srcRect b="0" l="0" r="0" t="0"/>
          <a:stretch/>
        </p:blipFill>
        <p:spPr>
          <a:xfrm>
            <a:off x="6226074" y="4244525"/>
            <a:ext cx="4561649" cy="1177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d37e389671_1_69"/>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Discussion vs. Q&amp;A</a:t>
            </a:r>
            <a:endParaRPr/>
          </a:p>
          <a:p>
            <a:pPr indent="-342900" lvl="0" marL="457200" rtl="0" algn="l">
              <a:spcBef>
                <a:spcPts val="0"/>
              </a:spcBef>
              <a:spcAft>
                <a:spcPts val="0"/>
              </a:spcAft>
              <a:buSzPts val="1800"/>
              <a:buChar char="•"/>
            </a:pPr>
            <a:r>
              <a:rPr lang="en-US"/>
              <a:t>Threading issue</a:t>
            </a:r>
            <a:endParaRPr/>
          </a:p>
          <a:p>
            <a:pPr indent="-342900" lvl="0" marL="457200" rtl="0" algn="l">
              <a:spcBef>
                <a:spcPts val="0"/>
              </a:spcBef>
              <a:spcAft>
                <a:spcPts val="0"/>
              </a:spcAft>
              <a:buSzPts val="1800"/>
              <a:buChar char="•"/>
            </a:pPr>
            <a:r>
              <a:rPr lang="en-US"/>
              <a:t>Sampling bias</a:t>
            </a:r>
            <a:endParaRPr/>
          </a:p>
          <a:p>
            <a:pPr indent="-342900" lvl="1" marL="914400" rtl="0" algn="l">
              <a:spcBef>
                <a:spcPts val="0"/>
              </a:spcBef>
              <a:spcAft>
                <a:spcPts val="0"/>
              </a:spcAft>
              <a:buSzPts val="1800"/>
              <a:buChar char="•"/>
            </a:pPr>
            <a:r>
              <a:rPr lang="en-US"/>
              <a:t>Negative vs. positive triggers</a:t>
            </a:r>
            <a:endParaRPr/>
          </a:p>
          <a:p>
            <a:pPr indent="-342900" lvl="0" marL="457200" rtl="0" algn="l">
              <a:spcBef>
                <a:spcPts val="0"/>
              </a:spcBef>
              <a:spcAft>
                <a:spcPts val="0"/>
              </a:spcAft>
              <a:buSzPts val="1800"/>
              <a:buChar char="•"/>
            </a:pPr>
            <a:r>
              <a:rPr lang="en-US"/>
              <a:t>When done right, there is more interaction with students online than in person</a:t>
            </a:r>
            <a:endParaRPr/>
          </a:p>
          <a:p>
            <a:pPr indent="-342900" lvl="0" marL="457200" rtl="0" algn="l">
              <a:spcBef>
                <a:spcPts val="0"/>
              </a:spcBef>
              <a:spcAft>
                <a:spcPts val="0"/>
              </a:spcAft>
              <a:buSzPts val="1800"/>
              <a:buChar char="•"/>
            </a:pPr>
            <a:r>
              <a:rPr lang="en-US"/>
              <a:t>Casual and organic</a:t>
            </a:r>
            <a:endParaRPr/>
          </a:p>
        </p:txBody>
      </p:sp>
      <p:sp>
        <p:nvSpPr>
          <p:cNvPr id="110" name="Google Shape;110;gd37e389671_1_69"/>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Meeting </a:t>
            </a:r>
            <a:r>
              <a:rPr lang="en-US"/>
              <a:t>with</a:t>
            </a:r>
            <a:r>
              <a:rPr lang="en-US"/>
              <a:t> Dr. Joyner</a:t>
            </a:r>
            <a:endParaRPr/>
          </a:p>
        </p:txBody>
      </p:sp>
      <p:pic>
        <p:nvPicPr>
          <p:cNvPr id="111" name="Google Shape;111;gd37e389671_1_69"/>
          <p:cNvPicPr preferRelativeResize="0"/>
          <p:nvPr/>
        </p:nvPicPr>
        <p:blipFill>
          <a:blip r:embed="rId3">
            <a:alphaModFix/>
          </a:blip>
          <a:stretch>
            <a:fillRect/>
          </a:stretch>
        </p:blipFill>
        <p:spPr>
          <a:xfrm>
            <a:off x="7900738" y="3906350"/>
            <a:ext cx="1743075" cy="2095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ca9ee63040_0_0"/>
          <p:cNvSpPr/>
          <p:nvPr/>
        </p:nvSpPr>
        <p:spPr>
          <a:xfrm>
            <a:off x="3776875" y="1951675"/>
            <a:ext cx="1932900" cy="2277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ca9ee63040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Kovanovic 2016 Replication</a:t>
            </a:r>
            <a:endParaRPr/>
          </a:p>
        </p:txBody>
      </p:sp>
      <p:pic>
        <p:nvPicPr>
          <p:cNvPr id="118" name="Google Shape;118;gca9ee63040_0_0"/>
          <p:cNvPicPr preferRelativeResize="0"/>
          <p:nvPr/>
        </p:nvPicPr>
        <p:blipFill>
          <a:blip r:embed="rId3">
            <a:alphaModFix/>
          </a:blip>
          <a:stretch>
            <a:fillRect/>
          </a:stretch>
        </p:blipFill>
        <p:spPr>
          <a:xfrm>
            <a:off x="802950" y="2373749"/>
            <a:ext cx="2261365" cy="1422600"/>
          </a:xfrm>
          <a:prstGeom prst="rect">
            <a:avLst/>
          </a:prstGeom>
          <a:noFill/>
          <a:ln>
            <a:noFill/>
          </a:ln>
        </p:spPr>
      </p:pic>
      <p:sp>
        <p:nvSpPr>
          <p:cNvPr id="119" name="Google Shape;119;gca9ee63040_0_0"/>
          <p:cNvSpPr txBox="1"/>
          <p:nvPr/>
        </p:nvSpPr>
        <p:spPr>
          <a:xfrm>
            <a:off x="1052688" y="3868650"/>
            <a:ext cx="1761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Spring 2021 Coding Results_Piazza.xlsx</a:t>
            </a:r>
            <a:endParaRPr>
              <a:latin typeface="Roboto"/>
              <a:ea typeface="Roboto"/>
              <a:cs typeface="Roboto"/>
              <a:sym typeface="Roboto"/>
            </a:endParaRPr>
          </a:p>
        </p:txBody>
      </p:sp>
      <p:pic>
        <p:nvPicPr>
          <p:cNvPr id="120" name="Google Shape;120;gca9ee63040_0_0"/>
          <p:cNvPicPr preferRelativeResize="0"/>
          <p:nvPr/>
        </p:nvPicPr>
        <p:blipFill>
          <a:blip r:embed="rId4">
            <a:alphaModFix/>
          </a:blip>
          <a:stretch>
            <a:fillRect/>
          </a:stretch>
        </p:blipFill>
        <p:spPr>
          <a:xfrm>
            <a:off x="6511840" y="2837397"/>
            <a:ext cx="1438275" cy="495300"/>
          </a:xfrm>
          <a:prstGeom prst="rect">
            <a:avLst/>
          </a:prstGeom>
          <a:noFill/>
          <a:ln>
            <a:noFill/>
          </a:ln>
        </p:spPr>
      </p:pic>
      <p:pic>
        <p:nvPicPr>
          <p:cNvPr id="121" name="Google Shape;121;gca9ee63040_0_0"/>
          <p:cNvPicPr preferRelativeResize="0"/>
          <p:nvPr/>
        </p:nvPicPr>
        <p:blipFill>
          <a:blip r:embed="rId5">
            <a:alphaModFix/>
          </a:blip>
          <a:stretch>
            <a:fillRect/>
          </a:stretch>
        </p:blipFill>
        <p:spPr>
          <a:xfrm>
            <a:off x="4156377" y="2373747"/>
            <a:ext cx="1200150" cy="466725"/>
          </a:xfrm>
          <a:prstGeom prst="rect">
            <a:avLst/>
          </a:prstGeom>
          <a:noFill/>
          <a:ln>
            <a:noFill/>
          </a:ln>
        </p:spPr>
      </p:pic>
      <p:pic>
        <p:nvPicPr>
          <p:cNvPr id="122" name="Google Shape;122;gca9ee63040_0_0"/>
          <p:cNvPicPr preferRelativeResize="0"/>
          <p:nvPr/>
        </p:nvPicPr>
        <p:blipFill>
          <a:blip r:embed="rId6">
            <a:alphaModFix/>
          </a:blip>
          <a:stretch>
            <a:fillRect/>
          </a:stretch>
        </p:blipFill>
        <p:spPr>
          <a:xfrm>
            <a:off x="4132573" y="3053122"/>
            <a:ext cx="1247775" cy="751765"/>
          </a:xfrm>
          <a:prstGeom prst="rect">
            <a:avLst/>
          </a:prstGeom>
          <a:noFill/>
          <a:ln>
            <a:noFill/>
          </a:ln>
        </p:spPr>
      </p:pic>
      <p:sp>
        <p:nvSpPr>
          <p:cNvPr id="123" name="Google Shape;123;gca9ee63040_0_0"/>
          <p:cNvSpPr txBox="1"/>
          <p:nvPr/>
        </p:nvSpPr>
        <p:spPr>
          <a:xfrm>
            <a:off x="3983974" y="1594588"/>
            <a:ext cx="1654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Feature Extraction</a:t>
            </a:r>
            <a:endParaRPr>
              <a:latin typeface="Roboto"/>
              <a:ea typeface="Roboto"/>
              <a:cs typeface="Roboto"/>
              <a:sym typeface="Roboto"/>
            </a:endParaRPr>
          </a:p>
        </p:txBody>
      </p:sp>
      <p:cxnSp>
        <p:nvCxnSpPr>
          <p:cNvPr id="124" name="Google Shape;124;gca9ee63040_0_0"/>
          <p:cNvCxnSpPr>
            <a:stCxn id="118" idx="3"/>
            <a:endCxn id="116" idx="1"/>
          </p:cNvCxnSpPr>
          <p:nvPr/>
        </p:nvCxnSpPr>
        <p:spPr>
          <a:xfrm>
            <a:off x="3064315" y="3085049"/>
            <a:ext cx="712500" cy="5100"/>
          </a:xfrm>
          <a:prstGeom prst="straightConnector1">
            <a:avLst/>
          </a:prstGeom>
          <a:noFill/>
          <a:ln cap="flat" cmpd="sng" w="19050">
            <a:solidFill>
              <a:schemeClr val="dk2"/>
            </a:solidFill>
            <a:prstDash val="solid"/>
            <a:round/>
            <a:headEnd len="med" w="med" type="none"/>
            <a:tailEnd len="med" w="med" type="triangle"/>
          </a:ln>
        </p:spPr>
      </p:cxnSp>
      <p:cxnSp>
        <p:nvCxnSpPr>
          <p:cNvPr id="125" name="Google Shape;125;gca9ee63040_0_0"/>
          <p:cNvCxnSpPr>
            <a:stCxn id="116" idx="3"/>
            <a:endCxn id="120" idx="1"/>
          </p:cNvCxnSpPr>
          <p:nvPr/>
        </p:nvCxnSpPr>
        <p:spPr>
          <a:xfrm flipH="1" rot="10800000">
            <a:off x="5709775" y="3085075"/>
            <a:ext cx="802200" cy="5100"/>
          </a:xfrm>
          <a:prstGeom prst="straightConnector1">
            <a:avLst/>
          </a:prstGeom>
          <a:noFill/>
          <a:ln cap="flat" cmpd="sng" w="19050">
            <a:solidFill>
              <a:schemeClr val="dk2"/>
            </a:solidFill>
            <a:prstDash val="solid"/>
            <a:round/>
            <a:headEnd len="med" w="med" type="none"/>
            <a:tailEnd len="med" w="med" type="triangle"/>
          </a:ln>
        </p:spPr>
      </p:cxnSp>
      <p:pic>
        <p:nvPicPr>
          <p:cNvPr id="126" name="Google Shape;126;gca9ee63040_0_0"/>
          <p:cNvPicPr preferRelativeResize="0"/>
          <p:nvPr/>
        </p:nvPicPr>
        <p:blipFill>
          <a:blip r:embed="rId7">
            <a:alphaModFix/>
          </a:blip>
          <a:stretch>
            <a:fillRect/>
          </a:stretch>
        </p:blipFill>
        <p:spPr>
          <a:xfrm>
            <a:off x="9233150" y="2813950"/>
            <a:ext cx="1524000" cy="552450"/>
          </a:xfrm>
          <a:prstGeom prst="rect">
            <a:avLst/>
          </a:prstGeom>
          <a:noFill/>
          <a:ln>
            <a:noFill/>
          </a:ln>
        </p:spPr>
      </p:pic>
      <p:cxnSp>
        <p:nvCxnSpPr>
          <p:cNvPr id="127" name="Google Shape;127;gca9ee63040_0_0"/>
          <p:cNvCxnSpPr>
            <a:stCxn id="120" idx="3"/>
            <a:endCxn id="126" idx="1"/>
          </p:cNvCxnSpPr>
          <p:nvPr/>
        </p:nvCxnSpPr>
        <p:spPr>
          <a:xfrm>
            <a:off x="7950115" y="3085047"/>
            <a:ext cx="1283100" cy="5100"/>
          </a:xfrm>
          <a:prstGeom prst="straightConnector1">
            <a:avLst/>
          </a:prstGeom>
          <a:noFill/>
          <a:ln cap="flat" cmpd="sng" w="19050">
            <a:solidFill>
              <a:schemeClr val="dk2"/>
            </a:solidFill>
            <a:prstDash val="solid"/>
            <a:round/>
            <a:headEnd len="med" w="med" type="none"/>
            <a:tailEnd len="med" w="med" type="triangle"/>
          </a:ln>
        </p:spPr>
      </p:cxnSp>
      <p:sp>
        <p:nvSpPr>
          <p:cNvPr id="128" name="Google Shape;128;gca9ee63040_0_0"/>
          <p:cNvSpPr txBox="1"/>
          <p:nvPr/>
        </p:nvSpPr>
        <p:spPr>
          <a:xfrm>
            <a:off x="8897300" y="3468450"/>
            <a:ext cx="219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Random Forest Classifier</a:t>
            </a:r>
            <a:endParaRPr>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cdec8889be_0_1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Baseline Performance Results</a:t>
            </a:r>
            <a:endParaRPr/>
          </a:p>
        </p:txBody>
      </p:sp>
      <p:pic>
        <p:nvPicPr>
          <p:cNvPr id="134" name="Google Shape;134;gcdec8889be_0_15"/>
          <p:cNvPicPr preferRelativeResize="0"/>
          <p:nvPr/>
        </p:nvPicPr>
        <p:blipFill>
          <a:blip r:embed="rId3">
            <a:alphaModFix/>
          </a:blip>
          <a:stretch>
            <a:fillRect/>
          </a:stretch>
        </p:blipFill>
        <p:spPr>
          <a:xfrm>
            <a:off x="450575" y="1557772"/>
            <a:ext cx="6096000" cy="4572000"/>
          </a:xfrm>
          <a:prstGeom prst="rect">
            <a:avLst/>
          </a:prstGeom>
          <a:noFill/>
          <a:ln>
            <a:noFill/>
          </a:ln>
        </p:spPr>
      </p:pic>
      <p:sp>
        <p:nvSpPr>
          <p:cNvPr id="135" name="Google Shape;135;gcdec8889be_0_15"/>
          <p:cNvSpPr txBox="1"/>
          <p:nvPr/>
        </p:nvSpPr>
        <p:spPr>
          <a:xfrm>
            <a:off x="8891325" y="2085100"/>
            <a:ext cx="2429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80/20 Train/Test Split:</a:t>
            </a:r>
            <a:endParaRPr>
              <a:latin typeface="Roboto"/>
              <a:ea typeface="Roboto"/>
              <a:cs typeface="Roboto"/>
              <a:sym typeface="Roboto"/>
            </a:endParaRPr>
          </a:p>
          <a:p>
            <a:pPr indent="457200" lvl="0" marL="0" rtl="0" algn="l">
              <a:spcBef>
                <a:spcPts val="0"/>
              </a:spcBef>
              <a:spcAft>
                <a:spcPts val="0"/>
              </a:spcAft>
              <a:buNone/>
            </a:pPr>
            <a:r>
              <a:rPr lang="en-US">
                <a:latin typeface="Roboto"/>
                <a:ea typeface="Roboto"/>
                <a:cs typeface="Roboto"/>
                <a:sym typeface="Roboto"/>
              </a:rPr>
              <a:t>Train Accuracy: 0.998</a:t>
            </a:r>
            <a:endParaRPr>
              <a:latin typeface="Roboto"/>
              <a:ea typeface="Roboto"/>
              <a:cs typeface="Roboto"/>
              <a:sym typeface="Roboto"/>
            </a:endParaRPr>
          </a:p>
          <a:p>
            <a:pPr indent="457200" lvl="0" marL="0" rtl="0" algn="l">
              <a:spcBef>
                <a:spcPts val="0"/>
              </a:spcBef>
              <a:spcAft>
                <a:spcPts val="0"/>
              </a:spcAft>
              <a:buNone/>
            </a:pPr>
            <a:r>
              <a:rPr lang="en-US">
                <a:latin typeface="Roboto"/>
                <a:ea typeface="Roboto"/>
                <a:cs typeface="Roboto"/>
                <a:sym typeface="Roboto"/>
              </a:rPr>
              <a:t>Test Accuracy: 0.902</a:t>
            </a:r>
            <a:endParaRPr>
              <a:latin typeface="Roboto"/>
              <a:ea typeface="Roboto"/>
              <a:cs typeface="Roboto"/>
              <a:sym typeface="Roboto"/>
            </a:endParaRPr>
          </a:p>
        </p:txBody>
      </p:sp>
      <p:sp>
        <p:nvSpPr>
          <p:cNvPr id="136" name="Google Shape;136;gcdec8889be_0_15"/>
          <p:cNvSpPr txBox="1"/>
          <p:nvPr/>
        </p:nvSpPr>
        <p:spPr>
          <a:xfrm>
            <a:off x="8891325" y="3428125"/>
            <a:ext cx="1978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Training Time: 0.103s</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	n_jobs = -1</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	Ryzen 5600x</a:t>
            </a:r>
            <a:endParaRPr>
              <a:latin typeface="Roboto"/>
              <a:ea typeface="Roboto"/>
              <a:cs typeface="Roboto"/>
              <a:sym typeface="Roboto"/>
            </a:endParaRPr>
          </a:p>
        </p:txBody>
      </p:sp>
      <p:sp>
        <p:nvSpPr>
          <p:cNvPr id="137" name="Google Shape;137;gcdec8889be_0_15"/>
          <p:cNvSpPr txBox="1"/>
          <p:nvPr/>
        </p:nvSpPr>
        <p:spPr>
          <a:xfrm>
            <a:off x="8891325" y="4771150"/>
            <a:ext cx="2204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Parameters:</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	n_estimators = 50</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	max_depth = 50</a:t>
            </a:r>
            <a:endParaRPr>
              <a:latin typeface="Roboto"/>
              <a:ea typeface="Roboto"/>
              <a:cs typeface="Roboto"/>
              <a:sym typeface="Roboto"/>
            </a:endParaRPr>
          </a:p>
        </p:txBody>
      </p:sp>
      <p:sp>
        <p:nvSpPr>
          <p:cNvPr id="138" name="Google Shape;138;gcdec8889be_0_15"/>
          <p:cNvSpPr txBox="1"/>
          <p:nvPr/>
        </p:nvSpPr>
        <p:spPr>
          <a:xfrm>
            <a:off x="6120200" y="3212725"/>
            <a:ext cx="15966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0 - Other</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1 - Triggering</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2 - Exploration</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3 - Integration</a:t>
            </a:r>
            <a:endParaRPr>
              <a:latin typeface="Roboto"/>
              <a:ea typeface="Roboto"/>
              <a:cs typeface="Roboto"/>
              <a:sym typeface="Roboto"/>
            </a:endParaRPr>
          </a:p>
          <a:p>
            <a:pPr indent="0" lvl="0" marL="0" rtl="0" algn="l">
              <a:spcBef>
                <a:spcPts val="0"/>
              </a:spcBef>
              <a:spcAft>
                <a:spcPts val="0"/>
              </a:spcAft>
              <a:buNone/>
            </a:pPr>
            <a:r>
              <a:rPr lang="en-US">
                <a:latin typeface="Roboto"/>
                <a:ea typeface="Roboto"/>
                <a:cs typeface="Roboto"/>
                <a:sym typeface="Roboto"/>
              </a:rPr>
              <a:t>4 - Exploration</a:t>
            </a:r>
            <a:endParaRPr>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cdec8889be_0_32"/>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Feature Ranking</a:t>
            </a:r>
            <a:endParaRPr/>
          </a:p>
        </p:txBody>
      </p:sp>
      <p:pic>
        <p:nvPicPr>
          <p:cNvPr id="144" name="Google Shape;144;gcdec8889be_0_32"/>
          <p:cNvPicPr preferRelativeResize="0"/>
          <p:nvPr/>
        </p:nvPicPr>
        <p:blipFill>
          <a:blip r:embed="rId3">
            <a:alphaModFix/>
          </a:blip>
          <a:stretch>
            <a:fillRect/>
          </a:stretch>
        </p:blipFill>
        <p:spPr>
          <a:xfrm>
            <a:off x="387350" y="1227147"/>
            <a:ext cx="3863961" cy="5337577"/>
          </a:xfrm>
          <a:prstGeom prst="rect">
            <a:avLst/>
          </a:prstGeom>
          <a:noFill/>
          <a:ln>
            <a:noFill/>
          </a:ln>
        </p:spPr>
      </p:pic>
      <p:sp>
        <p:nvSpPr>
          <p:cNvPr id="145" name="Google Shape;145;gcdec8889be_0_32"/>
          <p:cNvSpPr txBox="1"/>
          <p:nvPr/>
        </p:nvSpPr>
        <p:spPr>
          <a:xfrm>
            <a:off x="6017675" y="1418575"/>
            <a:ext cx="386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Ordered by impurity-based feature importance.</a:t>
            </a:r>
            <a:endParaRPr>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d37e389671_1_74"/>
          <p:cNvSpPr txBox="1"/>
          <p:nvPr>
            <p:ph idx="1" type="body"/>
          </p:nvPr>
        </p:nvSpPr>
        <p:spPr>
          <a:xfrm>
            <a:off x="381000" y="1215475"/>
            <a:ext cx="11520600" cy="3070800"/>
          </a:xfrm>
          <a:prstGeom prst="rect">
            <a:avLst/>
          </a:prstGeom>
        </p:spPr>
        <p:txBody>
          <a:bodyPr anchorCtr="0" anchor="t" bIns="45700" lIns="91425" spcFirstLastPara="1" rIns="91425" wrap="square" tIns="45700">
            <a:normAutofit fontScale="92500" lnSpcReduction="20000"/>
          </a:bodyPr>
          <a:lstStyle/>
          <a:p>
            <a:pPr indent="-334327" lvl="0" marL="457200" rtl="0" algn="l">
              <a:spcBef>
                <a:spcPts val="1000"/>
              </a:spcBef>
              <a:spcAft>
                <a:spcPts val="0"/>
              </a:spcAft>
              <a:buSzPct val="64285"/>
              <a:buChar char="•"/>
            </a:pPr>
            <a:r>
              <a:rPr b="1" lang="en-US"/>
              <a:t>&gt;80% f1-score on Training set with BERT Fine-tuning using PyTorch</a:t>
            </a:r>
            <a:endParaRPr/>
          </a:p>
          <a:p>
            <a:pPr indent="-334327" lvl="1" marL="914400" rtl="0" algn="l">
              <a:spcBef>
                <a:spcPts val="1000"/>
              </a:spcBef>
              <a:spcAft>
                <a:spcPts val="0"/>
              </a:spcAft>
              <a:buSzPct val="81818"/>
              <a:buChar char="•"/>
            </a:pPr>
            <a:r>
              <a:rPr lang="en-US" sz="2200"/>
              <a:t>Mis-classification in test set frequent among adjacent labels</a:t>
            </a:r>
            <a:endParaRPr sz="2200"/>
          </a:p>
          <a:p>
            <a:pPr indent="-345122" lvl="2" marL="1371600" rtl="0" algn="l">
              <a:spcBef>
                <a:spcPts val="1000"/>
              </a:spcBef>
              <a:spcAft>
                <a:spcPts val="0"/>
              </a:spcAft>
              <a:buSzPct val="100000"/>
              <a:buChar char="•"/>
            </a:pPr>
            <a:r>
              <a:rPr lang="en-US" sz="1983"/>
              <a:t>Need to consider different metrics, since this is </a:t>
            </a:r>
            <a:r>
              <a:rPr b="1" lang="en-US" sz="1983"/>
              <a:t>Ordinal Classification</a:t>
            </a:r>
            <a:endParaRPr b="1" sz="1983"/>
          </a:p>
          <a:p>
            <a:pPr indent="-345122" lvl="2" marL="1371600" rtl="0" algn="l">
              <a:spcBef>
                <a:spcPts val="1000"/>
              </a:spcBef>
              <a:spcAft>
                <a:spcPts val="0"/>
              </a:spcAft>
              <a:buSzPct val="100000"/>
              <a:buChar char="•"/>
            </a:pPr>
            <a:r>
              <a:rPr lang="en-US" sz="1983"/>
              <a:t>Can try to model it like </a:t>
            </a:r>
            <a:r>
              <a:rPr lang="en-US" sz="1983"/>
              <a:t>regression</a:t>
            </a:r>
            <a:r>
              <a:rPr lang="en-US" sz="1983"/>
              <a:t> and use metrics accordingly</a:t>
            </a:r>
            <a:endParaRPr sz="1983"/>
          </a:p>
          <a:p>
            <a:pPr indent="-357822" lvl="1" marL="914400" rtl="0" algn="l">
              <a:spcBef>
                <a:spcPts val="1000"/>
              </a:spcBef>
              <a:spcAft>
                <a:spcPts val="0"/>
              </a:spcAft>
              <a:buSzPct val="100000"/>
              <a:buChar char="•"/>
            </a:pPr>
            <a:r>
              <a:rPr lang="en-US" sz="2200"/>
              <a:t>Data combination of EdX and Piazza</a:t>
            </a:r>
            <a:endParaRPr sz="2200"/>
          </a:p>
          <a:p>
            <a:pPr indent="-357822" lvl="1" marL="914400" rtl="0" algn="l">
              <a:spcBef>
                <a:spcPts val="1000"/>
              </a:spcBef>
              <a:spcAft>
                <a:spcPts val="0"/>
              </a:spcAft>
              <a:buSzPct val="100000"/>
              <a:buChar char="•"/>
            </a:pPr>
            <a:r>
              <a:rPr lang="en-US" sz="2200"/>
              <a:t>Possible improvements: More data, cleaner extraction from Piazza itself (removing code segments etc)</a:t>
            </a:r>
            <a:endParaRPr sz="2200"/>
          </a:p>
          <a:p>
            <a:pPr indent="0" lvl="0" marL="914400" rtl="0" algn="l">
              <a:spcBef>
                <a:spcPts val="1000"/>
              </a:spcBef>
              <a:spcAft>
                <a:spcPts val="0"/>
              </a:spcAft>
              <a:buNone/>
            </a:pPr>
            <a:r>
              <a:t/>
            </a:r>
            <a:endParaRPr sz="2200"/>
          </a:p>
          <a:p>
            <a:pPr indent="-357822" lvl="0" marL="457200" rtl="0" algn="l">
              <a:spcBef>
                <a:spcPts val="1000"/>
              </a:spcBef>
              <a:spcAft>
                <a:spcPts val="0"/>
              </a:spcAft>
              <a:buSzPct val="78571"/>
              <a:buChar char="•"/>
            </a:pPr>
            <a:r>
              <a:rPr b="1" lang="en-US"/>
              <a:t>LIME approach to identify impact of individual words</a:t>
            </a:r>
            <a:endParaRPr b="1"/>
          </a:p>
        </p:txBody>
      </p:sp>
      <p:sp>
        <p:nvSpPr>
          <p:cNvPr id="151" name="Google Shape;151;gd37e389671_1_74"/>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Cognitive Presence modelling with BERT</a:t>
            </a:r>
            <a:endParaRPr/>
          </a:p>
        </p:txBody>
      </p:sp>
      <p:pic>
        <p:nvPicPr>
          <p:cNvPr id="152" name="Google Shape;152;gd37e389671_1_74"/>
          <p:cNvPicPr preferRelativeResize="0"/>
          <p:nvPr/>
        </p:nvPicPr>
        <p:blipFill>
          <a:blip r:embed="rId3">
            <a:alphaModFix/>
          </a:blip>
          <a:stretch>
            <a:fillRect/>
          </a:stretch>
        </p:blipFill>
        <p:spPr>
          <a:xfrm>
            <a:off x="9167800" y="4202400"/>
            <a:ext cx="1562125" cy="2655600"/>
          </a:xfrm>
          <a:prstGeom prst="rect">
            <a:avLst/>
          </a:prstGeom>
          <a:noFill/>
          <a:ln>
            <a:noFill/>
          </a:ln>
        </p:spPr>
      </p:pic>
      <p:pic>
        <p:nvPicPr>
          <p:cNvPr id="153" name="Google Shape;153;gd37e389671_1_74"/>
          <p:cNvPicPr preferRelativeResize="0"/>
          <p:nvPr/>
        </p:nvPicPr>
        <p:blipFill>
          <a:blip r:embed="rId4">
            <a:alphaModFix/>
          </a:blip>
          <a:stretch>
            <a:fillRect/>
          </a:stretch>
        </p:blipFill>
        <p:spPr>
          <a:xfrm>
            <a:off x="1009650" y="4438675"/>
            <a:ext cx="4827632" cy="1014900"/>
          </a:xfrm>
          <a:prstGeom prst="rect">
            <a:avLst/>
          </a:prstGeom>
          <a:noFill/>
          <a:ln>
            <a:noFill/>
          </a:ln>
        </p:spPr>
      </p:pic>
      <p:sp>
        <p:nvSpPr>
          <p:cNvPr id="154" name="Google Shape;154;gd37e389671_1_74"/>
          <p:cNvSpPr txBox="1"/>
          <p:nvPr/>
        </p:nvSpPr>
        <p:spPr>
          <a:xfrm>
            <a:off x="1009650" y="5772150"/>
            <a:ext cx="444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latin typeface="Roboto"/>
                <a:ea typeface="Roboto"/>
                <a:cs typeface="Roboto"/>
                <a:sym typeface="Roboto"/>
              </a:rPr>
              <a:t>Predicted Class: 3 (with 0.6 probability)</a:t>
            </a:r>
            <a:endParaRPr b="1" sz="1800">
              <a:latin typeface="Roboto"/>
              <a:ea typeface="Roboto"/>
              <a:cs typeface="Roboto"/>
              <a:sym typeface="Roboto"/>
            </a:endParaRPr>
          </a:p>
        </p:txBody>
      </p:sp>
      <p:sp>
        <p:nvSpPr>
          <p:cNvPr id="155" name="Google Shape;155;gd37e389671_1_74"/>
          <p:cNvSpPr txBox="1"/>
          <p:nvPr/>
        </p:nvSpPr>
        <p:spPr>
          <a:xfrm>
            <a:off x="7000900" y="4743450"/>
            <a:ext cx="14574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latin typeface="Roboto"/>
                <a:ea typeface="Roboto"/>
                <a:cs typeface="Roboto"/>
                <a:sym typeface="Roboto"/>
              </a:rPr>
              <a:t>Words impacting the decision of the model</a:t>
            </a:r>
            <a:endParaRPr sz="1600">
              <a:latin typeface="Roboto"/>
              <a:ea typeface="Roboto"/>
              <a:cs typeface="Roboto"/>
              <a:sym typeface="Roboto"/>
            </a:endParaRPr>
          </a:p>
        </p:txBody>
      </p:sp>
      <p:sp>
        <p:nvSpPr>
          <p:cNvPr id="156" name="Google Shape;156;gd37e389671_1_74"/>
          <p:cNvSpPr/>
          <p:nvPr/>
        </p:nvSpPr>
        <p:spPr>
          <a:xfrm>
            <a:off x="8639200" y="5201850"/>
            <a:ext cx="528600" cy="252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d37e389671_0_3"/>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Why do we care?</a:t>
            </a:r>
            <a:endParaRPr/>
          </a:p>
        </p:txBody>
      </p:sp>
      <p:sp>
        <p:nvSpPr>
          <p:cNvPr id="162" name="Google Shape;162;gd37e389671_0_3"/>
          <p:cNvSpPr txBox="1"/>
          <p:nvPr/>
        </p:nvSpPr>
        <p:spPr>
          <a:xfrm>
            <a:off x="588950" y="5322450"/>
            <a:ext cx="1122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latin typeface="Roboto"/>
                <a:ea typeface="Roboto"/>
                <a:cs typeface="Roboto"/>
                <a:sym typeface="Roboto"/>
              </a:rPr>
              <a:t>https://canvas.ucdavis.edu/courses/34528/pages/types-of-presence-cognitive-and-social-presence</a:t>
            </a:r>
            <a:endParaRPr sz="1800">
              <a:latin typeface="Roboto"/>
              <a:ea typeface="Roboto"/>
              <a:cs typeface="Roboto"/>
              <a:sym typeface="Roboto"/>
            </a:endParaRPr>
          </a:p>
        </p:txBody>
      </p:sp>
      <p:sp>
        <p:nvSpPr>
          <p:cNvPr id="163" name="Google Shape;163;gd37e389671_0_3"/>
          <p:cNvSpPr txBox="1"/>
          <p:nvPr/>
        </p:nvSpPr>
        <p:spPr>
          <a:xfrm>
            <a:off x="588950" y="1269525"/>
            <a:ext cx="10849800" cy="3627300"/>
          </a:xfrm>
          <a:prstGeom prst="rect">
            <a:avLst/>
          </a:prstGeom>
          <a:noFill/>
          <a:ln>
            <a:noFill/>
          </a:ln>
        </p:spPr>
        <p:txBody>
          <a:bodyPr anchorCtr="0" anchor="t" bIns="91425" lIns="91425" spcFirstLastPara="1" rIns="91425" wrap="square" tIns="91425">
            <a:spAutoFit/>
          </a:bodyPr>
          <a:lstStyle/>
          <a:p>
            <a:pPr indent="-406400" lvl="0" marL="457200" rtl="0" algn="l">
              <a:spcBef>
                <a:spcPts val="0"/>
              </a:spcBef>
              <a:spcAft>
                <a:spcPts val="0"/>
              </a:spcAft>
              <a:buSzPts val="2800"/>
              <a:buFont typeface="Roboto"/>
              <a:buChar char="●"/>
            </a:pPr>
            <a:r>
              <a:rPr lang="en-US" sz="2800">
                <a:latin typeface="Roboto"/>
                <a:ea typeface="Roboto"/>
                <a:cs typeface="Roboto"/>
                <a:sym typeface="Roboto"/>
              </a:rPr>
              <a:t>Cognitive Presence Use Cases:</a:t>
            </a:r>
            <a:endParaRPr sz="2800">
              <a:latin typeface="Roboto"/>
              <a:ea typeface="Roboto"/>
              <a:cs typeface="Roboto"/>
              <a:sym typeface="Roboto"/>
            </a:endParaRPr>
          </a:p>
          <a:p>
            <a:pPr indent="-368300" lvl="1" marL="914400" rtl="0" algn="l">
              <a:spcBef>
                <a:spcPts val="1000"/>
              </a:spcBef>
              <a:spcAft>
                <a:spcPts val="0"/>
              </a:spcAft>
              <a:buSzPts val="2200"/>
              <a:buFont typeface="Roboto"/>
              <a:buChar char="○"/>
            </a:pPr>
            <a:r>
              <a:rPr lang="en-US" sz="2200">
                <a:latin typeface="Roboto"/>
                <a:ea typeface="Roboto"/>
                <a:cs typeface="Roboto"/>
                <a:sym typeface="Roboto"/>
              </a:rPr>
              <a:t>Confirming understanding of tasks</a:t>
            </a:r>
            <a:endParaRPr sz="2200">
              <a:latin typeface="Roboto"/>
              <a:ea typeface="Roboto"/>
              <a:cs typeface="Roboto"/>
              <a:sym typeface="Roboto"/>
            </a:endParaRPr>
          </a:p>
          <a:p>
            <a:pPr indent="-368300" lvl="1" marL="914400" rtl="0" algn="l">
              <a:spcBef>
                <a:spcPts val="1000"/>
              </a:spcBef>
              <a:spcAft>
                <a:spcPts val="0"/>
              </a:spcAft>
              <a:buSzPts val="2200"/>
              <a:buFont typeface="Roboto"/>
              <a:buChar char="○"/>
            </a:pPr>
            <a:r>
              <a:rPr lang="en-US" sz="2200">
                <a:latin typeface="Roboto"/>
                <a:ea typeface="Roboto"/>
                <a:cs typeface="Roboto"/>
                <a:sym typeface="Roboto"/>
              </a:rPr>
              <a:t>Assessing learning strategies and work processes and/or proposing corrections to those processes</a:t>
            </a:r>
            <a:endParaRPr sz="2200">
              <a:latin typeface="Roboto"/>
              <a:ea typeface="Roboto"/>
              <a:cs typeface="Roboto"/>
              <a:sym typeface="Roboto"/>
            </a:endParaRPr>
          </a:p>
          <a:p>
            <a:pPr indent="-368300" lvl="1" marL="914400" rtl="0" algn="l">
              <a:spcBef>
                <a:spcPts val="1000"/>
              </a:spcBef>
              <a:spcAft>
                <a:spcPts val="0"/>
              </a:spcAft>
              <a:buSzPts val="2200"/>
              <a:buFont typeface="Roboto"/>
              <a:buChar char="○"/>
            </a:pPr>
            <a:r>
              <a:rPr lang="en-US" sz="2200">
                <a:latin typeface="Roboto"/>
                <a:ea typeface="Roboto"/>
                <a:cs typeface="Roboto"/>
                <a:sym typeface="Roboto"/>
              </a:rPr>
              <a:t>Reminding others of tasks and encouraging them to focus on or contribute to tasks, resources, and activities</a:t>
            </a:r>
            <a:endParaRPr sz="2200">
              <a:latin typeface="Roboto"/>
              <a:ea typeface="Roboto"/>
              <a:cs typeface="Roboto"/>
              <a:sym typeface="Roboto"/>
            </a:endParaRPr>
          </a:p>
          <a:p>
            <a:pPr indent="-368300" lvl="1" marL="914400" rtl="0" algn="l">
              <a:spcBef>
                <a:spcPts val="1000"/>
              </a:spcBef>
              <a:spcAft>
                <a:spcPts val="0"/>
              </a:spcAft>
              <a:buSzPts val="2200"/>
              <a:buFont typeface="Roboto"/>
              <a:buChar char="○"/>
            </a:pPr>
            <a:r>
              <a:rPr lang="en-US" sz="2200">
                <a:latin typeface="Roboto"/>
                <a:ea typeface="Roboto"/>
                <a:cs typeface="Roboto"/>
                <a:sym typeface="Roboto"/>
              </a:rPr>
              <a:t>Helping with tasks, processes, or products of learning</a:t>
            </a:r>
            <a:endParaRPr sz="2200">
              <a:latin typeface="Roboto"/>
              <a:ea typeface="Roboto"/>
              <a:cs typeface="Roboto"/>
              <a:sym typeface="Roboto"/>
            </a:endParaRPr>
          </a:p>
          <a:p>
            <a:pPr indent="-368300" lvl="1" marL="914400" rtl="0" algn="l">
              <a:spcBef>
                <a:spcPts val="1000"/>
              </a:spcBef>
              <a:spcAft>
                <a:spcPts val="0"/>
              </a:spcAft>
              <a:buSzPts val="2200"/>
              <a:buFont typeface="Roboto"/>
              <a:buChar char="○"/>
            </a:pPr>
            <a:r>
              <a:rPr lang="en-US" sz="2200">
                <a:latin typeface="Roboto"/>
                <a:ea typeface="Roboto"/>
                <a:cs typeface="Roboto"/>
                <a:sym typeface="Roboto"/>
              </a:rPr>
              <a:t>Managing the movement through learning phases or tasks</a:t>
            </a:r>
            <a:endParaRPr sz="2200">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d48acb111b_0_5"/>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Social dimension of Cognitive Presence</a:t>
            </a:r>
            <a:endParaRPr/>
          </a:p>
        </p:txBody>
      </p:sp>
      <p:pic>
        <p:nvPicPr>
          <p:cNvPr id="169" name="Google Shape;169;gd48acb111b_0_5"/>
          <p:cNvPicPr preferRelativeResize="0"/>
          <p:nvPr/>
        </p:nvPicPr>
        <p:blipFill>
          <a:blip r:embed="rId3">
            <a:alphaModFix/>
          </a:blip>
          <a:stretch>
            <a:fillRect/>
          </a:stretch>
        </p:blipFill>
        <p:spPr>
          <a:xfrm>
            <a:off x="1038250" y="1115113"/>
            <a:ext cx="4205275" cy="2688900"/>
          </a:xfrm>
          <a:prstGeom prst="rect">
            <a:avLst/>
          </a:prstGeom>
          <a:noFill/>
          <a:ln>
            <a:noFill/>
          </a:ln>
        </p:spPr>
      </p:pic>
      <p:pic>
        <p:nvPicPr>
          <p:cNvPr id="170" name="Google Shape;170;gd48acb111b_0_5"/>
          <p:cNvPicPr preferRelativeResize="0"/>
          <p:nvPr/>
        </p:nvPicPr>
        <p:blipFill>
          <a:blip r:embed="rId4">
            <a:alphaModFix/>
          </a:blip>
          <a:stretch>
            <a:fillRect/>
          </a:stretch>
        </p:blipFill>
        <p:spPr>
          <a:xfrm>
            <a:off x="6200113" y="933350"/>
            <a:ext cx="4128175" cy="2870649"/>
          </a:xfrm>
          <a:prstGeom prst="rect">
            <a:avLst/>
          </a:prstGeom>
          <a:noFill/>
          <a:ln>
            <a:noFill/>
          </a:ln>
        </p:spPr>
      </p:pic>
      <p:pic>
        <p:nvPicPr>
          <p:cNvPr id="171" name="Google Shape;171;gd48acb111b_0_5"/>
          <p:cNvPicPr preferRelativeResize="0"/>
          <p:nvPr/>
        </p:nvPicPr>
        <p:blipFill>
          <a:blip r:embed="rId5">
            <a:alphaModFix/>
          </a:blip>
          <a:stretch>
            <a:fillRect/>
          </a:stretch>
        </p:blipFill>
        <p:spPr>
          <a:xfrm>
            <a:off x="6161550" y="3948588"/>
            <a:ext cx="4205276" cy="2710824"/>
          </a:xfrm>
          <a:prstGeom prst="rect">
            <a:avLst/>
          </a:prstGeom>
          <a:noFill/>
          <a:ln>
            <a:noFill/>
          </a:ln>
        </p:spPr>
      </p:pic>
      <p:pic>
        <p:nvPicPr>
          <p:cNvPr id="172" name="Google Shape;172;gd48acb111b_0_5"/>
          <p:cNvPicPr preferRelativeResize="0"/>
          <p:nvPr/>
        </p:nvPicPr>
        <p:blipFill>
          <a:blip r:embed="rId6">
            <a:alphaModFix/>
          </a:blip>
          <a:stretch>
            <a:fillRect/>
          </a:stretch>
        </p:blipFill>
        <p:spPr>
          <a:xfrm>
            <a:off x="1076800" y="3929412"/>
            <a:ext cx="4128173" cy="2749188"/>
          </a:xfrm>
          <a:prstGeom prst="rect">
            <a:avLst/>
          </a:prstGeom>
          <a:noFill/>
          <a:ln>
            <a:noFill/>
          </a:ln>
        </p:spPr>
      </p:pic>
      <p:sp>
        <p:nvSpPr>
          <p:cNvPr id="173" name="Google Shape;173;gd48acb111b_0_5"/>
          <p:cNvSpPr txBox="1"/>
          <p:nvPr/>
        </p:nvSpPr>
        <p:spPr>
          <a:xfrm>
            <a:off x="2414750" y="3675400"/>
            <a:ext cx="2685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Roboto"/>
                <a:ea typeface="Roboto"/>
                <a:cs typeface="Roboto"/>
                <a:sym typeface="Roboto"/>
              </a:rPr>
              <a:t>Users in sorted order</a:t>
            </a:r>
            <a:endParaRPr b="1" sz="1200">
              <a:latin typeface="Roboto"/>
              <a:ea typeface="Roboto"/>
              <a:cs typeface="Roboto"/>
              <a:sym typeface="Roboto"/>
            </a:endParaRPr>
          </a:p>
        </p:txBody>
      </p:sp>
      <p:sp>
        <p:nvSpPr>
          <p:cNvPr id="174" name="Google Shape;174;gd48acb111b_0_5"/>
          <p:cNvSpPr txBox="1"/>
          <p:nvPr/>
        </p:nvSpPr>
        <p:spPr>
          <a:xfrm>
            <a:off x="1957538" y="6504475"/>
            <a:ext cx="2685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Roboto"/>
                <a:ea typeface="Roboto"/>
                <a:cs typeface="Roboto"/>
                <a:sym typeface="Roboto"/>
              </a:rPr>
              <a:t>Cognitive presence - Original post</a:t>
            </a:r>
            <a:endParaRPr b="1" sz="1200">
              <a:latin typeface="Roboto"/>
              <a:ea typeface="Roboto"/>
              <a:cs typeface="Roboto"/>
              <a:sym typeface="Roboto"/>
            </a:endParaRPr>
          </a:p>
        </p:txBody>
      </p:sp>
      <p:sp>
        <p:nvSpPr>
          <p:cNvPr id="175" name="Google Shape;175;gd48acb111b_0_5"/>
          <p:cNvSpPr txBox="1"/>
          <p:nvPr/>
        </p:nvSpPr>
        <p:spPr>
          <a:xfrm>
            <a:off x="7232175" y="6504475"/>
            <a:ext cx="2685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Roboto"/>
                <a:ea typeface="Roboto"/>
                <a:cs typeface="Roboto"/>
                <a:sym typeface="Roboto"/>
              </a:rPr>
              <a:t>Cognitive Presence - Original post</a:t>
            </a:r>
            <a:endParaRPr b="1" sz="1200">
              <a:latin typeface="Roboto"/>
              <a:ea typeface="Roboto"/>
              <a:cs typeface="Roboto"/>
              <a:sym typeface="Roboto"/>
            </a:endParaRPr>
          </a:p>
        </p:txBody>
      </p:sp>
      <p:sp>
        <p:nvSpPr>
          <p:cNvPr id="176" name="Google Shape;176;gd48acb111b_0_5"/>
          <p:cNvSpPr txBox="1"/>
          <p:nvPr/>
        </p:nvSpPr>
        <p:spPr>
          <a:xfrm rot="-5400000">
            <a:off x="-420625" y="5017650"/>
            <a:ext cx="2889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Roboto"/>
                <a:ea typeface="Roboto"/>
                <a:cs typeface="Roboto"/>
                <a:sym typeface="Roboto"/>
              </a:rPr>
              <a:t>Mean </a:t>
            </a:r>
            <a:r>
              <a:rPr b="1" lang="en-US" sz="1200">
                <a:latin typeface="Roboto"/>
                <a:ea typeface="Roboto"/>
                <a:cs typeface="Roboto"/>
                <a:sym typeface="Roboto"/>
              </a:rPr>
              <a:t>Cognitive presence - Comments</a:t>
            </a:r>
            <a:endParaRPr b="1" sz="1200">
              <a:latin typeface="Roboto"/>
              <a:ea typeface="Roboto"/>
              <a:cs typeface="Roboto"/>
              <a:sym typeface="Roboto"/>
            </a:endParaRPr>
          </a:p>
        </p:txBody>
      </p:sp>
      <p:sp>
        <p:nvSpPr>
          <p:cNvPr id="177" name="Google Shape;177;gd48acb111b_0_5"/>
          <p:cNvSpPr txBox="1"/>
          <p:nvPr/>
        </p:nvSpPr>
        <p:spPr>
          <a:xfrm rot="-5400000">
            <a:off x="249425" y="2301988"/>
            <a:ext cx="1549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Roboto"/>
                <a:ea typeface="Roboto"/>
                <a:cs typeface="Roboto"/>
                <a:sym typeface="Roboto"/>
              </a:rPr>
              <a:t>Posts made by user</a:t>
            </a:r>
            <a:endParaRPr b="1" sz="1200">
              <a:latin typeface="Roboto"/>
              <a:ea typeface="Roboto"/>
              <a:cs typeface="Roboto"/>
              <a:sym typeface="Roboto"/>
            </a:endParaRPr>
          </a:p>
        </p:txBody>
      </p:sp>
      <p:sp>
        <p:nvSpPr>
          <p:cNvPr id="178" name="Google Shape;178;gd48acb111b_0_5"/>
          <p:cNvSpPr txBox="1"/>
          <p:nvPr/>
        </p:nvSpPr>
        <p:spPr>
          <a:xfrm>
            <a:off x="6819538" y="3560100"/>
            <a:ext cx="2889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Roboto"/>
                <a:ea typeface="Roboto"/>
                <a:cs typeface="Roboto"/>
                <a:sym typeface="Roboto"/>
              </a:rPr>
              <a:t>Mean Cognitive presence - Comments</a:t>
            </a:r>
            <a:endParaRPr b="1" sz="1200">
              <a:latin typeface="Roboto"/>
              <a:ea typeface="Roboto"/>
              <a:cs typeface="Roboto"/>
              <a:sym typeface="Roboto"/>
            </a:endParaRPr>
          </a:p>
        </p:txBody>
      </p:sp>
      <p:sp>
        <p:nvSpPr>
          <p:cNvPr id="179" name="Google Shape;179;gd48acb111b_0_5"/>
          <p:cNvSpPr txBox="1"/>
          <p:nvPr/>
        </p:nvSpPr>
        <p:spPr>
          <a:xfrm rot="-5400000">
            <a:off x="5323950" y="2001776"/>
            <a:ext cx="1728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200">
                <a:solidFill>
                  <a:schemeClr val="dk1"/>
                </a:solidFill>
                <a:latin typeface="Roboto"/>
                <a:ea typeface="Roboto"/>
                <a:cs typeface="Roboto"/>
                <a:sym typeface="Roboto"/>
              </a:rPr>
              <a:t>Number of comments</a:t>
            </a:r>
            <a:endParaRPr b="1" sz="1200">
              <a:solidFill>
                <a:schemeClr val="dk1"/>
              </a:solidFill>
              <a:latin typeface="Roboto"/>
              <a:ea typeface="Roboto"/>
              <a:cs typeface="Roboto"/>
              <a:sym typeface="Roboto"/>
            </a:endParaRPr>
          </a:p>
          <a:p>
            <a:pPr indent="0" lvl="0" marL="0" rtl="0" algn="l">
              <a:spcBef>
                <a:spcPts val="0"/>
              </a:spcBef>
              <a:spcAft>
                <a:spcPts val="0"/>
              </a:spcAft>
              <a:buNone/>
            </a:pPr>
            <a:r>
              <a:t/>
            </a:r>
            <a:endParaRPr b="1" sz="1200">
              <a:latin typeface="Roboto"/>
              <a:ea typeface="Roboto"/>
              <a:cs typeface="Roboto"/>
              <a:sym typeface="Roboto"/>
            </a:endParaRPr>
          </a:p>
        </p:txBody>
      </p:sp>
      <p:sp>
        <p:nvSpPr>
          <p:cNvPr id="180" name="Google Shape;180;gd48acb111b_0_5"/>
          <p:cNvSpPr txBox="1"/>
          <p:nvPr/>
        </p:nvSpPr>
        <p:spPr>
          <a:xfrm rot="-5400000">
            <a:off x="5229300" y="5017650"/>
            <a:ext cx="1733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Roboto"/>
                <a:ea typeface="Roboto"/>
                <a:cs typeface="Roboto"/>
                <a:sym typeface="Roboto"/>
              </a:rPr>
              <a:t>Number of comments</a:t>
            </a:r>
            <a:endParaRPr b="1" sz="1200">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d48acb111b_0_10"/>
          <p:cNvSpPr txBox="1"/>
          <p:nvPr>
            <p:ph idx="1" type="body"/>
          </p:nvPr>
        </p:nvSpPr>
        <p:spPr>
          <a:xfrm>
            <a:off x="381000" y="1215475"/>
            <a:ext cx="11430000" cy="4828200"/>
          </a:xfrm>
          <a:prstGeom prst="rect">
            <a:avLst/>
          </a:prstGeom>
        </p:spPr>
        <p:txBody>
          <a:bodyPr anchorCtr="0" anchor="t" bIns="45700" lIns="91425" spcFirstLastPara="1" rIns="91425" wrap="square" tIns="45700">
            <a:normAutofit fontScale="70000" lnSpcReduction="20000"/>
          </a:bodyPr>
          <a:lstStyle/>
          <a:p>
            <a:pPr indent="-308610" lvl="0" marL="457200" rtl="0" algn="l">
              <a:spcBef>
                <a:spcPts val="1000"/>
              </a:spcBef>
              <a:spcAft>
                <a:spcPts val="0"/>
              </a:spcAft>
              <a:buSzPct val="64285"/>
              <a:buChar char="•"/>
            </a:pPr>
            <a:r>
              <a:rPr b="1" lang="en-US"/>
              <a:t>Discussion forums study in isolation has a large sampling bias:</a:t>
            </a:r>
            <a:endParaRPr b="1"/>
          </a:p>
          <a:p>
            <a:pPr indent="-299719" lvl="1" marL="914400" rtl="0" algn="l">
              <a:spcBef>
                <a:spcPts val="1000"/>
              </a:spcBef>
              <a:spcAft>
                <a:spcPts val="0"/>
              </a:spcAft>
              <a:buSzPct val="72727"/>
              <a:buChar char="•"/>
            </a:pPr>
            <a:r>
              <a:rPr lang="en-US" sz="2200"/>
              <a:t>We’re only considering students who actively participate in the forums</a:t>
            </a:r>
            <a:endParaRPr sz="2200"/>
          </a:p>
          <a:p>
            <a:pPr indent="-299719" lvl="1" marL="914400" rtl="0" algn="l">
              <a:spcBef>
                <a:spcPts val="1000"/>
              </a:spcBef>
              <a:spcAft>
                <a:spcPts val="0"/>
              </a:spcAft>
              <a:buSzPct val="72727"/>
              <a:buChar char="•"/>
            </a:pPr>
            <a:r>
              <a:rPr lang="en-US" sz="2200"/>
              <a:t>Ideas to explore further:</a:t>
            </a:r>
            <a:endParaRPr sz="2200"/>
          </a:p>
          <a:p>
            <a:pPr indent="-317500" lvl="2" marL="1371600" rtl="0" algn="l">
              <a:lnSpc>
                <a:spcPct val="115000"/>
              </a:lnSpc>
              <a:spcBef>
                <a:spcPts val="1000"/>
              </a:spcBef>
              <a:spcAft>
                <a:spcPts val="0"/>
              </a:spcAft>
              <a:buSzPct val="100000"/>
              <a:buChar char="•"/>
            </a:pPr>
            <a:r>
              <a:rPr lang="en-US"/>
              <a:t>Threads talking about frustration regarding a particular course aspect seem to achieve highest participation if that sentiment is shared by many students</a:t>
            </a:r>
            <a:endParaRPr/>
          </a:p>
          <a:p>
            <a:pPr indent="-317500" lvl="2" marL="1371600" rtl="0" algn="l">
              <a:spcBef>
                <a:spcPts val="1000"/>
              </a:spcBef>
              <a:spcAft>
                <a:spcPts val="0"/>
              </a:spcAft>
              <a:buSzPct val="100000"/>
              <a:buChar char="•"/>
            </a:pPr>
            <a:r>
              <a:rPr lang="en-US"/>
              <a:t>Hard to know when to get involved in discussion in an asynchronous forum</a:t>
            </a:r>
            <a:endParaRPr/>
          </a:p>
          <a:p>
            <a:pPr indent="-317500" lvl="3" marL="1828800" rtl="0" algn="l">
              <a:spcBef>
                <a:spcPts val="1000"/>
              </a:spcBef>
              <a:spcAft>
                <a:spcPts val="0"/>
              </a:spcAft>
              <a:buSzPct val="100000"/>
              <a:buChar char="•"/>
            </a:pPr>
            <a:r>
              <a:rPr lang="en-US" sz="2000"/>
              <a:t>The design of Piazza makes it even harder. Reddit is better in that regard</a:t>
            </a:r>
            <a:endParaRPr sz="2000"/>
          </a:p>
          <a:p>
            <a:pPr indent="-317500" lvl="2" marL="1371600" rtl="0" algn="l">
              <a:spcBef>
                <a:spcPts val="1000"/>
              </a:spcBef>
              <a:spcAft>
                <a:spcPts val="0"/>
              </a:spcAft>
              <a:buSzPct val="100000"/>
              <a:buChar char="•"/>
            </a:pPr>
            <a:r>
              <a:rPr lang="en-US"/>
              <a:t>Triggers that can help initiate meaningful discussions</a:t>
            </a:r>
            <a:endParaRPr/>
          </a:p>
          <a:p>
            <a:pPr indent="-317500" lvl="3" marL="1828800" rtl="0" algn="l">
              <a:spcBef>
                <a:spcPts val="1000"/>
              </a:spcBef>
              <a:spcAft>
                <a:spcPts val="0"/>
              </a:spcAft>
              <a:buSzPct val="100000"/>
              <a:buChar char="•"/>
            </a:pPr>
            <a:r>
              <a:rPr lang="en-US" sz="2000"/>
              <a:t>Peer-feedback is one example, Polls by instructors can be another</a:t>
            </a:r>
            <a:endParaRPr sz="2000"/>
          </a:p>
          <a:p>
            <a:pPr indent="-317500" lvl="2" marL="1371600" rtl="0" algn="l">
              <a:lnSpc>
                <a:spcPct val="115000"/>
              </a:lnSpc>
              <a:spcBef>
                <a:spcPts val="1000"/>
              </a:spcBef>
              <a:spcAft>
                <a:spcPts val="0"/>
              </a:spcAft>
              <a:buSzPct val="100000"/>
              <a:buChar char="•"/>
            </a:pPr>
            <a:r>
              <a:rPr lang="en-US"/>
              <a:t>Higher cognitive engagement in forum discussions potentially isolating for students facing difficulty with the course. Potential ways to make these threads more inclusive.</a:t>
            </a:r>
            <a:endParaRPr/>
          </a:p>
          <a:p>
            <a:pPr indent="-308610" lvl="1" marL="914400" rtl="0" algn="l">
              <a:lnSpc>
                <a:spcPct val="115000"/>
              </a:lnSpc>
              <a:spcBef>
                <a:spcPts val="1000"/>
              </a:spcBef>
              <a:spcAft>
                <a:spcPts val="0"/>
              </a:spcAft>
              <a:buSzPct val="75000"/>
              <a:buChar char="•"/>
            </a:pPr>
            <a:r>
              <a:rPr lang="en-US"/>
              <a:t>Need to engage more actively with instructors and course designers to identify next steps</a:t>
            </a:r>
            <a:endParaRPr/>
          </a:p>
          <a:p>
            <a:pPr indent="0" lvl="0" marL="0" rtl="0" algn="l">
              <a:lnSpc>
                <a:spcPct val="115000"/>
              </a:lnSpc>
              <a:spcBef>
                <a:spcPts val="1000"/>
              </a:spcBef>
              <a:spcAft>
                <a:spcPts val="0"/>
              </a:spcAft>
              <a:buNone/>
            </a:pPr>
            <a:r>
              <a:t/>
            </a:r>
            <a:endParaRPr/>
          </a:p>
          <a:p>
            <a:pPr indent="-308610" lvl="0" marL="457200" rtl="0" algn="l">
              <a:spcBef>
                <a:spcPts val="1000"/>
              </a:spcBef>
              <a:spcAft>
                <a:spcPts val="0"/>
              </a:spcAft>
              <a:buSzPct val="64285"/>
              <a:buChar char="•"/>
            </a:pPr>
            <a:r>
              <a:rPr b="1" lang="en-US"/>
              <a:t>Method of data collection needs to be improved:</a:t>
            </a:r>
            <a:r>
              <a:rPr lang="en-US"/>
              <a:t> </a:t>
            </a:r>
            <a:endParaRPr/>
          </a:p>
          <a:p>
            <a:pPr indent="-299719" lvl="1" marL="914400" rtl="0" algn="l">
              <a:spcBef>
                <a:spcPts val="1000"/>
              </a:spcBef>
              <a:spcAft>
                <a:spcPts val="0"/>
              </a:spcAft>
              <a:buSzPct val="72727"/>
              <a:buChar char="•"/>
            </a:pPr>
            <a:r>
              <a:rPr lang="en-US" sz="2200"/>
              <a:t>Code segments and other unnecessary parts should be removed using tags.</a:t>
            </a:r>
            <a:endParaRPr sz="2200"/>
          </a:p>
          <a:p>
            <a:pPr indent="-326390" lvl="1" marL="914400" rtl="0" algn="l">
              <a:spcBef>
                <a:spcPts val="1000"/>
              </a:spcBef>
              <a:spcAft>
                <a:spcPts val="0"/>
              </a:spcAft>
              <a:buSzPct val="100000"/>
              <a:buChar char="•"/>
            </a:pPr>
            <a:r>
              <a:rPr lang="en-US" sz="2200"/>
              <a:t>Can take suggestions from the PARQR team</a:t>
            </a:r>
            <a:endParaRPr sz="2200"/>
          </a:p>
        </p:txBody>
      </p:sp>
      <p:sp>
        <p:nvSpPr>
          <p:cNvPr id="186" name="Google Shape;186;gd48acb111b_0_1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Challenges and research questions to explore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d05ebe3893_0_0"/>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n-US"/>
              <a:t>Survey composition: </a:t>
            </a:r>
            <a:endParaRPr b="1"/>
          </a:p>
          <a:p>
            <a:pPr indent="-304800" lvl="0" marL="457200" rtl="0" algn="l">
              <a:spcBef>
                <a:spcPts val="1000"/>
              </a:spcBef>
              <a:spcAft>
                <a:spcPts val="0"/>
              </a:spcAft>
              <a:buSzPts val="1200"/>
              <a:buChar char="•"/>
            </a:pPr>
            <a:r>
              <a:rPr lang="en-US" sz="2200"/>
              <a:t>26 responses, 4 lead instructors and 22 TA’s</a:t>
            </a:r>
            <a:endParaRPr sz="2200"/>
          </a:p>
          <a:p>
            <a:pPr indent="-304800" lvl="0" marL="457200" rtl="0" algn="l">
              <a:spcBef>
                <a:spcPts val="1000"/>
              </a:spcBef>
              <a:spcAft>
                <a:spcPts val="0"/>
              </a:spcAft>
              <a:buSzPts val="1200"/>
              <a:buChar char="•"/>
            </a:pPr>
            <a:r>
              <a:rPr lang="en-US" sz="2200"/>
              <a:t>17 responses are TAs from CS courses (CS 1301, CS 1332, CS 2340, CS 3510, and CS 4510)</a:t>
            </a:r>
            <a:endParaRPr sz="2200"/>
          </a:p>
          <a:p>
            <a:pPr indent="0" lvl="0" marL="0" rtl="0" algn="l">
              <a:spcBef>
                <a:spcPts val="1000"/>
              </a:spcBef>
              <a:spcAft>
                <a:spcPts val="0"/>
              </a:spcAft>
              <a:buClr>
                <a:schemeClr val="dk1"/>
              </a:buClr>
              <a:buSzPts val="1100"/>
              <a:buFont typeface="Arial"/>
              <a:buNone/>
            </a:pPr>
            <a:r>
              <a:rPr b="1" lang="en-US"/>
              <a:t>Use cases of metrics from Piazza:</a:t>
            </a:r>
            <a:endParaRPr b="1"/>
          </a:p>
          <a:p>
            <a:pPr indent="-304800" lvl="0" marL="457200" rtl="0" algn="l">
              <a:spcBef>
                <a:spcPts val="1000"/>
              </a:spcBef>
              <a:spcAft>
                <a:spcPts val="0"/>
              </a:spcAft>
              <a:buSzPts val="1200"/>
              <a:buChar char="•"/>
            </a:pPr>
            <a:r>
              <a:rPr lang="en-US" sz="2200"/>
              <a:t>Identifying students who contribute often with good posts as potential TAs, to giv</a:t>
            </a:r>
            <a:r>
              <a:rPr lang="en-US" sz="2200"/>
              <a:t>e</a:t>
            </a:r>
            <a:r>
              <a:rPr lang="en-US" sz="2200"/>
              <a:t> bonus points, or as a participation grade</a:t>
            </a:r>
            <a:endParaRPr sz="2200"/>
          </a:p>
          <a:p>
            <a:pPr indent="-304800" lvl="0" marL="457200" rtl="0" algn="l">
              <a:spcBef>
                <a:spcPts val="1000"/>
              </a:spcBef>
              <a:spcAft>
                <a:spcPts val="0"/>
              </a:spcAft>
              <a:buSzPts val="1200"/>
              <a:buChar char="•"/>
            </a:pPr>
            <a:r>
              <a:rPr lang="en-US" sz="2200"/>
              <a:t>Identifying </a:t>
            </a:r>
            <a:r>
              <a:rPr lang="en-US" sz="2200"/>
              <a:t>struggling</a:t>
            </a:r>
            <a:r>
              <a:rPr lang="en-US" sz="2200"/>
              <a:t> students with questions each week</a:t>
            </a:r>
            <a:endParaRPr sz="2200"/>
          </a:p>
          <a:p>
            <a:pPr indent="-304800" lvl="0" marL="457200" rtl="0" algn="l">
              <a:spcBef>
                <a:spcPts val="1000"/>
              </a:spcBef>
              <a:spcAft>
                <a:spcPts val="0"/>
              </a:spcAft>
              <a:buSzPts val="1200"/>
              <a:buChar char="•"/>
            </a:pPr>
            <a:r>
              <a:rPr lang="en-US" sz="2200"/>
              <a:t>Finding common topics that students are struggling with</a:t>
            </a:r>
            <a:endParaRPr sz="2200"/>
          </a:p>
          <a:p>
            <a:pPr indent="-304800" lvl="0" marL="457200" rtl="0" algn="l">
              <a:spcBef>
                <a:spcPts val="1000"/>
              </a:spcBef>
              <a:spcAft>
                <a:spcPts val="0"/>
              </a:spcAft>
              <a:buSzPts val="1200"/>
              <a:buChar char="•"/>
            </a:pPr>
            <a:r>
              <a:rPr lang="en-US" sz="2200"/>
              <a:t>Gauge of class </a:t>
            </a:r>
            <a:r>
              <a:rPr lang="en-US" sz="2200"/>
              <a:t>activity</a:t>
            </a:r>
            <a:r>
              <a:rPr lang="en-US" sz="2200"/>
              <a:t> &amp; morale</a:t>
            </a:r>
            <a:endParaRPr sz="2200"/>
          </a:p>
          <a:p>
            <a:pPr indent="-304800" lvl="0" marL="457200" rtl="0" algn="l">
              <a:spcBef>
                <a:spcPts val="1000"/>
              </a:spcBef>
              <a:spcAft>
                <a:spcPts val="1000"/>
              </a:spcAft>
              <a:buSzPts val="1200"/>
              <a:buChar char="•"/>
            </a:pPr>
            <a:r>
              <a:rPr lang="en-US" sz="2200"/>
              <a:t>Increasing instructor presence and distributing workload across TAs</a:t>
            </a:r>
            <a:endParaRPr sz="2200"/>
          </a:p>
        </p:txBody>
      </p:sp>
      <p:sp>
        <p:nvSpPr>
          <p:cNvPr id="192" name="Google Shape;192;gd05ebe3893_0_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Survey Results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d05ebe3893_0_5"/>
          <p:cNvSpPr txBox="1"/>
          <p:nvPr>
            <p:ph idx="1" type="body"/>
          </p:nvPr>
        </p:nvSpPr>
        <p:spPr>
          <a:xfrm>
            <a:off x="381000" y="1215474"/>
            <a:ext cx="11430000" cy="5052300"/>
          </a:xfrm>
          <a:prstGeom prst="rect">
            <a:avLst/>
          </a:prstGeom>
        </p:spPr>
        <p:txBody>
          <a:bodyPr anchorCtr="0" anchor="t" bIns="45700" lIns="91425" spcFirstLastPara="1" rIns="91425" wrap="square" tIns="45700">
            <a:normAutofit/>
          </a:bodyPr>
          <a:lstStyle/>
          <a:p>
            <a:pPr indent="-406400" lvl="0" marL="457200" rtl="0" algn="l">
              <a:lnSpc>
                <a:spcPct val="115000"/>
              </a:lnSpc>
              <a:spcBef>
                <a:spcPts val="1000"/>
              </a:spcBef>
              <a:spcAft>
                <a:spcPts val="0"/>
              </a:spcAft>
              <a:buSzPts val="2800"/>
              <a:buChar char="•"/>
            </a:pPr>
            <a:r>
              <a:rPr b="1" lang="en-US"/>
              <a:t>Identifying students who contribute often with good posts as potential TAs, to give bonus points, or as a participation grade</a:t>
            </a:r>
            <a:endParaRPr b="1"/>
          </a:p>
          <a:p>
            <a:pPr indent="-330200" lvl="1" marL="914400" rtl="0" algn="l">
              <a:spcBef>
                <a:spcPts val="1000"/>
              </a:spcBef>
              <a:spcAft>
                <a:spcPts val="0"/>
              </a:spcAft>
              <a:buSzPts val="1600"/>
              <a:buChar char="•"/>
            </a:pPr>
            <a:r>
              <a:rPr lang="en-US" sz="2200"/>
              <a:t>Create a customizable “participation score”</a:t>
            </a:r>
            <a:endParaRPr sz="2200"/>
          </a:p>
          <a:p>
            <a:pPr indent="-330200" lvl="1" marL="914400" rtl="0" algn="l">
              <a:spcBef>
                <a:spcPts val="1000"/>
              </a:spcBef>
              <a:spcAft>
                <a:spcPts val="0"/>
              </a:spcAft>
              <a:buSzPts val="1600"/>
              <a:buChar char="•"/>
            </a:pPr>
            <a:r>
              <a:rPr lang="en-US" sz="2200"/>
              <a:t>Display students with the highest participation score</a:t>
            </a:r>
            <a:endParaRPr sz="2200"/>
          </a:p>
          <a:p>
            <a:pPr indent="-330200" lvl="1" marL="914400" rtl="0" algn="l">
              <a:spcBef>
                <a:spcPts val="1000"/>
              </a:spcBef>
              <a:spcAft>
                <a:spcPts val="0"/>
              </a:spcAft>
              <a:buSzPts val="1600"/>
              <a:buChar char="•"/>
            </a:pPr>
            <a:r>
              <a:rPr lang="en-US" sz="2200"/>
              <a:t>Visualizations: Number of posts by user, cognitive presence by user, posts viewed by user, participation score by user</a:t>
            </a:r>
            <a:endParaRPr sz="2200"/>
          </a:p>
          <a:p>
            <a:pPr indent="-342900" lvl="0" marL="457200" rtl="0" algn="l">
              <a:spcBef>
                <a:spcPts val="1000"/>
              </a:spcBef>
              <a:spcAft>
                <a:spcPts val="0"/>
              </a:spcAft>
              <a:buSzPts val="1800"/>
              <a:buChar char="•"/>
            </a:pPr>
            <a:r>
              <a:rPr b="1" lang="en-US"/>
              <a:t>Identifying struggling students with questions each week</a:t>
            </a:r>
            <a:endParaRPr b="1"/>
          </a:p>
          <a:p>
            <a:pPr indent="-342900" lvl="0" marL="457200" rtl="0" algn="l">
              <a:spcBef>
                <a:spcPts val="0"/>
              </a:spcBef>
              <a:spcAft>
                <a:spcPts val="0"/>
              </a:spcAft>
              <a:buSzPts val="1800"/>
              <a:buChar char="•"/>
            </a:pPr>
            <a:r>
              <a:rPr b="1" lang="en-US"/>
              <a:t>Finding common topics that students are struggling with</a:t>
            </a:r>
            <a:endParaRPr sz="2200"/>
          </a:p>
          <a:p>
            <a:pPr indent="-330200" lvl="1" marL="914400" rtl="0" algn="l">
              <a:spcBef>
                <a:spcPts val="1000"/>
              </a:spcBef>
              <a:spcAft>
                <a:spcPts val="0"/>
              </a:spcAft>
              <a:buSzPts val="1600"/>
              <a:buChar char="•"/>
            </a:pPr>
            <a:r>
              <a:rPr lang="en-US" sz="2200"/>
              <a:t>Trending topic for this week</a:t>
            </a:r>
            <a:endParaRPr sz="2200"/>
          </a:p>
          <a:p>
            <a:pPr indent="-330200" lvl="1" marL="914400" rtl="0" algn="l">
              <a:spcBef>
                <a:spcPts val="1000"/>
              </a:spcBef>
              <a:spcAft>
                <a:spcPts val="0"/>
              </a:spcAft>
              <a:buSzPts val="1600"/>
              <a:buChar char="•"/>
            </a:pPr>
            <a:r>
              <a:rPr lang="en-US" sz="2200"/>
              <a:t>Links to posts with the most “good question marks”</a:t>
            </a:r>
            <a:endParaRPr sz="2200"/>
          </a:p>
          <a:p>
            <a:pPr indent="-330200" lvl="1" marL="914400" rtl="0" algn="l">
              <a:spcBef>
                <a:spcPts val="1000"/>
              </a:spcBef>
              <a:spcAft>
                <a:spcPts val="1000"/>
              </a:spcAft>
              <a:buSzPts val="1600"/>
              <a:buChar char="•"/>
            </a:pPr>
            <a:r>
              <a:rPr lang="en-US" sz="2200"/>
              <a:t>Number posts by folder</a:t>
            </a:r>
            <a:endParaRPr sz="2200"/>
          </a:p>
        </p:txBody>
      </p:sp>
      <p:sp>
        <p:nvSpPr>
          <p:cNvPr id="198" name="Google Shape;198;gd05ebe3893_0_5"/>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Visualization &amp; Metric Ideas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d05ebe3893_0_22"/>
          <p:cNvSpPr txBox="1"/>
          <p:nvPr>
            <p:ph idx="1" type="body"/>
          </p:nvPr>
        </p:nvSpPr>
        <p:spPr>
          <a:xfrm>
            <a:off x="381000" y="1215475"/>
            <a:ext cx="11363400" cy="45963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a:t>Gauge of class activity &amp; morale</a:t>
            </a:r>
            <a:endParaRPr b="1"/>
          </a:p>
          <a:p>
            <a:pPr indent="-342900" lvl="1" marL="914400" rtl="0" algn="l">
              <a:spcBef>
                <a:spcPts val="1000"/>
              </a:spcBef>
              <a:spcAft>
                <a:spcPts val="0"/>
              </a:spcAft>
              <a:buSzPts val="1800"/>
              <a:buChar char="•"/>
            </a:pPr>
            <a:r>
              <a:rPr lang="en-US"/>
              <a:t>Posts over time</a:t>
            </a:r>
            <a:endParaRPr/>
          </a:p>
          <a:p>
            <a:pPr indent="-342900" lvl="1" marL="914400" rtl="0" algn="l">
              <a:spcBef>
                <a:spcPts val="0"/>
              </a:spcBef>
              <a:spcAft>
                <a:spcPts val="0"/>
              </a:spcAft>
              <a:buSzPts val="1800"/>
              <a:buChar char="•"/>
            </a:pPr>
            <a:r>
              <a:rPr lang="en-US"/>
              <a:t>Sentiment over time</a:t>
            </a:r>
            <a:endParaRPr/>
          </a:p>
          <a:p>
            <a:pPr indent="-342900" lvl="1" marL="914400" rtl="0" algn="l">
              <a:spcBef>
                <a:spcPts val="0"/>
              </a:spcBef>
              <a:spcAft>
                <a:spcPts val="0"/>
              </a:spcAft>
              <a:buSzPts val="1800"/>
              <a:buChar char="•"/>
            </a:pPr>
            <a:r>
              <a:rPr lang="en-US"/>
              <a:t>Percentage of students that are always/sometimes/never active</a:t>
            </a:r>
            <a:endParaRPr/>
          </a:p>
          <a:p>
            <a:pPr indent="0" lvl="0" marL="914400" rtl="0" algn="l">
              <a:spcBef>
                <a:spcPts val="1000"/>
              </a:spcBef>
              <a:spcAft>
                <a:spcPts val="0"/>
              </a:spcAft>
              <a:buNone/>
            </a:pPr>
            <a:r>
              <a:t/>
            </a:r>
            <a:endParaRPr/>
          </a:p>
          <a:p>
            <a:pPr indent="-342900" lvl="0" marL="457200" rtl="0" algn="l">
              <a:spcBef>
                <a:spcPts val="1000"/>
              </a:spcBef>
              <a:spcAft>
                <a:spcPts val="0"/>
              </a:spcAft>
              <a:buSzPts val="1800"/>
              <a:buChar char="•"/>
            </a:pPr>
            <a:r>
              <a:rPr b="1" lang="en-US"/>
              <a:t>Increasing instructor presence, distributing workload among TAs</a:t>
            </a:r>
            <a:endParaRPr b="1"/>
          </a:p>
          <a:p>
            <a:pPr indent="-342900" lvl="1" marL="914400" rtl="0" algn="l">
              <a:spcBef>
                <a:spcPts val="1000"/>
              </a:spcBef>
              <a:spcAft>
                <a:spcPts val="0"/>
              </a:spcAft>
              <a:buSzPts val="1800"/>
              <a:buChar char="•"/>
            </a:pPr>
            <a:r>
              <a:rPr lang="en-US"/>
              <a:t>Number of posts answered by each TA</a:t>
            </a:r>
            <a:endParaRPr/>
          </a:p>
          <a:p>
            <a:pPr indent="-342900" lvl="1" marL="914400" rtl="0" algn="l">
              <a:spcBef>
                <a:spcPts val="0"/>
              </a:spcBef>
              <a:spcAft>
                <a:spcPts val="0"/>
              </a:spcAft>
              <a:buSzPts val="1800"/>
              <a:buChar char="•"/>
            </a:pPr>
            <a:r>
              <a:rPr lang="en-US"/>
              <a:t>Instructor response time by TA</a:t>
            </a:r>
            <a:endParaRPr/>
          </a:p>
        </p:txBody>
      </p:sp>
      <p:sp>
        <p:nvSpPr>
          <p:cNvPr id="204" name="Google Shape;204;gd05ebe3893_0_22"/>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Visualization &amp; Metric Ideas (contd.)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d05ebe3893_0_12"/>
          <p:cNvSpPr txBox="1"/>
          <p:nvPr>
            <p:ph idx="1" type="body"/>
          </p:nvPr>
        </p:nvSpPr>
        <p:spPr>
          <a:xfrm>
            <a:off x="381000" y="1215474"/>
            <a:ext cx="11430000" cy="5215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US"/>
              <a:t>Challenges:</a:t>
            </a:r>
            <a:endParaRPr b="1"/>
          </a:p>
          <a:p>
            <a:pPr indent="-342900" lvl="0" marL="457200" rtl="0" algn="l">
              <a:spcBef>
                <a:spcPts val="1000"/>
              </a:spcBef>
              <a:spcAft>
                <a:spcPts val="0"/>
              </a:spcAft>
              <a:buSzPts val="1800"/>
              <a:buChar char="•"/>
            </a:pPr>
            <a:r>
              <a:rPr lang="en-US"/>
              <a:t>Survey would have ideally been done earlier in the semester</a:t>
            </a:r>
            <a:endParaRPr/>
          </a:p>
          <a:p>
            <a:pPr indent="-342900" lvl="0" marL="457200" rtl="0" algn="l">
              <a:spcBef>
                <a:spcPts val="0"/>
              </a:spcBef>
              <a:spcAft>
                <a:spcPts val="0"/>
              </a:spcAft>
              <a:buSzPts val="1800"/>
              <a:buChar char="•"/>
            </a:pPr>
            <a:r>
              <a:rPr lang="en-US"/>
              <a:t>Disconnect between what professors and researchers want to know - metrics relevant for research may not be </a:t>
            </a:r>
            <a:r>
              <a:rPr lang="en-US"/>
              <a:t>useful</a:t>
            </a:r>
            <a:r>
              <a:rPr lang="en-US"/>
              <a:t> for instructors</a:t>
            </a:r>
            <a:endParaRPr/>
          </a:p>
          <a:p>
            <a:pPr indent="0" lvl="0" marL="0" rtl="0" algn="l">
              <a:spcBef>
                <a:spcPts val="1000"/>
              </a:spcBef>
              <a:spcAft>
                <a:spcPts val="0"/>
              </a:spcAft>
              <a:buNone/>
            </a:pPr>
            <a:r>
              <a:rPr b="1" lang="en-US"/>
              <a:t>Next steps:</a:t>
            </a:r>
            <a:endParaRPr b="1"/>
          </a:p>
          <a:p>
            <a:pPr indent="-342900" lvl="0" marL="457200" rtl="0" algn="l">
              <a:spcBef>
                <a:spcPts val="1000"/>
              </a:spcBef>
              <a:spcAft>
                <a:spcPts val="0"/>
              </a:spcAft>
              <a:buSzPts val="1800"/>
              <a:buChar char="•"/>
            </a:pPr>
            <a:r>
              <a:rPr lang="en-US"/>
              <a:t>Diversify sample for survey, conduct interviews</a:t>
            </a:r>
            <a:endParaRPr/>
          </a:p>
          <a:p>
            <a:pPr indent="-342900" lvl="0" marL="457200" rtl="0" algn="l">
              <a:spcBef>
                <a:spcPts val="0"/>
              </a:spcBef>
              <a:spcAft>
                <a:spcPts val="0"/>
              </a:spcAft>
              <a:buSzPts val="1800"/>
              <a:buChar char="•"/>
            </a:pPr>
            <a:r>
              <a:rPr lang="en-US"/>
              <a:t>Narrow down what metrics are useful</a:t>
            </a:r>
            <a:endParaRPr/>
          </a:p>
          <a:p>
            <a:pPr indent="-342900" lvl="0" marL="457200" rtl="0" algn="l">
              <a:spcBef>
                <a:spcPts val="0"/>
              </a:spcBef>
              <a:spcAft>
                <a:spcPts val="0"/>
              </a:spcAft>
              <a:buSzPts val="1800"/>
              <a:buChar char="•"/>
            </a:pPr>
            <a:r>
              <a:rPr lang="en-US"/>
              <a:t>Start implementing some metrics on the frontend</a:t>
            </a:r>
            <a:endParaRPr/>
          </a:p>
        </p:txBody>
      </p:sp>
      <p:sp>
        <p:nvSpPr>
          <p:cNvPr id="210" name="Google Shape;210;gd05ebe3893_0_12"/>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Challenges and Next Steps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d5ade9d3eb_1_0"/>
          <p:cNvSpPr txBox="1"/>
          <p:nvPr>
            <p:ph idx="1" type="body"/>
          </p:nvPr>
        </p:nvSpPr>
        <p:spPr>
          <a:xfrm>
            <a:off x="381000" y="1215475"/>
            <a:ext cx="11430000" cy="51408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b="1" lang="en-US"/>
              <a:t>Progress</a:t>
            </a:r>
            <a:r>
              <a:rPr lang="en-US"/>
              <a:t>:</a:t>
            </a:r>
            <a:endParaRPr/>
          </a:p>
          <a:p>
            <a:pPr indent="-342900" lvl="0" marL="457200" rtl="0" algn="l">
              <a:spcBef>
                <a:spcPts val="1000"/>
              </a:spcBef>
              <a:spcAft>
                <a:spcPts val="0"/>
              </a:spcAft>
              <a:buSzPts val="1800"/>
              <a:buChar char="•"/>
            </a:pPr>
            <a:r>
              <a:rPr lang="en-US"/>
              <a:t>Completed demo!</a:t>
            </a:r>
            <a:endParaRPr/>
          </a:p>
          <a:p>
            <a:pPr indent="-342900" lvl="1" marL="914400" rtl="0" algn="l">
              <a:spcBef>
                <a:spcPts val="0"/>
              </a:spcBef>
              <a:spcAft>
                <a:spcPts val="0"/>
              </a:spcAft>
              <a:buSzPts val="1800"/>
              <a:buChar char="•"/>
            </a:pPr>
            <a:r>
              <a:rPr lang="en-US"/>
              <a:t>First iteration of web-app</a:t>
            </a:r>
            <a:endParaRPr/>
          </a:p>
          <a:p>
            <a:pPr indent="0" lvl="0" marL="0" rtl="0" algn="l">
              <a:spcBef>
                <a:spcPts val="1000"/>
              </a:spcBef>
              <a:spcAft>
                <a:spcPts val="0"/>
              </a:spcAft>
              <a:buNone/>
            </a:pPr>
            <a:r>
              <a:rPr b="1" lang="en-US"/>
              <a:t>Challenges</a:t>
            </a:r>
            <a:r>
              <a:rPr lang="en-US"/>
              <a:t>:</a:t>
            </a:r>
            <a:endParaRPr/>
          </a:p>
          <a:p>
            <a:pPr indent="-342900" lvl="0" marL="457200" rtl="0" algn="l">
              <a:spcBef>
                <a:spcPts val="1000"/>
              </a:spcBef>
              <a:spcAft>
                <a:spcPts val="0"/>
              </a:spcAft>
              <a:buSzPts val="1800"/>
              <a:buChar char="•"/>
            </a:pPr>
            <a:r>
              <a:rPr lang="en-US"/>
              <a:t>Learning curve</a:t>
            </a:r>
            <a:endParaRPr/>
          </a:p>
          <a:p>
            <a:pPr indent="-342900" lvl="1" marL="914400" rtl="0" algn="l">
              <a:spcBef>
                <a:spcPts val="0"/>
              </a:spcBef>
              <a:spcAft>
                <a:spcPts val="0"/>
              </a:spcAft>
              <a:buSzPts val="1800"/>
              <a:buChar char="•"/>
            </a:pPr>
            <a:r>
              <a:rPr lang="en-US"/>
              <a:t>Many moving parts</a:t>
            </a:r>
            <a:endParaRPr/>
          </a:p>
          <a:p>
            <a:pPr indent="-342900" lvl="0" marL="457200" rtl="0" algn="l">
              <a:spcBef>
                <a:spcPts val="0"/>
              </a:spcBef>
              <a:spcAft>
                <a:spcPts val="0"/>
              </a:spcAft>
              <a:buSzPts val="1800"/>
              <a:buChar char="•"/>
            </a:pPr>
            <a:r>
              <a:rPr lang="en-US"/>
              <a:t>Setting goals</a:t>
            </a:r>
            <a:endParaRPr/>
          </a:p>
          <a:p>
            <a:pPr indent="-342900" lvl="1" marL="914400" rtl="0" algn="l">
              <a:spcBef>
                <a:spcPts val="0"/>
              </a:spcBef>
              <a:spcAft>
                <a:spcPts val="0"/>
              </a:spcAft>
              <a:buSzPts val="1800"/>
              <a:buChar char="•"/>
            </a:pPr>
            <a:r>
              <a:rPr lang="en-US"/>
              <a:t>Too ambitious vs. setting bar too low</a:t>
            </a:r>
            <a:endParaRPr/>
          </a:p>
          <a:p>
            <a:pPr indent="0" lvl="0" marL="0" rtl="0" algn="l">
              <a:spcBef>
                <a:spcPts val="1000"/>
              </a:spcBef>
              <a:spcAft>
                <a:spcPts val="0"/>
              </a:spcAft>
              <a:buNone/>
            </a:pPr>
            <a:r>
              <a:rPr b="1" lang="en-US"/>
              <a:t>Next Steps</a:t>
            </a:r>
            <a:r>
              <a:rPr lang="en-US"/>
              <a:t>:</a:t>
            </a:r>
            <a:endParaRPr/>
          </a:p>
          <a:p>
            <a:pPr indent="-342900" lvl="0" marL="457200" rtl="0" algn="l">
              <a:spcBef>
                <a:spcPts val="1000"/>
              </a:spcBef>
              <a:spcAft>
                <a:spcPts val="0"/>
              </a:spcAft>
              <a:buSzPts val="1800"/>
              <a:buChar char="•"/>
            </a:pPr>
            <a:r>
              <a:rPr lang="en-US"/>
              <a:t>Integrate real data</a:t>
            </a:r>
            <a:endParaRPr/>
          </a:p>
          <a:p>
            <a:pPr indent="-342900" lvl="0" marL="457200" rtl="0" algn="l">
              <a:spcBef>
                <a:spcPts val="0"/>
              </a:spcBef>
              <a:spcAft>
                <a:spcPts val="0"/>
              </a:spcAft>
              <a:buSzPts val="1800"/>
              <a:buChar char="•"/>
            </a:pPr>
            <a:r>
              <a:rPr lang="en-US"/>
              <a:t>Interview more professors</a:t>
            </a:r>
            <a:endParaRPr/>
          </a:p>
          <a:p>
            <a:pPr indent="-342900" lvl="0" marL="457200" rtl="0" algn="l">
              <a:spcBef>
                <a:spcPts val="0"/>
              </a:spcBef>
              <a:spcAft>
                <a:spcPts val="0"/>
              </a:spcAft>
              <a:buSzPts val="1800"/>
              <a:buChar char="•"/>
            </a:pPr>
            <a:r>
              <a:rPr lang="en-US"/>
              <a:t>Refine core features</a:t>
            </a:r>
            <a:endParaRPr/>
          </a:p>
          <a:p>
            <a:pPr indent="-342900" lvl="1" marL="914400" rtl="0" algn="l">
              <a:spcBef>
                <a:spcPts val="0"/>
              </a:spcBef>
              <a:spcAft>
                <a:spcPts val="0"/>
              </a:spcAft>
              <a:buSzPts val="1800"/>
              <a:buChar char="•"/>
            </a:pPr>
            <a:r>
              <a:rPr lang="en-US"/>
              <a:t>Plan advanced features</a:t>
            </a:r>
            <a:endParaRPr/>
          </a:p>
        </p:txBody>
      </p:sp>
      <p:sp>
        <p:nvSpPr>
          <p:cNvPr id="216" name="Google Shape;216;gd5ade9d3eb_1_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Web-Dev Team</a:t>
            </a:r>
            <a:endParaRPr/>
          </a:p>
        </p:txBody>
      </p:sp>
      <p:pic>
        <p:nvPicPr>
          <p:cNvPr id="217" name="Google Shape;217;gd5ade9d3eb_1_0"/>
          <p:cNvPicPr preferRelativeResize="0"/>
          <p:nvPr/>
        </p:nvPicPr>
        <p:blipFill>
          <a:blip r:embed="rId3">
            <a:alphaModFix/>
          </a:blip>
          <a:stretch>
            <a:fillRect/>
          </a:stretch>
        </p:blipFill>
        <p:spPr>
          <a:xfrm>
            <a:off x="6171300" y="498500"/>
            <a:ext cx="4213601" cy="2771154"/>
          </a:xfrm>
          <a:prstGeom prst="rect">
            <a:avLst/>
          </a:prstGeom>
          <a:noFill/>
          <a:ln>
            <a:noFill/>
          </a:ln>
        </p:spPr>
      </p:pic>
      <p:pic>
        <p:nvPicPr>
          <p:cNvPr id="218" name="Google Shape;218;gd5ade9d3eb_1_0"/>
          <p:cNvPicPr preferRelativeResize="0"/>
          <p:nvPr/>
        </p:nvPicPr>
        <p:blipFill>
          <a:blip r:embed="rId4">
            <a:alphaModFix/>
          </a:blip>
          <a:stretch>
            <a:fillRect/>
          </a:stretch>
        </p:blipFill>
        <p:spPr>
          <a:xfrm>
            <a:off x="7345900" y="3624050"/>
            <a:ext cx="4255752" cy="24253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d5ade9d3eb_1_68"/>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lnSpcReduction="10000"/>
          </a:bodyPr>
          <a:lstStyle/>
          <a:p>
            <a:pPr indent="-342900" lvl="0" marL="457200" rtl="0" algn="l">
              <a:spcBef>
                <a:spcPts val="1000"/>
              </a:spcBef>
              <a:spcAft>
                <a:spcPts val="0"/>
              </a:spcAft>
              <a:buSzPts val="1800"/>
              <a:buChar char="•"/>
            </a:pPr>
            <a:r>
              <a:rPr lang="en-US"/>
              <a:t>Learning curve during first sprint</a:t>
            </a:r>
            <a:endParaRPr/>
          </a:p>
          <a:p>
            <a:pPr indent="-342900" lvl="1" marL="914400" rtl="0" algn="l">
              <a:spcBef>
                <a:spcPts val="0"/>
              </a:spcBef>
              <a:spcAft>
                <a:spcPts val="0"/>
              </a:spcAft>
              <a:buSzPts val="1800"/>
              <a:buChar char="•"/>
            </a:pPr>
            <a:r>
              <a:rPr lang="en-US"/>
              <a:t>Connect Python to React (front-end)</a:t>
            </a:r>
            <a:endParaRPr/>
          </a:p>
          <a:p>
            <a:pPr indent="-342900" lvl="1" marL="914400" rtl="0" algn="l">
              <a:spcBef>
                <a:spcPts val="0"/>
              </a:spcBef>
              <a:spcAft>
                <a:spcPts val="0"/>
              </a:spcAft>
              <a:buSzPts val="1800"/>
              <a:buChar char="•"/>
            </a:pPr>
            <a:r>
              <a:rPr lang="en-US"/>
              <a:t>Use Flask</a:t>
            </a:r>
            <a:endParaRPr/>
          </a:p>
          <a:p>
            <a:pPr indent="-342900" lvl="1" marL="914400" rtl="0" algn="l">
              <a:spcBef>
                <a:spcPts val="0"/>
              </a:spcBef>
              <a:spcAft>
                <a:spcPts val="0"/>
              </a:spcAft>
              <a:buSzPts val="1800"/>
              <a:buChar char="•"/>
            </a:pPr>
            <a:r>
              <a:rPr lang="en-US"/>
              <a:t>Connect Flask with SQLAlchemy</a:t>
            </a:r>
            <a:endParaRPr/>
          </a:p>
          <a:p>
            <a:pPr indent="-342900" lvl="0" marL="457200" rtl="0" algn="l">
              <a:spcBef>
                <a:spcPts val="0"/>
              </a:spcBef>
              <a:spcAft>
                <a:spcPts val="0"/>
              </a:spcAft>
              <a:buSzPts val="1800"/>
              <a:buChar char="•"/>
            </a:pPr>
            <a:r>
              <a:rPr lang="en-US"/>
              <a:t>Established a working pipeline for data transmission</a:t>
            </a:r>
            <a:endParaRPr/>
          </a:p>
          <a:p>
            <a:pPr indent="-342900" lvl="1" marL="914400" rtl="0" algn="l">
              <a:spcBef>
                <a:spcPts val="0"/>
              </a:spcBef>
              <a:spcAft>
                <a:spcPts val="0"/>
              </a:spcAft>
              <a:buSzPts val="1800"/>
              <a:buChar char="•"/>
            </a:pPr>
            <a:r>
              <a:rPr lang="en-US"/>
              <a:t>Used dummy data</a:t>
            </a:r>
            <a:endParaRPr/>
          </a:p>
          <a:p>
            <a:pPr indent="-342900" lvl="0" marL="457200" rtl="0" algn="l">
              <a:spcBef>
                <a:spcPts val="0"/>
              </a:spcBef>
              <a:spcAft>
                <a:spcPts val="0"/>
              </a:spcAft>
              <a:buSzPts val="1800"/>
              <a:buChar char="•"/>
            </a:pPr>
            <a:r>
              <a:rPr lang="en-US"/>
              <a:t>More research and data was required - needed some inter team collaboration</a:t>
            </a:r>
            <a:endParaRPr/>
          </a:p>
          <a:p>
            <a:pPr indent="-342900" lvl="1" marL="914400" rtl="0" algn="l">
              <a:spcBef>
                <a:spcPts val="0"/>
              </a:spcBef>
              <a:spcAft>
                <a:spcPts val="0"/>
              </a:spcAft>
              <a:buSzPts val="1800"/>
              <a:buChar char="•"/>
            </a:pPr>
            <a:r>
              <a:rPr lang="en-US"/>
              <a:t>Understanding of what the data science team was doing and what data they were working with so it could be pushed through the pipeline</a:t>
            </a:r>
            <a:endParaRPr/>
          </a:p>
          <a:p>
            <a:pPr indent="-342900" lvl="1" marL="914400" rtl="0" algn="l">
              <a:spcBef>
                <a:spcPts val="0"/>
              </a:spcBef>
              <a:spcAft>
                <a:spcPts val="0"/>
              </a:spcAft>
              <a:buSzPts val="1800"/>
              <a:buChar char="•"/>
            </a:pPr>
            <a:r>
              <a:rPr lang="en-US"/>
              <a:t>Currently working with raw data but eventually need to connect it to Piazza and other platforms</a:t>
            </a:r>
            <a:endParaRPr/>
          </a:p>
          <a:p>
            <a:pPr indent="-342900" lvl="0" marL="457200" rtl="0" algn="l">
              <a:spcBef>
                <a:spcPts val="0"/>
              </a:spcBef>
              <a:spcAft>
                <a:spcPts val="0"/>
              </a:spcAft>
              <a:buSzPts val="1800"/>
              <a:buChar char="•"/>
            </a:pPr>
            <a:r>
              <a:rPr lang="en-US"/>
              <a:t>Formalised goals for the next sprint</a:t>
            </a:r>
            <a:endParaRPr/>
          </a:p>
          <a:p>
            <a:pPr indent="-342900" lvl="1" marL="914400" rtl="0" algn="l">
              <a:spcBef>
                <a:spcPts val="0"/>
              </a:spcBef>
              <a:spcAft>
                <a:spcPts val="0"/>
              </a:spcAft>
              <a:buSzPts val="1800"/>
              <a:buChar char="•"/>
            </a:pPr>
            <a:r>
              <a:rPr lang="en-US"/>
              <a:t>New learning period</a:t>
            </a:r>
            <a:endParaRPr/>
          </a:p>
        </p:txBody>
      </p:sp>
      <p:sp>
        <p:nvSpPr>
          <p:cNvPr id="224" name="Google Shape;224;gd5ade9d3eb_1_68"/>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Back-End Development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d48acb111b_0_0"/>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a:t>Met with Dr. Joyner</a:t>
            </a:r>
            <a:endParaRPr/>
          </a:p>
          <a:p>
            <a:pPr indent="-342900" lvl="0" marL="457200" rtl="0" algn="l">
              <a:spcBef>
                <a:spcPts val="1000"/>
              </a:spcBef>
              <a:spcAft>
                <a:spcPts val="0"/>
              </a:spcAft>
              <a:buSzPts val="1800"/>
              <a:buChar char="•"/>
            </a:pPr>
            <a:r>
              <a:rPr b="1" lang="en-US"/>
              <a:t>Data science</a:t>
            </a:r>
            <a:endParaRPr b="1"/>
          </a:p>
          <a:p>
            <a:pPr indent="-342900" lvl="1" marL="914400" rtl="0" algn="l">
              <a:lnSpc>
                <a:spcPct val="100000"/>
              </a:lnSpc>
              <a:spcBef>
                <a:spcPts val="1000"/>
              </a:spcBef>
              <a:spcAft>
                <a:spcPts val="0"/>
              </a:spcAft>
              <a:buSzPts val="1800"/>
              <a:buChar char="•"/>
            </a:pPr>
            <a:r>
              <a:rPr lang="en-US"/>
              <a:t>"Replicated" Kovanovic 2016</a:t>
            </a:r>
            <a:endParaRPr/>
          </a:p>
          <a:p>
            <a:pPr indent="-342900" lvl="1" marL="914400" rtl="0" algn="l">
              <a:lnSpc>
                <a:spcPct val="100000"/>
              </a:lnSpc>
              <a:spcBef>
                <a:spcPts val="1000"/>
              </a:spcBef>
              <a:spcAft>
                <a:spcPts val="0"/>
              </a:spcAft>
              <a:buSzPts val="1800"/>
              <a:buChar char="•"/>
            </a:pPr>
            <a:r>
              <a:rPr lang="en-US"/>
              <a:t>Automate the process of labelling cognitive presence </a:t>
            </a:r>
            <a:r>
              <a:rPr lang="en-US"/>
              <a:t>to a high degree</a:t>
            </a:r>
            <a:r>
              <a:rPr lang="en-US"/>
              <a:t> </a:t>
            </a:r>
            <a:endParaRPr/>
          </a:p>
          <a:p>
            <a:pPr indent="-342900" lvl="1" marL="914400" rtl="0" algn="l">
              <a:lnSpc>
                <a:spcPct val="100000"/>
              </a:lnSpc>
              <a:spcBef>
                <a:spcPts val="1000"/>
              </a:spcBef>
              <a:spcAft>
                <a:spcPts val="0"/>
              </a:spcAft>
              <a:buSzPts val="1800"/>
              <a:buChar char="•"/>
            </a:pPr>
            <a:r>
              <a:rPr lang="en-US"/>
              <a:t>Identified future research questions to be explored,</a:t>
            </a:r>
            <a:endParaRPr/>
          </a:p>
          <a:p>
            <a:pPr indent="-342900" lvl="1" marL="914400" rtl="0" algn="l">
              <a:lnSpc>
                <a:spcPct val="100000"/>
              </a:lnSpc>
              <a:spcBef>
                <a:spcPts val="0"/>
              </a:spcBef>
              <a:spcAft>
                <a:spcPts val="0"/>
              </a:spcAft>
              <a:buSzPts val="1800"/>
              <a:buChar char="•"/>
            </a:pPr>
            <a:r>
              <a:rPr lang="en-US"/>
              <a:t>Assessed the survey results</a:t>
            </a:r>
            <a:endParaRPr/>
          </a:p>
          <a:p>
            <a:pPr indent="-342900" lvl="0" marL="457200" rtl="0" algn="l">
              <a:spcBef>
                <a:spcPts val="1000"/>
              </a:spcBef>
              <a:spcAft>
                <a:spcPts val="0"/>
              </a:spcAft>
              <a:buSzPts val="1800"/>
              <a:buChar char="•"/>
            </a:pPr>
            <a:r>
              <a:rPr b="1" lang="en-US"/>
              <a:t>Web development</a:t>
            </a:r>
            <a:endParaRPr b="1"/>
          </a:p>
          <a:p>
            <a:pPr indent="-342900" lvl="1" marL="914400" rtl="0" algn="l">
              <a:spcBef>
                <a:spcPts val="1000"/>
              </a:spcBef>
              <a:spcAft>
                <a:spcPts val="0"/>
              </a:spcAft>
              <a:buSzPts val="1800"/>
              <a:buChar char="•"/>
            </a:pPr>
            <a:r>
              <a:rPr lang="en-US"/>
              <a:t>Working demo</a:t>
            </a:r>
            <a:endParaRPr/>
          </a:p>
          <a:p>
            <a:pPr indent="-342900" lvl="1" marL="914400" rtl="0" algn="l">
              <a:spcBef>
                <a:spcPts val="1000"/>
              </a:spcBef>
              <a:spcAft>
                <a:spcPts val="0"/>
              </a:spcAft>
              <a:buSzPts val="1800"/>
              <a:buChar char="•"/>
            </a:pPr>
            <a:r>
              <a:rPr lang="en-US"/>
              <a:t>Established pipeline for data transmission</a:t>
            </a:r>
            <a:endParaRPr/>
          </a:p>
        </p:txBody>
      </p:sp>
      <p:sp>
        <p:nvSpPr>
          <p:cNvPr id="230" name="Google Shape;230;gd48acb111b_0_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Conclusion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d37e389671_1_79"/>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a:bodyPr>
          <a:lstStyle/>
          <a:p>
            <a:pPr indent="-342900" lvl="0" marL="457200" rtl="0" algn="l">
              <a:spcBef>
                <a:spcPts val="0"/>
              </a:spcBef>
              <a:spcAft>
                <a:spcPts val="0"/>
              </a:spcAft>
              <a:buSzPts val="1800"/>
              <a:buChar char="•"/>
            </a:pPr>
            <a:r>
              <a:rPr lang="en-US" sz="1900"/>
              <a:t>Kovanovíc, V., Joksimovíc, S., Waters, Z., Gaševíc, D., Kitto, K., Hatala, M., &amp; Siemens, G. (2016). Towards automated content analysis of discussion transcripts: A cognitive presence case. ACM International Conference Proceeding Series. https://doi.org/10.1145/2883851.2883950</a:t>
            </a:r>
            <a:endParaRPr/>
          </a:p>
        </p:txBody>
      </p:sp>
      <p:sp>
        <p:nvSpPr>
          <p:cNvPr id="236" name="Google Shape;236;gd37e389671_1_79"/>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Citations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2016-03-09T16:46:53Z</dcterms:created>
  <dc:creator>Microsoft Office User</dc:creator>
</cp:coreProperties>
</file>