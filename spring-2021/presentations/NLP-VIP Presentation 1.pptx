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Roboto Condensed Light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3">
          <p15:clr>
            <a:srgbClr val="000000"/>
          </p15:clr>
        </p15:guide>
        <p15:guide id="2" pos="244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7" roundtripDataSignature="AMtx7mhqIh1jdeId4vsMpC/8vZb6BunC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3" orient="horz"/>
        <p:guide pos="2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4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6.xml"/><Relationship Id="rId44" Type="http://schemas.openxmlformats.org/officeDocument/2006/relationships/font" Target="fonts/RobotoCondensedLight-bold.fntdata"/><Relationship Id="rId21" Type="http://schemas.openxmlformats.org/officeDocument/2006/relationships/slide" Target="slides/slide15.xml"/><Relationship Id="rId43" Type="http://schemas.openxmlformats.org/officeDocument/2006/relationships/font" Target="fonts/RobotoCondensedLight-regular.fntdata"/><Relationship Id="rId24" Type="http://schemas.openxmlformats.org/officeDocument/2006/relationships/slide" Target="slides/slide18.xml"/><Relationship Id="rId46" Type="http://schemas.openxmlformats.org/officeDocument/2006/relationships/font" Target="fonts/RobotoCondensedLight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Condensed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All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d48565b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9d48565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ba764dde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ba764dde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ea1223c9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bea1223c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Nidhi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ea1223c9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ea1223c9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eafbb3907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beafbb3907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Nidhi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ea1223c9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bea1223c9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becbc2fc5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becbc2fc5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ecbc2fc5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ecbc2fc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becbc2fc5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becbc2fc5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becbc2fc5d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becbc2fc5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ecbc2fc5d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ecbc2fc5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becbc2fc5d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becbc2fc5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ecbc2fc5d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ecbc2fc5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becbc2fc5d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becbc2fc5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becbc2fc5d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becbc2fc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becbc2fc5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becbc2fc5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becbc2fc5d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becbc2fc5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bee4de09e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bee4de09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bee4de09e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bee4de09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ba764dde3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ba764dde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9d659091a8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9d659091a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beda0ec0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beda0ec0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ba764dde3e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ba764dde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9d48565bb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9d48565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edb666c5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bedb666c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becbc2fc5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becbc2fc5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bedb666c5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bedb666c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7F7F7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marR="0" rt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379048" y="1215483"/>
            <a:ext cx="5615353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2" type="body"/>
          </p:nvPr>
        </p:nvSpPr>
        <p:spPr>
          <a:xfrm>
            <a:off x="6197600" y="1215483"/>
            <a:ext cx="5613400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381001" y="1235113"/>
            <a:ext cx="561763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381001" y="2078657"/>
            <a:ext cx="5617633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3" type="body"/>
          </p:nvPr>
        </p:nvSpPr>
        <p:spPr>
          <a:xfrm>
            <a:off x="6172200" y="1235113"/>
            <a:ext cx="5638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19"/>
          <p:cNvSpPr txBox="1"/>
          <p:nvPr>
            <p:ph idx="4" type="body"/>
          </p:nvPr>
        </p:nvSpPr>
        <p:spPr>
          <a:xfrm>
            <a:off x="6172200" y="2078657"/>
            <a:ext cx="5638800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/>
          <p:nvPr>
            <p:ph idx="2" type="pic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 rot="5400000">
            <a:off x="3797823" y="-2201338"/>
            <a:ext cx="4596355" cy="1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 rot="5400000">
            <a:off x="75906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1875632" y="-1129506"/>
            <a:ext cx="5811838" cy="88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600"/>
              <a:buFont typeface="Roboto"/>
              <a:buNone/>
              <a:defRPr b="1" i="0" sz="36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17.jp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en.wikipedia.org/wiki/Cohen%27s_kappa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Discussion Forum Subteam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Presentation 1 - 2/24/2021</a:t>
            </a:r>
            <a:endParaRPr/>
          </a:p>
        </p:txBody>
      </p:sp>
      <p:sp>
        <p:nvSpPr>
          <p:cNvPr id="77" name="Google Shape;77;p1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</a:pPr>
            <a:r>
              <a:rPr lang="en-US"/>
              <a:t>Data Driven Education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Team Members</a:t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23559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Aanya Khandelwal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Back-end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Developer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1463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David Kim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Machine Learning Engineer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59367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Sambhav Jaideep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Front-end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77271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Nidhi Pai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98361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95175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Morgan Powers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255300" y="2051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65500" y="3376500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Pratik Agrawal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Machine Learning Engineer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150" y="2018400"/>
            <a:ext cx="1249500" cy="1249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17645" l="0" r="5526" t="8012"/>
          <a:stretch/>
        </p:blipFill>
        <p:spPr>
          <a:xfrm>
            <a:off x="9778550" y="1962725"/>
            <a:ext cx="1252800" cy="132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4440825" y="2105400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5">
            <a:alphaModFix/>
          </a:blip>
          <a:srcRect b="0" l="2552" r="2561" t="0"/>
          <a:stretch/>
        </p:blipFill>
        <p:spPr>
          <a:xfrm>
            <a:off x="7967125" y="1983000"/>
            <a:ext cx="1252800" cy="1320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1024" y="2070738"/>
            <a:ext cx="1252801" cy="125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4450" y="2091424"/>
            <a:ext cx="1252800" cy="12690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7" name="Google Shape;97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6900" y="2019050"/>
            <a:ext cx="1413775" cy="14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d48565bb2_0_0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Discussion forums are used a lot in college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Online formats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Student interaction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Participation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Cognitive presence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Metrics and analyses can be useful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1800"/>
              <a:buChar char="●"/>
            </a:pPr>
            <a:r>
              <a:rPr lang="en-US"/>
              <a:t>Goal: Creating a web application to be used by professors will allow the instructors to improve their courses</a:t>
            </a:r>
            <a:endParaRPr/>
          </a:p>
        </p:txBody>
      </p:sp>
      <p:sp>
        <p:nvSpPr>
          <p:cNvPr id="103" name="Google Shape;103;g9d48565bb2_0_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104" name="Google Shape;104;g9d48565bb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999" y="2345525"/>
            <a:ext cx="4561649" cy="11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ba764dde3e_0_0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Cognitive presence modeling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Polarity and subjectivity visualizations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Super basic web application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ba764dde3e_0_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Fall 2020</a:t>
            </a:r>
            <a:endParaRPr/>
          </a:p>
        </p:txBody>
      </p:sp>
      <p:pic>
        <p:nvPicPr>
          <p:cNvPr id="111" name="Google Shape;111;gba764dde3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7950" y="3804923"/>
            <a:ext cx="7756099" cy="248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Inter-team communication and project alignment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Trello boards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Current progress is reflected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Backlog provides insight for future subteams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Minutes were helpful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Notebooks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Review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Future team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Design document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Specific goals and research questions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Future team</a:t>
            </a:r>
            <a:endParaRPr/>
          </a:p>
        </p:txBody>
      </p:sp>
      <p:sp>
        <p:nvSpPr>
          <p:cNvPr id="117" name="Google Shape;117;p8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Takeaways</a:t>
            </a: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825" y="3513075"/>
            <a:ext cx="5815897" cy="1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bea1223c9f_0_1"/>
          <p:cNvSpPr txBox="1"/>
          <p:nvPr>
            <p:ph idx="1" type="body"/>
          </p:nvPr>
        </p:nvSpPr>
        <p:spPr>
          <a:xfrm>
            <a:off x="6091850" y="1215475"/>
            <a:ext cx="5718900" cy="4596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“</a:t>
            </a:r>
            <a:r>
              <a:rPr lang="en-US"/>
              <a:t>a group of individuals who collaboratively engage in purposeful critical discourse and reflection to construct personal meaning and confirm mutual understanding”</a:t>
            </a:r>
            <a:endParaRPr/>
          </a:p>
        </p:txBody>
      </p:sp>
      <p:sp>
        <p:nvSpPr>
          <p:cNvPr id="124" name="Google Shape;124;gbea1223c9f_0_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Community</a:t>
            </a:r>
            <a:r>
              <a:rPr lang="en-US"/>
              <a:t> of Inquiry</a:t>
            </a:r>
            <a:endParaRPr/>
          </a:p>
        </p:txBody>
      </p:sp>
      <p:pic>
        <p:nvPicPr>
          <p:cNvPr id="125" name="Google Shape;125;gbea1223c9f_0_1"/>
          <p:cNvPicPr preferRelativeResize="0"/>
          <p:nvPr/>
        </p:nvPicPr>
        <p:blipFill rotWithShape="1">
          <a:blip r:embed="rId3">
            <a:alphaModFix/>
          </a:blip>
          <a:srcRect b="11793" l="0" r="0" t="0"/>
          <a:stretch/>
        </p:blipFill>
        <p:spPr>
          <a:xfrm>
            <a:off x="488775" y="1215475"/>
            <a:ext cx="5117075" cy="40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bea1223c9f_0_1"/>
          <p:cNvSpPr txBox="1"/>
          <p:nvPr/>
        </p:nvSpPr>
        <p:spPr>
          <a:xfrm>
            <a:off x="488763" y="5411575"/>
            <a:ext cx="5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Elements of an Educational Experience (Garrison et al., 1999)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ea1223c9f_0_16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Cognitive </a:t>
            </a:r>
            <a:r>
              <a:rPr lang="en-US"/>
              <a:t>Presence (Garrison et al., 2001)</a:t>
            </a:r>
            <a:endParaRPr/>
          </a:p>
        </p:txBody>
      </p:sp>
      <p:grpSp>
        <p:nvGrpSpPr>
          <p:cNvPr id="132" name="Google Shape;132;gbea1223c9f_0_16"/>
          <p:cNvGrpSpPr/>
          <p:nvPr/>
        </p:nvGrpSpPr>
        <p:grpSpPr>
          <a:xfrm>
            <a:off x="0" y="1586613"/>
            <a:ext cx="2952726" cy="4290074"/>
            <a:chOff x="0" y="1189989"/>
            <a:chExt cx="2214600" cy="3217636"/>
          </a:xfrm>
        </p:grpSpPr>
        <p:sp>
          <p:nvSpPr>
            <p:cNvPr id="133" name="Google Shape;133;gbea1223c9f_0_16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0: No Cognitive Presence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gbea1223c9f_0_16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Logistics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Socializing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“Thank you”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Unclear comments (code without comment)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gbea1223c9f_0_16"/>
          <p:cNvGrpSpPr/>
          <p:nvPr/>
        </p:nvGrpSpPr>
        <p:grpSpPr>
          <a:xfrm>
            <a:off x="2451039" y="1586327"/>
            <a:ext cx="2751931" cy="4290359"/>
            <a:chOff x="1838325" y="1189775"/>
            <a:chExt cx="2064000" cy="3217850"/>
          </a:xfrm>
        </p:grpSpPr>
        <p:sp>
          <p:nvSpPr>
            <p:cNvPr id="136" name="Google Shape;136;gbea1223c9f_0_16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1: Triggering Event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gbea1223c9f_0_16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Short questions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Technical clarification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“I am clueless”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“I think this is right/wrong”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Focus on the problem itself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" name="Google Shape;138;gbea1223c9f_0_16"/>
          <p:cNvGrpSpPr/>
          <p:nvPr/>
        </p:nvGrpSpPr>
        <p:grpSpPr>
          <a:xfrm>
            <a:off x="4688882" y="1586327"/>
            <a:ext cx="2751931" cy="4290359"/>
            <a:chOff x="3516750" y="1189775"/>
            <a:chExt cx="2064000" cy="3217850"/>
          </a:xfrm>
        </p:grpSpPr>
        <p:sp>
          <p:nvSpPr>
            <p:cNvPr id="139" name="Google Shape;139;gbea1223c9f_0_16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2: Exploration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gbea1223c9f_0_16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Describing a problem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Giving suggestions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Partial understanding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Clarifications with detailed description or own assumptions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gbea1223c9f_0_16"/>
          <p:cNvGrpSpPr/>
          <p:nvPr/>
        </p:nvGrpSpPr>
        <p:grpSpPr>
          <a:xfrm>
            <a:off x="9165137" y="1586327"/>
            <a:ext cx="2751931" cy="4290359"/>
            <a:chOff x="6874025" y="1189775"/>
            <a:chExt cx="2064000" cy="3217850"/>
          </a:xfrm>
        </p:grpSpPr>
        <p:sp>
          <p:nvSpPr>
            <p:cNvPr id="142" name="Google Shape;142;gbea1223c9f_0_16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07BF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4: Resolution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gbea1223c9f_0_16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Confirmation of ideas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Elaboration on solution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Explain why/how solution works in detail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Definite comments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Comments from instructors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Direct answer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gbea1223c9f_0_16"/>
          <p:cNvGrpSpPr/>
          <p:nvPr/>
        </p:nvGrpSpPr>
        <p:grpSpPr>
          <a:xfrm>
            <a:off x="6926960" y="1586327"/>
            <a:ext cx="2751931" cy="4290359"/>
            <a:chOff x="5195350" y="1189775"/>
            <a:chExt cx="2064000" cy="3217850"/>
          </a:xfrm>
        </p:grpSpPr>
        <p:sp>
          <p:nvSpPr>
            <p:cNvPr id="145" name="Google Shape;145;gbea1223c9f_0_16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3: Integration</a:t>
              </a:r>
              <a:endParaRPr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gbea1223c9f_0_16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Proposing a solution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Giving their </a:t>
              </a: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solution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Giving a textbook or other reference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Roboto"/>
                <a:buChar char="●"/>
              </a:pPr>
              <a:r>
                <a:rPr lang="en-US" sz="1500">
                  <a:latin typeface="Roboto"/>
                  <a:ea typeface="Roboto"/>
                  <a:cs typeface="Roboto"/>
                  <a:sym typeface="Roboto"/>
                </a:rPr>
                <a:t>Partial solutions</a:t>
              </a:r>
              <a:endParaRPr sz="15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eafbb3907_0_339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Piazza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258 coded posts (Spring 2021)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 unique identifier of student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know what part of the post it came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EdX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412 (Fall 2020) + 541 (Spring 2020) coded posts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9284 uncoded posts (Forum thread)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9188 uncoded posts (Forum comment)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Both have timestamp, instructor endorsements</a:t>
            </a:r>
            <a:endParaRPr/>
          </a:p>
        </p:txBody>
      </p:sp>
      <p:sp>
        <p:nvSpPr>
          <p:cNvPr id="152" name="Google Shape;152;gbeafbb3907_0_339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Available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bea1223c9f_0_11"/>
          <p:cNvSpPr txBox="1"/>
          <p:nvPr>
            <p:ph idx="1" type="body"/>
          </p:nvPr>
        </p:nvSpPr>
        <p:spPr>
          <a:xfrm>
            <a:off x="381000" y="2522700"/>
            <a:ext cx="11430000" cy="302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900"/>
              <a:t>To automate classification of discussion forum posts into the 5 levels of cognitive presence.</a:t>
            </a:r>
            <a:endParaRPr sz="3900"/>
          </a:p>
        </p:txBody>
      </p:sp>
      <p:sp>
        <p:nvSpPr>
          <p:cNvPr id="158" name="Google Shape;158;gbea1223c9f_0_11"/>
          <p:cNvSpPr txBox="1"/>
          <p:nvPr>
            <p:ph type="title"/>
          </p:nvPr>
        </p:nvSpPr>
        <p:spPr>
          <a:xfrm>
            <a:off x="381000" y="212247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Goal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ecbc2fc5d_0_2"/>
          <p:cNvSpPr/>
          <p:nvPr/>
        </p:nvSpPr>
        <p:spPr>
          <a:xfrm>
            <a:off x="5219375" y="3355325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becbc2fc5d_0_2"/>
          <p:cNvSpPr txBox="1"/>
          <p:nvPr>
            <p:ph idx="1" type="body"/>
          </p:nvPr>
        </p:nvSpPr>
        <p:spPr>
          <a:xfrm>
            <a:off x="381000" y="1215474"/>
            <a:ext cx="35118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Set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Selection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Results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Improvements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becbc2fc5d_0_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Towards Automated Content Analysis of Discussion Transcripts: A Cognitive Presence Case</a:t>
            </a:r>
            <a:endParaRPr/>
          </a:p>
        </p:txBody>
      </p:sp>
      <p:sp>
        <p:nvSpPr>
          <p:cNvPr id="166" name="Google Shape;166;gbecbc2fc5d_0_2"/>
          <p:cNvSpPr/>
          <p:nvPr/>
        </p:nvSpPr>
        <p:spPr>
          <a:xfrm>
            <a:off x="380975" y="4447775"/>
            <a:ext cx="2236800" cy="1118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Data Set</a:t>
            </a:r>
            <a:endParaRPr sz="2600"/>
          </a:p>
        </p:txBody>
      </p:sp>
      <p:sp>
        <p:nvSpPr>
          <p:cNvPr id="167" name="Google Shape;167;gbecbc2fc5d_0_2"/>
          <p:cNvSpPr/>
          <p:nvPr/>
        </p:nvSpPr>
        <p:spPr>
          <a:xfrm>
            <a:off x="2943275" y="4668875"/>
            <a:ext cx="1950600" cy="6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Extraction</a:t>
            </a:r>
            <a:endParaRPr/>
          </a:p>
        </p:txBody>
      </p:sp>
      <p:sp>
        <p:nvSpPr>
          <p:cNvPr id="168" name="Google Shape;168;gbecbc2fc5d_0_2"/>
          <p:cNvSpPr/>
          <p:nvPr/>
        </p:nvSpPr>
        <p:spPr>
          <a:xfrm>
            <a:off x="5311100" y="3432700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169" name="Google Shape;169;gbecbc2fc5d_0_2"/>
          <p:cNvSpPr/>
          <p:nvPr/>
        </p:nvSpPr>
        <p:spPr>
          <a:xfrm>
            <a:off x="5311100" y="4009900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170" name="Google Shape;170;gbecbc2fc5d_0_2"/>
          <p:cNvSpPr/>
          <p:nvPr/>
        </p:nvSpPr>
        <p:spPr>
          <a:xfrm>
            <a:off x="5311100" y="4587100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171" name="Google Shape;171;gbecbc2fc5d_0_2"/>
          <p:cNvSpPr/>
          <p:nvPr/>
        </p:nvSpPr>
        <p:spPr>
          <a:xfrm>
            <a:off x="5311100" y="5953300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172" name="Google Shape;172;gbecbc2fc5d_0_2"/>
          <p:cNvSpPr/>
          <p:nvPr/>
        </p:nvSpPr>
        <p:spPr>
          <a:xfrm>
            <a:off x="5311100" y="5376100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173" name="Google Shape;173;gbecbc2fc5d_0_2"/>
          <p:cNvSpPr txBox="1"/>
          <p:nvPr/>
        </p:nvSpPr>
        <p:spPr>
          <a:xfrm>
            <a:off x="5808875" y="2817800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becbc2fc5d_0_2"/>
          <p:cNvSpPr/>
          <p:nvPr/>
        </p:nvSpPr>
        <p:spPr>
          <a:xfrm>
            <a:off x="7955071" y="4668875"/>
            <a:ext cx="1394100" cy="6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Resample</a:t>
            </a:r>
            <a:endParaRPr/>
          </a:p>
        </p:txBody>
      </p:sp>
      <p:pic>
        <p:nvPicPr>
          <p:cNvPr id="175" name="Google Shape;175;gbecbc2fc5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0650" y="4160323"/>
            <a:ext cx="2410199" cy="148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becbc2fc5d_0_2"/>
          <p:cNvSpPr txBox="1"/>
          <p:nvPr/>
        </p:nvSpPr>
        <p:spPr>
          <a:xfrm>
            <a:off x="10278975" y="3667725"/>
            <a:ext cx="103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SMOTE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becbc2fc5d_0_2"/>
          <p:cNvSpPr/>
          <p:nvPr/>
        </p:nvSpPr>
        <p:spPr>
          <a:xfrm rot="-5400631">
            <a:off x="9979727" y="2512726"/>
            <a:ext cx="1633800" cy="6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Training/Tuning</a:t>
            </a:r>
            <a:endParaRPr/>
          </a:p>
        </p:txBody>
      </p:sp>
      <p:sp>
        <p:nvSpPr>
          <p:cNvPr id="178" name="Google Shape;178;gbecbc2fc5d_0_2"/>
          <p:cNvSpPr/>
          <p:nvPr/>
        </p:nvSpPr>
        <p:spPr>
          <a:xfrm>
            <a:off x="9875700" y="719700"/>
            <a:ext cx="1760100" cy="1014900"/>
          </a:xfrm>
          <a:prstGeom prst="triangle">
            <a:avLst>
              <a:gd fmla="val 50247" name="adj"/>
            </a:avLst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179" name="Google Shape;179;gbecbc2fc5d_0_2"/>
          <p:cNvSpPr txBox="1"/>
          <p:nvPr/>
        </p:nvSpPr>
        <p:spPr>
          <a:xfrm>
            <a:off x="5488175" y="133440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becbc2fc5d_0_2"/>
          <p:cNvSpPr txBox="1"/>
          <p:nvPr/>
        </p:nvSpPr>
        <p:spPr>
          <a:xfrm>
            <a:off x="10458375" y="5641775"/>
            <a:ext cx="11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becbc2fc5d_0_1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Set</a:t>
            </a:r>
            <a:endParaRPr/>
          </a:p>
        </p:txBody>
      </p:sp>
      <p:pic>
        <p:nvPicPr>
          <p:cNvPr id="186" name="Google Shape;186;gbecbc2fc5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50" y="1894272"/>
            <a:ext cx="516255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becbc2fc5d_0_11"/>
          <p:cNvSpPr txBox="1"/>
          <p:nvPr>
            <p:ph idx="1" type="body"/>
          </p:nvPr>
        </p:nvSpPr>
        <p:spPr>
          <a:xfrm>
            <a:off x="6684150" y="1935098"/>
            <a:ext cx="4977000" cy="23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Course: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Master's level software engineering course at a Canadian public university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Research intensive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becbc2fc5d_0_11"/>
          <p:cNvSpPr txBox="1"/>
          <p:nvPr/>
        </p:nvSpPr>
        <p:spPr>
          <a:xfrm>
            <a:off x="2454575" y="5156250"/>
            <a:ext cx="11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becbc2fc5d_0_18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Distribution &amp; Resampling</a:t>
            </a:r>
            <a:endParaRPr/>
          </a:p>
        </p:txBody>
      </p:sp>
      <p:pic>
        <p:nvPicPr>
          <p:cNvPr id="194" name="Google Shape;194;gbecbc2fc5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863" y="1397759"/>
            <a:ext cx="597217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becbc2fc5d_0_18"/>
          <p:cNvSpPr txBox="1"/>
          <p:nvPr/>
        </p:nvSpPr>
        <p:spPr>
          <a:xfrm>
            <a:off x="8930200" y="1379500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SMOTE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gbecbc2fc5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488" y="1967347"/>
            <a:ext cx="5406112" cy="240141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becbc2fc5d_0_18"/>
          <p:cNvSpPr txBox="1"/>
          <p:nvPr/>
        </p:nvSpPr>
        <p:spPr>
          <a:xfrm>
            <a:off x="1791375" y="4725150"/>
            <a:ext cx="304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Coded by two expert coder's with an inter-rated agreement of 98.1%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becbc2fc5d_0_18"/>
          <p:cNvSpPr txBox="1"/>
          <p:nvPr/>
        </p:nvSpPr>
        <p:spPr>
          <a:xfrm>
            <a:off x="7135450" y="4556400"/>
            <a:ext cx="460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Roboto"/>
                <a:ea typeface="Roboto"/>
                <a:cs typeface="Roboto"/>
                <a:sym typeface="Roboto"/>
              </a:rPr>
              <a:t>https://medium.com/analytics-vidhya/bank-data-smote-b5cb01a5e0a2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gbecbc2fc5d_0_18"/>
          <p:cNvSpPr txBox="1"/>
          <p:nvPr/>
        </p:nvSpPr>
        <p:spPr>
          <a:xfrm>
            <a:off x="2740713" y="4383925"/>
            <a:ext cx="11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becbc2fc5d_0_78"/>
          <p:cNvSpPr txBox="1"/>
          <p:nvPr>
            <p:ph idx="1" type="body"/>
          </p:nvPr>
        </p:nvSpPr>
        <p:spPr>
          <a:xfrm>
            <a:off x="381000" y="1215475"/>
            <a:ext cx="66591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Four high level aggregation measures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analytical thinking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social status, confidence, and leadership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authenticity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emotional tone</a:t>
            </a:r>
            <a:endParaRPr/>
          </a:p>
        </p:txBody>
      </p:sp>
      <p:sp>
        <p:nvSpPr>
          <p:cNvPr id="205" name="Google Shape;205;gbecbc2fc5d_0_78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Linguistic Inquiry and Word Count</a:t>
            </a:r>
            <a:endParaRPr/>
          </a:p>
        </p:txBody>
      </p:sp>
      <p:sp>
        <p:nvSpPr>
          <p:cNvPr id="206" name="Google Shape;206;gbecbc2fc5d_0_78"/>
          <p:cNvSpPr/>
          <p:nvPr/>
        </p:nvSpPr>
        <p:spPr>
          <a:xfrm>
            <a:off x="8878100" y="1791800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becbc2fc5d_0_78"/>
          <p:cNvSpPr/>
          <p:nvPr/>
        </p:nvSpPr>
        <p:spPr>
          <a:xfrm>
            <a:off x="8969825" y="18691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208" name="Google Shape;208;gbecbc2fc5d_0_78"/>
          <p:cNvSpPr/>
          <p:nvPr/>
        </p:nvSpPr>
        <p:spPr>
          <a:xfrm>
            <a:off x="8969825" y="24463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209" name="Google Shape;209;gbecbc2fc5d_0_78"/>
          <p:cNvSpPr/>
          <p:nvPr/>
        </p:nvSpPr>
        <p:spPr>
          <a:xfrm>
            <a:off x="8969825" y="30235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210" name="Google Shape;210;gbecbc2fc5d_0_78"/>
          <p:cNvSpPr/>
          <p:nvPr/>
        </p:nvSpPr>
        <p:spPr>
          <a:xfrm>
            <a:off x="8969825" y="43897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211" name="Google Shape;211;gbecbc2fc5d_0_78"/>
          <p:cNvSpPr/>
          <p:nvPr/>
        </p:nvSpPr>
        <p:spPr>
          <a:xfrm>
            <a:off x="8969825" y="38125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212" name="Google Shape;212;gbecbc2fc5d_0_78"/>
          <p:cNvSpPr txBox="1"/>
          <p:nvPr/>
        </p:nvSpPr>
        <p:spPr>
          <a:xfrm>
            <a:off x="9472625" y="1215475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ecbc2fc5d_0_83"/>
          <p:cNvSpPr txBox="1"/>
          <p:nvPr>
            <p:ph idx="1" type="body"/>
          </p:nvPr>
        </p:nvSpPr>
        <p:spPr>
          <a:xfrm>
            <a:off x="381000" y="1215475"/>
            <a:ext cx="58614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108 metrics of text coherence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co-reference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referential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causal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spatial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temporal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structural cohesion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ect...</a:t>
            </a:r>
            <a:endParaRPr/>
          </a:p>
        </p:txBody>
      </p:sp>
      <p:sp>
        <p:nvSpPr>
          <p:cNvPr id="218" name="Google Shape;218;gbecbc2fc5d_0_83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Coh-Metrix</a:t>
            </a:r>
            <a:endParaRPr/>
          </a:p>
        </p:txBody>
      </p:sp>
      <p:sp>
        <p:nvSpPr>
          <p:cNvPr id="219" name="Google Shape;219;gbecbc2fc5d_0_83"/>
          <p:cNvSpPr/>
          <p:nvPr/>
        </p:nvSpPr>
        <p:spPr>
          <a:xfrm>
            <a:off x="8878100" y="1791800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becbc2fc5d_0_83"/>
          <p:cNvSpPr/>
          <p:nvPr/>
        </p:nvSpPr>
        <p:spPr>
          <a:xfrm>
            <a:off x="8969825" y="18691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221" name="Google Shape;221;gbecbc2fc5d_0_83"/>
          <p:cNvSpPr/>
          <p:nvPr/>
        </p:nvSpPr>
        <p:spPr>
          <a:xfrm>
            <a:off x="8969825" y="24463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222" name="Google Shape;222;gbecbc2fc5d_0_83"/>
          <p:cNvSpPr/>
          <p:nvPr/>
        </p:nvSpPr>
        <p:spPr>
          <a:xfrm>
            <a:off x="8969825" y="30235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223" name="Google Shape;223;gbecbc2fc5d_0_83"/>
          <p:cNvSpPr/>
          <p:nvPr/>
        </p:nvSpPr>
        <p:spPr>
          <a:xfrm>
            <a:off x="8969825" y="43897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224" name="Google Shape;224;gbecbc2fc5d_0_83"/>
          <p:cNvSpPr/>
          <p:nvPr/>
        </p:nvSpPr>
        <p:spPr>
          <a:xfrm>
            <a:off x="8969825" y="38125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225" name="Google Shape;225;gbecbc2fc5d_0_83"/>
          <p:cNvSpPr txBox="1"/>
          <p:nvPr/>
        </p:nvSpPr>
        <p:spPr>
          <a:xfrm>
            <a:off x="9472625" y="1215475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becbc2fc5d_0_73"/>
          <p:cNvSpPr txBox="1"/>
          <p:nvPr>
            <p:ph idx="1" type="body"/>
          </p:nvPr>
        </p:nvSpPr>
        <p:spPr>
          <a:xfrm>
            <a:off x="381000" y="1215475"/>
            <a:ext cx="79509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Number of replies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Message depth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position of a message within a discussion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Cosine similarity to previous/next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Start/end indicators</a:t>
            </a:r>
            <a:endParaRPr/>
          </a:p>
        </p:txBody>
      </p:sp>
      <p:sp>
        <p:nvSpPr>
          <p:cNvPr id="231" name="Google Shape;231;gbecbc2fc5d_0_73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Discussion Context Features</a:t>
            </a:r>
            <a:endParaRPr/>
          </a:p>
        </p:txBody>
      </p:sp>
      <p:sp>
        <p:nvSpPr>
          <p:cNvPr id="232" name="Google Shape;232;gbecbc2fc5d_0_73"/>
          <p:cNvSpPr/>
          <p:nvPr/>
        </p:nvSpPr>
        <p:spPr>
          <a:xfrm>
            <a:off x="8878100" y="1791800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becbc2fc5d_0_73"/>
          <p:cNvSpPr/>
          <p:nvPr/>
        </p:nvSpPr>
        <p:spPr>
          <a:xfrm>
            <a:off x="8969825" y="18691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234" name="Google Shape;234;gbecbc2fc5d_0_73"/>
          <p:cNvSpPr/>
          <p:nvPr/>
        </p:nvSpPr>
        <p:spPr>
          <a:xfrm>
            <a:off x="8969825" y="24463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235" name="Google Shape;235;gbecbc2fc5d_0_73"/>
          <p:cNvSpPr/>
          <p:nvPr/>
        </p:nvSpPr>
        <p:spPr>
          <a:xfrm>
            <a:off x="8969825" y="30235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236" name="Google Shape;236;gbecbc2fc5d_0_73"/>
          <p:cNvSpPr/>
          <p:nvPr/>
        </p:nvSpPr>
        <p:spPr>
          <a:xfrm>
            <a:off x="8969825" y="43897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237" name="Google Shape;237;gbecbc2fc5d_0_73"/>
          <p:cNvSpPr/>
          <p:nvPr/>
        </p:nvSpPr>
        <p:spPr>
          <a:xfrm>
            <a:off x="8969825" y="38125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238" name="Google Shape;238;gbecbc2fc5d_0_73"/>
          <p:cNvSpPr txBox="1"/>
          <p:nvPr/>
        </p:nvSpPr>
        <p:spPr>
          <a:xfrm>
            <a:off x="9472625" y="1215475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ecbc2fc5d_0_109"/>
          <p:cNvSpPr txBox="1"/>
          <p:nvPr>
            <p:ph idx="1" type="body"/>
          </p:nvPr>
        </p:nvSpPr>
        <p:spPr>
          <a:xfrm>
            <a:off x="381000" y="1215475"/>
            <a:ext cx="57228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Average sentence similarity within a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Separate semantic </a:t>
            </a:r>
            <a:r>
              <a:rPr lang="en-US"/>
              <a:t>space</a:t>
            </a:r>
            <a:r>
              <a:rPr lang="en-US"/>
              <a:t> for important concepts.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Estimate semantic similarity from Wikipedia</a:t>
            </a:r>
            <a:endParaRPr/>
          </a:p>
        </p:txBody>
      </p:sp>
      <p:sp>
        <p:nvSpPr>
          <p:cNvPr id="244" name="Google Shape;244;gbecbc2fc5d_0_109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LSA Similarity</a:t>
            </a:r>
            <a:endParaRPr/>
          </a:p>
        </p:txBody>
      </p:sp>
      <p:sp>
        <p:nvSpPr>
          <p:cNvPr id="245" name="Google Shape;245;gbecbc2fc5d_0_109"/>
          <p:cNvSpPr/>
          <p:nvPr/>
        </p:nvSpPr>
        <p:spPr>
          <a:xfrm>
            <a:off x="8878100" y="1791800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becbc2fc5d_0_109"/>
          <p:cNvSpPr/>
          <p:nvPr/>
        </p:nvSpPr>
        <p:spPr>
          <a:xfrm>
            <a:off x="8969825" y="18691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247" name="Google Shape;247;gbecbc2fc5d_0_109"/>
          <p:cNvSpPr/>
          <p:nvPr/>
        </p:nvSpPr>
        <p:spPr>
          <a:xfrm>
            <a:off x="8969825" y="24463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248" name="Google Shape;248;gbecbc2fc5d_0_109"/>
          <p:cNvSpPr/>
          <p:nvPr/>
        </p:nvSpPr>
        <p:spPr>
          <a:xfrm>
            <a:off x="8969825" y="30235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249" name="Google Shape;249;gbecbc2fc5d_0_109"/>
          <p:cNvSpPr/>
          <p:nvPr/>
        </p:nvSpPr>
        <p:spPr>
          <a:xfrm>
            <a:off x="8969825" y="43897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250" name="Google Shape;250;gbecbc2fc5d_0_109"/>
          <p:cNvSpPr/>
          <p:nvPr/>
        </p:nvSpPr>
        <p:spPr>
          <a:xfrm>
            <a:off x="8969825" y="38125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251" name="Google Shape;251;gbecbc2fc5d_0_109"/>
          <p:cNvSpPr txBox="1"/>
          <p:nvPr/>
        </p:nvSpPr>
        <p:spPr>
          <a:xfrm>
            <a:off x="9472625" y="1215475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ecbc2fc5d_0_121"/>
          <p:cNvSpPr txBox="1"/>
          <p:nvPr>
            <p:ph idx="1" type="body"/>
          </p:nvPr>
        </p:nvSpPr>
        <p:spPr>
          <a:xfrm>
            <a:off x="381000" y="1215475"/>
            <a:ext cx="5688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Named objects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Organizations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Geographic Locations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Extract the number of entities related to CS in Wikipedia through DBSpotlight.</a:t>
            </a:r>
            <a:endParaRPr/>
          </a:p>
        </p:txBody>
      </p:sp>
      <p:sp>
        <p:nvSpPr>
          <p:cNvPr id="257" name="Google Shape;257;gbecbc2fc5d_0_12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Named Entities</a:t>
            </a:r>
            <a:endParaRPr/>
          </a:p>
        </p:txBody>
      </p:sp>
      <p:sp>
        <p:nvSpPr>
          <p:cNvPr id="258" name="Google Shape;258;gbecbc2fc5d_0_121"/>
          <p:cNvSpPr/>
          <p:nvPr/>
        </p:nvSpPr>
        <p:spPr>
          <a:xfrm>
            <a:off x="8878100" y="1791800"/>
            <a:ext cx="2410200" cy="330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becbc2fc5d_0_121"/>
          <p:cNvSpPr/>
          <p:nvPr/>
        </p:nvSpPr>
        <p:spPr>
          <a:xfrm>
            <a:off x="8969825" y="18691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LIWC</a:t>
            </a:r>
            <a:endParaRPr sz="1800"/>
          </a:p>
        </p:txBody>
      </p:sp>
      <p:sp>
        <p:nvSpPr>
          <p:cNvPr id="260" name="Google Shape;260;gbecbc2fc5d_0_121"/>
          <p:cNvSpPr/>
          <p:nvPr/>
        </p:nvSpPr>
        <p:spPr>
          <a:xfrm>
            <a:off x="8969825" y="24463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Coh-Metrix</a:t>
            </a:r>
            <a:endParaRPr sz="1800"/>
          </a:p>
        </p:txBody>
      </p:sp>
      <p:sp>
        <p:nvSpPr>
          <p:cNvPr id="261" name="Google Shape;261;gbecbc2fc5d_0_121"/>
          <p:cNvSpPr/>
          <p:nvPr/>
        </p:nvSpPr>
        <p:spPr>
          <a:xfrm>
            <a:off x="8969825" y="30235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Discussion Context Features</a:t>
            </a:r>
            <a:endParaRPr sz="1800"/>
          </a:p>
        </p:txBody>
      </p:sp>
      <p:sp>
        <p:nvSpPr>
          <p:cNvPr id="262" name="Google Shape;262;gbecbc2fc5d_0_121"/>
          <p:cNvSpPr/>
          <p:nvPr/>
        </p:nvSpPr>
        <p:spPr>
          <a:xfrm>
            <a:off x="8969825" y="4389775"/>
            <a:ext cx="2236800" cy="62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Number of Named Entities</a:t>
            </a:r>
            <a:endParaRPr sz="1800"/>
          </a:p>
        </p:txBody>
      </p:sp>
      <p:sp>
        <p:nvSpPr>
          <p:cNvPr id="263" name="Google Shape;263;gbecbc2fc5d_0_121"/>
          <p:cNvSpPr/>
          <p:nvPr/>
        </p:nvSpPr>
        <p:spPr>
          <a:xfrm>
            <a:off x="8969825" y="3812575"/>
            <a:ext cx="2236800" cy="41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LSA Similarity</a:t>
            </a:r>
            <a:endParaRPr sz="1800"/>
          </a:p>
        </p:txBody>
      </p:sp>
      <p:sp>
        <p:nvSpPr>
          <p:cNvPr id="264" name="Google Shape;264;gbecbc2fc5d_0_121"/>
          <p:cNvSpPr txBox="1"/>
          <p:nvPr/>
        </p:nvSpPr>
        <p:spPr>
          <a:xfrm>
            <a:off x="9472625" y="1215475"/>
            <a:ext cx="12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Features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becbc2fc5d_0_31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Random Forests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 feature importance on MDG (Mean Decrease Gini)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Hyperparameters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Number of trees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Number of features selected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Training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75%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25%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10 repetitions of 10-fold cross validation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becbc2fc5d_0_3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&amp; Training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becbc2fc5d_0_36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Accuracy: 70.3%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Cohen Kappa = 0.63</a:t>
            </a:r>
            <a:endParaRPr/>
          </a:p>
        </p:txBody>
      </p:sp>
      <p:sp>
        <p:nvSpPr>
          <p:cNvPr id="276" name="Google Shape;276;gbecbc2fc5d_0_36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277" name="Google Shape;277;gbecbc2fc5d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925" y="2412875"/>
            <a:ext cx="729615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becbc2fc5d_0_36"/>
          <p:cNvSpPr txBox="1"/>
          <p:nvPr/>
        </p:nvSpPr>
        <p:spPr>
          <a:xfrm>
            <a:off x="5523750" y="5156075"/>
            <a:ext cx="11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ecbc2fc5d_0_41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becbc2fc5d_0_4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Importance</a:t>
            </a:r>
            <a:endParaRPr/>
          </a:p>
        </p:txBody>
      </p:sp>
      <p:pic>
        <p:nvPicPr>
          <p:cNvPr id="285" name="Google Shape;285;gbecbc2fc5d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25" y="1215475"/>
            <a:ext cx="11430001" cy="51369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becbc2fc5d_0_41"/>
          <p:cNvSpPr txBox="1"/>
          <p:nvPr/>
        </p:nvSpPr>
        <p:spPr>
          <a:xfrm>
            <a:off x="5523750" y="6352450"/>
            <a:ext cx="11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Roboto"/>
                <a:ea typeface="Roboto"/>
                <a:cs typeface="Roboto"/>
                <a:sym typeface="Roboto"/>
              </a:rPr>
              <a:t>Kovanovic et al, 2016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bee4de09ef_0_2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Word Mover’s Distance</a:t>
            </a:r>
            <a:endParaRPr b="1"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200"/>
              <a:t>Words in comments mapped to </a:t>
            </a:r>
            <a:r>
              <a:rPr lang="en-US" sz="2200"/>
              <a:t>embedding</a:t>
            </a:r>
            <a:r>
              <a:rPr lang="en-US" sz="2200"/>
              <a:t> space using Word2vec</a:t>
            </a:r>
            <a:endParaRPr sz="2200"/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200"/>
              <a:t>K-nearest neighbors (KNN) algorithm used for classification with word mover’s distance metric</a:t>
            </a:r>
            <a:endParaRPr sz="2200"/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Limitation: Sequence of words and context not captured</a:t>
            </a:r>
            <a:endParaRPr/>
          </a:p>
          <a:p>
            <a: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use more relevant embeddings like sense2vec etc.</a:t>
            </a:r>
            <a:endParaRPr/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Pre-trained language models</a:t>
            </a:r>
            <a:endParaRPr b="1"/>
          </a:p>
          <a:p>
            <a:pPr indent="-3238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-US" sz="2100"/>
              <a:t>F</a:t>
            </a:r>
            <a:r>
              <a:rPr lang="en-US" sz="2100"/>
              <a:t>ine-tu</a:t>
            </a:r>
            <a:r>
              <a:rPr lang="en-US" sz="2100"/>
              <a:t>ning on pre-trained BERT model</a:t>
            </a:r>
            <a:endParaRPr sz="2100"/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100"/>
              <a:t>huggingface Py</a:t>
            </a:r>
            <a:r>
              <a:rPr lang="en-US" sz="2200"/>
              <a:t>thon API used</a:t>
            </a:r>
            <a:endParaRPr sz="2200"/>
          </a:p>
          <a:p>
            <a: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Limitation: Computational cost</a:t>
            </a:r>
            <a:endParaRPr/>
          </a:p>
          <a:p>
            <a:pPr indent="-342900" lvl="3" marL="1828800" rtl="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Should benefit from more labelled data</a:t>
            </a:r>
            <a:endParaRPr/>
          </a:p>
        </p:txBody>
      </p:sp>
      <p:sp>
        <p:nvSpPr>
          <p:cNvPr id="292" name="Google Shape;292;gbee4de09ef_0_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Approach used in previous semester</a:t>
            </a:r>
            <a:endParaRPr/>
          </a:p>
        </p:txBody>
      </p:sp>
      <p:pic>
        <p:nvPicPr>
          <p:cNvPr id="293" name="Google Shape;293;gbee4de09ef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8400" y="3563029"/>
            <a:ext cx="4748757" cy="22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bee4de09ef_0_2"/>
          <p:cNvSpPr txBox="1"/>
          <p:nvPr/>
        </p:nvSpPr>
        <p:spPr>
          <a:xfrm>
            <a:off x="7872950" y="5852550"/>
            <a:ext cx="3395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classic WMD example from [5]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bee4de09ef_0_7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1" lang="en-US" sz="2200"/>
              <a:t>Resource limitations:</a:t>
            </a:r>
            <a:r>
              <a:rPr lang="en-US" sz="2200"/>
              <a:t> Low number of labelled samples (for ML purpose), limited computational resources</a:t>
            </a:r>
            <a:endParaRPr sz="2200"/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2200"/>
              <a:t>Class imbalance</a:t>
            </a:r>
            <a:endParaRPr b="1" sz="2200"/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2200"/>
              <a:t>High preprocessing requirements</a:t>
            </a:r>
            <a:r>
              <a:rPr lang="en-US" sz="2200"/>
              <a:t> </a:t>
            </a:r>
            <a:r>
              <a:rPr lang="en-US" sz="2200"/>
              <a:t>(comments with code segments, images etc.)</a:t>
            </a:r>
            <a:endParaRPr b="1" sz="2200"/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•"/>
            </a:pPr>
            <a:r>
              <a:rPr b="1" lang="en-US" sz="2200"/>
              <a:t>Dependence</a:t>
            </a:r>
            <a:r>
              <a:rPr lang="en-US" sz="2200"/>
              <a:t> between subsequent comments</a:t>
            </a:r>
            <a:endParaRPr sz="2200"/>
          </a:p>
        </p:txBody>
      </p:sp>
      <p:sp>
        <p:nvSpPr>
          <p:cNvPr id="300" name="Google Shape;300;gbee4de09ef_0_7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encountered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ba764dde3e_0_5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b="1" lang="en-US" sz="1900"/>
              <a:t>Replicate Kovanovic’s results</a:t>
            </a:r>
            <a:endParaRPr b="1" sz="1900"/>
          </a:p>
          <a:p>
            <a:pPr indent="-3111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en-US" sz="1900"/>
              <a:t>E</a:t>
            </a:r>
            <a:r>
              <a:rPr lang="en-US" sz="1900"/>
              <a:t>xploratory analysis and visualizations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Feature Exploration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Try probabilistic labelling (soft-labels instead of hard label assignments)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b="1" lang="en-US" sz="1900"/>
              <a:t>Improve the accuracy of automated classification</a:t>
            </a:r>
            <a:endParaRPr b="1"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Try pre-trained embeddings and transfer learning approaches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Making modifications to previous semester’s approaches and run ablation experiments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Improve the quality of data for use in later semesters</a:t>
            </a:r>
            <a:endParaRPr sz="1900"/>
          </a:p>
          <a:p>
            <a:pPr indent="-34925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1" lang="en-US" sz="1900"/>
              <a:t>Create a better pre-processing pipeline</a:t>
            </a:r>
            <a:endParaRPr i="1" sz="1900"/>
          </a:p>
          <a:p>
            <a:pPr indent="-3492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1" lang="en-US" sz="1900">
                <a:highlight>
                  <a:srgbClr val="FFD966"/>
                </a:highlight>
              </a:rPr>
              <a:t>Reaching Cohen's kappa &gt;= 0.7 is ideal!</a:t>
            </a:r>
            <a:endParaRPr i="1" sz="1900">
              <a:highlight>
                <a:srgbClr val="FFD966"/>
              </a:highlight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900"/>
              <a:buChar char="•"/>
            </a:pPr>
            <a:r>
              <a:rPr b="1" i="1" lang="en-US" sz="1900"/>
              <a:t>Explore relationship between cognitive presence and social presence (if time permits)</a:t>
            </a:r>
            <a:endParaRPr b="1" i="1" sz="1900"/>
          </a:p>
        </p:txBody>
      </p:sp>
      <p:sp>
        <p:nvSpPr>
          <p:cNvPr id="306" name="Google Shape;306;gba764dde3e_0_5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Goals for this semester (Data Science)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9d659091a8_1_15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Back-end: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Employ Flask to integrate the front-end web application with the back-end data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Integrate Flask with React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Establish a simple pipeline to process small data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Expand the model to incorporate larger research datasets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Incorporate efficient database management systems</a:t>
            </a:r>
            <a:endParaRPr/>
          </a:p>
        </p:txBody>
      </p:sp>
      <p:sp>
        <p:nvSpPr>
          <p:cNvPr id="312" name="Google Shape;312;g9d659091a8_1_15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Web Development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beda0ec009_0_0"/>
          <p:cNvSpPr txBox="1"/>
          <p:nvPr>
            <p:ph idx="1" type="body"/>
          </p:nvPr>
        </p:nvSpPr>
        <p:spPr>
          <a:xfrm>
            <a:off x="670125" y="14413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Front-End Design: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/>
              <a:t>Figma</a:t>
            </a:r>
            <a:r>
              <a:rPr lang="en-US"/>
              <a:t> - fast, simple way to design user interfaces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/>
              <a:t>Balsamiq</a:t>
            </a:r>
            <a:r>
              <a:rPr lang="en-US"/>
              <a:t> - planning, low-fidelity wireframes</a:t>
            </a:r>
            <a:endParaRPr/>
          </a:p>
        </p:txBody>
      </p:sp>
      <p:sp>
        <p:nvSpPr>
          <p:cNvPr id="318" name="Google Shape;318;gbeda0ec009_0_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Development</a:t>
            </a:r>
            <a:endParaRPr/>
          </a:p>
        </p:txBody>
      </p:sp>
      <p:grpSp>
        <p:nvGrpSpPr>
          <p:cNvPr id="319" name="Google Shape;319;gbeda0ec009_0_0"/>
          <p:cNvGrpSpPr/>
          <p:nvPr/>
        </p:nvGrpSpPr>
        <p:grpSpPr>
          <a:xfrm>
            <a:off x="895464" y="3117231"/>
            <a:ext cx="8718167" cy="3430496"/>
            <a:chOff x="4175125" y="2482675"/>
            <a:chExt cx="7581674" cy="2907200"/>
          </a:xfrm>
        </p:grpSpPr>
        <p:pic>
          <p:nvPicPr>
            <p:cNvPr id="320" name="Google Shape;320;gbeda0ec009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5125" y="2482675"/>
              <a:ext cx="7581674" cy="243457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1" name="Google Shape;321;gbeda0ec009_0_0"/>
            <p:cNvSpPr txBox="1"/>
            <p:nvPr/>
          </p:nvSpPr>
          <p:spPr>
            <a:xfrm>
              <a:off x="6388150" y="5050875"/>
              <a:ext cx="3460500" cy="3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Roboto"/>
                  <a:ea typeface="Roboto"/>
                  <a:cs typeface="Roboto"/>
                  <a:sym typeface="Roboto"/>
                </a:rPr>
                <a:t>Preliminary React front-end (Fall 2020)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22" name="Google Shape;322;gbeda0ec00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9323" y="298150"/>
            <a:ext cx="3272027" cy="4734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a764dde3e_0_10"/>
          <p:cNvSpPr txBox="1"/>
          <p:nvPr>
            <p:ph idx="1" type="body"/>
          </p:nvPr>
        </p:nvSpPr>
        <p:spPr>
          <a:xfrm>
            <a:off x="381000" y="1423309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Web-app: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pipeline from database to front-end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Prioritize basic, simple design/features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visualizations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Logistical/Research: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Documentation!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Professor insights on UI/UX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Features, graphs, etc.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</a:pPr>
            <a:r>
              <a:rPr lang="en-US"/>
              <a:t>Cohesiveness &amp; communication between sub-teams</a:t>
            </a:r>
            <a:endParaRPr/>
          </a:p>
        </p:txBody>
      </p:sp>
      <p:sp>
        <p:nvSpPr>
          <p:cNvPr id="328" name="Google Shape;328;gba764dde3e_0_1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Web Development Goals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 txBox="1"/>
          <p:nvPr>
            <p:ph idx="1" type="body"/>
          </p:nvPr>
        </p:nvSpPr>
        <p:spPr>
          <a:xfrm>
            <a:off x="381000" y="1215471"/>
            <a:ext cx="11430000" cy="5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Design document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Data science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Piazza and edX data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Organize discussion forums by cognitive presence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Web development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Database → front-end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Basic features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4" name="Google Shape;334;p1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9d48565bb2_0_10"/>
          <p:cNvSpPr txBox="1"/>
          <p:nvPr>
            <p:ph idx="1" type="body"/>
          </p:nvPr>
        </p:nvSpPr>
        <p:spPr>
          <a:xfrm>
            <a:off x="381000" y="1215473"/>
            <a:ext cx="11430000" cy="5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Garrison, D. R., Anderson, T., &amp; Archer, W. (1999). Critical Inquiry in a Text-Based Environment: Computer Conferencing in Higher Education. </a:t>
            </a:r>
            <a:r>
              <a:rPr i="1" lang="en-US" sz="1900"/>
              <a:t>The Internet and Higher Education</a:t>
            </a:r>
            <a:r>
              <a:rPr lang="en-US" sz="1900"/>
              <a:t>, 2(2–3), 87–105. https://doi.org/10.1016/S1096-7516(00)00016-6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Garrison, D. R., Anderson, T., &amp; Archer, W. (2001). Critical thinking, cognitive presence, and computer conferencing in distance education. </a:t>
            </a:r>
            <a:r>
              <a:rPr i="1" lang="en-US" sz="1900"/>
              <a:t>American Journal of Distance Education</a:t>
            </a:r>
            <a:r>
              <a:rPr lang="en-US" sz="1900"/>
              <a:t>, 15(1), 7–23. https://doi.org/10.1080/08923640109527071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Kovanovíc, V., Joksimovíc, S., Waters, Z., Gaševíc, D., Kitto, K., Hatala, M., &amp; Siemens, G. (2016). Towards automated content analysis of discussion transcripts: A cognitive presence case. ACM International Conference Proceeding Series. https://doi.org/10.1145/2883851.2883950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https://en.wikipedia.org/wiki/Cohen%27s_kappa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US" sz="1900"/>
              <a:t>Kusner, M., Sun, Y., Kolkin, N., &amp; Weinberger, K. (2015, June). From word embeddings to document distances. In International conference on machine learning (pp. 957-966). PMLR.</a:t>
            </a:r>
            <a:endParaRPr sz="1900"/>
          </a:p>
        </p:txBody>
      </p:sp>
      <p:sp>
        <p:nvSpPr>
          <p:cNvPr id="340" name="Google Shape;340;g9d48565bb2_0_1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Citations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bedb666c56_0_11"/>
          <p:cNvSpPr txBox="1"/>
          <p:nvPr>
            <p:ph type="title"/>
          </p:nvPr>
        </p:nvSpPr>
        <p:spPr>
          <a:xfrm>
            <a:off x="381000" y="2688797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Extra Slides (may delete if not required anymore)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becbc2fc5d_0_48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 Exploration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Probabilistic Labeling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Reaching Cohen's kappa &gt;= 0.7 is ideal!</a:t>
            </a:r>
            <a:endParaRPr/>
          </a:p>
        </p:txBody>
      </p:sp>
      <p:sp>
        <p:nvSpPr>
          <p:cNvPr id="356" name="Google Shape;356;gbecbc2fc5d_0_48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bedb666c56_0_0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 Exploration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Probabilistic Labeling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Reaching Cohen's kappa &gt;= 0.7 is ideal!</a:t>
            </a:r>
            <a:endParaRPr/>
          </a:p>
        </p:txBody>
      </p:sp>
      <p:sp>
        <p:nvSpPr>
          <p:cNvPr id="362" name="Google Shape;362;gbedb666c56_0_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brief look into Language Models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2016-03-09T16:46:53Z</dcterms:created>
  <dc:creator>Microsoft Office User</dc:creator>
</cp:coreProperties>
</file>